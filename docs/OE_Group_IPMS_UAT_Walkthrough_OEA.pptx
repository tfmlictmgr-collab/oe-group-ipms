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59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04974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Three days, and by the end of them every person in this room will have driven this system themselves, not watched someone else drive it.
Set expectations now: this is a rehearsal environment. The data is synthetic. Nothing you do here reaches a real tenant, a real landlord or a real bank. You cannot break anything that matters — so try the thing you are unsure about.
What we want from you is the opposite of politeness. If a screen confuses you, that is a finding. Write it down.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to every session: we drive, you drive, we capture findings.
Stress the last ground rule. People assume an error message means the software is broken. In this system most refusals are deliberate — the approver who cannot also release the payment, the request that cannot be dispatched before someone has reviewed it. When you hit one, tell us, and we will explain which rule you just met. If we cannot explain it, that IS a defect.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this slide out on paper as well — people will be signing in and out all week.
The FM/PM split is new and worth pausing on. Until recently one role wore two labels: 'Facilities Manager' on the TFML side, 'Properties Manager' on ours. That worked only while no organisation employed both. OEA now does — so they are two roles, with two logins, holding identical rights over their own properties.
If someone asks 'which one am I?' — a Properties Manager runs tenancies and buildings; a Facilities Manager runs plant and services.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roles in total across both slides. Nobody needs to memorise them — but two facts should stick.
First: the Finance Approver is the only role that actually releases money. Not the administrator, not the Managing Partner. Approving and paying are different acts held by different people.
Second: the Viewer login is read-only. If someone is nervous about clicking, start them there — they can explore every screen without being able to change anything.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map for the whole three days. Every exercise you do sits in one of these four columns.
Point at column three. Notice it takes three separate people to get a payment out — the manager who signs off the work, the auditor who checks the invoice against the evidence, and the approver who clears the amount. That is not bureaucracy for its own sake; it is what stops one person paying themselves.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one is deliberately the least frightening. No money moves today. The point is to get everyone comfortable signing in, finding their way around, and seeing one job travel the whole length of the system.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Locations are the 36 states plus the FCT, picked from a dropdown. That is deliberate: when people typed their own, we got 'Port Harcourt', 'Portharcourt' and 'PH' as three different places, and no report could add them up.
If the place genuinely is not a state — a free trade zone, a campus — there is a 'somewhere else' option. Use it sparingly.
The asset point matters for OEA because so much of what fails in a building is shared plant. If you are asked 'whose generator is this?', the register answers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on screen with oea.tenant@ raising something real — a failed generator at Parkview Terraces.
Show the classification landing. Say plainly what it is: the system reads the request and suggests category and urgency. It does not decide anything and it does not close anything. A person still triages.
Then switch to oea.pm@ and show the request waiting. Try to dispatch it before reviewing — let the room watch the refusal. That is the clearest possible demonstration of why this step exists.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pre-empts the most common UAT complaint: 'I cannot see the ticket you are looking at.'
The landlord line is worth dwelling on. A property owner used to see every complaint any tenant had ever made about their building. Nobody decided that — it was four sensible rules adding up to something none of them intended. It is now closed: an owner sees their statements, their payments, and what they raised themselves.
The FM/PM default view is 'Assigned to me'. The property-wide view is one click away, and they need it to triage.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about 45 minutes. Facilitators: walk the room rather than waiting at the front.
Exercise 2 asks people to attempt something that will fail. Make sure they actually try it — the refusal is the lesson, and people who skip it never quite believe the gate is real.
Keep the request references. Day 2 picks up exactly these jobs and pays for them.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two is the day that matters most for audit. If people leave understanding only one thing, it should be that approving a payment and releasing a payment are two different acts, held deliberately by two different people.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requisition is the newer of the two and the one OEA staff will use most.
Draw out the third bullet on the right: a line with no payee at all is legitimate. Something donated, something already paid for another way — it still belongs on the record even though no transfer follows. The system does not force every line to resolve to money leaving.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one payable all the way through on screen, switching logins as you go: oea.pm@, then oea.auditapprover@, then oea.approver@.
At each stage show that the button is only actionable for the role that owns that stage. Everyone else can see where it has got to, and can do nothing to it.
The board renamed stage one this month. Worth saying why: it was called an approval, and that single word made people think a manager signing off a job card was clearing the money. They are not. They are saying 'I went, and this was done.'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the room to try to break these. Genuinely — sign in as the administrator and attempt to release a payment you approved. Watch it refuse.
The second rule catches people out and it is meant to. If your finance approver is the only person who ever approves, they will eventually be blocked from paying. That is not a bug to route around; it is the control telling you the organisation needs a second approver.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a full 90 minutes. This is the longest hands-on block of the three days and the one people ask most questions during.
Watch for pairs who quietly skip the deliberate failure because it 'did not work'. Go and stand with them and make them do it.
Close by opening the audit trail together, so the room sees their own names against the actions they just took.</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three is closest to the day job for most of this room. It is also the day where the fee arithmetic gets scrutinised, so leave room for that conversation.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two-tier review is a compliance requirement, not a preference. Refusing someone housing is a significant decision, and under the NDPA it cannot be made solely by an automated system. Two people look, and each records their own reason in their own words.
On renewal notices: the record decides whether a notice has gone, not the schedule. If the job runs three times in a night, the tenant still hears from us once.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most detailed questions of the week here, from whoever owns landlord relationships.
The 'frozen onto the demand' point is the one to land. If the organisation changes its management fee in March, every statement issued in January and February still says what it said. The rate lives on the transaction, not in a setting the statement looks up each time it is printed.
The admin fee being once per tenancy was decided this month. Before that it was being taken on every demand — and since rent here is annual, that meant a one-off fee landing every year. Worth saying out loud; someone in the room will have wondered.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audit trail live and search for one of the room's own names. It lands better than any explanation.
If someone asks whether records can be removed: no. Even test accounts created during this week cannot be deleted once they have acted, because the trail holds them. They get deactivated instead. That is the same rule that will protect a real dispute two years from now.</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Exercise 9's third bullet is a control check dressed as an exercise — the landlord visibility rule we fixed. Make sure someone actually tries it.
Leave at least 90 minutes for open testing. The scripted exercises prove the system does what we say; open testing is where you find out what we forgot.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the finding sheet printed and on every table from the first session. People will not remember at 4pm what confused them at 10am.</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this slide the morning of day one — it is the slide most likely to have gone stale between writing and delivery. Anything closed since should come off it, and anything newly known should go 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thanking them for the awkward questions specifically. The room that says nothing is the room that signs off a system nobody can use.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220"/>
        </a:solidFill>
        <a:effectLst/>
      </p:bgPr>
    </p:bg>
    <p:spTree>
      <p:nvGrpSpPr>
        <p:cNvPr id="1" name=""/>
        <p:cNvGrpSpPr/>
        <p:nvPr/>
      </p:nvGrpSpPr>
      <p:grpSpPr>
        <a:xfrm>
          <a:off x="0" y="0"/>
          <a:ext cx="0" cy="0"/>
          <a:chOff x="0" y="0"/>
          <a:chExt cx="0" cy="0"/>
        </a:xfrm>
      </p:grpSpPr>
      <p:sp>
        <p:nvSpPr>
          <p:cNvPr id="2" name="Shape 0"/>
          <p:cNvSpPr/>
          <p:nvPr/>
        </p:nvSpPr>
        <p:spPr>
          <a:xfrm>
            <a:off x="8686800" y="-2468880"/>
            <a:ext cx="6583680" cy="6583680"/>
          </a:xfrm>
          <a:prstGeom prst="ellipse">
            <a:avLst/>
          </a:prstGeom>
          <a:solidFill>
            <a:srgbClr val="1A1A2E">
              <a:alpha val="75000"/>
            </a:srgbClr>
          </a:solidFill>
          <a:ln/>
        </p:spPr>
      </p:sp>
      <p:sp>
        <p:nvSpPr>
          <p:cNvPr id="3" name="Shape 1"/>
          <p:cNvSpPr/>
          <p:nvPr/>
        </p:nvSpPr>
        <p:spPr>
          <a:xfrm>
            <a:off x="10149840" y="4297680"/>
            <a:ext cx="4206240" cy="4206240"/>
          </a:xfrm>
          <a:prstGeom prst="ellipse">
            <a:avLst/>
          </a:prstGeom>
          <a:solidFill>
            <a:srgbClr val="D92323">
              <a:alpha val="18000"/>
            </a:srgbClr>
          </a:solidFill>
          <a:ln/>
        </p:spPr>
      </p:sp>
      <p:sp>
        <p:nvSpPr>
          <p:cNvPr id="4" name="Text 2"/>
          <p:cNvSpPr/>
          <p:nvPr/>
        </p:nvSpPr>
        <p:spPr>
          <a:xfrm>
            <a:off x="822960" y="1325880"/>
            <a:ext cx="10058400" cy="365760"/>
          </a:xfrm>
          <a:prstGeom prst="rect">
            <a:avLst/>
          </a:prstGeom>
          <a:noFill/>
          <a:ln/>
        </p:spPr>
        <p:txBody>
          <a:bodyPr wrap="square" lIns="0" tIns="0" rIns="0" bIns="0" rtlCol="0" anchor="ctr"/>
          <a:lstStyle/>
          <a:p>
            <a:pPr marL="0" indent="0">
              <a:buNone/>
            </a:pPr>
            <a:r>
              <a:rPr lang="en-US" sz="1250" b="1" kern="0" spc="160" dirty="0">
                <a:solidFill>
                  <a:srgbClr val="D92323"/>
                </a:solidFill>
                <a:latin typeface="Calibri" pitchFamily="34" charset="0"/>
                <a:ea typeface="Calibri" pitchFamily="34" charset="-122"/>
                <a:cs typeface="Calibri" pitchFamily="34" charset="-120"/>
              </a:rPr>
              <a:t>ORA EGBUNIKE &amp; ASSOCIATES · INTEGRATED PROPERTY MANAGEMENT</a:t>
            </a:r>
            <a:endParaRPr lang="en-US" sz="1250" dirty="0"/>
          </a:p>
        </p:txBody>
      </p:sp>
      <p:sp>
        <p:nvSpPr>
          <p:cNvPr id="5" name="Text 3"/>
          <p:cNvSpPr/>
          <p:nvPr/>
        </p:nvSpPr>
        <p:spPr>
          <a:xfrm>
            <a:off x="777240" y="1783080"/>
            <a:ext cx="10515600" cy="100584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User Acceptance Testing</a:t>
            </a:r>
            <a:endParaRPr lang="en-US" sz="5400" dirty="0"/>
          </a:p>
        </p:txBody>
      </p:sp>
      <p:sp>
        <p:nvSpPr>
          <p:cNvPr id="6" name="Text 4"/>
          <p:cNvSpPr/>
          <p:nvPr/>
        </p:nvSpPr>
        <p:spPr>
          <a:xfrm>
            <a:off x="822960" y="2880360"/>
            <a:ext cx="10058400" cy="502920"/>
          </a:xfrm>
          <a:prstGeom prst="rect">
            <a:avLst/>
          </a:prstGeom>
          <a:noFill/>
          <a:ln/>
        </p:spPr>
        <p:txBody>
          <a:bodyPr wrap="square" lIns="0" tIns="0" rIns="0" bIns="0" rtlCol="0" anchor="ctr"/>
          <a:lstStyle/>
          <a:p>
            <a:pPr marL="0" indent="0">
              <a:buNone/>
            </a:pPr>
            <a:r>
              <a:rPr lang="en-US" sz="1900" i="1" dirty="0">
                <a:solidFill>
                  <a:srgbClr val="C9CBD8"/>
                </a:solidFill>
                <a:latin typeface="Calibri" pitchFamily="34" charset="0"/>
                <a:ea typeface="Calibri" pitchFamily="34" charset="-122"/>
                <a:cs typeface="Calibri" pitchFamily="34" charset="-120"/>
              </a:rPr>
              <a:t>A three-day walkthrough — every role, every flow, hands on</a:t>
            </a:r>
            <a:endParaRPr lang="en-US" sz="1900" dirty="0"/>
          </a:p>
        </p:txBody>
      </p:sp>
      <p:sp>
        <p:nvSpPr>
          <p:cNvPr id="7" name="Shape 5"/>
          <p:cNvSpPr/>
          <p:nvPr/>
        </p:nvSpPr>
        <p:spPr>
          <a:xfrm>
            <a:off x="822960" y="3657600"/>
            <a:ext cx="2011680" cy="0"/>
          </a:xfrm>
          <a:prstGeom prst="line">
            <a:avLst/>
          </a:prstGeom>
          <a:noFill/>
          <a:ln w="25400">
            <a:solidFill>
              <a:srgbClr val="D92323"/>
            </a:solidFill>
            <a:prstDash val="solid"/>
          </a:ln>
        </p:spPr>
      </p:sp>
      <p:sp>
        <p:nvSpPr>
          <p:cNvPr id="8" name="Text 6"/>
          <p:cNvSpPr/>
          <p:nvPr/>
        </p:nvSpPr>
        <p:spPr>
          <a:xfrm>
            <a:off x="822960" y="3840480"/>
            <a:ext cx="8229600" cy="365760"/>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oeaportal.com  ·  staging rehearsal environment</a:t>
            </a:r>
            <a:endParaRPr lang="en-US" sz="1350" dirty="0"/>
          </a:p>
        </p:txBody>
      </p:sp>
      <p:sp>
        <p:nvSpPr>
          <p:cNvPr id="9" name="Shape 7"/>
          <p:cNvSpPr/>
          <p:nvPr/>
        </p:nvSpPr>
        <p:spPr>
          <a:xfrm>
            <a:off x="822960" y="4892040"/>
            <a:ext cx="2286000" cy="914400"/>
          </a:xfrm>
          <a:prstGeom prst="roundRect">
            <a:avLst>
              <a:gd name="adj" fmla="val 10000"/>
            </a:avLst>
          </a:prstGeom>
          <a:solidFill>
            <a:srgbClr val="1A1A2E"/>
          </a:solidFill>
          <a:ln w="12700">
            <a:solidFill>
              <a:srgbClr val="34364E"/>
            </a:solidFill>
            <a:prstDash val="solid"/>
          </a:ln>
        </p:spPr>
      </p:sp>
      <p:sp>
        <p:nvSpPr>
          <p:cNvPr id="10" name="Text 8"/>
          <p:cNvSpPr/>
          <p:nvPr/>
        </p:nvSpPr>
        <p:spPr>
          <a:xfrm>
            <a:off x="1051560" y="5029200"/>
            <a:ext cx="1828800" cy="274320"/>
          </a:xfrm>
          <a:prstGeom prst="rect">
            <a:avLst/>
          </a:prstGeom>
          <a:noFill/>
          <a:ln/>
        </p:spPr>
        <p:txBody>
          <a:bodyPr wrap="square" lIns="0" tIns="0" rIns="0" bIns="0" rtlCol="0" anchor="ctr"/>
          <a:lstStyle/>
          <a:p>
            <a:pPr marL="0" indent="0">
              <a:buNone/>
            </a:pPr>
            <a:r>
              <a:rPr lang="en-US" sz="1100" b="1" kern="0" spc="150" dirty="0">
                <a:solidFill>
                  <a:srgbClr val="D92323"/>
                </a:solidFill>
                <a:latin typeface="Calibri" pitchFamily="34" charset="0"/>
                <a:ea typeface="Calibri" pitchFamily="34" charset="-122"/>
                <a:cs typeface="Calibri" pitchFamily="34" charset="-120"/>
              </a:rPr>
              <a:t>Day 1</a:t>
            </a:r>
            <a:endParaRPr lang="en-US" sz="1100" dirty="0"/>
          </a:p>
        </p:txBody>
      </p:sp>
      <p:sp>
        <p:nvSpPr>
          <p:cNvPr id="11" name="Text 9"/>
          <p:cNvSpPr/>
          <p:nvPr/>
        </p:nvSpPr>
        <p:spPr>
          <a:xfrm>
            <a:off x="1051560" y="5285232"/>
            <a:ext cx="182880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Requests</a:t>
            </a:r>
            <a:endParaRPr lang="en-US" sz="1900" dirty="0"/>
          </a:p>
        </p:txBody>
      </p:sp>
      <p:sp>
        <p:nvSpPr>
          <p:cNvPr id="12" name="Shape 10"/>
          <p:cNvSpPr/>
          <p:nvPr/>
        </p:nvSpPr>
        <p:spPr>
          <a:xfrm>
            <a:off x="3310128" y="4892040"/>
            <a:ext cx="2286000" cy="914400"/>
          </a:xfrm>
          <a:prstGeom prst="roundRect">
            <a:avLst>
              <a:gd name="adj" fmla="val 10000"/>
            </a:avLst>
          </a:prstGeom>
          <a:solidFill>
            <a:srgbClr val="1A1A2E"/>
          </a:solidFill>
          <a:ln w="12700">
            <a:solidFill>
              <a:srgbClr val="34364E"/>
            </a:solidFill>
            <a:prstDash val="solid"/>
          </a:ln>
        </p:spPr>
      </p:sp>
      <p:sp>
        <p:nvSpPr>
          <p:cNvPr id="13" name="Text 11"/>
          <p:cNvSpPr/>
          <p:nvPr/>
        </p:nvSpPr>
        <p:spPr>
          <a:xfrm>
            <a:off x="3538728" y="5029200"/>
            <a:ext cx="1828800" cy="274320"/>
          </a:xfrm>
          <a:prstGeom prst="rect">
            <a:avLst/>
          </a:prstGeom>
          <a:noFill/>
          <a:ln/>
        </p:spPr>
        <p:txBody>
          <a:bodyPr wrap="square" lIns="0" tIns="0" rIns="0" bIns="0" rtlCol="0" anchor="ctr"/>
          <a:lstStyle/>
          <a:p>
            <a:pPr marL="0" indent="0">
              <a:buNone/>
            </a:pPr>
            <a:r>
              <a:rPr lang="en-US" sz="1100" b="1" kern="0" spc="150" dirty="0">
                <a:solidFill>
                  <a:srgbClr val="D92323"/>
                </a:solidFill>
                <a:latin typeface="Calibri" pitchFamily="34" charset="0"/>
                <a:ea typeface="Calibri" pitchFamily="34" charset="-122"/>
                <a:cs typeface="Calibri" pitchFamily="34" charset="-120"/>
              </a:rPr>
              <a:t>Day 2</a:t>
            </a:r>
            <a:endParaRPr lang="en-US" sz="1100" dirty="0"/>
          </a:p>
        </p:txBody>
      </p:sp>
      <p:sp>
        <p:nvSpPr>
          <p:cNvPr id="14" name="Text 12"/>
          <p:cNvSpPr/>
          <p:nvPr/>
        </p:nvSpPr>
        <p:spPr>
          <a:xfrm>
            <a:off x="3538728" y="5285232"/>
            <a:ext cx="182880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Money</a:t>
            </a:r>
            <a:endParaRPr lang="en-US" sz="1900" dirty="0"/>
          </a:p>
        </p:txBody>
      </p:sp>
      <p:sp>
        <p:nvSpPr>
          <p:cNvPr id="15" name="Shape 13"/>
          <p:cNvSpPr/>
          <p:nvPr/>
        </p:nvSpPr>
        <p:spPr>
          <a:xfrm>
            <a:off x="5797296" y="4892040"/>
            <a:ext cx="2286000" cy="914400"/>
          </a:xfrm>
          <a:prstGeom prst="roundRect">
            <a:avLst>
              <a:gd name="adj" fmla="val 10000"/>
            </a:avLst>
          </a:prstGeom>
          <a:solidFill>
            <a:srgbClr val="1A1A2E"/>
          </a:solidFill>
          <a:ln w="12700">
            <a:solidFill>
              <a:srgbClr val="34364E"/>
            </a:solidFill>
            <a:prstDash val="solid"/>
          </a:ln>
        </p:spPr>
      </p:sp>
      <p:sp>
        <p:nvSpPr>
          <p:cNvPr id="16" name="Text 14"/>
          <p:cNvSpPr/>
          <p:nvPr/>
        </p:nvSpPr>
        <p:spPr>
          <a:xfrm>
            <a:off x="6025896" y="5029200"/>
            <a:ext cx="1828800" cy="274320"/>
          </a:xfrm>
          <a:prstGeom prst="rect">
            <a:avLst/>
          </a:prstGeom>
          <a:noFill/>
          <a:ln/>
        </p:spPr>
        <p:txBody>
          <a:bodyPr wrap="square" lIns="0" tIns="0" rIns="0" bIns="0" rtlCol="0" anchor="ctr"/>
          <a:lstStyle/>
          <a:p>
            <a:pPr marL="0" indent="0">
              <a:buNone/>
            </a:pPr>
            <a:r>
              <a:rPr lang="en-US" sz="1100" b="1" kern="0" spc="150" dirty="0">
                <a:solidFill>
                  <a:srgbClr val="D92323"/>
                </a:solidFill>
                <a:latin typeface="Calibri" pitchFamily="34" charset="0"/>
                <a:ea typeface="Calibri" pitchFamily="34" charset="-122"/>
                <a:cs typeface="Calibri" pitchFamily="34" charset="-120"/>
              </a:rPr>
              <a:t>Day 3</a:t>
            </a:r>
            <a:endParaRPr lang="en-US" sz="1100" dirty="0"/>
          </a:p>
        </p:txBody>
      </p:sp>
      <p:sp>
        <p:nvSpPr>
          <p:cNvPr id="17" name="Text 15"/>
          <p:cNvSpPr/>
          <p:nvPr/>
        </p:nvSpPr>
        <p:spPr>
          <a:xfrm>
            <a:off x="6025896" y="5285232"/>
            <a:ext cx="1828800" cy="384048"/>
          </a:xfrm>
          <a:prstGeom prst="rect">
            <a:avLst/>
          </a:prstGeom>
          <a:noFill/>
          <a:ln/>
        </p:spPr>
        <p:txBody>
          <a:bodyPr wrap="square" lIns="0" tIns="0" rIns="0" bIns="0" rtlCol="0" anchor="ctr"/>
          <a:lstStyle/>
          <a:p>
            <a:pPr marL="0" indent="0">
              <a:buNone/>
            </a:pPr>
            <a:r>
              <a:rPr lang="en-US" sz="1900" b="1" dirty="0">
                <a:solidFill>
                  <a:srgbClr val="FFFFFF"/>
                </a:solidFill>
                <a:latin typeface="Cambria" pitchFamily="34" charset="0"/>
                <a:ea typeface="Cambria" pitchFamily="34" charset="-122"/>
                <a:cs typeface="Cambria" pitchFamily="34" charset="-120"/>
              </a:rPr>
              <a:t>Tenancies</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HOW THIS WORKS</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Watch it once. Then do it yourself.</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Each session follows the same shape, so you always know what is coming next.</a:t>
            </a:r>
            <a:endParaRPr lang="en-US" sz="1450" dirty="0"/>
          </a:p>
        </p:txBody>
      </p:sp>
      <p:sp>
        <p:nvSpPr>
          <p:cNvPr id="5" name="Shape 3"/>
          <p:cNvSpPr/>
          <p:nvPr/>
        </p:nvSpPr>
        <p:spPr>
          <a:xfrm>
            <a:off x="640080" y="2286000"/>
            <a:ext cx="3566160" cy="1828800"/>
          </a:xfrm>
          <a:prstGeom prst="roundRect">
            <a:avLst>
              <a:gd name="adj" fmla="val 4000"/>
            </a:avLst>
          </a:prstGeom>
          <a:solidFill>
            <a:srgbClr val="FBF7F2"/>
          </a:solidFill>
          <a:ln w="12700">
            <a:solidFill>
              <a:srgbClr val="E8E2DA"/>
            </a:solidFill>
            <a:prstDash val="solid"/>
          </a:ln>
        </p:spPr>
      </p:sp>
      <p:sp>
        <p:nvSpPr>
          <p:cNvPr id="6" name="Shape 4"/>
          <p:cNvSpPr/>
          <p:nvPr/>
        </p:nvSpPr>
        <p:spPr>
          <a:xfrm>
            <a:off x="932688" y="2542032"/>
            <a:ext cx="420624" cy="420624"/>
          </a:xfrm>
          <a:prstGeom prst="ellipse">
            <a:avLst/>
          </a:prstGeom>
          <a:solidFill>
            <a:srgbClr val="D92323"/>
          </a:solidFill>
          <a:ln/>
        </p:spPr>
      </p:sp>
      <p:sp>
        <p:nvSpPr>
          <p:cNvPr id="7" name="Text 5"/>
          <p:cNvSpPr/>
          <p:nvPr/>
        </p:nvSpPr>
        <p:spPr>
          <a:xfrm>
            <a:off x="932688" y="25420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508760" y="2542032"/>
            <a:ext cx="2468880" cy="384048"/>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Walkthrough</a:t>
            </a:r>
            <a:endParaRPr lang="en-US" sz="1800" dirty="0"/>
          </a:p>
        </p:txBody>
      </p:sp>
      <p:sp>
        <p:nvSpPr>
          <p:cNvPr id="9" name="Text 7"/>
          <p:cNvSpPr/>
          <p:nvPr/>
        </p:nvSpPr>
        <p:spPr>
          <a:xfrm>
            <a:off x="932688" y="3090672"/>
            <a:ext cx="2999232" cy="868680"/>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We drive it on screen, slowly, with the reasoning — why the system asks for this, and why it refuses that.</a:t>
            </a:r>
            <a:endParaRPr lang="en-US" sz="1200" dirty="0"/>
          </a:p>
        </p:txBody>
      </p:sp>
      <p:sp>
        <p:nvSpPr>
          <p:cNvPr id="10" name="Shape 8"/>
          <p:cNvSpPr/>
          <p:nvPr/>
        </p:nvSpPr>
        <p:spPr>
          <a:xfrm>
            <a:off x="4352544" y="2286000"/>
            <a:ext cx="3566160" cy="1828800"/>
          </a:xfrm>
          <a:prstGeom prst="roundRect">
            <a:avLst>
              <a:gd name="adj" fmla="val 4000"/>
            </a:avLst>
          </a:prstGeom>
          <a:solidFill>
            <a:srgbClr val="FBF7F2"/>
          </a:solidFill>
          <a:ln w="12700">
            <a:solidFill>
              <a:srgbClr val="E8E2DA"/>
            </a:solidFill>
            <a:prstDash val="solid"/>
          </a:ln>
        </p:spPr>
      </p:sp>
      <p:sp>
        <p:nvSpPr>
          <p:cNvPr id="11" name="Shape 9"/>
          <p:cNvSpPr/>
          <p:nvPr/>
        </p:nvSpPr>
        <p:spPr>
          <a:xfrm>
            <a:off x="4645152" y="2542032"/>
            <a:ext cx="420624" cy="420624"/>
          </a:xfrm>
          <a:prstGeom prst="ellipse">
            <a:avLst/>
          </a:prstGeom>
          <a:solidFill>
            <a:srgbClr val="D92323"/>
          </a:solidFill>
          <a:ln/>
        </p:spPr>
      </p:sp>
      <p:sp>
        <p:nvSpPr>
          <p:cNvPr id="12" name="Text 10"/>
          <p:cNvSpPr/>
          <p:nvPr/>
        </p:nvSpPr>
        <p:spPr>
          <a:xfrm>
            <a:off x="4645152" y="25420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221224" y="2542032"/>
            <a:ext cx="2468880" cy="384048"/>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Hands-on</a:t>
            </a:r>
            <a:endParaRPr lang="en-US" sz="1800" dirty="0"/>
          </a:p>
        </p:txBody>
      </p:sp>
      <p:sp>
        <p:nvSpPr>
          <p:cNvPr id="14" name="Text 12"/>
          <p:cNvSpPr/>
          <p:nvPr/>
        </p:nvSpPr>
        <p:spPr>
          <a:xfrm>
            <a:off x="4645152" y="3090672"/>
            <a:ext cx="2999232" cy="868680"/>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You sign in as the role and repeat it on your own machine. Facilitators circulate.</a:t>
            </a:r>
            <a:endParaRPr lang="en-US" sz="1200" dirty="0"/>
          </a:p>
        </p:txBody>
      </p:sp>
      <p:sp>
        <p:nvSpPr>
          <p:cNvPr id="15" name="Shape 13"/>
          <p:cNvSpPr/>
          <p:nvPr/>
        </p:nvSpPr>
        <p:spPr>
          <a:xfrm>
            <a:off x="8065008" y="2286000"/>
            <a:ext cx="3566160" cy="1828800"/>
          </a:xfrm>
          <a:prstGeom prst="roundRect">
            <a:avLst>
              <a:gd name="adj" fmla="val 4000"/>
            </a:avLst>
          </a:prstGeom>
          <a:solidFill>
            <a:srgbClr val="FBF7F2"/>
          </a:solidFill>
          <a:ln w="12700">
            <a:solidFill>
              <a:srgbClr val="E8E2DA"/>
            </a:solidFill>
            <a:prstDash val="solid"/>
          </a:ln>
        </p:spPr>
      </p:sp>
      <p:sp>
        <p:nvSpPr>
          <p:cNvPr id="16" name="Shape 14"/>
          <p:cNvSpPr/>
          <p:nvPr/>
        </p:nvSpPr>
        <p:spPr>
          <a:xfrm>
            <a:off x="8357616" y="2542032"/>
            <a:ext cx="420624" cy="420624"/>
          </a:xfrm>
          <a:prstGeom prst="ellipse">
            <a:avLst/>
          </a:prstGeom>
          <a:solidFill>
            <a:srgbClr val="D92323"/>
          </a:solidFill>
          <a:ln/>
        </p:spPr>
      </p:sp>
      <p:sp>
        <p:nvSpPr>
          <p:cNvPr id="17" name="Text 15"/>
          <p:cNvSpPr/>
          <p:nvPr/>
        </p:nvSpPr>
        <p:spPr>
          <a:xfrm>
            <a:off x="8357616" y="25420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8933688" y="2542032"/>
            <a:ext cx="2468880" cy="384048"/>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Findings</a:t>
            </a:r>
            <a:endParaRPr lang="en-US" sz="1800" dirty="0"/>
          </a:p>
        </p:txBody>
      </p:sp>
      <p:sp>
        <p:nvSpPr>
          <p:cNvPr id="19" name="Text 17"/>
          <p:cNvSpPr/>
          <p:nvPr/>
        </p:nvSpPr>
        <p:spPr>
          <a:xfrm>
            <a:off x="8357616" y="3090672"/>
            <a:ext cx="2999232" cy="868680"/>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Anything confusing, wrong or missing goes on the sheet before we move on.</a:t>
            </a:r>
            <a:endParaRPr lang="en-US" sz="1200" dirty="0"/>
          </a:p>
        </p:txBody>
      </p:sp>
      <p:sp>
        <p:nvSpPr>
          <p:cNvPr id="20" name="Shape 18"/>
          <p:cNvSpPr/>
          <p:nvPr/>
        </p:nvSpPr>
        <p:spPr>
          <a:xfrm>
            <a:off x="640080" y="4480560"/>
            <a:ext cx="10908792" cy="1600200"/>
          </a:xfrm>
          <a:prstGeom prst="roundRect">
            <a:avLst>
              <a:gd name="adj" fmla="val 4571"/>
            </a:avLst>
          </a:prstGeom>
          <a:solidFill>
            <a:srgbClr val="E6F3EB"/>
          </a:solidFill>
          <a:ln w="12700">
            <a:solidFill>
              <a:srgbClr val="CBE3D6"/>
            </a:solidFill>
            <a:prstDash val="solid"/>
          </a:ln>
        </p:spPr>
      </p:sp>
      <p:pic>
        <p:nvPicPr>
          <p:cNvPr id="21" name="Image 0" descr="preencoded.png"/>
          <p:cNvPicPr>
            <a:picLocks noChangeAspect="1"/>
          </p:cNvPicPr>
          <p:nvPr/>
        </p:nvPicPr>
        <p:blipFill>
          <a:blip r:embed="rId3"/>
          <a:stretch>
            <a:fillRect/>
          </a:stretch>
        </p:blipFill>
        <p:spPr>
          <a:xfrm>
            <a:off x="914400" y="4736592"/>
            <a:ext cx="256032" cy="256032"/>
          </a:xfrm>
          <a:prstGeom prst="rect">
            <a:avLst/>
          </a:prstGeom>
        </p:spPr>
      </p:pic>
      <p:sp>
        <p:nvSpPr>
          <p:cNvPr id="22" name="Text 19"/>
          <p:cNvSpPr/>
          <p:nvPr/>
        </p:nvSpPr>
        <p:spPr>
          <a:xfrm>
            <a:off x="1298448" y="4681728"/>
            <a:ext cx="3657600" cy="347472"/>
          </a:xfrm>
          <a:prstGeom prst="rect">
            <a:avLst/>
          </a:prstGeom>
          <a:noFill/>
          <a:ln/>
        </p:spPr>
        <p:txBody>
          <a:bodyPr wrap="square" lIns="0" tIns="0" rIns="0" bIns="0" rtlCol="0" anchor="ctr"/>
          <a:lstStyle/>
          <a:p>
            <a:pPr marL="0" indent="0">
              <a:buNone/>
            </a:pPr>
            <a:r>
              <a:rPr lang="en-US" sz="1600" b="1" dirty="0">
                <a:solidFill>
                  <a:srgbClr val="1F2229"/>
                </a:solidFill>
                <a:latin typeface="Cambria" pitchFamily="34" charset="0"/>
                <a:ea typeface="Cambria" pitchFamily="34" charset="-122"/>
                <a:cs typeface="Cambria" pitchFamily="34" charset="-120"/>
              </a:rPr>
              <a:t>Ground rules</a:t>
            </a:r>
            <a:endParaRPr lang="en-US" sz="1600" dirty="0"/>
          </a:p>
        </p:txBody>
      </p:sp>
      <p:sp>
        <p:nvSpPr>
          <p:cNvPr id="23" name="Text 20"/>
          <p:cNvSpPr/>
          <p:nvPr/>
        </p:nvSpPr>
        <p:spPr>
          <a:xfrm>
            <a:off x="1298448" y="5074920"/>
            <a:ext cx="9966960" cy="914400"/>
          </a:xfrm>
          <a:prstGeom prst="rect">
            <a:avLst/>
          </a:prstGeom>
          <a:noFill/>
          <a:ln/>
        </p:spPr>
        <p:txBody>
          <a:bodyPr wrap="square" lIns="0" tIns="0" rIns="0" bIns="0" rtlCol="0" anchor="ctr"/>
          <a:lstStyle/>
          <a:p>
            <a:pPr marL="342900" indent="-342900">
              <a:spcAft>
                <a:spcPts val="400"/>
              </a:spcAft>
              <a:buSzPct val="100000"/>
              <a:buChar char="•"/>
            </a:pPr>
            <a:r>
              <a:rPr lang="en-US" sz="1200" dirty="0">
                <a:solidFill>
                  <a:srgbClr val="1F2229"/>
                </a:solidFill>
                <a:latin typeface="Calibri" pitchFamily="34" charset="0"/>
                <a:ea typeface="Calibri" pitchFamily="34" charset="-122"/>
                <a:cs typeface="Calibri" pitchFamily="34" charset="-120"/>
              </a:rPr>
              <a:t>Synthetic data only — no real tenant, landlord, vendor or bank is touched.</a:t>
            </a:r>
            <a:endParaRPr lang="en-US" sz="1200" dirty="0"/>
          </a:p>
          <a:p>
            <a:pPr marL="342900" indent="-342900">
              <a:spcAft>
                <a:spcPts val="400"/>
              </a:spcAft>
              <a:buSzPct val="100000"/>
              <a:buChar char="•"/>
            </a:pPr>
            <a:r>
              <a:rPr lang="en-US" sz="1200" dirty="0">
                <a:solidFill>
                  <a:srgbClr val="1F2229"/>
                </a:solidFill>
                <a:latin typeface="Calibri" pitchFamily="34" charset="0"/>
                <a:ea typeface="Calibri" pitchFamily="34" charset="-122"/>
                <a:cs typeface="Calibri" pitchFamily="34" charset="-120"/>
              </a:rPr>
              <a:t>One password for every demo login, shown on the next slide.</a:t>
            </a:r>
            <a:endParaRPr lang="en-US" sz="1200" dirty="0"/>
          </a:p>
          <a:p>
            <a:pPr marL="342900" indent="-342900">
              <a:spcAft>
                <a:spcPts val="400"/>
              </a:spcAft>
              <a:buSzPct val="100000"/>
              <a:buChar char="•"/>
            </a:pPr>
            <a:r>
              <a:rPr lang="en-US" sz="1200" dirty="0">
                <a:solidFill>
                  <a:srgbClr val="1F2229"/>
                </a:solidFill>
                <a:latin typeface="Calibri" pitchFamily="34" charset="0"/>
                <a:ea typeface="Calibri" pitchFamily="34" charset="-122"/>
                <a:cs typeface="Calibri" pitchFamily="34" charset="-120"/>
              </a:rPr>
              <a:t>A refusal is usually the system working. Note it, then ask why — the answer is normally a control.</a:t>
            </a:r>
            <a:endParaRPr lang="en-US" sz="1200" dirty="0"/>
          </a:p>
        </p:txBody>
      </p:sp>
      <p:sp>
        <p:nvSpPr>
          <p:cNvPr id="24" name="Text 21"/>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SIGNING IN · 1 OF 2</a:t>
            </a:r>
            <a:endParaRPr lang="en-US" sz="1150" dirty="0"/>
          </a:p>
        </p:txBody>
      </p:sp>
      <p:sp>
        <p:nvSpPr>
          <p:cNvPr id="3" name="Text 1"/>
          <p:cNvSpPr/>
          <p:nvPr/>
        </p:nvSpPr>
        <p:spPr>
          <a:xfrm>
            <a:off x="640080" y="764331"/>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Operational roles</a:t>
            </a:r>
            <a:endParaRPr lang="en-US" sz="3200" dirty="0"/>
          </a:p>
        </p:txBody>
      </p:sp>
      <p:sp>
        <p:nvSpPr>
          <p:cNvPr id="4" name="Shape 2"/>
          <p:cNvSpPr/>
          <p:nvPr/>
        </p:nvSpPr>
        <p:spPr>
          <a:xfrm>
            <a:off x="640080" y="1440987"/>
            <a:ext cx="10908792" cy="566928"/>
          </a:xfrm>
          <a:prstGeom prst="roundRect">
            <a:avLst>
              <a:gd name="adj" fmla="val 12903"/>
            </a:avLst>
          </a:prstGeom>
          <a:solidFill>
            <a:srgbClr val="FBE9E9"/>
          </a:solidFill>
          <a:ln w="12700">
            <a:solidFill>
              <a:srgbClr val="F0D4D4"/>
            </a:solidFill>
            <a:prstDash val="solid"/>
          </a:ln>
        </p:spPr>
      </p:sp>
      <p:sp>
        <p:nvSpPr>
          <p:cNvPr id="5" name="Text 3"/>
          <p:cNvSpPr/>
          <p:nvPr/>
        </p:nvSpPr>
        <p:spPr>
          <a:xfrm>
            <a:off x="914400" y="1481328"/>
            <a:ext cx="10424160" cy="566928"/>
          </a:xfrm>
          <a:prstGeom prst="rect">
            <a:avLst/>
          </a:prstGeom>
          <a:noFill/>
          <a:ln/>
        </p:spPr>
        <p:txBody>
          <a:bodyPr wrap="square" lIns="0" tIns="0" rIns="0" bIns="0" rtlCol="0" anchor="ctr"/>
          <a:lstStyle/>
          <a:p>
            <a:pPr marL="0" indent="0">
              <a:buNone/>
            </a:pPr>
            <a:r>
              <a:rPr lang="en-US" sz="1300" b="1" dirty="0">
                <a:solidFill>
                  <a:srgbClr val="1F2229"/>
                </a:solidFill>
                <a:latin typeface="Calibri" pitchFamily="34" charset="0"/>
                <a:ea typeface="Calibri" pitchFamily="34" charset="-122"/>
                <a:cs typeface="Calibri" pitchFamily="34" charset="-120"/>
              </a:rPr>
              <a:t>All logins:  </a:t>
            </a:r>
            <a:r>
              <a:rPr lang="en-US" sz="1300" b="1" dirty="0">
                <a:solidFill>
                  <a:srgbClr val="A81A1A"/>
                </a:solidFill>
                <a:latin typeface="Calibri" pitchFamily="34" charset="0"/>
                <a:ea typeface="Calibri" pitchFamily="34" charset="-122"/>
                <a:cs typeface="Calibri" pitchFamily="34" charset="-120"/>
              </a:rPr>
              <a:t>https://oeaportal.com</a:t>
            </a:r>
            <a:r>
              <a:rPr lang="en-US" sz="1300" dirty="0">
                <a:solidFill>
                  <a:srgbClr val="1F2229"/>
                </a:solidFill>
                <a:latin typeface="Calibri" pitchFamily="34" charset="0"/>
                <a:ea typeface="Calibri" pitchFamily="34" charset="-122"/>
                <a:cs typeface="Calibri" pitchFamily="34" charset="-120"/>
              </a:rPr>
              <a:t>      Password for every account:  </a:t>
            </a:r>
            <a:r>
              <a:rPr lang="en-US" sz="1300" b="1" dirty="0">
                <a:solidFill>
                  <a:srgbClr val="A81A1A"/>
                </a:solidFill>
                <a:latin typeface="Calibri" pitchFamily="34" charset="0"/>
                <a:ea typeface="Calibri" pitchFamily="34" charset="-122"/>
                <a:cs typeface="Calibri" pitchFamily="34" charset="-120"/>
              </a:rPr>
              <a:t>OEGroupDemo2026!</a:t>
            </a:r>
            <a:endParaRPr lang="en-US" sz="1300" dirty="0"/>
          </a:p>
        </p:txBody>
      </p:sp>
      <p:sp>
        <p:nvSpPr>
          <p:cNvPr id="6" name="Text 4"/>
          <p:cNvSpPr/>
          <p:nvPr/>
        </p:nvSpPr>
        <p:spPr>
          <a:xfrm>
            <a:off x="777240" y="1975104"/>
            <a:ext cx="2377440" cy="256032"/>
          </a:xfrm>
          <a:prstGeom prst="rect">
            <a:avLst/>
          </a:prstGeom>
          <a:noFill/>
          <a:ln/>
        </p:spPr>
        <p:txBody>
          <a:bodyPr wrap="square" lIns="0" tIns="0" rIns="0" bIns="0" rtlCol="0" anchor="ctr"/>
          <a:lstStyle/>
          <a:p>
            <a:pPr marL="0" indent="0">
              <a:buNone/>
            </a:pPr>
            <a:r>
              <a:rPr lang="en-US" sz="950" b="1" kern="0" spc="140" dirty="0">
                <a:solidFill>
                  <a:srgbClr val="5C616E"/>
                </a:solidFill>
                <a:latin typeface="Calibri" pitchFamily="34" charset="0"/>
                <a:ea typeface="Calibri" pitchFamily="34" charset="-122"/>
                <a:cs typeface="Calibri" pitchFamily="34" charset="-120"/>
              </a:rPr>
              <a:t>ROLE</a:t>
            </a:r>
            <a:endParaRPr lang="en-US" sz="950" dirty="0"/>
          </a:p>
        </p:txBody>
      </p:sp>
      <p:sp>
        <p:nvSpPr>
          <p:cNvPr id="7" name="Text 5"/>
          <p:cNvSpPr/>
          <p:nvPr/>
        </p:nvSpPr>
        <p:spPr>
          <a:xfrm>
            <a:off x="3200400" y="1975104"/>
            <a:ext cx="3566160" cy="256032"/>
          </a:xfrm>
          <a:prstGeom prst="rect">
            <a:avLst/>
          </a:prstGeom>
          <a:noFill/>
          <a:ln/>
        </p:spPr>
        <p:txBody>
          <a:bodyPr wrap="square" lIns="0" tIns="0" rIns="0" bIns="0" rtlCol="0" anchor="ctr"/>
          <a:lstStyle/>
          <a:p>
            <a:pPr marL="0" indent="0">
              <a:buNone/>
            </a:pPr>
            <a:r>
              <a:rPr lang="en-US" sz="950" b="1" kern="0" spc="140" dirty="0">
                <a:solidFill>
                  <a:srgbClr val="5C616E"/>
                </a:solidFill>
                <a:latin typeface="Calibri" pitchFamily="34" charset="0"/>
                <a:ea typeface="Calibri" pitchFamily="34" charset="-122"/>
                <a:cs typeface="Calibri" pitchFamily="34" charset="-120"/>
              </a:rPr>
              <a:t>SIGN IN AS</a:t>
            </a:r>
            <a:endParaRPr lang="en-US" sz="950" dirty="0"/>
          </a:p>
        </p:txBody>
      </p:sp>
      <p:sp>
        <p:nvSpPr>
          <p:cNvPr id="8" name="Text 6"/>
          <p:cNvSpPr/>
          <p:nvPr/>
        </p:nvSpPr>
        <p:spPr>
          <a:xfrm>
            <a:off x="6858000" y="1975104"/>
            <a:ext cx="4663440" cy="256032"/>
          </a:xfrm>
          <a:prstGeom prst="rect">
            <a:avLst/>
          </a:prstGeom>
          <a:noFill/>
          <a:ln/>
        </p:spPr>
        <p:txBody>
          <a:bodyPr wrap="square" lIns="0" tIns="0" rIns="0" bIns="0" rtlCol="0" anchor="ctr"/>
          <a:lstStyle/>
          <a:p>
            <a:pPr marL="0" indent="0">
              <a:buNone/>
            </a:pPr>
            <a:r>
              <a:rPr lang="en-US" sz="950" b="1" kern="0" spc="140" dirty="0">
                <a:solidFill>
                  <a:srgbClr val="5C616E"/>
                </a:solidFill>
                <a:latin typeface="Calibri" pitchFamily="34" charset="0"/>
                <a:ea typeface="Calibri" pitchFamily="34" charset="-122"/>
                <a:cs typeface="Calibri" pitchFamily="34" charset="-120"/>
              </a:rPr>
              <a:t>WHAT THEY SEE</a:t>
            </a:r>
            <a:endParaRPr lang="en-US" sz="950" dirty="0"/>
          </a:p>
        </p:txBody>
      </p:sp>
      <p:sp>
        <p:nvSpPr>
          <p:cNvPr id="9" name="Shape 7"/>
          <p:cNvSpPr/>
          <p:nvPr/>
        </p:nvSpPr>
        <p:spPr>
          <a:xfrm>
            <a:off x="640080" y="2267712"/>
            <a:ext cx="10908792" cy="603504"/>
          </a:xfrm>
          <a:prstGeom prst="rect">
            <a:avLst/>
          </a:prstGeom>
          <a:solidFill>
            <a:srgbClr val="FBF7F2"/>
          </a:solidFill>
          <a:ln/>
        </p:spPr>
      </p:sp>
      <p:sp>
        <p:nvSpPr>
          <p:cNvPr id="10" name="Text 8"/>
          <p:cNvSpPr/>
          <p:nvPr/>
        </p:nvSpPr>
        <p:spPr>
          <a:xfrm>
            <a:off x="777240" y="2267712"/>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Tenant</a:t>
            </a:r>
            <a:endParaRPr lang="en-US" sz="1250" dirty="0"/>
          </a:p>
        </p:txBody>
      </p:sp>
      <p:sp>
        <p:nvSpPr>
          <p:cNvPr id="11" name="Text 9"/>
          <p:cNvSpPr/>
          <p:nvPr/>
        </p:nvSpPr>
        <p:spPr>
          <a:xfrm>
            <a:off x="3200400" y="2304288"/>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oea.tenant@oegroup.test</a:t>
            </a:r>
            <a:endParaRPr lang="en-US" sz="1100" dirty="0"/>
          </a:p>
        </p:txBody>
      </p:sp>
      <p:sp>
        <p:nvSpPr>
          <p:cNvPr id="12" name="Text 10"/>
          <p:cNvSpPr/>
          <p:nvPr/>
        </p:nvSpPr>
        <p:spPr>
          <a:xfrm>
            <a:off x="3200400" y="2569464"/>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Kelechi Umeh</a:t>
            </a:r>
            <a:endParaRPr lang="en-US" sz="950" dirty="0"/>
          </a:p>
        </p:txBody>
      </p:sp>
      <p:sp>
        <p:nvSpPr>
          <p:cNvPr id="13" name="Text 11"/>
          <p:cNvSpPr/>
          <p:nvPr/>
        </p:nvSpPr>
        <p:spPr>
          <a:xfrm>
            <a:off x="6858000" y="2267712"/>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Raises requests, sees own rent and statements</a:t>
            </a:r>
            <a:endParaRPr lang="en-US" sz="1100" dirty="0"/>
          </a:p>
        </p:txBody>
      </p:sp>
      <p:sp>
        <p:nvSpPr>
          <p:cNvPr id="14" name="Text 12"/>
          <p:cNvSpPr/>
          <p:nvPr/>
        </p:nvSpPr>
        <p:spPr>
          <a:xfrm>
            <a:off x="777240" y="2871216"/>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Vendor</a:t>
            </a:r>
            <a:endParaRPr lang="en-US" sz="1250" dirty="0"/>
          </a:p>
        </p:txBody>
      </p:sp>
      <p:sp>
        <p:nvSpPr>
          <p:cNvPr id="15" name="Text 13"/>
          <p:cNvSpPr/>
          <p:nvPr/>
        </p:nvSpPr>
        <p:spPr>
          <a:xfrm>
            <a:off x="3200400" y="2907792"/>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oea.vendor@oegroup.test</a:t>
            </a:r>
            <a:endParaRPr lang="en-US" sz="1100" dirty="0"/>
          </a:p>
        </p:txBody>
      </p:sp>
      <p:sp>
        <p:nvSpPr>
          <p:cNvPr id="16" name="Text 14"/>
          <p:cNvSpPr/>
          <p:nvPr/>
        </p:nvSpPr>
        <p:spPr>
          <a:xfrm>
            <a:off x="3200400" y="3172968"/>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GreenLeaf Landscaping</a:t>
            </a:r>
            <a:endParaRPr lang="en-US" sz="950" dirty="0"/>
          </a:p>
        </p:txBody>
      </p:sp>
      <p:sp>
        <p:nvSpPr>
          <p:cNvPr id="17" name="Text 15"/>
          <p:cNvSpPr/>
          <p:nvPr/>
        </p:nvSpPr>
        <p:spPr>
          <a:xfrm>
            <a:off x="6858000" y="2871216"/>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Own jobs, evidence, invoices, scorecard</a:t>
            </a:r>
            <a:endParaRPr lang="en-US" sz="1100" dirty="0"/>
          </a:p>
        </p:txBody>
      </p:sp>
      <p:sp>
        <p:nvSpPr>
          <p:cNvPr id="18" name="Shape 16"/>
          <p:cNvSpPr/>
          <p:nvPr/>
        </p:nvSpPr>
        <p:spPr>
          <a:xfrm>
            <a:off x="640080" y="3474720"/>
            <a:ext cx="10908792" cy="603504"/>
          </a:xfrm>
          <a:prstGeom prst="rect">
            <a:avLst/>
          </a:prstGeom>
          <a:solidFill>
            <a:srgbClr val="FBF7F2"/>
          </a:solidFill>
          <a:ln/>
        </p:spPr>
      </p:sp>
      <p:sp>
        <p:nvSpPr>
          <p:cNvPr id="19" name="Text 17"/>
          <p:cNvSpPr/>
          <p:nvPr/>
        </p:nvSpPr>
        <p:spPr>
          <a:xfrm>
            <a:off x="777240" y="3474720"/>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FM Ops Staff</a:t>
            </a:r>
            <a:endParaRPr lang="en-US" sz="1250" dirty="0"/>
          </a:p>
        </p:txBody>
      </p:sp>
      <p:sp>
        <p:nvSpPr>
          <p:cNvPr id="20" name="Text 18"/>
          <p:cNvSpPr/>
          <p:nvPr/>
        </p:nvSpPr>
        <p:spPr>
          <a:xfrm>
            <a:off x="3200400" y="3511296"/>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oea.ops@oegroup.test</a:t>
            </a:r>
            <a:endParaRPr lang="en-US" sz="1100" dirty="0"/>
          </a:p>
        </p:txBody>
      </p:sp>
      <p:sp>
        <p:nvSpPr>
          <p:cNvPr id="21" name="Text 19"/>
          <p:cNvSpPr/>
          <p:nvPr/>
        </p:nvSpPr>
        <p:spPr>
          <a:xfrm>
            <a:off x="3200400" y="3776472"/>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Yusuf Garba</a:t>
            </a:r>
            <a:endParaRPr lang="en-US" sz="950" dirty="0"/>
          </a:p>
        </p:txBody>
      </p:sp>
      <p:sp>
        <p:nvSpPr>
          <p:cNvPr id="22" name="Text 20"/>
          <p:cNvSpPr/>
          <p:nvPr/>
        </p:nvSpPr>
        <p:spPr>
          <a:xfrm>
            <a:off x="6858000" y="3474720"/>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Jobs dispatched to them; no money, no config</a:t>
            </a:r>
            <a:endParaRPr lang="en-US" sz="1100" dirty="0"/>
          </a:p>
        </p:txBody>
      </p:sp>
      <p:sp>
        <p:nvSpPr>
          <p:cNvPr id="23" name="Text 21"/>
          <p:cNvSpPr/>
          <p:nvPr/>
        </p:nvSpPr>
        <p:spPr>
          <a:xfrm>
            <a:off x="777240" y="4078224"/>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Facilities Manager</a:t>
            </a:r>
            <a:endParaRPr lang="en-US" sz="1250" dirty="0"/>
          </a:p>
        </p:txBody>
      </p:sp>
      <p:sp>
        <p:nvSpPr>
          <p:cNvPr id="24" name="Text 22"/>
          <p:cNvSpPr/>
          <p:nvPr/>
        </p:nvSpPr>
        <p:spPr>
          <a:xfrm>
            <a:off x="3200400" y="4114800"/>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oea.fmgr@oegroup.test</a:t>
            </a:r>
            <a:endParaRPr lang="en-US" sz="1100" dirty="0"/>
          </a:p>
        </p:txBody>
      </p:sp>
      <p:sp>
        <p:nvSpPr>
          <p:cNvPr id="25" name="Text 23"/>
          <p:cNvSpPr/>
          <p:nvPr/>
        </p:nvSpPr>
        <p:spPr>
          <a:xfrm>
            <a:off x="3200400" y="4379976"/>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Chika Eze</a:t>
            </a:r>
            <a:endParaRPr lang="en-US" sz="950" dirty="0"/>
          </a:p>
        </p:txBody>
      </p:sp>
      <p:sp>
        <p:nvSpPr>
          <p:cNvPr id="26" name="Text 24"/>
          <p:cNvSpPr/>
          <p:nvPr/>
        </p:nvSpPr>
        <p:spPr>
          <a:xfrm>
            <a:off x="6858000" y="4078224"/>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Plant and services on assigned properties</a:t>
            </a:r>
            <a:endParaRPr lang="en-US" sz="1100" dirty="0"/>
          </a:p>
        </p:txBody>
      </p:sp>
      <p:sp>
        <p:nvSpPr>
          <p:cNvPr id="27" name="Shape 25"/>
          <p:cNvSpPr/>
          <p:nvPr/>
        </p:nvSpPr>
        <p:spPr>
          <a:xfrm>
            <a:off x="640080" y="4681728"/>
            <a:ext cx="10908792" cy="603504"/>
          </a:xfrm>
          <a:prstGeom prst="rect">
            <a:avLst/>
          </a:prstGeom>
          <a:solidFill>
            <a:srgbClr val="FBF7F2"/>
          </a:solidFill>
          <a:ln/>
        </p:spPr>
      </p:sp>
      <p:sp>
        <p:nvSpPr>
          <p:cNvPr id="28" name="Text 26"/>
          <p:cNvSpPr/>
          <p:nvPr/>
        </p:nvSpPr>
        <p:spPr>
          <a:xfrm>
            <a:off x="777240" y="4681728"/>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Properties Manager</a:t>
            </a:r>
            <a:endParaRPr lang="en-US" sz="1250" dirty="0"/>
          </a:p>
        </p:txBody>
      </p:sp>
      <p:sp>
        <p:nvSpPr>
          <p:cNvPr id="29" name="Text 27"/>
          <p:cNvSpPr/>
          <p:nvPr/>
        </p:nvSpPr>
        <p:spPr>
          <a:xfrm>
            <a:off x="3200400" y="4718304"/>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oea.pm@oegroup.test</a:t>
            </a:r>
            <a:endParaRPr lang="en-US" sz="1100" dirty="0"/>
          </a:p>
        </p:txBody>
      </p:sp>
      <p:sp>
        <p:nvSpPr>
          <p:cNvPr id="30" name="Text 28"/>
          <p:cNvSpPr/>
          <p:nvPr/>
        </p:nvSpPr>
        <p:spPr>
          <a:xfrm>
            <a:off x="3200400" y="4983480"/>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Ngozi Chukwu</a:t>
            </a:r>
            <a:endParaRPr lang="en-US" sz="950" dirty="0"/>
          </a:p>
        </p:txBody>
      </p:sp>
      <p:sp>
        <p:nvSpPr>
          <p:cNvPr id="31" name="Text 29"/>
          <p:cNvSpPr/>
          <p:nvPr/>
        </p:nvSpPr>
        <p:spPr>
          <a:xfrm>
            <a:off x="6858000" y="4681728"/>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Tenancies and buildings on assigned properties</a:t>
            </a:r>
            <a:endParaRPr lang="en-US" sz="1100" dirty="0"/>
          </a:p>
        </p:txBody>
      </p:sp>
      <p:sp>
        <p:nvSpPr>
          <p:cNvPr id="32" name="Text 30"/>
          <p:cNvSpPr/>
          <p:nvPr/>
        </p:nvSpPr>
        <p:spPr>
          <a:xfrm>
            <a:off x="777240" y="5285232"/>
            <a:ext cx="2377440" cy="60350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Regional Manager</a:t>
            </a:r>
            <a:endParaRPr lang="en-US" sz="1250" dirty="0"/>
          </a:p>
        </p:txBody>
      </p:sp>
      <p:sp>
        <p:nvSpPr>
          <p:cNvPr id="33" name="Text 31"/>
          <p:cNvSpPr/>
          <p:nvPr/>
        </p:nvSpPr>
        <p:spPr>
          <a:xfrm>
            <a:off x="3200400" y="5321808"/>
            <a:ext cx="3566160" cy="292608"/>
          </a:xfrm>
          <a:prstGeom prst="rect">
            <a:avLst/>
          </a:prstGeom>
          <a:noFill/>
          <a:ln/>
        </p:spPr>
        <p:txBody>
          <a:bodyPr wrap="square" lIns="0" tIns="0" rIns="0" bIns="0" rtlCol="0" anchor="ctr"/>
          <a:lstStyle/>
          <a:p>
            <a:pPr marL="0" indent="0">
              <a:buNone/>
            </a:pPr>
            <a:r>
              <a:rPr lang="en-US" sz="1100" dirty="0">
                <a:solidFill>
                  <a:srgbClr val="A81A1A"/>
                </a:solidFill>
                <a:latin typeface="Calibri" pitchFamily="34" charset="0"/>
                <a:ea typeface="Calibri" pitchFamily="34" charset="-122"/>
                <a:cs typeface="Calibri" pitchFamily="34" charset="-120"/>
              </a:rPr>
              <a:t>oea.regional@oegroup.test</a:t>
            </a:r>
            <a:endParaRPr lang="en-US" sz="1100" dirty="0"/>
          </a:p>
        </p:txBody>
      </p:sp>
      <p:sp>
        <p:nvSpPr>
          <p:cNvPr id="34" name="Text 32"/>
          <p:cNvSpPr/>
          <p:nvPr/>
        </p:nvSpPr>
        <p:spPr>
          <a:xfrm>
            <a:off x="3200400" y="5586984"/>
            <a:ext cx="3566160" cy="256032"/>
          </a:xfrm>
          <a:prstGeom prst="rect">
            <a:avLst/>
          </a:prstGeom>
          <a:noFill/>
          <a:ln/>
        </p:spPr>
        <p:txBody>
          <a:bodyPr wrap="square" lIns="0" tIns="0" rIns="0" bIns="0" rtlCol="0" anchor="ctr"/>
          <a:lstStyle/>
          <a:p>
            <a:pPr marL="0" indent="0">
              <a:buNone/>
            </a:pPr>
            <a:r>
              <a:rPr lang="en-US" sz="950" i="1" dirty="0">
                <a:solidFill>
                  <a:srgbClr val="5C616E"/>
                </a:solidFill>
                <a:latin typeface="Calibri" pitchFamily="34" charset="0"/>
                <a:ea typeface="Calibri" pitchFamily="34" charset="-122"/>
                <a:cs typeface="Calibri" pitchFamily="34" charset="-120"/>
              </a:rPr>
              <a:t>Aisha Sani</a:t>
            </a:r>
            <a:endParaRPr lang="en-US" sz="950" dirty="0"/>
          </a:p>
        </p:txBody>
      </p:sp>
      <p:sp>
        <p:nvSpPr>
          <p:cNvPr id="35" name="Text 33"/>
          <p:cNvSpPr/>
          <p:nvPr/>
        </p:nvSpPr>
        <p:spPr>
          <a:xfrm>
            <a:off x="6858000" y="5285232"/>
            <a:ext cx="4663440" cy="60350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Everything an FM/PM holds, across their region</a:t>
            </a:r>
            <a:endParaRPr lang="en-US" sz="1100" dirty="0"/>
          </a:p>
        </p:txBody>
      </p:sp>
      <p:pic>
        <p:nvPicPr>
          <p:cNvPr id="36" name="Image 0" descr="preencoded.png"/>
          <p:cNvPicPr>
            <a:picLocks noChangeAspect="1"/>
          </p:cNvPicPr>
          <p:nvPr/>
        </p:nvPicPr>
        <p:blipFill>
          <a:blip r:embed="rId3"/>
          <a:stretch>
            <a:fillRect/>
          </a:stretch>
        </p:blipFill>
        <p:spPr>
          <a:xfrm>
            <a:off x="777240" y="6053328"/>
            <a:ext cx="219456" cy="219456"/>
          </a:xfrm>
          <a:prstGeom prst="rect">
            <a:avLst/>
          </a:prstGeom>
        </p:spPr>
      </p:pic>
      <p:sp>
        <p:nvSpPr>
          <p:cNvPr id="37" name="Text 34"/>
          <p:cNvSpPr/>
          <p:nvPr/>
        </p:nvSpPr>
        <p:spPr>
          <a:xfrm>
            <a:off x="1097280" y="5989320"/>
            <a:ext cx="10332720" cy="365760"/>
          </a:xfrm>
          <a:prstGeom prst="rect">
            <a:avLst/>
          </a:prstGeom>
          <a:noFill/>
          <a:ln/>
        </p:spPr>
        <p:txBody>
          <a:bodyPr wrap="square" lIns="0" tIns="0" rIns="0" bIns="0" rtlCol="0" anchor="ctr"/>
          <a:lstStyle/>
          <a:p>
            <a:pPr marL="0" indent="0">
              <a:buNone/>
            </a:pPr>
            <a:r>
              <a:rPr lang="en-US" sz="1100" i="1" dirty="0">
                <a:solidFill>
                  <a:srgbClr val="5C616E"/>
                </a:solidFill>
                <a:latin typeface="Calibri" pitchFamily="34" charset="0"/>
                <a:ea typeface="Calibri" pitchFamily="34" charset="-122"/>
                <a:cs typeface="Calibri" pitchFamily="34" charset="-120"/>
              </a:rPr>
              <a:t>Facilities Manager and Properties Manager are two separate roles as of this month — same rank, different discipline, neither can invite the other.</a:t>
            </a:r>
            <a:endParaRPr lang="en-US" sz="1100" dirty="0"/>
          </a:p>
        </p:txBody>
      </p:sp>
      <p:sp>
        <p:nvSpPr>
          <p:cNvPr id="38" name="Text 3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SIGNING IN · 2 OF 2</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Money, oversight and the rest</a:t>
            </a:r>
            <a:endParaRPr lang="en-US" sz="3200" dirty="0"/>
          </a:p>
        </p:txBody>
      </p:sp>
      <p:sp>
        <p:nvSpPr>
          <p:cNvPr id="4" name="Text 2"/>
          <p:cNvSpPr/>
          <p:nvPr/>
        </p:nvSpPr>
        <p:spPr>
          <a:xfrm>
            <a:off x="777240" y="1737360"/>
            <a:ext cx="5486400" cy="256032"/>
          </a:xfrm>
          <a:prstGeom prst="rect">
            <a:avLst/>
          </a:prstGeom>
          <a:noFill/>
          <a:ln/>
        </p:spPr>
        <p:txBody>
          <a:bodyPr wrap="square" lIns="0" tIns="0" rIns="0" bIns="0" rtlCol="0" anchor="ctr"/>
          <a:lstStyle/>
          <a:p>
            <a:pPr marL="0" indent="0">
              <a:buNone/>
            </a:pPr>
            <a:r>
              <a:rPr lang="en-US" sz="1000" b="1" kern="0" spc="160" dirty="0">
                <a:solidFill>
                  <a:srgbClr val="A81A1A"/>
                </a:solidFill>
                <a:latin typeface="Calibri" pitchFamily="34" charset="0"/>
                <a:ea typeface="Calibri" pitchFamily="34" charset="-122"/>
                <a:cs typeface="Calibri" pitchFamily="34" charset="-120"/>
              </a:rPr>
              <a:t>THE PAYMENT CHAIN</a:t>
            </a:r>
            <a:endParaRPr lang="en-US" sz="1000" dirty="0"/>
          </a:p>
        </p:txBody>
      </p:sp>
      <p:sp>
        <p:nvSpPr>
          <p:cNvPr id="5" name="Shape 3"/>
          <p:cNvSpPr/>
          <p:nvPr/>
        </p:nvSpPr>
        <p:spPr>
          <a:xfrm>
            <a:off x="640080" y="2029968"/>
            <a:ext cx="10908792" cy="512064"/>
          </a:xfrm>
          <a:prstGeom prst="rect">
            <a:avLst/>
          </a:prstGeom>
          <a:solidFill>
            <a:srgbClr val="FBF7F2"/>
          </a:solidFill>
          <a:ln/>
        </p:spPr>
      </p:sp>
      <p:sp>
        <p:nvSpPr>
          <p:cNvPr id="6" name="Text 4"/>
          <p:cNvSpPr/>
          <p:nvPr/>
        </p:nvSpPr>
        <p:spPr>
          <a:xfrm>
            <a:off x="777240" y="2029968"/>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Finance Approver</a:t>
            </a:r>
            <a:endParaRPr lang="en-US" sz="1200" dirty="0"/>
          </a:p>
        </p:txBody>
      </p:sp>
      <p:sp>
        <p:nvSpPr>
          <p:cNvPr id="7" name="Text 5"/>
          <p:cNvSpPr/>
          <p:nvPr/>
        </p:nvSpPr>
        <p:spPr>
          <a:xfrm>
            <a:off x="3200400" y="2048256"/>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oea.finance@oegroup.test</a:t>
            </a:r>
            <a:endParaRPr lang="en-US" sz="1050" dirty="0"/>
          </a:p>
        </p:txBody>
      </p:sp>
      <p:sp>
        <p:nvSpPr>
          <p:cNvPr id="8" name="Text 6"/>
          <p:cNvSpPr/>
          <p:nvPr/>
        </p:nvSpPr>
        <p:spPr>
          <a:xfrm>
            <a:off x="3200400" y="2295144"/>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Tunde Bakare</a:t>
            </a:r>
            <a:endParaRPr lang="en-US" sz="900" dirty="0"/>
          </a:p>
        </p:txBody>
      </p:sp>
      <p:sp>
        <p:nvSpPr>
          <p:cNvPr id="9" name="Text 7"/>
          <p:cNvSpPr/>
          <p:nvPr/>
        </p:nvSpPr>
        <p:spPr>
          <a:xfrm>
            <a:off x="6858000" y="2029968"/>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All financials — and the ONLY role that releases money</a:t>
            </a:r>
            <a:endParaRPr lang="en-US" sz="1050" dirty="0"/>
          </a:p>
        </p:txBody>
      </p:sp>
      <p:sp>
        <p:nvSpPr>
          <p:cNvPr id="10" name="Text 8"/>
          <p:cNvSpPr/>
          <p:nvPr/>
        </p:nvSpPr>
        <p:spPr>
          <a:xfrm>
            <a:off x="777240" y="2542032"/>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Payment Approver</a:t>
            </a:r>
            <a:endParaRPr lang="en-US" sz="1200" dirty="0"/>
          </a:p>
        </p:txBody>
      </p:sp>
      <p:sp>
        <p:nvSpPr>
          <p:cNvPr id="11" name="Text 9"/>
          <p:cNvSpPr/>
          <p:nvPr/>
        </p:nvSpPr>
        <p:spPr>
          <a:xfrm>
            <a:off x="3200400" y="2560320"/>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oea.approver@oegroup.test</a:t>
            </a:r>
            <a:endParaRPr lang="en-US" sz="1050" dirty="0"/>
          </a:p>
        </p:txBody>
      </p:sp>
      <p:sp>
        <p:nvSpPr>
          <p:cNvPr id="12" name="Text 10"/>
          <p:cNvSpPr/>
          <p:nvPr/>
        </p:nvSpPr>
        <p:spPr>
          <a:xfrm>
            <a:off x="3200400" y="2807208"/>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Tunde Salami</a:t>
            </a:r>
            <a:endParaRPr lang="en-US" sz="900" dirty="0"/>
          </a:p>
        </p:txBody>
      </p:sp>
      <p:sp>
        <p:nvSpPr>
          <p:cNvPr id="13" name="Text 11"/>
          <p:cNvSpPr/>
          <p:nvPr/>
        </p:nvSpPr>
        <p:spPr>
          <a:xfrm>
            <a:off x="6858000" y="2542032"/>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Stage 3 final approval, Tier 2 (to ₦1,000,000)</a:t>
            </a:r>
            <a:endParaRPr lang="en-US" sz="1050" dirty="0"/>
          </a:p>
        </p:txBody>
      </p:sp>
      <p:sp>
        <p:nvSpPr>
          <p:cNvPr id="14" name="Shape 12"/>
          <p:cNvSpPr/>
          <p:nvPr/>
        </p:nvSpPr>
        <p:spPr>
          <a:xfrm>
            <a:off x="640080" y="3054096"/>
            <a:ext cx="10908792" cy="512064"/>
          </a:xfrm>
          <a:prstGeom prst="rect">
            <a:avLst/>
          </a:prstGeom>
          <a:solidFill>
            <a:srgbClr val="FBF7F2"/>
          </a:solidFill>
          <a:ln/>
        </p:spPr>
      </p:sp>
      <p:sp>
        <p:nvSpPr>
          <p:cNvPr id="15" name="Text 13"/>
          <p:cNvSpPr/>
          <p:nvPr/>
        </p:nvSpPr>
        <p:spPr>
          <a:xfrm>
            <a:off x="777240" y="3054096"/>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Payment Auditor</a:t>
            </a:r>
            <a:endParaRPr lang="en-US" sz="1200" dirty="0"/>
          </a:p>
        </p:txBody>
      </p:sp>
      <p:sp>
        <p:nvSpPr>
          <p:cNvPr id="16" name="Text 14"/>
          <p:cNvSpPr/>
          <p:nvPr/>
        </p:nvSpPr>
        <p:spPr>
          <a:xfrm>
            <a:off x="3200400" y="3072384"/>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oea.auditapprover@oegroup.test</a:t>
            </a:r>
            <a:endParaRPr lang="en-US" sz="1050" dirty="0"/>
          </a:p>
        </p:txBody>
      </p:sp>
      <p:sp>
        <p:nvSpPr>
          <p:cNvPr id="17" name="Text 15"/>
          <p:cNvSpPr/>
          <p:nvPr/>
        </p:nvSpPr>
        <p:spPr>
          <a:xfrm>
            <a:off x="3200400" y="3319272"/>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Grace Nwankwo</a:t>
            </a:r>
            <a:endParaRPr lang="en-US" sz="900" dirty="0"/>
          </a:p>
        </p:txBody>
      </p:sp>
      <p:sp>
        <p:nvSpPr>
          <p:cNvPr id="18" name="Text 16"/>
          <p:cNvSpPr/>
          <p:nvPr/>
        </p:nvSpPr>
        <p:spPr>
          <a:xfrm>
            <a:off x="6858000" y="3054096"/>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Stage 2 — checks invoice against job card and evidence</a:t>
            </a:r>
            <a:endParaRPr lang="en-US" sz="1050" dirty="0"/>
          </a:p>
        </p:txBody>
      </p:sp>
      <p:sp>
        <p:nvSpPr>
          <p:cNvPr id="19" name="Text 17"/>
          <p:cNvSpPr/>
          <p:nvPr/>
        </p:nvSpPr>
        <p:spPr>
          <a:xfrm>
            <a:off x="777240" y="3566160"/>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Executive</a:t>
            </a:r>
            <a:endParaRPr lang="en-US" sz="1200" dirty="0"/>
          </a:p>
        </p:txBody>
      </p:sp>
      <p:sp>
        <p:nvSpPr>
          <p:cNvPr id="20" name="Text 18"/>
          <p:cNvSpPr/>
          <p:nvPr/>
        </p:nvSpPr>
        <p:spPr>
          <a:xfrm>
            <a:off x="3200400" y="3584448"/>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oea.executive@oegroup.test</a:t>
            </a:r>
            <a:endParaRPr lang="en-US" sz="1050" dirty="0"/>
          </a:p>
        </p:txBody>
      </p:sp>
      <p:sp>
        <p:nvSpPr>
          <p:cNvPr id="21" name="Text 19"/>
          <p:cNvSpPr/>
          <p:nvPr/>
        </p:nvSpPr>
        <p:spPr>
          <a:xfrm>
            <a:off x="3200400" y="3831336"/>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Emeka Ilo</a:t>
            </a:r>
            <a:endParaRPr lang="en-US" sz="900" dirty="0"/>
          </a:p>
        </p:txBody>
      </p:sp>
      <p:sp>
        <p:nvSpPr>
          <p:cNvPr id="22" name="Text 20"/>
          <p:cNvSpPr/>
          <p:nvPr/>
        </p:nvSpPr>
        <p:spPr>
          <a:xfrm>
            <a:off x="6858000" y="3566160"/>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Managing Partner. Approves above threshold; never releases</a:t>
            </a:r>
            <a:endParaRPr lang="en-US" sz="1050" dirty="0"/>
          </a:p>
        </p:txBody>
      </p:sp>
      <p:sp>
        <p:nvSpPr>
          <p:cNvPr id="23" name="Text 21"/>
          <p:cNvSpPr/>
          <p:nvPr/>
        </p:nvSpPr>
        <p:spPr>
          <a:xfrm>
            <a:off x="777240" y="4242816"/>
            <a:ext cx="5486400" cy="256032"/>
          </a:xfrm>
          <a:prstGeom prst="rect">
            <a:avLst/>
          </a:prstGeom>
          <a:noFill/>
          <a:ln/>
        </p:spPr>
        <p:txBody>
          <a:bodyPr wrap="square" lIns="0" tIns="0" rIns="0" bIns="0" rtlCol="0" anchor="ctr"/>
          <a:lstStyle/>
          <a:p>
            <a:pPr marL="0" indent="0">
              <a:buNone/>
            </a:pPr>
            <a:r>
              <a:rPr lang="en-US" sz="1000" b="1" kern="0" spc="160" dirty="0">
                <a:solidFill>
                  <a:srgbClr val="A81A1A"/>
                </a:solidFill>
                <a:latin typeface="Calibri" pitchFamily="34" charset="0"/>
                <a:ea typeface="Calibri" pitchFamily="34" charset="-122"/>
                <a:cs typeface="Calibri" pitchFamily="34" charset="-120"/>
              </a:rPr>
              <a:t>PORTFOLIO, ADMINISTRATION AND READ-ONLY</a:t>
            </a:r>
            <a:endParaRPr lang="en-US" sz="1000" dirty="0"/>
          </a:p>
        </p:txBody>
      </p:sp>
      <p:sp>
        <p:nvSpPr>
          <p:cNvPr id="24" name="Shape 22"/>
          <p:cNvSpPr/>
          <p:nvPr/>
        </p:nvSpPr>
        <p:spPr>
          <a:xfrm>
            <a:off x="640080" y="4535424"/>
            <a:ext cx="10908792" cy="512064"/>
          </a:xfrm>
          <a:prstGeom prst="rect">
            <a:avLst/>
          </a:prstGeom>
          <a:solidFill>
            <a:srgbClr val="FBF7F2"/>
          </a:solidFill>
          <a:ln/>
        </p:spPr>
      </p:sp>
      <p:sp>
        <p:nvSpPr>
          <p:cNvPr id="25" name="Text 23"/>
          <p:cNvSpPr/>
          <p:nvPr/>
        </p:nvSpPr>
        <p:spPr>
          <a:xfrm>
            <a:off x="777240" y="4535424"/>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Property Owner</a:t>
            </a:r>
            <a:endParaRPr lang="en-US" sz="1200" dirty="0"/>
          </a:p>
        </p:txBody>
      </p:sp>
      <p:sp>
        <p:nvSpPr>
          <p:cNvPr id="26" name="Text 24"/>
          <p:cNvSpPr/>
          <p:nvPr/>
        </p:nvSpPr>
        <p:spPr>
          <a:xfrm>
            <a:off x="3200400" y="4553712"/>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oea.owner@oegroup.test</a:t>
            </a:r>
            <a:endParaRPr lang="en-US" sz="1050" dirty="0"/>
          </a:p>
        </p:txBody>
      </p:sp>
      <p:sp>
        <p:nvSpPr>
          <p:cNvPr id="27" name="Text 25"/>
          <p:cNvSpPr/>
          <p:nvPr/>
        </p:nvSpPr>
        <p:spPr>
          <a:xfrm>
            <a:off x="3200400" y="4800600"/>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Ifeoma Duru</a:t>
            </a:r>
            <a:endParaRPr lang="en-US" sz="900" dirty="0"/>
          </a:p>
        </p:txBody>
      </p:sp>
      <p:sp>
        <p:nvSpPr>
          <p:cNvPr id="28" name="Text 26"/>
          <p:cNvSpPr/>
          <p:nvPr/>
        </p:nvSpPr>
        <p:spPr>
          <a:xfrm>
            <a:off x="6858000" y="4535424"/>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Own portfolio, statements, payments — not the request queue</a:t>
            </a:r>
            <a:endParaRPr lang="en-US" sz="1050" dirty="0"/>
          </a:p>
        </p:txBody>
      </p:sp>
      <p:sp>
        <p:nvSpPr>
          <p:cNvPr id="29" name="Text 27"/>
          <p:cNvSpPr/>
          <p:nvPr/>
        </p:nvSpPr>
        <p:spPr>
          <a:xfrm>
            <a:off x="777240" y="5047488"/>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Administrator</a:t>
            </a:r>
            <a:endParaRPr lang="en-US" sz="1200" dirty="0"/>
          </a:p>
        </p:txBody>
      </p:sp>
      <p:sp>
        <p:nvSpPr>
          <p:cNvPr id="30" name="Text 28"/>
          <p:cNvSpPr/>
          <p:nvPr/>
        </p:nvSpPr>
        <p:spPr>
          <a:xfrm>
            <a:off x="3200400" y="5065776"/>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oea.admin@oegroup.test</a:t>
            </a:r>
            <a:endParaRPr lang="en-US" sz="1050" dirty="0"/>
          </a:p>
        </p:txBody>
      </p:sp>
      <p:sp>
        <p:nvSpPr>
          <p:cNvPr id="31" name="Text 29"/>
          <p:cNvSpPr/>
          <p:nvPr/>
        </p:nvSpPr>
        <p:spPr>
          <a:xfrm>
            <a:off x="3200400" y="5312664"/>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Zainab Bello</a:t>
            </a:r>
            <a:endParaRPr lang="en-US" sz="900" dirty="0"/>
          </a:p>
        </p:txBody>
      </p:sp>
      <p:sp>
        <p:nvSpPr>
          <p:cNvPr id="32" name="Text 30"/>
          <p:cNvSpPr/>
          <p:nvPr/>
        </p:nvSpPr>
        <p:spPr>
          <a:xfrm>
            <a:off x="6858000" y="5047488"/>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All of it, plus approvers, limits and settings</a:t>
            </a:r>
            <a:endParaRPr lang="en-US" sz="1050" dirty="0"/>
          </a:p>
        </p:txBody>
      </p:sp>
      <p:sp>
        <p:nvSpPr>
          <p:cNvPr id="33" name="Shape 31"/>
          <p:cNvSpPr/>
          <p:nvPr/>
        </p:nvSpPr>
        <p:spPr>
          <a:xfrm>
            <a:off x="640080" y="5559552"/>
            <a:ext cx="10908792" cy="512064"/>
          </a:xfrm>
          <a:prstGeom prst="rect">
            <a:avLst/>
          </a:prstGeom>
          <a:solidFill>
            <a:srgbClr val="FBF7F2"/>
          </a:solidFill>
          <a:ln/>
        </p:spPr>
      </p:sp>
      <p:sp>
        <p:nvSpPr>
          <p:cNvPr id="34" name="Text 32"/>
          <p:cNvSpPr/>
          <p:nvPr/>
        </p:nvSpPr>
        <p:spPr>
          <a:xfrm>
            <a:off x="777240" y="5559552"/>
            <a:ext cx="2377440" cy="512064"/>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Viewer</a:t>
            </a:r>
            <a:endParaRPr lang="en-US" sz="1200" dirty="0"/>
          </a:p>
        </p:txBody>
      </p:sp>
      <p:sp>
        <p:nvSpPr>
          <p:cNvPr id="35" name="Text 33"/>
          <p:cNvSpPr/>
          <p:nvPr/>
        </p:nvSpPr>
        <p:spPr>
          <a:xfrm>
            <a:off x="3200400" y="5577840"/>
            <a:ext cx="3566160" cy="256032"/>
          </a:xfrm>
          <a:prstGeom prst="rect">
            <a:avLst/>
          </a:prstGeom>
          <a:noFill/>
          <a:ln/>
        </p:spPr>
        <p:txBody>
          <a:bodyPr wrap="square" lIns="0" tIns="0" rIns="0" bIns="0" rtlCol="0" anchor="ctr"/>
          <a:lstStyle/>
          <a:p>
            <a:pPr marL="0" indent="0">
              <a:buNone/>
            </a:pPr>
            <a:r>
              <a:rPr lang="en-US" sz="1050" dirty="0">
                <a:solidFill>
                  <a:srgbClr val="A81A1A"/>
                </a:solidFill>
                <a:latin typeface="Calibri" pitchFamily="34" charset="0"/>
                <a:ea typeface="Calibri" pitchFamily="34" charset="-122"/>
                <a:cs typeface="Calibri" pitchFamily="34" charset="-120"/>
              </a:rPr>
              <a:t>oea.viewer@oegroup.test</a:t>
            </a:r>
            <a:endParaRPr lang="en-US" sz="1050" dirty="0"/>
          </a:p>
        </p:txBody>
      </p:sp>
      <p:sp>
        <p:nvSpPr>
          <p:cNvPr id="36" name="Text 34"/>
          <p:cNvSpPr/>
          <p:nvPr/>
        </p:nvSpPr>
        <p:spPr>
          <a:xfrm>
            <a:off x="3200400" y="5824728"/>
            <a:ext cx="3566160" cy="228600"/>
          </a:xfrm>
          <a:prstGeom prst="rect">
            <a:avLst/>
          </a:prstGeom>
          <a:noFill/>
          <a:ln/>
        </p:spPr>
        <p:txBody>
          <a:bodyPr wrap="square" lIns="0" tIns="0" rIns="0" bIns="0" rtlCol="0" anchor="ctr"/>
          <a:lstStyle/>
          <a:p>
            <a:pPr marL="0" indent="0">
              <a:buNone/>
            </a:pPr>
            <a:r>
              <a:rPr lang="en-US" sz="900" i="1" dirty="0">
                <a:solidFill>
                  <a:srgbClr val="5C616E"/>
                </a:solidFill>
                <a:latin typeface="Calibri" pitchFamily="34" charset="0"/>
                <a:ea typeface="Calibri" pitchFamily="34" charset="-122"/>
                <a:cs typeface="Calibri" pitchFamily="34" charset="-120"/>
              </a:rPr>
              <a:t>Blessing Okoro</a:t>
            </a:r>
            <a:endParaRPr lang="en-US" sz="900" dirty="0"/>
          </a:p>
        </p:txBody>
      </p:sp>
      <p:sp>
        <p:nvSpPr>
          <p:cNvPr id="37" name="Text 35"/>
          <p:cNvSpPr/>
          <p:nvPr/>
        </p:nvSpPr>
        <p:spPr>
          <a:xfrm>
            <a:off x="6858000" y="5559552"/>
            <a:ext cx="4663440" cy="512064"/>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Read-only. The safest seat to explore from</a:t>
            </a:r>
            <a:endParaRPr lang="en-US" sz="1050" dirty="0"/>
          </a:p>
        </p:txBody>
      </p:sp>
      <p:sp>
        <p:nvSpPr>
          <p:cNvPr id="38" name="Text 36"/>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ORIENTATION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Who does what, in one picture</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Four groups. Work flows left to right; money flows through the middle and out.</a:t>
            </a:r>
            <a:endParaRPr lang="en-US" sz="1450" dirty="0"/>
          </a:p>
        </p:txBody>
      </p:sp>
      <p:sp>
        <p:nvSpPr>
          <p:cNvPr id="5" name="Shape 3"/>
          <p:cNvSpPr/>
          <p:nvPr/>
        </p:nvSpPr>
        <p:spPr>
          <a:xfrm>
            <a:off x="640080" y="2212848"/>
            <a:ext cx="2651760" cy="3246120"/>
          </a:xfrm>
          <a:prstGeom prst="roundRect">
            <a:avLst>
              <a:gd name="adj" fmla="val 2759"/>
            </a:avLst>
          </a:prstGeom>
          <a:solidFill>
            <a:srgbClr val="FFFFFF"/>
          </a:solidFill>
          <a:ln w="12700">
            <a:solidFill>
              <a:srgbClr val="E8E2DA"/>
            </a:solidFill>
            <a:prstDash val="solid"/>
          </a:ln>
        </p:spPr>
      </p:sp>
      <p:pic>
        <p:nvPicPr>
          <p:cNvPr id="6" name="Image 0" descr="preencoded.png"/>
          <p:cNvPicPr>
            <a:picLocks noChangeAspect="1"/>
          </p:cNvPicPr>
          <p:nvPr/>
        </p:nvPicPr>
        <p:blipFill>
          <a:blip r:embed="rId3"/>
          <a:stretch>
            <a:fillRect/>
          </a:stretch>
        </p:blipFill>
        <p:spPr>
          <a:xfrm>
            <a:off x="896112" y="2450592"/>
            <a:ext cx="310896" cy="310896"/>
          </a:xfrm>
          <a:prstGeom prst="rect">
            <a:avLst/>
          </a:prstGeom>
        </p:spPr>
      </p:pic>
      <p:sp>
        <p:nvSpPr>
          <p:cNvPr id="7" name="Text 4"/>
          <p:cNvSpPr/>
          <p:nvPr/>
        </p:nvSpPr>
        <p:spPr>
          <a:xfrm>
            <a:off x="896112" y="2834640"/>
            <a:ext cx="2194560" cy="365760"/>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Raise</a:t>
            </a:r>
            <a:endParaRPr lang="en-US" sz="1700" dirty="0"/>
          </a:p>
        </p:txBody>
      </p:sp>
      <p:sp>
        <p:nvSpPr>
          <p:cNvPr id="8" name="Text 5"/>
          <p:cNvSpPr/>
          <p:nvPr/>
        </p:nvSpPr>
        <p:spPr>
          <a:xfrm>
            <a:off x="896112" y="327355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Tenant</a:t>
            </a:r>
            <a:endParaRPr lang="en-US" sz="1150" dirty="0"/>
          </a:p>
        </p:txBody>
      </p:sp>
      <p:sp>
        <p:nvSpPr>
          <p:cNvPr id="9" name="Text 6"/>
          <p:cNvSpPr/>
          <p:nvPr/>
        </p:nvSpPr>
        <p:spPr>
          <a:xfrm>
            <a:off x="896112" y="354787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Property Owner</a:t>
            </a:r>
            <a:endParaRPr lang="en-US" sz="1150" dirty="0"/>
          </a:p>
        </p:txBody>
      </p:sp>
      <p:sp>
        <p:nvSpPr>
          <p:cNvPr id="10" name="Text 7"/>
          <p:cNvSpPr/>
          <p:nvPr/>
        </p:nvSpPr>
        <p:spPr>
          <a:xfrm>
            <a:off x="896112" y="382219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FM / PM</a:t>
            </a:r>
            <a:endParaRPr lang="en-US" sz="1150" dirty="0"/>
          </a:p>
        </p:txBody>
      </p:sp>
      <p:sp>
        <p:nvSpPr>
          <p:cNvPr id="11" name="Text 8"/>
          <p:cNvSpPr/>
          <p:nvPr/>
        </p:nvSpPr>
        <p:spPr>
          <a:xfrm>
            <a:off x="896112" y="4617720"/>
            <a:ext cx="2194560" cy="73152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Something needs doing, or someone needs an answer.</a:t>
            </a:r>
            <a:endParaRPr lang="en-US" sz="1050" dirty="0"/>
          </a:p>
        </p:txBody>
      </p:sp>
      <p:sp>
        <p:nvSpPr>
          <p:cNvPr id="12" name="Shape 9"/>
          <p:cNvSpPr/>
          <p:nvPr/>
        </p:nvSpPr>
        <p:spPr>
          <a:xfrm>
            <a:off x="3438144" y="2212848"/>
            <a:ext cx="2651760" cy="3246120"/>
          </a:xfrm>
          <a:prstGeom prst="roundRect">
            <a:avLst>
              <a:gd name="adj" fmla="val 2759"/>
            </a:avLst>
          </a:prstGeom>
          <a:solidFill>
            <a:srgbClr val="FFFFFF"/>
          </a:solidFill>
          <a:ln w="12700">
            <a:solidFill>
              <a:srgbClr val="E8E2DA"/>
            </a:solidFill>
            <a:prstDash val="solid"/>
          </a:ln>
        </p:spPr>
      </p:sp>
      <p:pic>
        <p:nvPicPr>
          <p:cNvPr id="13" name="Image 1" descr="preencoded.png"/>
          <p:cNvPicPr>
            <a:picLocks noChangeAspect="1"/>
          </p:cNvPicPr>
          <p:nvPr/>
        </p:nvPicPr>
        <p:blipFill>
          <a:blip r:embed="rId4"/>
          <a:stretch>
            <a:fillRect/>
          </a:stretch>
        </p:blipFill>
        <p:spPr>
          <a:xfrm>
            <a:off x="3694176" y="2450592"/>
            <a:ext cx="310896" cy="310896"/>
          </a:xfrm>
          <a:prstGeom prst="rect">
            <a:avLst/>
          </a:prstGeom>
        </p:spPr>
      </p:pic>
      <p:sp>
        <p:nvSpPr>
          <p:cNvPr id="14" name="Text 10"/>
          <p:cNvSpPr/>
          <p:nvPr/>
        </p:nvSpPr>
        <p:spPr>
          <a:xfrm>
            <a:off x="3694176" y="2834640"/>
            <a:ext cx="2194560" cy="365760"/>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Do</a:t>
            </a:r>
            <a:endParaRPr lang="en-US" sz="1700" dirty="0"/>
          </a:p>
        </p:txBody>
      </p:sp>
      <p:sp>
        <p:nvSpPr>
          <p:cNvPr id="15" name="Text 11"/>
          <p:cNvSpPr/>
          <p:nvPr/>
        </p:nvSpPr>
        <p:spPr>
          <a:xfrm>
            <a:off x="3694176" y="327355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FM / PM</a:t>
            </a:r>
            <a:endParaRPr lang="en-US" sz="1150" dirty="0"/>
          </a:p>
        </p:txBody>
      </p:sp>
      <p:sp>
        <p:nvSpPr>
          <p:cNvPr id="16" name="Text 12"/>
          <p:cNvSpPr/>
          <p:nvPr/>
        </p:nvSpPr>
        <p:spPr>
          <a:xfrm>
            <a:off x="3694176" y="354787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FM Ops Staff</a:t>
            </a:r>
            <a:endParaRPr lang="en-US" sz="1150" dirty="0"/>
          </a:p>
        </p:txBody>
      </p:sp>
      <p:sp>
        <p:nvSpPr>
          <p:cNvPr id="17" name="Text 13"/>
          <p:cNvSpPr/>
          <p:nvPr/>
        </p:nvSpPr>
        <p:spPr>
          <a:xfrm>
            <a:off x="3694176" y="382219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Vendor</a:t>
            </a:r>
            <a:endParaRPr lang="en-US" sz="1150" dirty="0"/>
          </a:p>
        </p:txBody>
      </p:sp>
      <p:sp>
        <p:nvSpPr>
          <p:cNvPr id="18" name="Text 14"/>
          <p:cNvSpPr/>
          <p:nvPr/>
        </p:nvSpPr>
        <p:spPr>
          <a:xfrm>
            <a:off x="3694176" y="409651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Regional Manager</a:t>
            </a:r>
            <a:endParaRPr lang="en-US" sz="1150" dirty="0"/>
          </a:p>
        </p:txBody>
      </p:sp>
      <p:sp>
        <p:nvSpPr>
          <p:cNvPr id="19" name="Text 15"/>
          <p:cNvSpPr/>
          <p:nvPr/>
        </p:nvSpPr>
        <p:spPr>
          <a:xfrm>
            <a:off x="3694176" y="4617720"/>
            <a:ext cx="2194560" cy="73152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Review, dispatch, attend, evidence, invoice.</a:t>
            </a:r>
            <a:endParaRPr lang="en-US" sz="1050" dirty="0"/>
          </a:p>
        </p:txBody>
      </p:sp>
      <p:sp>
        <p:nvSpPr>
          <p:cNvPr id="20" name="Shape 16"/>
          <p:cNvSpPr/>
          <p:nvPr/>
        </p:nvSpPr>
        <p:spPr>
          <a:xfrm>
            <a:off x="6236208" y="2212848"/>
            <a:ext cx="2651760" cy="3246120"/>
          </a:xfrm>
          <a:prstGeom prst="roundRect">
            <a:avLst>
              <a:gd name="adj" fmla="val 2759"/>
            </a:avLst>
          </a:prstGeom>
          <a:solidFill>
            <a:srgbClr val="FFFFFF"/>
          </a:solidFill>
          <a:ln w="12700">
            <a:solidFill>
              <a:srgbClr val="E8E2DA"/>
            </a:solidFill>
            <a:prstDash val="solid"/>
          </a:ln>
        </p:spPr>
      </p:sp>
      <p:pic>
        <p:nvPicPr>
          <p:cNvPr id="21" name="Image 2" descr="preencoded.png"/>
          <p:cNvPicPr>
            <a:picLocks noChangeAspect="1"/>
          </p:cNvPicPr>
          <p:nvPr/>
        </p:nvPicPr>
        <p:blipFill>
          <a:blip r:embed="rId5"/>
          <a:stretch>
            <a:fillRect/>
          </a:stretch>
        </p:blipFill>
        <p:spPr>
          <a:xfrm>
            <a:off x="6492240" y="2450592"/>
            <a:ext cx="310896" cy="310896"/>
          </a:xfrm>
          <a:prstGeom prst="rect">
            <a:avLst/>
          </a:prstGeom>
        </p:spPr>
      </p:pic>
      <p:sp>
        <p:nvSpPr>
          <p:cNvPr id="22" name="Text 17"/>
          <p:cNvSpPr/>
          <p:nvPr/>
        </p:nvSpPr>
        <p:spPr>
          <a:xfrm>
            <a:off x="6492240" y="2834640"/>
            <a:ext cx="2194560" cy="365760"/>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Check &amp; approve</a:t>
            </a:r>
            <a:endParaRPr lang="en-US" sz="1700" dirty="0"/>
          </a:p>
        </p:txBody>
      </p:sp>
      <p:sp>
        <p:nvSpPr>
          <p:cNvPr id="23" name="Text 18"/>
          <p:cNvSpPr/>
          <p:nvPr/>
        </p:nvSpPr>
        <p:spPr>
          <a:xfrm>
            <a:off x="6492240" y="327355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FM / PM sign-off</a:t>
            </a:r>
            <a:endParaRPr lang="en-US" sz="1150" dirty="0"/>
          </a:p>
        </p:txBody>
      </p:sp>
      <p:sp>
        <p:nvSpPr>
          <p:cNvPr id="24" name="Text 19"/>
          <p:cNvSpPr/>
          <p:nvPr/>
        </p:nvSpPr>
        <p:spPr>
          <a:xfrm>
            <a:off x="6492240" y="354787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Payment Auditor</a:t>
            </a:r>
            <a:endParaRPr lang="en-US" sz="1150" dirty="0"/>
          </a:p>
        </p:txBody>
      </p:sp>
      <p:sp>
        <p:nvSpPr>
          <p:cNvPr id="25" name="Text 20"/>
          <p:cNvSpPr/>
          <p:nvPr/>
        </p:nvSpPr>
        <p:spPr>
          <a:xfrm>
            <a:off x="6492240" y="382219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Payment Approver</a:t>
            </a:r>
            <a:endParaRPr lang="en-US" sz="1150" dirty="0"/>
          </a:p>
        </p:txBody>
      </p:sp>
      <p:sp>
        <p:nvSpPr>
          <p:cNvPr id="26" name="Text 21"/>
          <p:cNvSpPr/>
          <p:nvPr/>
        </p:nvSpPr>
        <p:spPr>
          <a:xfrm>
            <a:off x="6492240" y="409651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Executive</a:t>
            </a:r>
            <a:endParaRPr lang="en-US" sz="1150" dirty="0"/>
          </a:p>
        </p:txBody>
      </p:sp>
      <p:sp>
        <p:nvSpPr>
          <p:cNvPr id="27" name="Text 22"/>
          <p:cNvSpPr/>
          <p:nvPr/>
        </p:nvSpPr>
        <p:spPr>
          <a:xfrm>
            <a:off x="6492240" y="4617720"/>
            <a:ext cx="2194560" cy="73152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Three stages, three different pairs of hands.</a:t>
            </a:r>
            <a:endParaRPr lang="en-US" sz="1050" dirty="0"/>
          </a:p>
        </p:txBody>
      </p:sp>
      <p:sp>
        <p:nvSpPr>
          <p:cNvPr id="28" name="Shape 23"/>
          <p:cNvSpPr/>
          <p:nvPr/>
        </p:nvSpPr>
        <p:spPr>
          <a:xfrm>
            <a:off x="9034272" y="2212848"/>
            <a:ext cx="2651760" cy="3246120"/>
          </a:xfrm>
          <a:prstGeom prst="roundRect">
            <a:avLst>
              <a:gd name="adj" fmla="val 2759"/>
            </a:avLst>
          </a:prstGeom>
          <a:solidFill>
            <a:srgbClr val="FFFFFF"/>
          </a:solidFill>
          <a:ln w="12700">
            <a:solidFill>
              <a:srgbClr val="E8E2DA"/>
            </a:solidFill>
            <a:prstDash val="solid"/>
          </a:ln>
        </p:spPr>
      </p:sp>
      <p:pic>
        <p:nvPicPr>
          <p:cNvPr id="29" name="Image 3" descr="preencoded.png"/>
          <p:cNvPicPr>
            <a:picLocks noChangeAspect="1"/>
          </p:cNvPicPr>
          <p:nvPr/>
        </p:nvPicPr>
        <p:blipFill>
          <a:blip r:embed="rId6"/>
          <a:stretch>
            <a:fillRect/>
          </a:stretch>
        </p:blipFill>
        <p:spPr>
          <a:xfrm>
            <a:off x="9290304" y="2450592"/>
            <a:ext cx="310896" cy="310896"/>
          </a:xfrm>
          <a:prstGeom prst="rect">
            <a:avLst/>
          </a:prstGeom>
        </p:spPr>
      </p:pic>
      <p:sp>
        <p:nvSpPr>
          <p:cNvPr id="30" name="Text 24"/>
          <p:cNvSpPr/>
          <p:nvPr/>
        </p:nvSpPr>
        <p:spPr>
          <a:xfrm>
            <a:off x="9290304" y="2834640"/>
            <a:ext cx="2194560" cy="365760"/>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Release &amp; report</a:t>
            </a:r>
            <a:endParaRPr lang="en-US" sz="1700" dirty="0"/>
          </a:p>
        </p:txBody>
      </p:sp>
      <p:sp>
        <p:nvSpPr>
          <p:cNvPr id="31" name="Text 25"/>
          <p:cNvSpPr/>
          <p:nvPr/>
        </p:nvSpPr>
        <p:spPr>
          <a:xfrm>
            <a:off x="9290304" y="327355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Finance Approver</a:t>
            </a:r>
            <a:endParaRPr lang="en-US" sz="1150" dirty="0"/>
          </a:p>
        </p:txBody>
      </p:sp>
      <p:sp>
        <p:nvSpPr>
          <p:cNvPr id="32" name="Text 26"/>
          <p:cNvSpPr/>
          <p:nvPr/>
        </p:nvSpPr>
        <p:spPr>
          <a:xfrm>
            <a:off x="9290304" y="354787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Administrator</a:t>
            </a:r>
            <a:endParaRPr lang="en-US" sz="1150" dirty="0"/>
          </a:p>
        </p:txBody>
      </p:sp>
      <p:sp>
        <p:nvSpPr>
          <p:cNvPr id="33" name="Text 27"/>
          <p:cNvSpPr/>
          <p:nvPr/>
        </p:nvSpPr>
        <p:spPr>
          <a:xfrm>
            <a:off x="9290304" y="3822192"/>
            <a:ext cx="2194560" cy="274320"/>
          </a:xfrm>
          <a:prstGeom prst="rect">
            <a:avLst/>
          </a:prstGeom>
          <a:noFill/>
          <a:ln/>
        </p:spPr>
        <p:txBody>
          <a:bodyPr wrap="square" lIns="0" tIns="0" rIns="0" bIns="0" rtlCol="0" anchor="ctr"/>
          <a:lstStyle/>
          <a:p>
            <a:pPr marL="0" indent="0">
              <a:buNone/>
            </a:pPr>
            <a:r>
              <a:rPr lang="en-US" sz="1150" b="1" dirty="0">
                <a:solidFill>
                  <a:srgbClr val="A81A1A"/>
                </a:solidFill>
                <a:latin typeface="Calibri" pitchFamily="34" charset="0"/>
                <a:ea typeface="Calibri" pitchFamily="34" charset="-122"/>
                <a:cs typeface="Calibri" pitchFamily="34" charset="-120"/>
              </a:rPr>
              <a:t>Viewer</a:t>
            </a:r>
            <a:endParaRPr lang="en-US" sz="1150" dirty="0"/>
          </a:p>
        </p:txBody>
      </p:sp>
      <p:sp>
        <p:nvSpPr>
          <p:cNvPr id="34" name="Text 28"/>
          <p:cNvSpPr/>
          <p:nvPr/>
        </p:nvSpPr>
        <p:spPr>
          <a:xfrm>
            <a:off x="9290304" y="4617720"/>
            <a:ext cx="2194560" cy="73152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Money leaves once. Everything is on the trail.</a:t>
            </a:r>
            <a:endParaRPr lang="en-US" sz="1050" dirty="0"/>
          </a:p>
        </p:txBody>
      </p:sp>
      <p:sp>
        <p:nvSpPr>
          <p:cNvPr id="35" name="Text 29"/>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220"/>
        </a:solidFill>
        <a:effectLst/>
      </p:bgPr>
    </p:bg>
    <p:spTree>
      <p:nvGrpSpPr>
        <p:cNvPr id="1" name=""/>
        <p:cNvGrpSpPr/>
        <p:nvPr/>
      </p:nvGrpSpPr>
      <p:grpSpPr>
        <a:xfrm>
          <a:off x="0" y="0"/>
          <a:ext cx="0" cy="0"/>
          <a:chOff x="0" y="0"/>
          <a:chExt cx="0" cy="0"/>
        </a:xfrm>
      </p:grpSpPr>
      <p:sp>
        <p:nvSpPr>
          <p:cNvPr id="2" name="Shape 0"/>
          <p:cNvSpPr/>
          <p:nvPr/>
        </p:nvSpPr>
        <p:spPr>
          <a:xfrm>
            <a:off x="9052560" y="-2194560"/>
            <a:ext cx="6035040" cy="6035040"/>
          </a:xfrm>
          <a:prstGeom prst="ellipse">
            <a:avLst/>
          </a:prstGeom>
          <a:solidFill>
            <a:srgbClr val="1A1A2E">
              <a:alpha val="70000"/>
            </a:srgbClr>
          </a:solidFill>
          <a:ln/>
        </p:spPr>
      </p:sp>
      <p:sp>
        <p:nvSpPr>
          <p:cNvPr id="3" name="Shape 1"/>
          <p:cNvSpPr/>
          <p:nvPr/>
        </p:nvSpPr>
        <p:spPr>
          <a:xfrm>
            <a:off x="10424160" y="4480560"/>
            <a:ext cx="3840480" cy="3840480"/>
          </a:xfrm>
          <a:prstGeom prst="ellipse">
            <a:avLst/>
          </a:prstGeom>
          <a:solidFill>
            <a:srgbClr val="D92323">
              <a:alpha val="16000"/>
            </a:srgbClr>
          </a:solidFill>
          <a:ln/>
        </p:spPr>
      </p:sp>
      <p:sp>
        <p:nvSpPr>
          <p:cNvPr id="4" name="Text 2"/>
          <p:cNvSpPr/>
          <p:nvPr/>
        </p:nvSpPr>
        <p:spPr>
          <a:xfrm>
            <a:off x="822960" y="1600200"/>
            <a:ext cx="5486400" cy="411480"/>
          </a:xfrm>
          <a:prstGeom prst="rect">
            <a:avLst/>
          </a:prstGeom>
          <a:noFill/>
          <a:ln/>
        </p:spPr>
        <p:txBody>
          <a:bodyPr wrap="square" lIns="0" tIns="0" rIns="0" bIns="0" rtlCol="0" anchor="ctr"/>
          <a:lstStyle/>
          <a:p>
            <a:pPr marL="0" indent="0">
              <a:buNone/>
            </a:pPr>
            <a:r>
              <a:rPr lang="en-US" sz="1350" b="1" kern="0" spc="300" dirty="0">
                <a:solidFill>
                  <a:srgbClr val="D92323"/>
                </a:solidFill>
                <a:latin typeface="Calibri" pitchFamily="34" charset="0"/>
                <a:ea typeface="Calibri" pitchFamily="34" charset="-122"/>
                <a:cs typeface="Calibri" pitchFamily="34" charset="-120"/>
              </a:rPr>
              <a:t>DAY 1</a:t>
            </a:r>
            <a:endParaRPr lang="en-US" sz="1350" dirty="0"/>
          </a:p>
        </p:txBody>
      </p:sp>
      <p:sp>
        <p:nvSpPr>
          <p:cNvPr id="5" name="Text 3"/>
          <p:cNvSpPr/>
          <p:nvPr/>
        </p:nvSpPr>
        <p:spPr>
          <a:xfrm>
            <a:off x="777240" y="2057400"/>
            <a:ext cx="9601200" cy="11430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Requests &amp; the buildings they happen in</a:t>
            </a:r>
            <a:endParaRPr lang="en-US" sz="4600" dirty="0"/>
          </a:p>
        </p:txBody>
      </p:sp>
      <p:sp>
        <p:nvSpPr>
          <p:cNvPr id="6" name="Text 4"/>
          <p:cNvSpPr/>
          <p:nvPr/>
        </p:nvSpPr>
        <p:spPr>
          <a:xfrm>
            <a:off x="822960" y="3291840"/>
            <a:ext cx="8686800" cy="502920"/>
          </a:xfrm>
          <a:prstGeom prst="rect">
            <a:avLst/>
          </a:prstGeom>
          <a:noFill/>
          <a:ln/>
        </p:spPr>
        <p:txBody>
          <a:bodyPr wrap="square" lIns="0" tIns="0" rIns="0" bIns="0" rtlCol="0" anchor="ctr"/>
          <a:lstStyle/>
          <a:p>
            <a:pPr marL="0" indent="0">
              <a:buNone/>
            </a:pPr>
            <a:r>
              <a:rPr lang="en-US" sz="1700" i="1" dirty="0">
                <a:solidFill>
                  <a:srgbClr val="C9CBD8"/>
                </a:solidFill>
                <a:latin typeface="Calibri" pitchFamily="34" charset="0"/>
                <a:ea typeface="Calibri" pitchFamily="34" charset="-122"/>
                <a:cs typeface="Calibri" pitchFamily="34" charset="-120"/>
              </a:rPr>
              <a:t>From a tenant's complaint to a vendor's evidence</a:t>
            </a:r>
            <a:endParaRPr lang="en-US" sz="1700" dirty="0"/>
          </a:p>
        </p:txBody>
      </p:sp>
      <p:sp>
        <p:nvSpPr>
          <p:cNvPr id="7" name="Shape 5"/>
          <p:cNvSpPr/>
          <p:nvPr/>
        </p:nvSpPr>
        <p:spPr>
          <a:xfrm>
            <a:off x="868680" y="4270248"/>
            <a:ext cx="109728" cy="109728"/>
          </a:xfrm>
          <a:prstGeom prst="ellipse">
            <a:avLst/>
          </a:prstGeom>
          <a:solidFill>
            <a:srgbClr val="D92323"/>
          </a:solidFill>
          <a:ln/>
        </p:spPr>
      </p:sp>
      <p:sp>
        <p:nvSpPr>
          <p:cNvPr id="8" name="Text 6"/>
          <p:cNvSpPr/>
          <p:nvPr/>
        </p:nvSpPr>
        <p:spPr>
          <a:xfrm>
            <a:off x="1170432" y="4160520"/>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Where work lives — region, state, project, site, property, unit, asset</a:t>
            </a:r>
            <a:endParaRPr lang="en-US" sz="1350" dirty="0"/>
          </a:p>
        </p:txBody>
      </p:sp>
      <p:sp>
        <p:nvSpPr>
          <p:cNvPr id="9" name="Shape 7"/>
          <p:cNvSpPr/>
          <p:nvPr/>
        </p:nvSpPr>
        <p:spPr>
          <a:xfrm>
            <a:off x="868680" y="4690872"/>
            <a:ext cx="109728" cy="109728"/>
          </a:xfrm>
          <a:prstGeom prst="ellipse">
            <a:avLst/>
          </a:prstGeom>
          <a:solidFill>
            <a:srgbClr val="D92323"/>
          </a:solidFill>
          <a:ln/>
        </p:spPr>
      </p:sp>
      <p:sp>
        <p:nvSpPr>
          <p:cNvPr id="10" name="Text 8"/>
          <p:cNvSpPr/>
          <p:nvPr/>
        </p:nvSpPr>
        <p:spPr>
          <a:xfrm>
            <a:off x="1170432" y="4581144"/>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A service request, end to end</a:t>
            </a:r>
            <a:endParaRPr lang="en-US" sz="1350" dirty="0"/>
          </a:p>
        </p:txBody>
      </p:sp>
      <p:sp>
        <p:nvSpPr>
          <p:cNvPr id="11" name="Shape 9"/>
          <p:cNvSpPr/>
          <p:nvPr/>
        </p:nvSpPr>
        <p:spPr>
          <a:xfrm>
            <a:off x="868680" y="5111496"/>
            <a:ext cx="109728" cy="109728"/>
          </a:xfrm>
          <a:prstGeom prst="ellipse">
            <a:avLst/>
          </a:prstGeom>
          <a:solidFill>
            <a:srgbClr val="D92323"/>
          </a:solidFill>
          <a:ln/>
        </p:spPr>
      </p:sp>
      <p:sp>
        <p:nvSpPr>
          <p:cNvPr id="12" name="Text 10"/>
          <p:cNvSpPr/>
          <p:nvPr/>
        </p:nvSpPr>
        <p:spPr>
          <a:xfrm>
            <a:off x="1170432" y="5001768"/>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Who sees which requests, and why yours looks different from mine</a:t>
            </a:r>
            <a:endParaRPr lang="en-US" sz="1350" dirty="0"/>
          </a:p>
        </p:txBody>
      </p:sp>
      <p:sp>
        <p:nvSpPr>
          <p:cNvPr id="13" name="Shape 11"/>
          <p:cNvSpPr/>
          <p:nvPr/>
        </p:nvSpPr>
        <p:spPr>
          <a:xfrm>
            <a:off x="868680" y="5532120"/>
            <a:ext cx="109728" cy="109728"/>
          </a:xfrm>
          <a:prstGeom prst="ellipse">
            <a:avLst/>
          </a:prstGeom>
          <a:solidFill>
            <a:srgbClr val="D92323"/>
          </a:solidFill>
          <a:ln/>
        </p:spPr>
      </p:sp>
      <p:sp>
        <p:nvSpPr>
          <p:cNvPr id="14" name="Text 12"/>
          <p:cNvSpPr/>
          <p:nvPr/>
        </p:nvSpPr>
        <p:spPr>
          <a:xfrm>
            <a:off x="1170432" y="5422392"/>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Hands-on: raise it, review it, dispatch it, complete it</a:t>
            </a:r>
            <a:endParaRPr lang="en-US" sz="1350" dirty="0"/>
          </a:p>
        </p:txBody>
      </p:sp>
      <p:sp>
        <p:nvSpPr>
          <p:cNvPr id="15" name="Text 1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1 · WHERE WORK LIVES</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Everything hangs off a place</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Seven levels. You will mostly work at the bottom three — but the top four are what let a regional manager see everything at once.</a:t>
            </a:r>
            <a:endParaRPr lang="en-US" sz="1450" dirty="0"/>
          </a:p>
        </p:txBody>
      </p:sp>
      <p:sp>
        <p:nvSpPr>
          <p:cNvPr id="5" name="Shape 3"/>
          <p:cNvSpPr/>
          <p:nvPr/>
        </p:nvSpPr>
        <p:spPr>
          <a:xfrm>
            <a:off x="640080" y="2377440"/>
            <a:ext cx="1481328" cy="1417320"/>
          </a:xfrm>
          <a:prstGeom prst="roundRect">
            <a:avLst>
              <a:gd name="adj" fmla="val 5161"/>
            </a:avLst>
          </a:prstGeom>
          <a:solidFill>
            <a:srgbClr val="FBF7F2"/>
          </a:solidFill>
          <a:ln w="12700">
            <a:solidFill>
              <a:srgbClr val="E8E2DA"/>
            </a:solidFill>
            <a:prstDash val="solid"/>
          </a:ln>
        </p:spPr>
      </p:sp>
      <p:sp>
        <p:nvSpPr>
          <p:cNvPr id="6" name="Text 4"/>
          <p:cNvSpPr/>
          <p:nvPr/>
        </p:nvSpPr>
        <p:spPr>
          <a:xfrm>
            <a:off x="749808" y="2514600"/>
            <a:ext cx="1261872" cy="365760"/>
          </a:xfrm>
          <a:prstGeom prst="rect">
            <a:avLst/>
          </a:prstGeom>
          <a:noFill/>
          <a:ln/>
        </p:spPr>
        <p:txBody>
          <a:bodyPr wrap="square" lIns="0" tIns="0" rIns="0" bIns="0" rtlCol="0" anchor="ctr"/>
          <a:lstStyle/>
          <a:p>
            <a:pPr marL="0" indent="0" algn="ctr">
              <a:buNone/>
            </a:pPr>
            <a:r>
              <a:rPr lang="en-US" sz="1450" b="1" dirty="0">
                <a:solidFill>
                  <a:srgbClr val="1F2229"/>
                </a:solidFill>
                <a:latin typeface="Cambria" pitchFamily="34" charset="0"/>
                <a:ea typeface="Cambria" pitchFamily="34" charset="-122"/>
                <a:cs typeface="Cambria" pitchFamily="34" charset="-120"/>
              </a:rPr>
              <a:t>Region</a:t>
            </a:r>
            <a:endParaRPr lang="en-US" sz="1450" dirty="0"/>
          </a:p>
        </p:txBody>
      </p:sp>
      <p:sp>
        <p:nvSpPr>
          <p:cNvPr id="7" name="Text 5"/>
          <p:cNvSpPr/>
          <p:nvPr/>
        </p:nvSpPr>
        <p:spPr>
          <a:xfrm>
            <a:off x="749808"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North · South · East</a:t>
            </a:r>
            <a:endParaRPr lang="en-US" sz="950" dirty="0"/>
          </a:p>
        </p:txBody>
      </p:sp>
      <p:sp>
        <p:nvSpPr>
          <p:cNvPr id="8" name="Text 6"/>
          <p:cNvSpPr/>
          <p:nvPr/>
        </p:nvSpPr>
        <p:spPr>
          <a:xfrm>
            <a:off x="2121408"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9" name="Shape 7"/>
          <p:cNvSpPr/>
          <p:nvPr/>
        </p:nvSpPr>
        <p:spPr>
          <a:xfrm>
            <a:off x="2267712" y="2377440"/>
            <a:ext cx="1481328" cy="1417320"/>
          </a:xfrm>
          <a:prstGeom prst="roundRect">
            <a:avLst>
              <a:gd name="adj" fmla="val 5161"/>
            </a:avLst>
          </a:prstGeom>
          <a:solidFill>
            <a:srgbClr val="FBF7F2"/>
          </a:solidFill>
          <a:ln w="12700">
            <a:solidFill>
              <a:srgbClr val="E8E2DA"/>
            </a:solidFill>
            <a:prstDash val="solid"/>
          </a:ln>
        </p:spPr>
      </p:sp>
      <p:sp>
        <p:nvSpPr>
          <p:cNvPr id="10" name="Text 8"/>
          <p:cNvSpPr/>
          <p:nvPr/>
        </p:nvSpPr>
        <p:spPr>
          <a:xfrm>
            <a:off x="2377440" y="2514600"/>
            <a:ext cx="1261872" cy="365760"/>
          </a:xfrm>
          <a:prstGeom prst="rect">
            <a:avLst/>
          </a:prstGeom>
          <a:noFill/>
          <a:ln/>
        </p:spPr>
        <p:txBody>
          <a:bodyPr wrap="square" lIns="0" tIns="0" rIns="0" bIns="0" rtlCol="0" anchor="ctr"/>
          <a:lstStyle/>
          <a:p>
            <a:pPr marL="0" indent="0" algn="ctr">
              <a:buNone/>
            </a:pPr>
            <a:r>
              <a:rPr lang="en-US" sz="1450" b="1" dirty="0">
                <a:solidFill>
                  <a:srgbClr val="1F2229"/>
                </a:solidFill>
                <a:latin typeface="Cambria" pitchFamily="34" charset="0"/>
                <a:ea typeface="Cambria" pitchFamily="34" charset="-122"/>
                <a:cs typeface="Cambria" pitchFamily="34" charset="-120"/>
              </a:rPr>
              <a:t>State</a:t>
            </a:r>
            <a:endParaRPr lang="en-US" sz="1450" dirty="0"/>
          </a:p>
        </p:txBody>
      </p:sp>
      <p:sp>
        <p:nvSpPr>
          <p:cNvPr id="11" name="Text 9"/>
          <p:cNvSpPr/>
          <p:nvPr/>
        </p:nvSpPr>
        <p:spPr>
          <a:xfrm>
            <a:off x="2377440"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36 states + FCT, chosen from a list</a:t>
            </a:r>
            <a:endParaRPr lang="en-US" sz="950" dirty="0"/>
          </a:p>
        </p:txBody>
      </p:sp>
      <p:sp>
        <p:nvSpPr>
          <p:cNvPr id="12" name="Text 10"/>
          <p:cNvSpPr/>
          <p:nvPr/>
        </p:nvSpPr>
        <p:spPr>
          <a:xfrm>
            <a:off x="3749040"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3895344" y="2377440"/>
            <a:ext cx="1481328" cy="1417320"/>
          </a:xfrm>
          <a:prstGeom prst="roundRect">
            <a:avLst>
              <a:gd name="adj" fmla="val 5161"/>
            </a:avLst>
          </a:prstGeom>
          <a:solidFill>
            <a:srgbClr val="FBF7F2"/>
          </a:solidFill>
          <a:ln w="12700">
            <a:solidFill>
              <a:srgbClr val="E8E2DA"/>
            </a:solidFill>
            <a:prstDash val="solid"/>
          </a:ln>
        </p:spPr>
      </p:sp>
      <p:sp>
        <p:nvSpPr>
          <p:cNvPr id="14" name="Text 12"/>
          <p:cNvSpPr/>
          <p:nvPr/>
        </p:nvSpPr>
        <p:spPr>
          <a:xfrm>
            <a:off x="4005072" y="2514600"/>
            <a:ext cx="1261872" cy="365760"/>
          </a:xfrm>
          <a:prstGeom prst="rect">
            <a:avLst/>
          </a:prstGeom>
          <a:noFill/>
          <a:ln/>
        </p:spPr>
        <p:txBody>
          <a:bodyPr wrap="square" lIns="0" tIns="0" rIns="0" bIns="0" rtlCol="0" anchor="ctr"/>
          <a:lstStyle/>
          <a:p>
            <a:pPr marL="0" indent="0" algn="ctr">
              <a:buNone/>
            </a:pPr>
            <a:r>
              <a:rPr lang="en-US" sz="1450" b="1" dirty="0">
                <a:solidFill>
                  <a:srgbClr val="1F2229"/>
                </a:solidFill>
                <a:latin typeface="Cambria" pitchFamily="34" charset="0"/>
                <a:ea typeface="Cambria" pitchFamily="34" charset="-122"/>
                <a:cs typeface="Cambria" pitchFamily="34" charset="-120"/>
              </a:rPr>
              <a:t>Project</a:t>
            </a:r>
            <a:endParaRPr lang="en-US" sz="1450" dirty="0"/>
          </a:p>
        </p:txBody>
      </p:sp>
      <p:sp>
        <p:nvSpPr>
          <p:cNvPr id="15" name="Text 13"/>
          <p:cNvSpPr/>
          <p:nvPr/>
        </p:nvSpPr>
        <p:spPr>
          <a:xfrm>
            <a:off x="4005072"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A development or mandate</a:t>
            </a:r>
            <a:endParaRPr lang="en-US" sz="950" dirty="0"/>
          </a:p>
        </p:txBody>
      </p:sp>
      <p:sp>
        <p:nvSpPr>
          <p:cNvPr id="16" name="Text 14"/>
          <p:cNvSpPr/>
          <p:nvPr/>
        </p:nvSpPr>
        <p:spPr>
          <a:xfrm>
            <a:off x="5376672"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5522976" y="2377440"/>
            <a:ext cx="1481328" cy="1417320"/>
          </a:xfrm>
          <a:prstGeom prst="roundRect">
            <a:avLst>
              <a:gd name="adj" fmla="val 5161"/>
            </a:avLst>
          </a:prstGeom>
          <a:solidFill>
            <a:srgbClr val="FBF7F2"/>
          </a:solidFill>
          <a:ln w="12700">
            <a:solidFill>
              <a:srgbClr val="E8E2DA"/>
            </a:solidFill>
            <a:prstDash val="solid"/>
          </a:ln>
        </p:spPr>
      </p:sp>
      <p:sp>
        <p:nvSpPr>
          <p:cNvPr id="18" name="Text 16"/>
          <p:cNvSpPr/>
          <p:nvPr/>
        </p:nvSpPr>
        <p:spPr>
          <a:xfrm>
            <a:off x="5632704" y="2514600"/>
            <a:ext cx="1261872" cy="365760"/>
          </a:xfrm>
          <a:prstGeom prst="rect">
            <a:avLst/>
          </a:prstGeom>
          <a:noFill/>
          <a:ln/>
        </p:spPr>
        <p:txBody>
          <a:bodyPr wrap="square" lIns="0" tIns="0" rIns="0" bIns="0" rtlCol="0" anchor="ctr"/>
          <a:lstStyle/>
          <a:p>
            <a:pPr marL="0" indent="0" algn="ctr">
              <a:buNone/>
            </a:pPr>
            <a:r>
              <a:rPr lang="en-US" sz="1450" b="1" dirty="0">
                <a:solidFill>
                  <a:srgbClr val="1F2229"/>
                </a:solidFill>
                <a:latin typeface="Cambria" pitchFamily="34" charset="0"/>
                <a:ea typeface="Cambria" pitchFamily="34" charset="-122"/>
                <a:cs typeface="Cambria" pitchFamily="34" charset="-120"/>
              </a:rPr>
              <a:t>Site</a:t>
            </a:r>
            <a:endParaRPr lang="en-US" sz="1450" dirty="0"/>
          </a:p>
        </p:txBody>
      </p:sp>
      <p:sp>
        <p:nvSpPr>
          <p:cNvPr id="19" name="Text 17"/>
          <p:cNvSpPr/>
          <p:nvPr/>
        </p:nvSpPr>
        <p:spPr>
          <a:xfrm>
            <a:off x="5632704"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A phase or block</a:t>
            </a:r>
            <a:endParaRPr lang="en-US" sz="950" dirty="0"/>
          </a:p>
        </p:txBody>
      </p:sp>
      <p:sp>
        <p:nvSpPr>
          <p:cNvPr id="20" name="Text 18"/>
          <p:cNvSpPr/>
          <p:nvPr/>
        </p:nvSpPr>
        <p:spPr>
          <a:xfrm>
            <a:off x="7004304"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21" name="Shape 19"/>
          <p:cNvSpPr/>
          <p:nvPr/>
        </p:nvSpPr>
        <p:spPr>
          <a:xfrm>
            <a:off x="7150608" y="2377440"/>
            <a:ext cx="1481328" cy="1417320"/>
          </a:xfrm>
          <a:prstGeom prst="roundRect">
            <a:avLst>
              <a:gd name="adj" fmla="val 5161"/>
            </a:avLst>
          </a:prstGeom>
          <a:solidFill>
            <a:srgbClr val="FBE9E9"/>
          </a:solidFill>
          <a:ln w="12700">
            <a:solidFill>
              <a:srgbClr val="F0D4D4"/>
            </a:solidFill>
            <a:prstDash val="solid"/>
          </a:ln>
        </p:spPr>
      </p:sp>
      <p:sp>
        <p:nvSpPr>
          <p:cNvPr id="22" name="Text 20"/>
          <p:cNvSpPr/>
          <p:nvPr/>
        </p:nvSpPr>
        <p:spPr>
          <a:xfrm>
            <a:off x="7260336" y="2514600"/>
            <a:ext cx="1261872" cy="365760"/>
          </a:xfrm>
          <a:prstGeom prst="rect">
            <a:avLst/>
          </a:prstGeom>
          <a:noFill/>
          <a:ln/>
        </p:spPr>
        <p:txBody>
          <a:bodyPr wrap="square" lIns="0" tIns="0" rIns="0" bIns="0" rtlCol="0" anchor="ctr"/>
          <a:lstStyle/>
          <a:p>
            <a:pPr marL="0" indent="0" algn="ctr">
              <a:buNone/>
            </a:pPr>
            <a:r>
              <a:rPr lang="en-US" sz="1450" b="1" dirty="0">
                <a:solidFill>
                  <a:srgbClr val="A81A1A"/>
                </a:solidFill>
                <a:latin typeface="Cambria" pitchFamily="34" charset="0"/>
                <a:ea typeface="Cambria" pitchFamily="34" charset="-122"/>
                <a:cs typeface="Cambria" pitchFamily="34" charset="-120"/>
              </a:rPr>
              <a:t>Property</a:t>
            </a:r>
            <a:endParaRPr lang="en-US" sz="1450" dirty="0"/>
          </a:p>
        </p:txBody>
      </p:sp>
      <p:sp>
        <p:nvSpPr>
          <p:cNvPr id="23" name="Text 21"/>
          <p:cNvSpPr/>
          <p:nvPr/>
        </p:nvSpPr>
        <p:spPr>
          <a:xfrm>
            <a:off x="7260336"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Parkview Terraces</a:t>
            </a:r>
            <a:endParaRPr lang="en-US" sz="950" dirty="0"/>
          </a:p>
        </p:txBody>
      </p:sp>
      <p:sp>
        <p:nvSpPr>
          <p:cNvPr id="24" name="Text 22"/>
          <p:cNvSpPr/>
          <p:nvPr/>
        </p:nvSpPr>
        <p:spPr>
          <a:xfrm>
            <a:off x="8631936"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8778240" y="2377440"/>
            <a:ext cx="1481328" cy="1417320"/>
          </a:xfrm>
          <a:prstGeom prst="roundRect">
            <a:avLst>
              <a:gd name="adj" fmla="val 5161"/>
            </a:avLst>
          </a:prstGeom>
          <a:solidFill>
            <a:srgbClr val="FBE9E9"/>
          </a:solidFill>
          <a:ln w="12700">
            <a:solidFill>
              <a:srgbClr val="F0D4D4"/>
            </a:solidFill>
            <a:prstDash val="solid"/>
          </a:ln>
        </p:spPr>
      </p:sp>
      <p:sp>
        <p:nvSpPr>
          <p:cNvPr id="26" name="Text 24"/>
          <p:cNvSpPr/>
          <p:nvPr/>
        </p:nvSpPr>
        <p:spPr>
          <a:xfrm>
            <a:off x="8887968" y="2514600"/>
            <a:ext cx="1261872" cy="365760"/>
          </a:xfrm>
          <a:prstGeom prst="rect">
            <a:avLst/>
          </a:prstGeom>
          <a:noFill/>
          <a:ln/>
        </p:spPr>
        <p:txBody>
          <a:bodyPr wrap="square" lIns="0" tIns="0" rIns="0" bIns="0" rtlCol="0" anchor="ctr"/>
          <a:lstStyle/>
          <a:p>
            <a:pPr marL="0" indent="0" algn="ctr">
              <a:buNone/>
            </a:pPr>
            <a:r>
              <a:rPr lang="en-US" sz="1450" b="1" dirty="0">
                <a:solidFill>
                  <a:srgbClr val="A81A1A"/>
                </a:solidFill>
                <a:latin typeface="Cambria" pitchFamily="34" charset="0"/>
                <a:ea typeface="Cambria" pitchFamily="34" charset="-122"/>
                <a:cs typeface="Cambria" pitchFamily="34" charset="-120"/>
              </a:rPr>
              <a:t>Unit</a:t>
            </a:r>
            <a:endParaRPr lang="en-US" sz="1450" dirty="0"/>
          </a:p>
        </p:txBody>
      </p:sp>
      <p:sp>
        <p:nvSpPr>
          <p:cNvPr id="27" name="Text 25"/>
          <p:cNvSpPr/>
          <p:nvPr/>
        </p:nvSpPr>
        <p:spPr>
          <a:xfrm>
            <a:off x="8887968"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Flat 3B</a:t>
            </a:r>
            <a:endParaRPr lang="en-US" sz="950" dirty="0"/>
          </a:p>
        </p:txBody>
      </p:sp>
      <p:sp>
        <p:nvSpPr>
          <p:cNvPr id="28" name="Text 26"/>
          <p:cNvSpPr/>
          <p:nvPr/>
        </p:nvSpPr>
        <p:spPr>
          <a:xfrm>
            <a:off x="10259568" y="2880360"/>
            <a:ext cx="146304" cy="365760"/>
          </a:xfrm>
          <a:prstGeom prst="rect">
            <a:avLst/>
          </a:prstGeom>
          <a:noFill/>
          <a:ln/>
        </p:spPr>
        <p:txBody>
          <a:bodyPr wrap="square" lIns="0" tIns="0" rIns="0" bIns="0" rtlCol="0" anchor="ctr"/>
          <a:lstStyle/>
          <a:p>
            <a:pPr marL="0" indent="0" algn="ctr">
              <a:buNone/>
            </a:pPr>
            <a:r>
              <a:rPr lang="en-US" sz="1800" dirty="0">
                <a:solidFill>
                  <a:srgbClr val="5C616E"/>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10405872" y="2377440"/>
            <a:ext cx="1481328" cy="1417320"/>
          </a:xfrm>
          <a:prstGeom prst="roundRect">
            <a:avLst>
              <a:gd name="adj" fmla="val 5161"/>
            </a:avLst>
          </a:prstGeom>
          <a:solidFill>
            <a:srgbClr val="FBE9E9"/>
          </a:solidFill>
          <a:ln w="12700">
            <a:solidFill>
              <a:srgbClr val="F0D4D4"/>
            </a:solidFill>
            <a:prstDash val="solid"/>
          </a:ln>
        </p:spPr>
      </p:sp>
      <p:sp>
        <p:nvSpPr>
          <p:cNvPr id="30" name="Text 28"/>
          <p:cNvSpPr/>
          <p:nvPr/>
        </p:nvSpPr>
        <p:spPr>
          <a:xfrm>
            <a:off x="10515600" y="2514600"/>
            <a:ext cx="1261872" cy="365760"/>
          </a:xfrm>
          <a:prstGeom prst="rect">
            <a:avLst/>
          </a:prstGeom>
          <a:noFill/>
          <a:ln/>
        </p:spPr>
        <p:txBody>
          <a:bodyPr wrap="square" lIns="0" tIns="0" rIns="0" bIns="0" rtlCol="0" anchor="ctr"/>
          <a:lstStyle/>
          <a:p>
            <a:pPr marL="0" indent="0" algn="ctr">
              <a:buNone/>
            </a:pPr>
            <a:r>
              <a:rPr lang="en-US" sz="1450" b="1" dirty="0">
                <a:solidFill>
                  <a:srgbClr val="A81A1A"/>
                </a:solidFill>
                <a:latin typeface="Cambria" pitchFamily="34" charset="0"/>
                <a:ea typeface="Cambria" pitchFamily="34" charset="-122"/>
                <a:cs typeface="Cambria" pitchFamily="34" charset="-120"/>
              </a:rPr>
              <a:t>Asset</a:t>
            </a:r>
            <a:endParaRPr lang="en-US" sz="1450" dirty="0"/>
          </a:p>
        </p:txBody>
      </p:sp>
      <p:sp>
        <p:nvSpPr>
          <p:cNvPr id="31" name="Text 29"/>
          <p:cNvSpPr/>
          <p:nvPr/>
        </p:nvSpPr>
        <p:spPr>
          <a:xfrm>
            <a:off x="10515600" y="2907792"/>
            <a:ext cx="1261872" cy="777240"/>
          </a:xfrm>
          <a:prstGeom prst="rect">
            <a:avLst/>
          </a:prstGeom>
          <a:noFill/>
          <a:ln/>
        </p:spPr>
        <p:txBody>
          <a:bodyPr wrap="square" lIns="0" tIns="0" rIns="0" bIns="0" rtlCol="0" anchor="ctr"/>
          <a:lstStyle/>
          <a:p>
            <a:pPr marL="0" indent="0" algn="ctr">
              <a:buNone/>
            </a:pPr>
            <a:r>
              <a:rPr lang="en-US" sz="950" dirty="0">
                <a:solidFill>
                  <a:srgbClr val="5C616E"/>
                </a:solidFill>
                <a:latin typeface="Calibri" pitchFamily="34" charset="0"/>
                <a:ea typeface="Calibri" pitchFamily="34" charset="-122"/>
                <a:cs typeface="Calibri" pitchFamily="34" charset="-120"/>
              </a:rPr>
              <a:t>The generator, the lift, the pump</a:t>
            </a:r>
            <a:endParaRPr lang="en-US" sz="950" dirty="0"/>
          </a:p>
        </p:txBody>
      </p:sp>
      <p:sp>
        <p:nvSpPr>
          <p:cNvPr id="32" name="Shape 30"/>
          <p:cNvSpPr/>
          <p:nvPr/>
        </p:nvSpPr>
        <p:spPr>
          <a:xfrm>
            <a:off x="640080" y="4114800"/>
            <a:ext cx="5349240" cy="1874520"/>
          </a:xfrm>
          <a:prstGeom prst="roundRect">
            <a:avLst>
              <a:gd name="adj" fmla="val 3902"/>
            </a:avLst>
          </a:prstGeom>
          <a:solidFill>
            <a:srgbClr val="FBF7F2"/>
          </a:solidFill>
          <a:ln w="12700">
            <a:solidFill>
              <a:srgbClr val="E8E2DA"/>
            </a:solidFill>
            <a:prstDash val="solid"/>
          </a:ln>
        </p:spPr>
      </p:sp>
      <p:sp>
        <p:nvSpPr>
          <p:cNvPr id="33" name="Text 31"/>
          <p:cNvSpPr/>
          <p:nvPr/>
        </p:nvSpPr>
        <p:spPr>
          <a:xfrm>
            <a:off x="914400" y="4315968"/>
            <a:ext cx="4754880" cy="365760"/>
          </a:xfrm>
          <a:prstGeom prst="rect">
            <a:avLst/>
          </a:prstGeom>
          <a:noFill/>
          <a:ln/>
        </p:spPr>
        <p:txBody>
          <a:bodyPr wrap="square" lIns="0" tIns="0" rIns="0" bIns="0" rtlCol="0" anchor="ctr"/>
          <a:lstStyle/>
          <a:p>
            <a:pPr marL="0" indent="0">
              <a:buNone/>
            </a:pPr>
            <a:r>
              <a:rPr lang="en-US" sz="1600" b="1" dirty="0">
                <a:solidFill>
                  <a:srgbClr val="1F2229"/>
                </a:solidFill>
                <a:latin typeface="Cambria" pitchFamily="34" charset="0"/>
                <a:ea typeface="Cambria" pitchFamily="34" charset="-122"/>
                <a:cs typeface="Cambria" pitchFamily="34" charset="-120"/>
              </a:rPr>
              <a:t>You do not have to file everything</a:t>
            </a:r>
            <a:endParaRPr lang="en-US" sz="1600" dirty="0"/>
          </a:p>
        </p:txBody>
      </p:sp>
      <p:sp>
        <p:nvSpPr>
          <p:cNvPr id="34" name="Text 32"/>
          <p:cNvSpPr/>
          <p:nvPr/>
        </p:nvSpPr>
        <p:spPr>
          <a:xfrm>
            <a:off x="914400" y="4709160"/>
            <a:ext cx="4800600" cy="1097280"/>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A property with no project or site above it still works completely. Build the tree when it earns its keep — you can create a state, project or site inline while filing a property.</a:t>
            </a:r>
            <a:endParaRPr lang="en-US" sz="1200" dirty="0"/>
          </a:p>
        </p:txBody>
      </p:sp>
      <p:sp>
        <p:nvSpPr>
          <p:cNvPr id="35" name="Shape 33"/>
          <p:cNvSpPr/>
          <p:nvPr/>
        </p:nvSpPr>
        <p:spPr>
          <a:xfrm>
            <a:off x="6199632" y="4114800"/>
            <a:ext cx="5349240" cy="1874520"/>
          </a:xfrm>
          <a:prstGeom prst="roundRect">
            <a:avLst>
              <a:gd name="adj" fmla="val 3902"/>
            </a:avLst>
          </a:prstGeom>
          <a:solidFill>
            <a:srgbClr val="FBF7F2"/>
          </a:solidFill>
          <a:ln w="12700">
            <a:solidFill>
              <a:srgbClr val="E8E2DA"/>
            </a:solidFill>
            <a:prstDash val="solid"/>
          </a:ln>
        </p:spPr>
      </p:sp>
      <p:sp>
        <p:nvSpPr>
          <p:cNvPr id="36" name="Text 34"/>
          <p:cNvSpPr/>
          <p:nvPr/>
        </p:nvSpPr>
        <p:spPr>
          <a:xfrm>
            <a:off x="6473952" y="4315968"/>
            <a:ext cx="4754880" cy="365760"/>
          </a:xfrm>
          <a:prstGeom prst="rect">
            <a:avLst/>
          </a:prstGeom>
          <a:noFill/>
          <a:ln/>
        </p:spPr>
        <p:txBody>
          <a:bodyPr wrap="square" lIns="0" tIns="0" rIns="0" bIns="0" rtlCol="0" anchor="ctr"/>
          <a:lstStyle/>
          <a:p>
            <a:pPr marL="0" indent="0">
              <a:buNone/>
            </a:pPr>
            <a:r>
              <a:rPr lang="en-US" sz="1600" b="1" dirty="0">
                <a:solidFill>
                  <a:srgbClr val="1F2229"/>
                </a:solidFill>
                <a:latin typeface="Cambria" pitchFamily="34" charset="0"/>
                <a:ea typeface="Cambria" pitchFamily="34" charset="-122"/>
                <a:cs typeface="Cambria" pitchFamily="34" charset="-120"/>
              </a:rPr>
              <a:t>Assets say what they cover</a:t>
            </a:r>
            <a:endParaRPr lang="en-US" sz="1600" dirty="0"/>
          </a:p>
        </p:txBody>
      </p:sp>
      <p:sp>
        <p:nvSpPr>
          <p:cNvPr id="37" name="Text 35"/>
          <p:cNvSpPr/>
          <p:nvPr/>
        </p:nvSpPr>
        <p:spPr>
          <a:xfrm>
            <a:off x="6473952" y="4709160"/>
            <a:ext cx="4800600" cy="1097280"/>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A generator states whether it serves a unit, a property or the whole site — stated as a fact, never implied by leaving a field blank. Plant on running hours is serviced by the hour, not the calendar.</a:t>
            </a:r>
            <a:endParaRPr lang="en-US" sz="1200" dirty="0"/>
          </a:p>
        </p:txBody>
      </p:sp>
      <p:sp>
        <p:nvSpPr>
          <p:cNvPr id="38" name="Text 36"/>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1 · THE CORE FLOW</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One service request, end to end</a:t>
            </a:r>
            <a:endParaRPr lang="en-US" sz="3200" dirty="0"/>
          </a:p>
        </p:txBody>
      </p:sp>
      <p:sp>
        <p:nvSpPr>
          <p:cNvPr id="4" name="Shape 2"/>
          <p:cNvSpPr/>
          <p:nvPr/>
        </p:nvSpPr>
        <p:spPr>
          <a:xfrm>
            <a:off x="640080" y="2103120"/>
            <a:ext cx="1764792" cy="2880360"/>
          </a:xfrm>
          <a:prstGeom prst="roundRect">
            <a:avLst>
              <a:gd name="adj" fmla="val 4145"/>
            </a:avLst>
          </a:prstGeom>
          <a:solidFill>
            <a:srgbClr val="FFFFFF"/>
          </a:solidFill>
          <a:ln w="12700">
            <a:solidFill>
              <a:srgbClr val="E8E2DA"/>
            </a:solidFill>
            <a:prstDash val="solid"/>
          </a:ln>
        </p:spPr>
      </p:sp>
      <p:sp>
        <p:nvSpPr>
          <p:cNvPr id="5" name="Shape 3"/>
          <p:cNvSpPr/>
          <p:nvPr/>
        </p:nvSpPr>
        <p:spPr>
          <a:xfrm>
            <a:off x="768096" y="2249424"/>
            <a:ext cx="347472" cy="347472"/>
          </a:xfrm>
          <a:prstGeom prst="ellipse">
            <a:avLst/>
          </a:prstGeom>
          <a:solidFill>
            <a:srgbClr val="D92323"/>
          </a:solidFill>
          <a:ln/>
        </p:spPr>
      </p:sp>
      <p:sp>
        <p:nvSpPr>
          <p:cNvPr id="6" name="Text 4"/>
          <p:cNvSpPr/>
          <p:nvPr/>
        </p:nvSpPr>
        <p:spPr>
          <a:xfrm>
            <a:off x="768096"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768096"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Raised</a:t>
            </a:r>
            <a:endParaRPr lang="en-US" sz="1500" dirty="0"/>
          </a:p>
        </p:txBody>
      </p:sp>
      <p:sp>
        <p:nvSpPr>
          <p:cNvPr id="8" name="Text 6"/>
          <p:cNvSpPr/>
          <p:nvPr/>
        </p:nvSpPr>
        <p:spPr>
          <a:xfrm>
            <a:off x="768096"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TENANT</a:t>
            </a:r>
            <a:endParaRPr lang="en-US" sz="900" dirty="0"/>
          </a:p>
        </p:txBody>
      </p:sp>
      <p:sp>
        <p:nvSpPr>
          <p:cNvPr id="9" name="Text 7"/>
          <p:cNvSpPr/>
          <p:nvPr/>
        </p:nvSpPr>
        <p:spPr>
          <a:xfrm>
            <a:off x="768096"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Portal, WhatsApp or Telegram. A photo helps.</a:t>
            </a:r>
            <a:endParaRPr lang="en-US" sz="1050" dirty="0"/>
          </a:p>
        </p:txBody>
      </p:sp>
      <p:sp>
        <p:nvSpPr>
          <p:cNvPr id="10" name="Shape 8"/>
          <p:cNvSpPr/>
          <p:nvPr/>
        </p:nvSpPr>
        <p:spPr>
          <a:xfrm>
            <a:off x="2505456" y="2103120"/>
            <a:ext cx="1764792" cy="2880360"/>
          </a:xfrm>
          <a:prstGeom prst="roundRect">
            <a:avLst>
              <a:gd name="adj" fmla="val 4145"/>
            </a:avLst>
          </a:prstGeom>
          <a:solidFill>
            <a:srgbClr val="FFFFFF"/>
          </a:solidFill>
          <a:ln w="12700">
            <a:solidFill>
              <a:srgbClr val="E8E2DA"/>
            </a:solidFill>
            <a:prstDash val="solid"/>
          </a:ln>
        </p:spPr>
      </p:sp>
      <p:sp>
        <p:nvSpPr>
          <p:cNvPr id="11" name="Shape 9"/>
          <p:cNvSpPr/>
          <p:nvPr/>
        </p:nvSpPr>
        <p:spPr>
          <a:xfrm>
            <a:off x="2633472" y="2249424"/>
            <a:ext cx="347472" cy="347472"/>
          </a:xfrm>
          <a:prstGeom prst="ellipse">
            <a:avLst/>
          </a:prstGeom>
          <a:solidFill>
            <a:srgbClr val="D92323"/>
          </a:solidFill>
          <a:ln/>
        </p:spPr>
      </p:sp>
      <p:sp>
        <p:nvSpPr>
          <p:cNvPr id="12" name="Text 10"/>
          <p:cNvSpPr/>
          <p:nvPr/>
        </p:nvSpPr>
        <p:spPr>
          <a:xfrm>
            <a:off x="2633472"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2633472"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Classified</a:t>
            </a:r>
            <a:endParaRPr lang="en-US" sz="1500" dirty="0"/>
          </a:p>
        </p:txBody>
      </p:sp>
      <p:sp>
        <p:nvSpPr>
          <p:cNvPr id="14" name="Text 12"/>
          <p:cNvSpPr/>
          <p:nvPr/>
        </p:nvSpPr>
        <p:spPr>
          <a:xfrm>
            <a:off x="2633472"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SYSTEM</a:t>
            </a:r>
            <a:endParaRPr lang="en-US" sz="900" dirty="0"/>
          </a:p>
        </p:txBody>
      </p:sp>
      <p:sp>
        <p:nvSpPr>
          <p:cNvPr id="15" name="Text 13"/>
          <p:cNvSpPr/>
          <p:nvPr/>
        </p:nvSpPr>
        <p:spPr>
          <a:xfrm>
            <a:off x="2633472"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Category, urgency and a plain-English summary, written automatically.</a:t>
            </a:r>
            <a:endParaRPr lang="en-US" sz="1050" dirty="0"/>
          </a:p>
        </p:txBody>
      </p:sp>
      <p:sp>
        <p:nvSpPr>
          <p:cNvPr id="16" name="Shape 14"/>
          <p:cNvSpPr/>
          <p:nvPr/>
        </p:nvSpPr>
        <p:spPr>
          <a:xfrm>
            <a:off x="4370832" y="2103120"/>
            <a:ext cx="1764792" cy="2880360"/>
          </a:xfrm>
          <a:prstGeom prst="roundRect">
            <a:avLst>
              <a:gd name="adj" fmla="val 4145"/>
            </a:avLst>
          </a:prstGeom>
          <a:solidFill>
            <a:srgbClr val="FFFFFF"/>
          </a:solidFill>
          <a:ln w="12700">
            <a:solidFill>
              <a:srgbClr val="E8E2DA"/>
            </a:solidFill>
            <a:prstDash val="solid"/>
          </a:ln>
        </p:spPr>
      </p:sp>
      <p:sp>
        <p:nvSpPr>
          <p:cNvPr id="17" name="Shape 15"/>
          <p:cNvSpPr/>
          <p:nvPr/>
        </p:nvSpPr>
        <p:spPr>
          <a:xfrm>
            <a:off x="4498848" y="2249424"/>
            <a:ext cx="347472" cy="347472"/>
          </a:xfrm>
          <a:prstGeom prst="ellipse">
            <a:avLst/>
          </a:prstGeom>
          <a:solidFill>
            <a:srgbClr val="D92323"/>
          </a:solidFill>
          <a:ln/>
        </p:spPr>
      </p:sp>
      <p:sp>
        <p:nvSpPr>
          <p:cNvPr id="18" name="Text 16"/>
          <p:cNvSpPr/>
          <p:nvPr/>
        </p:nvSpPr>
        <p:spPr>
          <a:xfrm>
            <a:off x="4498848"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4498848"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Reviewed</a:t>
            </a:r>
            <a:endParaRPr lang="en-US" sz="1500" dirty="0"/>
          </a:p>
        </p:txBody>
      </p:sp>
      <p:sp>
        <p:nvSpPr>
          <p:cNvPr id="20" name="Text 18"/>
          <p:cNvSpPr/>
          <p:nvPr/>
        </p:nvSpPr>
        <p:spPr>
          <a:xfrm>
            <a:off x="4498848"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PM / FM</a:t>
            </a:r>
            <a:endParaRPr lang="en-US" sz="900" dirty="0"/>
          </a:p>
        </p:txBody>
      </p:sp>
      <p:sp>
        <p:nvSpPr>
          <p:cNvPr id="21" name="Text 19"/>
          <p:cNvSpPr/>
          <p:nvPr/>
        </p:nvSpPr>
        <p:spPr>
          <a:xfrm>
            <a:off x="4498848"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Someone operational looks at it before anyone is sent. This step cannot be skipped.</a:t>
            </a:r>
            <a:endParaRPr lang="en-US" sz="1050" dirty="0"/>
          </a:p>
        </p:txBody>
      </p:sp>
      <p:sp>
        <p:nvSpPr>
          <p:cNvPr id="22" name="Shape 20"/>
          <p:cNvSpPr/>
          <p:nvPr/>
        </p:nvSpPr>
        <p:spPr>
          <a:xfrm>
            <a:off x="6236208" y="2103120"/>
            <a:ext cx="1764792" cy="2880360"/>
          </a:xfrm>
          <a:prstGeom prst="roundRect">
            <a:avLst>
              <a:gd name="adj" fmla="val 4145"/>
            </a:avLst>
          </a:prstGeom>
          <a:solidFill>
            <a:srgbClr val="FFFFFF"/>
          </a:solidFill>
          <a:ln w="12700">
            <a:solidFill>
              <a:srgbClr val="E8E2DA"/>
            </a:solidFill>
            <a:prstDash val="solid"/>
          </a:ln>
        </p:spPr>
      </p:sp>
      <p:sp>
        <p:nvSpPr>
          <p:cNvPr id="23" name="Shape 21"/>
          <p:cNvSpPr/>
          <p:nvPr/>
        </p:nvSpPr>
        <p:spPr>
          <a:xfrm>
            <a:off x="6364224" y="2249424"/>
            <a:ext cx="347472" cy="347472"/>
          </a:xfrm>
          <a:prstGeom prst="ellipse">
            <a:avLst/>
          </a:prstGeom>
          <a:solidFill>
            <a:srgbClr val="D92323"/>
          </a:solidFill>
          <a:ln/>
        </p:spPr>
      </p:sp>
      <p:sp>
        <p:nvSpPr>
          <p:cNvPr id="24" name="Text 22"/>
          <p:cNvSpPr/>
          <p:nvPr/>
        </p:nvSpPr>
        <p:spPr>
          <a:xfrm>
            <a:off x="6364224"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6364224"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Dispatched</a:t>
            </a:r>
            <a:endParaRPr lang="en-US" sz="1500" dirty="0"/>
          </a:p>
        </p:txBody>
      </p:sp>
      <p:sp>
        <p:nvSpPr>
          <p:cNvPr id="26" name="Text 24"/>
          <p:cNvSpPr/>
          <p:nvPr/>
        </p:nvSpPr>
        <p:spPr>
          <a:xfrm>
            <a:off x="6364224"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PM / FM</a:t>
            </a:r>
            <a:endParaRPr lang="en-US" sz="900" dirty="0"/>
          </a:p>
        </p:txBody>
      </p:sp>
      <p:sp>
        <p:nvSpPr>
          <p:cNvPr id="27" name="Text 25"/>
          <p:cNvSpPr/>
          <p:nvPr/>
        </p:nvSpPr>
        <p:spPr>
          <a:xfrm>
            <a:off x="6364224"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To a vendor, or to your own ops staff.</a:t>
            </a:r>
            <a:endParaRPr lang="en-US" sz="1050" dirty="0"/>
          </a:p>
        </p:txBody>
      </p:sp>
      <p:sp>
        <p:nvSpPr>
          <p:cNvPr id="28" name="Shape 26"/>
          <p:cNvSpPr/>
          <p:nvPr/>
        </p:nvSpPr>
        <p:spPr>
          <a:xfrm>
            <a:off x="8101584" y="2103120"/>
            <a:ext cx="1764792" cy="2880360"/>
          </a:xfrm>
          <a:prstGeom prst="roundRect">
            <a:avLst>
              <a:gd name="adj" fmla="val 4145"/>
            </a:avLst>
          </a:prstGeom>
          <a:solidFill>
            <a:srgbClr val="FFFFFF"/>
          </a:solidFill>
          <a:ln w="12700">
            <a:solidFill>
              <a:srgbClr val="E8E2DA"/>
            </a:solidFill>
            <a:prstDash val="solid"/>
          </a:ln>
        </p:spPr>
      </p:sp>
      <p:sp>
        <p:nvSpPr>
          <p:cNvPr id="29" name="Shape 27"/>
          <p:cNvSpPr/>
          <p:nvPr/>
        </p:nvSpPr>
        <p:spPr>
          <a:xfrm>
            <a:off x="8229600" y="2249424"/>
            <a:ext cx="347472" cy="347472"/>
          </a:xfrm>
          <a:prstGeom prst="ellipse">
            <a:avLst/>
          </a:prstGeom>
          <a:solidFill>
            <a:srgbClr val="D92323"/>
          </a:solidFill>
          <a:ln/>
        </p:spPr>
      </p:sp>
      <p:sp>
        <p:nvSpPr>
          <p:cNvPr id="30" name="Text 28"/>
          <p:cNvSpPr/>
          <p:nvPr/>
        </p:nvSpPr>
        <p:spPr>
          <a:xfrm>
            <a:off x="8229600"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8229600"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Attended</a:t>
            </a:r>
            <a:endParaRPr lang="en-US" sz="1500" dirty="0"/>
          </a:p>
        </p:txBody>
      </p:sp>
      <p:sp>
        <p:nvSpPr>
          <p:cNvPr id="32" name="Text 30"/>
          <p:cNvSpPr/>
          <p:nvPr/>
        </p:nvSpPr>
        <p:spPr>
          <a:xfrm>
            <a:off x="8229600"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VENDOR / OPS</a:t>
            </a:r>
            <a:endParaRPr lang="en-US" sz="900" dirty="0"/>
          </a:p>
        </p:txBody>
      </p:sp>
      <p:sp>
        <p:nvSpPr>
          <p:cNvPr id="33" name="Text 31"/>
          <p:cNvSpPr/>
          <p:nvPr/>
        </p:nvSpPr>
        <p:spPr>
          <a:xfrm>
            <a:off x="8229600"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Job card updated as it progresses.</a:t>
            </a:r>
            <a:endParaRPr lang="en-US" sz="1050" dirty="0"/>
          </a:p>
        </p:txBody>
      </p:sp>
      <p:sp>
        <p:nvSpPr>
          <p:cNvPr id="34" name="Shape 32"/>
          <p:cNvSpPr/>
          <p:nvPr/>
        </p:nvSpPr>
        <p:spPr>
          <a:xfrm>
            <a:off x="9966960" y="2103120"/>
            <a:ext cx="1764792" cy="2880360"/>
          </a:xfrm>
          <a:prstGeom prst="roundRect">
            <a:avLst>
              <a:gd name="adj" fmla="val 4145"/>
            </a:avLst>
          </a:prstGeom>
          <a:solidFill>
            <a:srgbClr val="FFFFFF"/>
          </a:solidFill>
          <a:ln w="12700">
            <a:solidFill>
              <a:srgbClr val="E8E2DA"/>
            </a:solidFill>
            <a:prstDash val="solid"/>
          </a:ln>
        </p:spPr>
      </p:sp>
      <p:sp>
        <p:nvSpPr>
          <p:cNvPr id="35" name="Shape 33"/>
          <p:cNvSpPr/>
          <p:nvPr/>
        </p:nvSpPr>
        <p:spPr>
          <a:xfrm>
            <a:off x="10094976" y="2249424"/>
            <a:ext cx="347472" cy="347472"/>
          </a:xfrm>
          <a:prstGeom prst="ellipse">
            <a:avLst/>
          </a:prstGeom>
          <a:solidFill>
            <a:srgbClr val="D92323"/>
          </a:solidFill>
          <a:ln/>
        </p:spPr>
      </p:sp>
      <p:sp>
        <p:nvSpPr>
          <p:cNvPr id="36" name="Text 34"/>
          <p:cNvSpPr/>
          <p:nvPr/>
        </p:nvSpPr>
        <p:spPr>
          <a:xfrm>
            <a:off x="10094976" y="2249424"/>
            <a:ext cx="347472"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7" name="Text 35"/>
          <p:cNvSpPr/>
          <p:nvPr/>
        </p:nvSpPr>
        <p:spPr>
          <a:xfrm>
            <a:off x="10094976" y="2697480"/>
            <a:ext cx="1508760" cy="347472"/>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Evidenced</a:t>
            </a:r>
            <a:endParaRPr lang="en-US" sz="1500" dirty="0"/>
          </a:p>
        </p:txBody>
      </p:sp>
      <p:sp>
        <p:nvSpPr>
          <p:cNvPr id="38" name="Text 36"/>
          <p:cNvSpPr/>
          <p:nvPr/>
        </p:nvSpPr>
        <p:spPr>
          <a:xfrm>
            <a:off x="10094976" y="3035808"/>
            <a:ext cx="1508760" cy="237744"/>
          </a:xfrm>
          <a:prstGeom prst="rect">
            <a:avLst/>
          </a:prstGeom>
          <a:noFill/>
          <a:ln/>
        </p:spPr>
        <p:txBody>
          <a:bodyPr wrap="square" lIns="0" tIns="0" rIns="0" bIns="0" rtlCol="0" anchor="ctr"/>
          <a:lstStyle/>
          <a:p>
            <a:pPr marL="0" indent="0">
              <a:buNone/>
            </a:pPr>
            <a:r>
              <a:rPr lang="en-US" sz="900" b="1" kern="0" spc="120" dirty="0">
                <a:solidFill>
                  <a:srgbClr val="A81A1A"/>
                </a:solidFill>
                <a:latin typeface="Calibri" pitchFamily="34" charset="0"/>
                <a:ea typeface="Calibri" pitchFamily="34" charset="-122"/>
                <a:cs typeface="Calibri" pitchFamily="34" charset="-120"/>
              </a:rPr>
              <a:t>VENDOR / OPS</a:t>
            </a:r>
            <a:endParaRPr lang="en-US" sz="900" dirty="0"/>
          </a:p>
        </p:txBody>
      </p:sp>
      <p:sp>
        <p:nvSpPr>
          <p:cNvPr id="39" name="Text 37"/>
          <p:cNvSpPr/>
          <p:nvPr/>
        </p:nvSpPr>
        <p:spPr>
          <a:xfrm>
            <a:off x="10094976" y="3328416"/>
            <a:ext cx="1508760" cy="1463040"/>
          </a:xfrm>
          <a:prstGeom prst="rect">
            <a:avLst/>
          </a:prstGeom>
          <a:noFill/>
          <a:ln/>
        </p:spPr>
        <p:txBody>
          <a:bodyPr wrap="square" lIns="0" tIns="0" rIns="0" bIns="0" rtlCol="0" anchor="ctr"/>
          <a:lstStyle/>
          <a:p>
            <a:pPr marL="0" indent="0">
              <a:buNone/>
            </a:pPr>
            <a:r>
              <a:rPr lang="en-US" sz="1050" dirty="0">
                <a:solidFill>
                  <a:srgbClr val="5C616E"/>
                </a:solidFill>
                <a:latin typeface="Calibri" pitchFamily="34" charset="0"/>
                <a:ea typeface="Calibri" pitchFamily="34" charset="-122"/>
                <a:cs typeface="Calibri" pitchFamily="34" charset="-120"/>
              </a:rPr>
              <a:t>Photographs and notes attached — this is what the auditor reads later.</a:t>
            </a:r>
            <a:endParaRPr lang="en-US" sz="1050" dirty="0"/>
          </a:p>
        </p:txBody>
      </p:sp>
      <p:sp>
        <p:nvSpPr>
          <p:cNvPr id="40" name="Shape 38"/>
          <p:cNvSpPr/>
          <p:nvPr/>
        </p:nvSpPr>
        <p:spPr>
          <a:xfrm>
            <a:off x="640080" y="5193792"/>
            <a:ext cx="10908792" cy="960120"/>
          </a:xfrm>
          <a:prstGeom prst="roundRect">
            <a:avLst>
              <a:gd name="adj" fmla="val 7619"/>
            </a:avLst>
          </a:prstGeom>
          <a:solidFill>
            <a:srgbClr val="FBE9E9"/>
          </a:solidFill>
          <a:ln w="12700">
            <a:solidFill>
              <a:srgbClr val="F0D4D4"/>
            </a:solidFill>
            <a:prstDash val="solid"/>
          </a:ln>
        </p:spPr>
      </p:sp>
      <p:pic>
        <p:nvPicPr>
          <p:cNvPr id="41" name="Image 0" descr="preencoded.png"/>
          <p:cNvPicPr>
            <a:picLocks noChangeAspect="1"/>
          </p:cNvPicPr>
          <p:nvPr/>
        </p:nvPicPr>
        <p:blipFill>
          <a:blip r:embed="rId3"/>
          <a:stretch>
            <a:fillRect/>
          </a:stretch>
        </p:blipFill>
        <p:spPr>
          <a:xfrm>
            <a:off x="914400" y="5440680"/>
            <a:ext cx="256032" cy="256032"/>
          </a:xfrm>
          <a:prstGeom prst="rect">
            <a:avLst/>
          </a:prstGeom>
        </p:spPr>
      </p:pic>
      <p:sp>
        <p:nvSpPr>
          <p:cNvPr id="42" name="Text 39"/>
          <p:cNvSpPr/>
          <p:nvPr/>
        </p:nvSpPr>
        <p:spPr>
          <a:xfrm>
            <a:off x="1298448" y="5285232"/>
            <a:ext cx="10012680" cy="777240"/>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Step 3 is a gate, not a suggestion. </a:t>
            </a:r>
            <a:r>
              <a:rPr lang="en-US" sz="1200" dirty="0">
                <a:solidFill>
                  <a:srgbClr val="1F2229"/>
                </a:solidFill>
                <a:latin typeface="Calibri" pitchFamily="34" charset="0"/>
                <a:ea typeface="Calibri" pitchFamily="34" charset="-122"/>
                <a:cs typeface="Calibri" pitchFamily="34" charset="-120"/>
              </a:rPr>
              <a:t>Nothing can be assigned to a vendor until someone with the building in their hands has read it. An administrator cannot receive a request and dispatch it in one move — the person with the operational context has to look first.</a:t>
            </a:r>
            <a:endParaRPr lang="en-US" sz="1200" dirty="0"/>
          </a:p>
        </p:txBody>
      </p:sp>
      <p:sp>
        <p:nvSpPr>
          <p:cNvPr id="43" name="Text 40"/>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1 · WHY YOUR SCREEN DIFFERS FROM MINE</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A request reaches the desk it belongs to</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Expect different people to see different queues. That is the design, not a fault.</a:t>
            </a:r>
            <a:endParaRPr lang="en-US" sz="1450" dirty="0"/>
          </a:p>
        </p:txBody>
      </p:sp>
      <p:sp>
        <p:nvSpPr>
          <p:cNvPr id="5" name="Shape 3"/>
          <p:cNvSpPr/>
          <p:nvPr/>
        </p:nvSpPr>
        <p:spPr>
          <a:xfrm>
            <a:off x="640080" y="2148840"/>
            <a:ext cx="10908792" cy="566928"/>
          </a:xfrm>
          <a:prstGeom prst="roundRect">
            <a:avLst>
              <a:gd name="adj" fmla="val 9677"/>
            </a:avLst>
          </a:prstGeom>
          <a:solidFill>
            <a:srgbClr val="FBF7F2"/>
          </a:solidFill>
          <a:ln w="12700">
            <a:solidFill>
              <a:srgbClr val="E8E2DA"/>
            </a:solidFill>
            <a:prstDash val="solid"/>
          </a:ln>
        </p:spPr>
      </p:sp>
      <p:sp>
        <p:nvSpPr>
          <p:cNvPr id="6" name="Text 4"/>
          <p:cNvSpPr/>
          <p:nvPr/>
        </p:nvSpPr>
        <p:spPr>
          <a:xfrm>
            <a:off x="868680" y="214884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Tenant</a:t>
            </a:r>
            <a:endParaRPr lang="en-US" sz="1250" dirty="0"/>
          </a:p>
        </p:txBody>
      </p:sp>
      <p:sp>
        <p:nvSpPr>
          <p:cNvPr id="7" name="Text 5"/>
          <p:cNvSpPr/>
          <p:nvPr/>
        </p:nvSpPr>
        <p:spPr>
          <a:xfrm>
            <a:off x="3977640" y="214884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Only what they raised themselves.</a:t>
            </a:r>
            <a:endParaRPr lang="en-US" sz="1200" dirty="0"/>
          </a:p>
        </p:txBody>
      </p:sp>
      <p:sp>
        <p:nvSpPr>
          <p:cNvPr id="8" name="Shape 6"/>
          <p:cNvSpPr/>
          <p:nvPr/>
        </p:nvSpPr>
        <p:spPr>
          <a:xfrm>
            <a:off x="640080" y="2788920"/>
            <a:ext cx="10908792" cy="566928"/>
          </a:xfrm>
          <a:prstGeom prst="roundRect">
            <a:avLst>
              <a:gd name="adj" fmla="val 9677"/>
            </a:avLst>
          </a:prstGeom>
          <a:solidFill>
            <a:srgbClr val="FBF7F2"/>
          </a:solidFill>
          <a:ln w="12700">
            <a:solidFill>
              <a:srgbClr val="E8E2DA"/>
            </a:solidFill>
            <a:prstDash val="solid"/>
          </a:ln>
        </p:spPr>
      </p:sp>
      <p:sp>
        <p:nvSpPr>
          <p:cNvPr id="9" name="Text 7"/>
          <p:cNvSpPr/>
          <p:nvPr/>
        </p:nvSpPr>
        <p:spPr>
          <a:xfrm>
            <a:off x="868680" y="278892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Vendor</a:t>
            </a:r>
            <a:endParaRPr lang="en-US" sz="1250" dirty="0"/>
          </a:p>
        </p:txBody>
      </p:sp>
      <p:sp>
        <p:nvSpPr>
          <p:cNvPr id="10" name="Text 8"/>
          <p:cNvSpPr/>
          <p:nvPr/>
        </p:nvSpPr>
        <p:spPr>
          <a:xfrm>
            <a:off x="3977640" y="278892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Only jobs dispatched to their company.</a:t>
            </a:r>
            <a:endParaRPr lang="en-US" sz="1200" dirty="0"/>
          </a:p>
        </p:txBody>
      </p:sp>
      <p:sp>
        <p:nvSpPr>
          <p:cNvPr id="11" name="Shape 9"/>
          <p:cNvSpPr/>
          <p:nvPr/>
        </p:nvSpPr>
        <p:spPr>
          <a:xfrm>
            <a:off x="640080" y="3429000"/>
            <a:ext cx="10908792" cy="566928"/>
          </a:xfrm>
          <a:prstGeom prst="roundRect">
            <a:avLst>
              <a:gd name="adj" fmla="val 9677"/>
            </a:avLst>
          </a:prstGeom>
          <a:solidFill>
            <a:srgbClr val="FBE9E9"/>
          </a:solidFill>
          <a:ln w="12700">
            <a:solidFill>
              <a:srgbClr val="F0D4D4"/>
            </a:solidFill>
            <a:prstDash val="solid"/>
          </a:ln>
        </p:spPr>
      </p:sp>
      <p:sp>
        <p:nvSpPr>
          <p:cNvPr id="12" name="Text 10"/>
          <p:cNvSpPr/>
          <p:nvPr/>
        </p:nvSpPr>
        <p:spPr>
          <a:xfrm>
            <a:off x="868680" y="342900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FM / PM / Regional</a:t>
            </a:r>
            <a:endParaRPr lang="en-US" sz="1250" dirty="0"/>
          </a:p>
        </p:txBody>
      </p:sp>
      <p:sp>
        <p:nvSpPr>
          <p:cNvPr id="13" name="Text 11"/>
          <p:cNvSpPr/>
          <p:nvPr/>
        </p:nvSpPr>
        <p:spPr>
          <a:xfrm>
            <a:off x="3977640" y="342900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Assigned to me — plus fresh requests on my own buildings, so I can triage.</a:t>
            </a:r>
            <a:endParaRPr lang="en-US" sz="1200" dirty="0"/>
          </a:p>
        </p:txBody>
      </p:sp>
      <p:sp>
        <p:nvSpPr>
          <p:cNvPr id="14" name="Shape 12"/>
          <p:cNvSpPr/>
          <p:nvPr/>
        </p:nvSpPr>
        <p:spPr>
          <a:xfrm>
            <a:off x="640080" y="4069080"/>
            <a:ext cx="10908792" cy="566928"/>
          </a:xfrm>
          <a:prstGeom prst="roundRect">
            <a:avLst>
              <a:gd name="adj" fmla="val 9677"/>
            </a:avLst>
          </a:prstGeom>
          <a:solidFill>
            <a:srgbClr val="FBF7F2"/>
          </a:solidFill>
          <a:ln w="12700">
            <a:solidFill>
              <a:srgbClr val="E8E2DA"/>
            </a:solidFill>
            <a:prstDash val="solid"/>
          </a:ln>
        </p:spPr>
      </p:sp>
      <p:sp>
        <p:nvSpPr>
          <p:cNvPr id="15" name="Text 13"/>
          <p:cNvSpPr/>
          <p:nvPr/>
        </p:nvSpPr>
        <p:spPr>
          <a:xfrm>
            <a:off x="868680" y="406908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Property Owner</a:t>
            </a:r>
            <a:endParaRPr lang="en-US" sz="1250" dirty="0"/>
          </a:p>
        </p:txBody>
      </p:sp>
      <p:sp>
        <p:nvSpPr>
          <p:cNvPr id="16" name="Text 14"/>
          <p:cNvSpPr/>
          <p:nvPr/>
        </p:nvSpPr>
        <p:spPr>
          <a:xfrm>
            <a:off x="3977640" y="406908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Only what they raised themselves. Not every complaint about their building.</a:t>
            </a:r>
            <a:endParaRPr lang="en-US" sz="1200" dirty="0"/>
          </a:p>
        </p:txBody>
      </p:sp>
      <p:sp>
        <p:nvSpPr>
          <p:cNvPr id="17" name="Shape 15"/>
          <p:cNvSpPr/>
          <p:nvPr/>
        </p:nvSpPr>
        <p:spPr>
          <a:xfrm>
            <a:off x="640080" y="4709160"/>
            <a:ext cx="10908792" cy="566928"/>
          </a:xfrm>
          <a:prstGeom prst="roundRect">
            <a:avLst>
              <a:gd name="adj" fmla="val 9677"/>
            </a:avLst>
          </a:prstGeom>
          <a:solidFill>
            <a:srgbClr val="FBF7F2"/>
          </a:solidFill>
          <a:ln w="12700">
            <a:solidFill>
              <a:srgbClr val="E8E2DA"/>
            </a:solidFill>
            <a:prstDash val="solid"/>
          </a:ln>
        </p:spPr>
      </p:sp>
      <p:sp>
        <p:nvSpPr>
          <p:cNvPr id="18" name="Text 16"/>
          <p:cNvSpPr/>
          <p:nvPr/>
        </p:nvSpPr>
        <p:spPr>
          <a:xfrm>
            <a:off x="868680" y="470916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Finance Approver</a:t>
            </a:r>
            <a:endParaRPr lang="en-US" sz="1250" dirty="0"/>
          </a:p>
        </p:txBody>
      </p:sp>
      <p:sp>
        <p:nvSpPr>
          <p:cNvPr id="19" name="Text 17"/>
          <p:cNvSpPr/>
          <p:nvPr/>
        </p:nvSpPr>
        <p:spPr>
          <a:xfrm>
            <a:off x="3977640" y="470916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A request only once money attached to it has reached their desk — and it stays visible after.</a:t>
            </a:r>
            <a:endParaRPr lang="en-US" sz="1200" dirty="0"/>
          </a:p>
        </p:txBody>
      </p:sp>
      <p:sp>
        <p:nvSpPr>
          <p:cNvPr id="20" name="Shape 18"/>
          <p:cNvSpPr/>
          <p:nvPr/>
        </p:nvSpPr>
        <p:spPr>
          <a:xfrm>
            <a:off x="640080" y="5349240"/>
            <a:ext cx="10908792" cy="566928"/>
          </a:xfrm>
          <a:prstGeom prst="roundRect">
            <a:avLst>
              <a:gd name="adj" fmla="val 9677"/>
            </a:avLst>
          </a:prstGeom>
          <a:solidFill>
            <a:srgbClr val="FBF7F2"/>
          </a:solidFill>
          <a:ln w="12700">
            <a:solidFill>
              <a:srgbClr val="E8E2DA"/>
            </a:solidFill>
            <a:prstDash val="solid"/>
          </a:ln>
        </p:spPr>
      </p:sp>
      <p:sp>
        <p:nvSpPr>
          <p:cNvPr id="21" name="Text 19"/>
          <p:cNvSpPr/>
          <p:nvPr/>
        </p:nvSpPr>
        <p:spPr>
          <a:xfrm>
            <a:off x="868680" y="5349240"/>
            <a:ext cx="3017520" cy="566928"/>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Admin · Executive · Auditor</a:t>
            </a:r>
            <a:endParaRPr lang="en-US" sz="1250" dirty="0"/>
          </a:p>
        </p:txBody>
      </p:sp>
      <p:sp>
        <p:nvSpPr>
          <p:cNvPr id="22" name="Text 20"/>
          <p:cNvSpPr/>
          <p:nvPr/>
        </p:nvSpPr>
        <p:spPr>
          <a:xfrm>
            <a:off x="3977640" y="5349240"/>
            <a:ext cx="7360920" cy="566928"/>
          </a:xfrm>
          <a:prstGeom prst="rect">
            <a:avLst/>
          </a:prstGeom>
          <a:noFill/>
          <a:ln/>
        </p:spPr>
        <p:txBody>
          <a:bodyPr wrap="square" lIns="0" tIns="0" rIns="0" bIns="0" rtlCol="0" anchor="ctr"/>
          <a:lstStyle/>
          <a:p>
            <a:pPr marL="0" indent="0">
              <a:buNone/>
            </a:pPr>
            <a:r>
              <a:rPr lang="en-US" sz="1200" dirty="0">
                <a:solidFill>
                  <a:srgbClr val="5C616E"/>
                </a:solidFill>
                <a:latin typeface="Calibri" pitchFamily="34" charset="0"/>
                <a:ea typeface="Calibri" pitchFamily="34" charset="-122"/>
                <a:cs typeface="Calibri" pitchFamily="34" charset="-120"/>
              </a:rPr>
              <a:t>Everything, organisation-wide.</a:t>
            </a:r>
            <a:endParaRPr lang="en-US" sz="1200" dirty="0"/>
          </a:p>
        </p:txBody>
      </p:sp>
      <p:sp>
        <p:nvSpPr>
          <p:cNvPr id="23" name="Text 21"/>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1 · HANDS-ON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Your turn — three exercises</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Work in pairs. Swap logins between exercises so everyone drives at least once.</a:t>
            </a:r>
            <a:endParaRPr lang="en-US" sz="1450" dirty="0"/>
          </a:p>
        </p:txBody>
      </p:sp>
      <p:sp>
        <p:nvSpPr>
          <p:cNvPr id="5" name="Shape 3"/>
          <p:cNvSpPr/>
          <p:nvPr/>
        </p:nvSpPr>
        <p:spPr>
          <a:xfrm>
            <a:off x="640080" y="2240280"/>
            <a:ext cx="3566160" cy="3520440"/>
          </a:xfrm>
          <a:prstGeom prst="roundRect">
            <a:avLst>
              <a:gd name="adj" fmla="val 2078"/>
            </a:avLst>
          </a:prstGeom>
          <a:solidFill>
            <a:srgbClr val="FFFFFF"/>
          </a:solidFill>
          <a:ln w="12700">
            <a:solidFill>
              <a:srgbClr val="E8E2DA"/>
            </a:solidFill>
            <a:prstDash val="solid"/>
          </a:ln>
        </p:spPr>
      </p:sp>
      <p:sp>
        <p:nvSpPr>
          <p:cNvPr id="6" name="Shape 4"/>
          <p:cNvSpPr/>
          <p:nvPr/>
        </p:nvSpPr>
        <p:spPr>
          <a:xfrm>
            <a:off x="914400" y="2487168"/>
            <a:ext cx="420624" cy="420624"/>
          </a:xfrm>
          <a:prstGeom prst="ellipse">
            <a:avLst/>
          </a:prstGeom>
          <a:solidFill>
            <a:srgbClr val="D92323"/>
          </a:solidFill>
          <a:ln/>
        </p:spPr>
      </p:sp>
      <p:sp>
        <p:nvSpPr>
          <p:cNvPr id="7" name="Text 5"/>
          <p:cNvSpPr/>
          <p:nvPr/>
        </p:nvSpPr>
        <p:spPr>
          <a:xfrm>
            <a:off x="914400" y="24871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481328" y="2487168"/>
            <a:ext cx="2514600" cy="420624"/>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Raise a request</a:t>
            </a:r>
            <a:endParaRPr lang="en-US" sz="1700" dirty="0"/>
          </a:p>
        </p:txBody>
      </p:sp>
      <p:sp>
        <p:nvSpPr>
          <p:cNvPr id="9" name="Shape 7"/>
          <p:cNvSpPr/>
          <p:nvPr/>
        </p:nvSpPr>
        <p:spPr>
          <a:xfrm>
            <a:off x="914400" y="3054096"/>
            <a:ext cx="1214323" cy="292608"/>
          </a:xfrm>
          <a:prstGeom prst="roundRect">
            <a:avLst>
              <a:gd name="adj" fmla="val 50000"/>
            </a:avLst>
          </a:prstGeom>
          <a:solidFill>
            <a:srgbClr val="FBE9E9"/>
          </a:solidFill>
          <a:ln/>
        </p:spPr>
      </p:sp>
      <p:sp>
        <p:nvSpPr>
          <p:cNvPr id="10" name="Text 8"/>
          <p:cNvSpPr/>
          <p:nvPr/>
        </p:nvSpPr>
        <p:spPr>
          <a:xfrm>
            <a:off x="914400" y="3054096"/>
            <a:ext cx="1214323" cy="292608"/>
          </a:xfrm>
          <a:prstGeom prst="rect">
            <a:avLst/>
          </a:prstGeom>
          <a:noFill/>
          <a:ln/>
        </p:spPr>
        <p:txBody>
          <a:bodyPr wrap="square" lIns="0" tIns="0" rIns="0" bIns="0" rtlCol="0" anchor="ctr"/>
          <a:lstStyle/>
          <a:p>
            <a:pPr marL="0" indent="0" algn="ctr">
              <a:buNone/>
            </a:pPr>
            <a:r>
              <a:rPr lang="en-US" sz="1000" b="1" dirty="0">
                <a:solidFill>
                  <a:srgbClr val="A81A1A"/>
                </a:solidFill>
                <a:latin typeface="Calibri" pitchFamily="34" charset="0"/>
                <a:ea typeface="Calibri" pitchFamily="34" charset="-122"/>
                <a:cs typeface="Calibri" pitchFamily="34" charset="-120"/>
              </a:rPr>
              <a:t>oea.tenant@</a:t>
            </a:r>
            <a:endParaRPr lang="en-US" sz="1000" dirty="0"/>
          </a:p>
        </p:txBody>
      </p:sp>
      <p:sp>
        <p:nvSpPr>
          <p:cNvPr id="11" name="Text 9"/>
          <p:cNvSpPr/>
          <p:nvPr/>
        </p:nvSpPr>
        <p:spPr>
          <a:xfrm>
            <a:off x="914400" y="3520440"/>
            <a:ext cx="3017520" cy="20574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Sign in and raise a request against your unit.</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Attach a photograph.</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Note the reference and what the system classified it as.</a:t>
            </a:r>
            <a:endParaRPr lang="en-US" sz="1150" dirty="0"/>
          </a:p>
        </p:txBody>
      </p:sp>
      <p:sp>
        <p:nvSpPr>
          <p:cNvPr id="12" name="Shape 10"/>
          <p:cNvSpPr/>
          <p:nvPr/>
        </p:nvSpPr>
        <p:spPr>
          <a:xfrm>
            <a:off x="4352544" y="2240280"/>
            <a:ext cx="3566160" cy="3520440"/>
          </a:xfrm>
          <a:prstGeom prst="roundRect">
            <a:avLst>
              <a:gd name="adj" fmla="val 2078"/>
            </a:avLst>
          </a:prstGeom>
          <a:solidFill>
            <a:srgbClr val="FFFFFF"/>
          </a:solidFill>
          <a:ln w="12700">
            <a:solidFill>
              <a:srgbClr val="E8E2DA"/>
            </a:solidFill>
            <a:prstDash val="solid"/>
          </a:ln>
        </p:spPr>
      </p:sp>
      <p:sp>
        <p:nvSpPr>
          <p:cNvPr id="13" name="Shape 11"/>
          <p:cNvSpPr/>
          <p:nvPr/>
        </p:nvSpPr>
        <p:spPr>
          <a:xfrm>
            <a:off x="4626864" y="2487168"/>
            <a:ext cx="420624" cy="420624"/>
          </a:xfrm>
          <a:prstGeom prst="ellipse">
            <a:avLst/>
          </a:prstGeom>
          <a:solidFill>
            <a:srgbClr val="D92323"/>
          </a:solidFill>
          <a:ln/>
        </p:spPr>
      </p:sp>
      <p:sp>
        <p:nvSpPr>
          <p:cNvPr id="14" name="Text 12"/>
          <p:cNvSpPr/>
          <p:nvPr/>
        </p:nvSpPr>
        <p:spPr>
          <a:xfrm>
            <a:off x="4626864" y="24871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5193792" y="2487168"/>
            <a:ext cx="2514600" cy="420624"/>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Review and dispatch</a:t>
            </a:r>
            <a:endParaRPr lang="en-US" sz="1700" dirty="0"/>
          </a:p>
        </p:txBody>
      </p:sp>
      <p:sp>
        <p:nvSpPr>
          <p:cNvPr id="16" name="Shape 14"/>
          <p:cNvSpPr/>
          <p:nvPr/>
        </p:nvSpPr>
        <p:spPr>
          <a:xfrm>
            <a:off x="4626864" y="3054096"/>
            <a:ext cx="892454" cy="292608"/>
          </a:xfrm>
          <a:prstGeom prst="roundRect">
            <a:avLst>
              <a:gd name="adj" fmla="val 50000"/>
            </a:avLst>
          </a:prstGeom>
          <a:solidFill>
            <a:srgbClr val="FBE9E9"/>
          </a:solidFill>
          <a:ln/>
        </p:spPr>
      </p:sp>
      <p:sp>
        <p:nvSpPr>
          <p:cNvPr id="17" name="Text 15"/>
          <p:cNvSpPr/>
          <p:nvPr/>
        </p:nvSpPr>
        <p:spPr>
          <a:xfrm>
            <a:off x="4626864" y="3054096"/>
            <a:ext cx="892454" cy="292608"/>
          </a:xfrm>
          <a:prstGeom prst="rect">
            <a:avLst/>
          </a:prstGeom>
          <a:noFill/>
          <a:ln/>
        </p:spPr>
        <p:txBody>
          <a:bodyPr wrap="square" lIns="0" tIns="0" rIns="0" bIns="0" rtlCol="0" anchor="ctr"/>
          <a:lstStyle/>
          <a:p>
            <a:pPr marL="0" indent="0" algn="ctr">
              <a:buNone/>
            </a:pPr>
            <a:r>
              <a:rPr lang="en-US" sz="1000" b="1" dirty="0">
                <a:solidFill>
                  <a:srgbClr val="A81A1A"/>
                </a:solidFill>
                <a:latin typeface="Calibri" pitchFamily="34" charset="0"/>
                <a:ea typeface="Calibri" pitchFamily="34" charset="-122"/>
                <a:cs typeface="Calibri" pitchFamily="34" charset="-120"/>
              </a:rPr>
              <a:t>oea.pm@</a:t>
            </a:r>
            <a:endParaRPr lang="en-US" sz="1000" dirty="0"/>
          </a:p>
        </p:txBody>
      </p:sp>
      <p:sp>
        <p:nvSpPr>
          <p:cNvPr id="18" name="Text 16"/>
          <p:cNvSpPr/>
          <p:nvPr/>
        </p:nvSpPr>
        <p:spPr>
          <a:xfrm>
            <a:off x="4626864" y="3520440"/>
            <a:ext cx="3017520" cy="20574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Find the request. Try dispatching before reviewing.</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Review it, then assign GreenLeaf Landscaping.</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Check the tenant can see the status change.</a:t>
            </a:r>
            <a:endParaRPr lang="en-US" sz="1150" dirty="0"/>
          </a:p>
        </p:txBody>
      </p:sp>
      <p:sp>
        <p:nvSpPr>
          <p:cNvPr id="19" name="Shape 17"/>
          <p:cNvSpPr/>
          <p:nvPr/>
        </p:nvSpPr>
        <p:spPr>
          <a:xfrm>
            <a:off x="8065008" y="2240280"/>
            <a:ext cx="3566160" cy="3520440"/>
          </a:xfrm>
          <a:prstGeom prst="roundRect">
            <a:avLst>
              <a:gd name="adj" fmla="val 2078"/>
            </a:avLst>
          </a:prstGeom>
          <a:solidFill>
            <a:srgbClr val="FFFFFF"/>
          </a:solidFill>
          <a:ln w="12700">
            <a:solidFill>
              <a:srgbClr val="E8E2DA"/>
            </a:solidFill>
            <a:prstDash val="solid"/>
          </a:ln>
        </p:spPr>
      </p:sp>
      <p:sp>
        <p:nvSpPr>
          <p:cNvPr id="20" name="Shape 18"/>
          <p:cNvSpPr/>
          <p:nvPr/>
        </p:nvSpPr>
        <p:spPr>
          <a:xfrm>
            <a:off x="8339328" y="2487168"/>
            <a:ext cx="420624" cy="420624"/>
          </a:xfrm>
          <a:prstGeom prst="ellipse">
            <a:avLst/>
          </a:prstGeom>
          <a:solidFill>
            <a:srgbClr val="D92323"/>
          </a:solidFill>
          <a:ln/>
        </p:spPr>
      </p:sp>
      <p:sp>
        <p:nvSpPr>
          <p:cNvPr id="21" name="Text 19"/>
          <p:cNvSpPr/>
          <p:nvPr/>
        </p:nvSpPr>
        <p:spPr>
          <a:xfrm>
            <a:off x="8339328" y="24871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20"/>
          <p:cNvSpPr/>
          <p:nvPr/>
        </p:nvSpPr>
        <p:spPr>
          <a:xfrm>
            <a:off x="8906256" y="2487168"/>
            <a:ext cx="2514600" cy="420624"/>
          </a:xfrm>
          <a:prstGeom prst="rect">
            <a:avLst/>
          </a:prstGeom>
          <a:noFill/>
          <a:ln/>
        </p:spPr>
        <p:txBody>
          <a:bodyPr wrap="square" lIns="0" tIns="0" rIns="0" bIns="0" rtlCol="0" anchor="ctr"/>
          <a:lstStyle/>
          <a:p>
            <a:pPr marL="0" indent="0">
              <a:buNone/>
            </a:pPr>
            <a:r>
              <a:rPr lang="en-US" sz="1700" b="1" dirty="0">
                <a:solidFill>
                  <a:srgbClr val="1F2229"/>
                </a:solidFill>
                <a:latin typeface="Cambria" pitchFamily="34" charset="0"/>
                <a:ea typeface="Cambria" pitchFamily="34" charset="-122"/>
                <a:cs typeface="Cambria" pitchFamily="34" charset="-120"/>
              </a:rPr>
              <a:t>Attend and evidence</a:t>
            </a:r>
            <a:endParaRPr lang="en-US" sz="1700" dirty="0"/>
          </a:p>
        </p:txBody>
      </p:sp>
      <p:sp>
        <p:nvSpPr>
          <p:cNvPr id="23" name="Shape 21"/>
          <p:cNvSpPr/>
          <p:nvPr/>
        </p:nvSpPr>
        <p:spPr>
          <a:xfrm>
            <a:off x="8339328" y="3054096"/>
            <a:ext cx="1214323" cy="292608"/>
          </a:xfrm>
          <a:prstGeom prst="roundRect">
            <a:avLst>
              <a:gd name="adj" fmla="val 50000"/>
            </a:avLst>
          </a:prstGeom>
          <a:solidFill>
            <a:srgbClr val="FBE9E9"/>
          </a:solidFill>
          <a:ln/>
        </p:spPr>
      </p:sp>
      <p:sp>
        <p:nvSpPr>
          <p:cNvPr id="24" name="Text 22"/>
          <p:cNvSpPr/>
          <p:nvPr/>
        </p:nvSpPr>
        <p:spPr>
          <a:xfrm>
            <a:off x="8339328" y="3054096"/>
            <a:ext cx="1214323" cy="292608"/>
          </a:xfrm>
          <a:prstGeom prst="rect">
            <a:avLst/>
          </a:prstGeom>
          <a:noFill/>
          <a:ln/>
        </p:spPr>
        <p:txBody>
          <a:bodyPr wrap="square" lIns="0" tIns="0" rIns="0" bIns="0" rtlCol="0" anchor="ctr"/>
          <a:lstStyle/>
          <a:p>
            <a:pPr marL="0" indent="0" algn="ctr">
              <a:buNone/>
            </a:pPr>
            <a:r>
              <a:rPr lang="en-US" sz="1000" b="1" dirty="0">
                <a:solidFill>
                  <a:srgbClr val="A81A1A"/>
                </a:solidFill>
                <a:latin typeface="Calibri" pitchFamily="34" charset="0"/>
                <a:ea typeface="Calibri" pitchFamily="34" charset="-122"/>
                <a:cs typeface="Calibri" pitchFamily="34" charset="-120"/>
              </a:rPr>
              <a:t>oea.vendor@</a:t>
            </a:r>
            <a:endParaRPr lang="en-US" sz="1000" dirty="0"/>
          </a:p>
        </p:txBody>
      </p:sp>
      <p:sp>
        <p:nvSpPr>
          <p:cNvPr id="25" name="Text 23"/>
          <p:cNvSpPr/>
          <p:nvPr/>
        </p:nvSpPr>
        <p:spPr>
          <a:xfrm>
            <a:off x="8339328" y="3520440"/>
            <a:ext cx="3017520" cy="205740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Open the job from your queue.</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Move it through to completion with notes.</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Attach evidence — the auditor will read this on Day 2.</a:t>
            </a:r>
            <a:endParaRPr lang="en-US" sz="1150" dirty="0"/>
          </a:p>
        </p:txBody>
      </p:sp>
      <p:sp>
        <p:nvSpPr>
          <p:cNvPr id="26" name="Text 24"/>
          <p:cNvSpPr/>
          <p:nvPr/>
        </p:nvSpPr>
        <p:spPr>
          <a:xfrm>
            <a:off x="640080" y="5989320"/>
            <a:ext cx="10908792" cy="365760"/>
          </a:xfrm>
          <a:prstGeom prst="rect">
            <a:avLst/>
          </a:prstGeom>
          <a:noFill/>
          <a:ln/>
        </p:spPr>
        <p:txBody>
          <a:bodyPr wrap="square" lIns="0" tIns="0" rIns="0" bIns="0" rtlCol="0" anchor="ctr"/>
          <a:lstStyle/>
          <a:p>
            <a:pPr marL="0" indent="0">
              <a:buNone/>
            </a:pPr>
            <a:r>
              <a:rPr lang="en-US" sz="1200" i="1" dirty="0">
                <a:solidFill>
                  <a:srgbClr val="5C616E"/>
                </a:solidFill>
                <a:latin typeface="Calibri" pitchFamily="34" charset="0"/>
                <a:ea typeface="Calibri" pitchFamily="34" charset="-122"/>
                <a:cs typeface="Calibri" pitchFamily="34" charset="-120"/>
              </a:rPr>
              <a:t>Finish by writing down anything that surprised you — wording, a missing field, a step you expected and did not find.</a:t>
            </a:r>
            <a:endParaRPr lang="en-US" sz="1200" dirty="0"/>
          </a:p>
        </p:txBody>
      </p:sp>
      <p:sp>
        <p:nvSpPr>
          <p:cNvPr id="27" name="Text 2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21220"/>
        </a:solidFill>
        <a:effectLst/>
      </p:bgPr>
    </p:bg>
    <p:spTree>
      <p:nvGrpSpPr>
        <p:cNvPr id="1" name=""/>
        <p:cNvGrpSpPr/>
        <p:nvPr/>
      </p:nvGrpSpPr>
      <p:grpSpPr>
        <a:xfrm>
          <a:off x="0" y="0"/>
          <a:ext cx="0" cy="0"/>
          <a:chOff x="0" y="0"/>
          <a:chExt cx="0" cy="0"/>
        </a:xfrm>
      </p:grpSpPr>
      <p:sp>
        <p:nvSpPr>
          <p:cNvPr id="2" name="Shape 0"/>
          <p:cNvSpPr/>
          <p:nvPr/>
        </p:nvSpPr>
        <p:spPr>
          <a:xfrm>
            <a:off x="9052560" y="-2194560"/>
            <a:ext cx="6035040" cy="6035040"/>
          </a:xfrm>
          <a:prstGeom prst="ellipse">
            <a:avLst/>
          </a:prstGeom>
          <a:solidFill>
            <a:srgbClr val="1A1A2E">
              <a:alpha val="70000"/>
            </a:srgbClr>
          </a:solidFill>
          <a:ln/>
        </p:spPr>
      </p:sp>
      <p:sp>
        <p:nvSpPr>
          <p:cNvPr id="3" name="Shape 1"/>
          <p:cNvSpPr/>
          <p:nvPr/>
        </p:nvSpPr>
        <p:spPr>
          <a:xfrm>
            <a:off x="10424160" y="4480560"/>
            <a:ext cx="3840480" cy="3840480"/>
          </a:xfrm>
          <a:prstGeom prst="ellipse">
            <a:avLst/>
          </a:prstGeom>
          <a:solidFill>
            <a:srgbClr val="D92323">
              <a:alpha val="16000"/>
            </a:srgbClr>
          </a:solidFill>
          <a:ln/>
        </p:spPr>
      </p:sp>
      <p:sp>
        <p:nvSpPr>
          <p:cNvPr id="4" name="Text 2"/>
          <p:cNvSpPr/>
          <p:nvPr/>
        </p:nvSpPr>
        <p:spPr>
          <a:xfrm>
            <a:off x="822960" y="1600200"/>
            <a:ext cx="5486400" cy="411480"/>
          </a:xfrm>
          <a:prstGeom prst="rect">
            <a:avLst/>
          </a:prstGeom>
          <a:noFill/>
          <a:ln/>
        </p:spPr>
        <p:txBody>
          <a:bodyPr wrap="square" lIns="0" tIns="0" rIns="0" bIns="0" rtlCol="0" anchor="ctr"/>
          <a:lstStyle/>
          <a:p>
            <a:pPr marL="0" indent="0">
              <a:buNone/>
            </a:pPr>
            <a:r>
              <a:rPr lang="en-US" sz="1350" b="1" kern="0" spc="300" dirty="0">
                <a:solidFill>
                  <a:srgbClr val="D92323"/>
                </a:solidFill>
                <a:latin typeface="Calibri" pitchFamily="34" charset="0"/>
                <a:ea typeface="Calibri" pitchFamily="34" charset="-122"/>
                <a:cs typeface="Calibri" pitchFamily="34" charset="-120"/>
              </a:rPr>
              <a:t>DAY 2</a:t>
            </a:r>
            <a:endParaRPr lang="en-US" sz="1350" dirty="0"/>
          </a:p>
        </p:txBody>
      </p:sp>
      <p:sp>
        <p:nvSpPr>
          <p:cNvPr id="5" name="Text 3"/>
          <p:cNvSpPr/>
          <p:nvPr/>
        </p:nvSpPr>
        <p:spPr>
          <a:xfrm>
            <a:off x="777240" y="2057400"/>
            <a:ext cx="9601200" cy="11430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Money, and the hands it passes through</a:t>
            </a:r>
            <a:endParaRPr lang="en-US" sz="4600" dirty="0"/>
          </a:p>
        </p:txBody>
      </p:sp>
      <p:sp>
        <p:nvSpPr>
          <p:cNvPr id="6" name="Text 4"/>
          <p:cNvSpPr/>
          <p:nvPr/>
        </p:nvSpPr>
        <p:spPr>
          <a:xfrm>
            <a:off x="822960" y="3291840"/>
            <a:ext cx="8686800" cy="502920"/>
          </a:xfrm>
          <a:prstGeom prst="rect">
            <a:avLst/>
          </a:prstGeom>
          <a:noFill/>
          <a:ln/>
        </p:spPr>
        <p:txBody>
          <a:bodyPr wrap="square" lIns="0" tIns="0" rIns="0" bIns="0" rtlCol="0" anchor="ctr"/>
          <a:lstStyle/>
          <a:p>
            <a:pPr marL="0" indent="0">
              <a:buNone/>
            </a:pPr>
            <a:r>
              <a:rPr lang="en-US" sz="1700" i="1" dirty="0">
                <a:solidFill>
                  <a:srgbClr val="C9CBD8"/>
                </a:solidFill>
                <a:latin typeface="Calibri" pitchFamily="34" charset="0"/>
                <a:ea typeface="Calibri" pitchFamily="34" charset="-122"/>
                <a:cs typeface="Calibri" pitchFamily="34" charset="-120"/>
              </a:rPr>
              <a:t>Nothing leaves this system on one person's say-so</a:t>
            </a:r>
            <a:endParaRPr lang="en-US" sz="1700" dirty="0"/>
          </a:p>
        </p:txBody>
      </p:sp>
      <p:sp>
        <p:nvSpPr>
          <p:cNvPr id="7" name="Shape 5"/>
          <p:cNvSpPr/>
          <p:nvPr/>
        </p:nvSpPr>
        <p:spPr>
          <a:xfrm>
            <a:off x="868680" y="4270248"/>
            <a:ext cx="109728" cy="109728"/>
          </a:xfrm>
          <a:prstGeom prst="ellipse">
            <a:avLst/>
          </a:prstGeom>
          <a:solidFill>
            <a:srgbClr val="D92323"/>
          </a:solidFill>
          <a:ln/>
        </p:spPr>
      </p:sp>
      <p:sp>
        <p:nvSpPr>
          <p:cNvPr id="8" name="Text 6"/>
          <p:cNvSpPr/>
          <p:nvPr/>
        </p:nvSpPr>
        <p:spPr>
          <a:xfrm>
            <a:off x="1170432" y="4160520"/>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Two kinds of payable — a vendor's invoice and your own requisition</a:t>
            </a:r>
            <a:endParaRPr lang="en-US" sz="1350" dirty="0"/>
          </a:p>
        </p:txBody>
      </p:sp>
      <p:sp>
        <p:nvSpPr>
          <p:cNvPr id="9" name="Shape 7"/>
          <p:cNvSpPr/>
          <p:nvPr/>
        </p:nvSpPr>
        <p:spPr>
          <a:xfrm>
            <a:off x="868680" y="4690872"/>
            <a:ext cx="109728" cy="109728"/>
          </a:xfrm>
          <a:prstGeom prst="ellipse">
            <a:avLst/>
          </a:prstGeom>
          <a:solidFill>
            <a:srgbClr val="D92323"/>
          </a:solidFill>
          <a:ln/>
        </p:spPr>
      </p:sp>
      <p:sp>
        <p:nvSpPr>
          <p:cNvPr id="10" name="Text 8"/>
          <p:cNvSpPr/>
          <p:nvPr/>
        </p:nvSpPr>
        <p:spPr>
          <a:xfrm>
            <a:off x="1170432" y="4581144"/>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The three-stage chain, and why stage one is not an approval</a:t>
            </a:r>
            <a:endParaRPr lang="en-US" sz="1350" dirty="0"/>
          </a:p>
        </p:txBody>
      </p:sp>
      <p:sp>
        <p:nvSpPr>
          <p:cNvPr id="11" name="Shape 9"/>
          <p:cNvSpPr/>
          <p:nvPr/>
        </p:nvSpPr>
        <p:spPr>
          <a:xfrm>
            <a:off x="868680" y="5111496"/>
            <a:ext cx="109728" cy="109728"/>
          </a:xfrm>
          <a:prstGeom prst="ellipse">
            <a:avLst/>
          </a:prstGeom>
          <a:solidFill>
            <a:srgbClr val="D92323"/>
          </a:solidFill>
          <a:ln/>
        </p:spPr>
      </p:sp>
      <p:sp>
        <p:nvSpPr>
          <p:cNvPr id="12" name="Text 10"/>
          <p:cNvSpPr/>
          <p:nvPr/>
        </p:nvSpPr>
        <p:spPr>
          <a:xfrm>
            <a:off x="1170432" y="5001768"/>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What the system will refuse, and who it refuses</a:t>
            </a:r>
            <a:endParaRPr lang="en-US" sz="1350" dirty="0"/>
          </a:p>
        </p:txBody>
      </p:sp>
      <p:sp>
        <p:nvSpPr>
          <p:cNvPr id="13" name="Shape 11"/>
          <p:cNvSpPr/>
          <p:nvPr/>
        </p:nvSpPr>
        <p:spPr>
          <a:xfrm>
            <a:off x="868680" y="5532120"/>
            <a:ext cx="109728" cy="109728"/>
          </a:xfrm>
          <a:prstGeom prst="ellipse">
            <a:avLst/>
          </a:prstGeom>
          <a:solidFill>
            <a:srgbClr val="D92323"/>
          </a:solidFill>
          <a:ln/>
        </p:spPr>
      </p:sp>
      <p:sp>
        <p:nvSpPr>
          <p:cNvPr id="14" name="Text 12"/>
          <p:cNvSpPr/>
          <p:nvPr/>
        </p:nvSpPr>
        <p:spPr>
          <a:xfrm>
            <a:off x="1170432" y="5422392"/>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Hands-on: raise it, sign it off, audit it, approve it, release it</a:t>
            </a:r>
            <a:endParaRPr lang="en-US" sz="1350" dirty="0"/>
          </a:p>
        </p:txBody>
      </p:sp>
      <p:sp>
        <p:nvSpPr>
          <p:cNvPr id="15" name="Text 1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2 · WHAT GETS PAID</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Two kinds of payable</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They look similar on screen and are deliberately different underneath.</a:t>
            </a:r>
            <a:endParaRPr lang="en-US" sz="1450" dirty="0"/>
          </a:p>
        </p:txBody>
      </p:sp>
      <p:sp>
        <p:nvSpPr>
          <p:cNvPr id="5" name="Shape 3"/>
          <p:cNvSpPr/>
          <p:nvPr/>
        </p:nvSpPr>
        <p:spPr>
          <a:xfrm>
            <a:off x="640080" y="2148840"/>
            <a:ext cx="5349240" cy="3611880"/>
          </a:xfrm>
          <a:prstGeom prst="roundRect">
            <a:avLst>
              <a:gd name="adj" fmla="val 2025"/>
            </a:avLst>
          </a:prstGeom>
          <a:solidFill>
            <a:srgbClr val="FBF7F2"/>
          </a:solidFill>
          <a:ln w="12700">
            <a:solidFill>
              <a:srgbClr val="E8E2DA"/>
            </a:solidFill>
            <a:prstDash val="solid"/>
          </a:ln>
        </p:spPr>
      </p:sp>
      <p:pic>
        <p:nvPicPr>
          <p:cNvPr id="6" name="Image 0" descr="preencoded.png"/>
          <p:cNvPicPr>
            <a:picLocks noChangeAspect="1"/>
          </p:cNvPicPr>
          <p:nvPr/>
        </p:nvPicPr>
        <p:blipFill>
          <a:blip r:embed="rId3"/>
          <a:stretch>
            <a:fillRect/>
          </a:stretch>
        </p:blipFill>
        <p:spPr>
          <a:xfrm>
            <a:off x="960120" y="2395728"/>
            <a:ext cx="329184" cy="329184"/>
          </a:xfrm>
          <a:prstGeom prst="rect">
            <a:avLst/>
          </a:prstGeom>
        </p:spPr>
      </p:pic>
      <p:sp>
        <p:nvSpPr>
          <p:cNvPr id="7" name="Text 4"/>
          <p:cNvSpPr/>
          <p:nvPr/>
        </p:nvSpPr>
        <p:spPr>
          <a:xfrm>
            <a:off x="1463040" y="2377440"/>
            <a:ext cx="4206240" cy="384048"/>
          </a:xfrm>
          <a:prstGeom prst="rect">
            <a:avLst/>
          </a:prstGeom>
          <a:noFill/>
          <a:ln/>
        </p:spPr>
        <p:txBody>
          <a:bodyPr wrap="square" lIns="0" tIns="0" rIns="0" bIns="0" rtlCol="0" anchor="ctr"/>
          <a:lstStyle/>
          <a:p>
            <a:pPr marL="0" indent="0">
              <a:buNone/>
            </a:pPr>
            <a:r>
              <a:rPr lang="en-US" sz="2000" b="1" dirty="0">
                <a:solidFill>
                  <a:srgbClr val="1F2229"/>
                </a:solidFill>
                <a:latin typeface="Cambria" pitchFamily="34" charset="0"/>
                <a:ea typeface="Cambria" pitchFamily="34" charset="-122"/>
                <a:cs typeface="Cambria" pitchFamily="34" charset="-120"/>
              </a:rPr>
              <a:t>Vendor invoice</a:t>
            </a:r>
            <a:endParaRPr lang="en-US" sz="2000" dirty="0"/>
          </a:p>
        </p:txBody>
      </p:sp>
      <p:sp>
        <p:nvSpPr>
          <p:cNvPr id="8" name="Text 5"/>
          <p:cNvSpPr/>
          <p:nvPr/>
        </p:nvSpPr>
        <p:spPr>
          <a:xfrm>
            <a:off x="960120" y="2852928"/>
            <a:ext cx="4709160" cy="365760"/>
          </a:xfrm>
          <a:prstGeom prst="rect">
            <a:avLst/>
          </a:prstGeom>
          <a:noFill/>
          <a:ln/>
        </p:spPr>
        <p:txBody>
          <a:bodyPr wrap="square" lIns="0" tIns="0" rIns="0" bIns="0" rtlCol="0" anchor="ctr"/>
          <a:lstStyle/>
          <a:p>
            <a:pPr marL="0" indent="0">
              <a:buNone/>
            </a:pPr>
            <a:r>
              <a:rPr lang="en-US" sz="1250" i="1" dirty="0">
                <a:solidFill>
                  <a:srgbClr val="A81A1A"/>
                </a:solidFill>
                <a:latin typeface="Calibri" pitchFamily="34" charset="0"/>
                <a:ea typeface="Calibri" pitchFamily="34" charset="-122"/>
                <a:cs typeface="Calibri" pitchFamily="34" charset="-120"/>
              </a:rPr>
              <a:t>A contractor bills you for work you dispatched.</a:t>
            </a:r>
            <a:endParaRPr lang="en-US" sz="1250" dirty="0"/>
          </a:p>
        </p:txBody>
      </p:sp>
      <p:sp>
        <p:nvSpPr>
          <p:cNvPr id="9" name="Text 6"/>
          <p:cNvSpPr/>
          <p:nvPr/>
        </p:nvSpPr>
        <p:spPr>
          <a:xfrm>
            <a:off x="960120" y="3310128"/>
            <a:ext cx="4709160" cy="21945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One vendor, one invoice.</a:t>
            </a:r>
            <a:endParaRPr lang="en-US" sz="1200" dirty="0"/>
          </a:p>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Checked against the job card and the evidence.</a:t>
            </a:r>
            <a:endParaRPr lang="en-US" sz="1200" dirty="0"/>
          </a:p>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The vendor's performance score is part of the picture.</a:t>
            </a:r>
            <a:endParaRPr lang="en-US" sz="1200" dirty="0"/>
          </a:p>
        </p:txBody>
      </p:sp>
      <p:sp>
        <p:nvSpPr>
          <p:cNvPr id="10" name="Shape 7"/>
          <p:cNvSpPr/>
          <p:nvPr/>
        </p:nvSpPr>
        <p:spPr>
          <a:xfrm>
            <a:off x="6199632" y="2148840"/>
            <a:ext cx="5349240" cy="3611880"/>
          </a:xfrm>
          <a:prstGeom prst="roundRect">
            <a:avLst>
              <a:gd name="adj" fmla="val 2025"/>
            </a:avLst>
          </a:prstGeom>
          <a:solidFill>
            <a:srgbClr val="FBF7F2"/>
          </a:solidFill>
          <a:ln w="12700">
            <a:solidFill>
              <a:srgbClr val="E8E2DA"/>
            </a:solidFill>
            <a:prstDash val="solid"/>
          </a:ln>
        </p:spPr>
      </p:sp>
      <p:pic>
        <p:nvPicPr>
          <p:cNvPr id="11" name="Image 1" descr="preencoded.png"/>
          <p:cNvPicPr>
            <a:picLocks noChangeAspect="1"/>
          </p:cNvPicPr>
          <p:nvPr/>
        </p:nvPicPr>
        <p:blipFill>
          <a:blip r:embed="rId4"/>
          <a:stretch>
            <a:fillRect/>
          </a:stretch>
        </p:blipFill>
        <p:spPr>
          <a:xfrm>
            <a:off x="6519672" y="2395728"/>
            <a:ext cx="329184" cy="329184"/>
          </a:xfrm>
          <a:prstGeom prst="rect">
            <a:avLst/>
          </a:prstGeom>
        </p:spPr>
      </p:pic>
      <p:sp>
        <p:nvSpPr>
          <p:cNvPr id="12" name="Text 8"/>
          <p:cNvSpPr/>
          <p:nvPr/>
        </p:nvSpPr>
        <p:spPr>
          <a:xfrm>
            <a:off x="7022592" y="2377440"/>
            <a:ext cx="4206240" cy="384048"/>
          </a:xfrm>
          <a:prstGeom prst="rect">
            <a:avLst/>
          </a:prstGeom>
          <a:noFill/>
          <a:ln/>
        </p:spPr>
        <p:txBody>
          <a:bodyPr wrap="square" lIns="0" tIns="0" rIns="0" bIns="0" rtlCol="0" anchor="ctr"/>
          <a:lstStyle/>
          <a:p>
            <a:pPr marL="0" indent="0">
              <a:buNone/>
            </a:pPr>
            <a:r>
              <a:rPr lang="en-US" sz="2000" b="1" dirty="0">
                <a:solidFill>
                  <a:srgbClr val="1F2229"/>
                </a:solidFill>
                <a:latin typeface="Cambria" pitchFamily="34" charset="0"/>
                <a:ea typeface="Cambria" pitchFamily="34" charset="-122"/>
                <a:cs typeface="Cambria" pitchFamily="34" charset="-120"/>
              </a:rPr>
              <a:t>Ops requisition</a:t>
            </a:r>
            <a:endParaRPr lang="en-US" sz="2000" dirty="0"/>
          </a:p>
        </p:txBody>
      </p:sp>
      <p:sp>
        <p:nvSpPr>
          <p:cNvPr id="13" name="Text 9"/>
          <p:cNvSpPr/>
          <p:nvPr/>
        </p:nvSpPr>
        <p:spPr>
          <a:xfrm>
            <a:off x="6519672" y="2852928"/>
            <a:ext cx="4709160" cy="365760"/>
          </a:xfrm>
          <a:prstGeom prst="rect">
            <a:avLst/>
          </a:prstGeom>
          <a:noFill/>
          <a:ln/>
        </p:spPr>
        <p:txBody>
          <a:bodyPr wrap="square" lIns="0" tIns="0" rIns="0" bIns="0" rtlCol="0" anchor="ctr"/>
          <a:lstStyle/>
          <a:p>
            <a:pPr marL="0" indent="0">
              <a:buNone/>
            </a:pPr>
            <a:r>
              <a:rPr lang="en-US" sz="1250" i="1" dirty="0">
                <a:solidFill>
                  <a:srgbClr val="A81A1A"/>
                </a:solidFill>
                <a:latin typeface="Calibri" pitchFamily="34" charset="0"/>
                <a:ea typeface="Calibri" pitchFamily="34" charset="-122"/>
                <a:cs typeface="Calibri" pitchFamily="34" charset="-120"/>
              </a:rPr>
              <a:t>Your own staff spend money — materials, a callout, a part.</a:t>
            </a:r>
            <a:endParaRPr lang="en-US" sz="1250" dirty="0"/>
          </a:p>
        </p:txBody>
      </p:sp>
      <p:sp>
        <p:nvSpPr>
          <p:cNvPr id="14" name="Text 10"/>
          <p:cNvSpPr/>
          <p:nvPr/>
        </p:nvSpPr>
        <p:spPr>
          <a:xfrm>
            <a:off x="6519672" y="3310128"/>
            <a:ext cx="4709160" cy="2194560"/>
          </a:xfrm>
          <a:prstGeom prst="rect">
            <a:avLst/>
          </a:prstGeom>
          <a:noFill/>
          <a:ln/>
        </p:spPr>
        <p:txBody>
          <a:bodyPr wrap="square" lIns="0" tIns="0" rIns="0" bIns="0" rtlCol="0" anchor="ctr"/>
          <a:lstStyle/>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Itemised lines, each with its own cost.</a:t>
            </a:r>
            <a:endParaRPr lang="en-US" sz="1200" dirty="0"/>
          </a:p>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A line may name a registered vendor, carry its own verified payee, or neither.</a:t>
            </a:r>
            <a:endParaRPr lang="en-US" sz="1200" dirty="0"/>
          </a:p>
          <a:p>
            <a:pPr marL="342900" indent="-342900">
              <a:spcAft>
                <a:spcPts val="700"/>
              </a:spcAft>
              <a:buSzPct val="100000"/>
              <a:buChar char="•"/>
            </a:pPr>
            <a:r>
              <a:rPr lang="en-US" sz="1200" dirty="0">
                <a:solidFill>
                  <a:srgbClr val="5C616E"/>
                </a:solidFill>
                <a:latin typeface="Calibri" pitchFamily="34" charset="0"/>
                <a:ea typeface="Calibri" pitchFamily="34" charset="-122"/>
                <a:cs typeface="Calibri" pitchFamily="34" charset="-120"/>
              </a:rPr>
              <a:t>A line with no payee is recorded spend, not a transfer — and that is allowed.</a:t>
            </a:r>
            <a:endParaRPr lang="en-US" sz="1200" dirty="0"/>
          </a:p>
        </p:txBody>
      </p:sp>
      <p:sp>
        <p:nvSpPr>
          <p:cNvPr id="15" name="Text 11"/>
          <p:cNvSpPr/>
          <p:nvPr/>
        </p:nvSpPr>
        <p:spPr>
          <a:xfrm>
            <a:off x="640080" y="5943600"/>
            <a:ext cx="10908792" cy="365760"/>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Both travel the same three-stage chain. Neither can be paid without it.</a:t>
            </a:r>
            <a:endParaRPr lang="en-US" sz="1250" dirty="0"/>
          </a:p>
        </p:txBody>
      </p:sp>
      <p:sp>
        <p:nvSpPr>
          <p:cNvPr id="16" name="Text 12"/>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2 · THE APPROVAL CHAIN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Three stages, three different people</a:t>
            </a:r>
            <a:endParaRPr lang="en-US" sz="3200" dirty="0"/>
          </a:p>
        </p:txBody>
      </p:sp>
      <p:sp>
        <p:nvSpPr>
          <p:cNvPr id="4" name="Shape 2"/>
          <p:cNvSpPr/>
          <p:nvPr/>
        </p:nvSpPr>
        <p:spPr>
          <a:xfrm>
            <a:off x="640080" y="2103120"/>
            <a:ext cx="3566160" cy="2743200"/>
          </a:xfrm>
          <a:prstGeom prst="roundRect">
            <a:avLst>
              <a:gd name="adj" fmla="val 2667"/>
            </a:avLst>
          </a:prstGeom>
          <a:solidFill>
            <a:srgbClr val="FFFFFF"/>
          </a:solidFill>
          <a:ln w="12700">
            <a:solidFill>
              <a:srgbClr val="E8E2DA"/>
            </a:solidFill>
            <a:prstDash val="solid"/>
          </a:ln>
        </p:spPr>
      </p:sp>
      <p:sp>
        <p:nvSpPr>
          <p:cNvPr id="5" name="Shape 3"/>
          <p:cNvSpPr/>
          <p:nvPr/>
        </p:nvSpPr>
        <p:spPr>
          <a:xfrm>
            <a:off x="914400" y="2340864"/>
            <a:ext cx="420624" cy="420624"/>
          </a:xfrm>
          <a:prstGeom prst="ellipse">
            <a:avLst/>
          </a:prstGeom>
          <a:solidFill>
            <a:srgbClr val="D92323"/>
          </a:solidFill>
          <a:ln/>
        </p:spPr>
      </p:sp>
      <p:sp>
        <p:nvSpPr>
          <p:cNvPr id="6" name="Text 4"/>
          <p:cNvSpPr/>
          <p:nvPr/>
        </p:nvSpPr>
        <p:spPr>
          <a:xfrm>
            <a:off x="914400"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481328" y="2340864"/>
            <a:ext cx="2560320" cy="420624"/>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Work signed off</a:t>
            </a:r>
            <a:endParaRPr lang="en-US" sz="1800" dirty="0"/>
          </a:p>
        </p:txBody>
      </p:sp>
      <p:sp>
        <p:nvSpPr>
          <p:cNvPr id="8" name="Text 6"/>
          <p:cNvSpPr/>
          <p:nvPr/>
        </p:nvSpPr>
        <p:spPr>
          <a:xfrm>
            <a:off x="914400" y="2889504"/>
            <a:ext cx="3017520" cy="310896"/>
          </a:xfrm>
          <a:prstGeom prst="rect">
            <a:avLst/>
          </a:prstGeom>
          <a:noFill/>
          <a:ln/>
        </p:spPr>
        <p:txBody>
          <a:bodyPr wrap="square" lIns="0" tIns="0" rIns="0" bIns="0" rtlCol="0" anchor="ctr"/>
          <a:lstStyle/>
          <a:p>
            <a:pPr marL="0" indent="0">
              <a:buNone/>
            </a:pPr>
            <a:r>
              <a:rPr lang="en-US" sz="1100" b="1" dirty="0">
                <a:solidFill>
                  <a:srgbClr val="A81A1A"/>
                </a:solidFill>
                <a:latin typeface="Calibri" pitchFamily="34" charset="0"/>
                <a:ea typeface="Calibri" pitchFamily="34" charset="-122"/>
                <a:cs typeface="Calibri" pitchFamily="34" charset="-120"/>
              </a:rPr>
              <a:t>FM · PM · Regional Manager</a:t>
            </a:r>
            <a:endParaRPr lang="en-US" sz="1100" dirty="0"/>
          </a:p>
        </p:txBody>
      </p:sp>
      <p:sp>
        <p:nvSpPr>
          <p:cNvPr id="9" name="Text 7"/>
          <p:cNvSpPr/>
          <p:nvPr/>
        </p:nvSpPr>
        <p:spPr>
          <a:xfrm>
            <a:off x="914400" y="3255264"/>
            <a:ext cx="3017520" cy="1371600"/>
          </a:xfrm>
          <a:prstGeom prst="rect">
            <a:avLst/>
          </a:prstGeom>
          <a:noFill/>
          <a:ln/>
        </p:spPr>
        <p:txBody>
          <a:bodyPr wrap="square" lIns="0" tIns="0" rIns="0" bIns="0" rtlCol="0" anchor="ctr"/>
          <a:lstStyle/>
          <a:p>
            <a:pPr marL="0" indent="0">
              <a:buNone/>
            </a:pPr>
            <a:r>
              <a:rPr lang="en-US" sz="1150" dirty="0">
                <a:solidFill>
                  <a:srgbClr val="5C616E"/>
                </a:solidFill>
                <a:latin typeface="Calibri" pitchFamily="34" charset="0"/>
                <a:ea typeface="Calibri" pitchFamily="34" charset="-122"/>
                <a:cs typeface="Calibri" pitchFamily="34" charset="-120"/>
              </a:rPr>
              <a:t>Confirms the work was DONE — they have been to the building and the job card matches. No spending limit applies here.</a:t>
            </a:r>
            <a:endParaRPr lang="en-US" sz="1150" dirty="0"/>
          </a:p>
        </p:txBody>
      </p:sp>
      <p:sp>
        <p:nvSpPr>
          <p:cNvPr id="10" name="Shape 8"/>
          <p:cNvSpPr/>
          <p:nvPr/>
        </p:nvSpPr>
        <p:spPr>
          <a:xfrm>
            <a:off x="4352544" y="2103120"/>
            <a:ext cx="3566160" cy="2743200"/>
          </a:xfrm>
          <a:prstGeom prst="roundRect">
            <a:avLst>
              <a:gd name="adj" fmla="val 2667"/>
            </a:avLst>
          </a:prstGeom>
          <a:solidFill>
            <a:srgbClr val="FFFFFF"/>
          </a:solidFill>
          <a:ln w="12700">
            <a:solidFill>
              <a:srgbClr val="E8E2DA"/>
            </a:solidFill>
            <a:prstDash val="solid"/>
          </a:ln>
        </p:spPr>
      </p:sp>
      <p:sp>
        <p:nvSpPr>
          <p:cNvPr id="11" name="Shape 9"/>
          <p:cNvSpPr/>
          <p:nvPr/>
        </p:nvSpPr>
        <p:spPr>
          <a:xfrm>
            <a:off x="4626864" y="2340864"/>
            <a:ext cx="420624" cy="420624"/>
          </a:xfrm>
          <a:prstGeom prst="ellipse">
            <a:avLst/>
          </a:prstGeom>
          <a:solidFill>
            <a:srgbClr val="D92323"/>
          </a:solidFill>
          <a:ln/>
        </p:spPr>
      </p:sp>
      <p:sp>
        <p:nvSpPr>
          <p:cNvPr id="12" name="Text 10"/>
          <p:cNvSpPr/>
          <p:nvPr/>
        </p:nvSpPr>
        <p:spPr>
          <a:xfrm>
            <a:off x="4626864"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5193792" y="2340864"/>
            <a:ext cx="2560320" cy="420624"/>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Audit verification</a:t>
            </a:r>
            <a:endParaRPr lang="en-US" sz="1800" dirty="0"/>
          </a:p>
        </p:txBody>
      </p:sp>
      <p:sp>
        <p:nvSpPr>
          <p:cNvPr id="14" name="Text 12"/>
          <p:cNvSpPr/>
          <p:nvPr/>
        </p:nvSpPr>
        <p:spPr>
          <a:xfrm>
            <a:off x="4626864" y="2889504"/>
            <a:ext cx="3017520" cy="310896"/>
          </a:xfrm>
          <a:prstGeom prst="rect">
            <a:avLst/>
          </a:prstGeom>
          <a:noFill/>
          <a:ln/>
        </p:spPr>
        <p:txBody>
          <a:bodyPr wrap="square" lIns="0" tIns="0" rIns="0" bIns="0" rtlCol="0" anchor="ctr"/>
          <a:lstStyle/>
          <a:p>
            <a:pPr marL="0" indent="0">
              <a:buNone/>
            </a:pPr>
            <a:r>
              <a:rPr lang="en-US" sz="1100" b="1" dirty="0">
                <a:solidFill>
                  <a:srgbClr val="A81A1A"/>
                </a:solidFill>
                <a:latin typeface="Calibri" pitchFamily="34" charset="0"/>
                <a:ea typeface="Calibri" pitchFamily="34" charset="-122"/>
                <a:cs typeface="Calibri" pitchFamily="34" charset="-120"/>
              </a:rPr>
              <a:t>Payment Auditor</a:t>
            </a:r>
            <a:endParaRPr lang="en-US" sz="1100" dirty="0"/>
          </a:p>
        </p:txBody>
      </p:sp>
      <p:sp>
        <p:nvSpPr>
          <p:cNvPr id="15" name="Text 13"/>
          <p:cNvSpPr/>
          <p:nvPr/>
        </p:nvSpPr>
        <p:spPr>
          <a:xfrm>
            <a:off x="4626864" y="3255264"/>
            <a:ext cx="3017520" cy="1371600"/>
          </a:xfrm>
          <a:prstGeom prst="rect">
            <a:avLst/>
          </a:prstGeom>
          <a:noFill/>
          <a:ln/>
        </p:spPr>
        <p:txBody>
          <a:bodyPr wrap="square" lIns="0" tIns="0" rIns="0" bIns="0" rtlCol="0" anchor="ctr"/>
          <a:lstStyle/>
          <a:p>
            <a:pPr marL="0" indent="0">
              <a:buNone/>
            </a:pPr>
            <a:r>
              <a:rPr lang="en-US" sz="1150" dirty="0">
                <a:solidFill>
                  <a:srgbClr val="5C616E"/>
                </a:solidFill>
                <a:latin typeface="Calibri" pitchFamily="34" charset="0"/>
                <a:ea typeface="Calibri" pitchFamily="34" charset="-122"/>
                <a:cs typeface="Calibri" pitchFamily="34" charset="-120"/>
              </a:rPr>
              <a:t>Checks the invoice against the job card and the evidence. This is why Day 1's photographs mattered.</a:t>
            </a:r>
            <a:endParaRPr lang="en-US" sz="1150" dirty="0"/>
          </a:p>
        </p:txBody>
      </p:sp>
      <p:sp>
        <p:nvSpPr>
          <p:cNvPr id="16" name="Shape 14"/>
          <p:cNvSpPr/>
          <p:nvPr/>
        </p:nvSpPr>
        <p:spPr>
          <a:xfrm>
            <a:off x="8065008" y="2103120"/>
            <a:ext cx="3566160" cy="2743200"/>
          </a:xfrm>
          <a:prstGeom prst="roundRect">
            <a:avLst>
              <a:gd name="adj" fmla="val 2667"/>
            </a:avLst>
          </a:prstGeom>
          <a:solidFill>
            <a:srgbClr val="FFFFFF"/>
          </a:solidFill>
          <a:ln w="12700">
            <a:solidFill>
              <a:srgbClr val="E8E2DA"/>
            </a:solidFill>
            <a:prstDash val="solid"/>
          </a:ln>
        </p:spPr>
      </p:sp>
      <p:sp>
        <p:nvSpPr>
          <p:cNvPr id="17" name="Shape 15"/>
          <p:cNvSpPr/>
          <p:nvPr/>
        </p:nvSpPr>
        <p:spPr>
          <a:xfrm>
            <a:off x="8339328" y="2340864"/>
            <a:ext cx="420624" cy="420624"/>
          </a:xfrm>
          <a:prstGeom prst="ellipse">
            <a:avLst/>
          </a:prstGeom>
          <a:solidFill>
            <a:srgbClr val="D92323"/>
          </a:solidFill>
          <a:ln/>
        </p:spPr>
      </p:sp>
      <p:sp>
        <p:nvSpPr>
          <p:cNvPr id="18" name="Text 16"/>
          <p:cNvSpPr/>
          <p:nvPr/>
        </p:nvSpPr>
        <p:spPr>
          <a:xfrm>
            <a:off x="8339328"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8906256" y="2340864"/>
            <a:ext cx="2560320" cy="420624"/>
          </a:xfrm>
          <a:prstGeom prst="rect">
            <a:avLst/>
          </a:prstGeom>
          <a:noFill/>
          <a:ln/>
        </p:spPr>
        <p:txBody>
          <a:bodyPr wrap="square" lIns="0" tIns="0" rIns="0" bIns="0" rtlCol="0" anchor="ctr"/>
          <a:lstStyle/>
          <a:p>
            <a:pPr marL="0" indent="0">
              <a:buNone/>
            </a:pPr>
            <a:r>
              <a:rPr lang="en-US" sz="1800" b="1" dirty="0">
                <a:solidFill>
                  <a:srgbClr val="1F2229"/>
                </a:solidFill>
                <a:latin typeface="Cambria" pitchFamily="34" charset="0"/>
                <a:ea typeface="Cambria" pitchFamily="34" charset="-122"/>
                <a:cs typeface="Cambria" pitchFamily="34" charset="-120"/>
              </a:rPr>
              <a:t>Final approval</a:t>
            </a:r>
            <a:endParaRPr lang="en-US" sz="1800" dirty="0"/>
          </a:p>
        </p:txBody>
      </p:sp>
      <p:sp>
        <p:nvSpPr>
          <p:cNvPr id="20" name="Text 18"/>
          <p:cNvSpPr/>
          <p:nvPr/>
        </p:nvSpPr>
        <p:spPr>
          <a:xfrm>
            <a:off x="8339328" y="2889504"/>
            <a:ext cx="3017520" cy="310896"/>
          </a:xfrm>
          <a:prstGeom prst="rect">
            <a:avLst/>
          </a:prstGeom>
          <a:noFill/>
          <a:ln/>
        </p:spPr>
        <p:txBody>
          <a:bodyPr wrap="square" lIns="0" tIns="0" rIns="0" bIns="0" rtlCol="0" anchor="ctr"/>
          <a:lstStyle/>
          <a:p>
            <a:pPr marL="0" indent="0">
              <a:buNone/>
            </a:pPr>
            <a:r>
              <a:rPr lang="en-US" sz="1100" b="1" dirty="0">
                <a:solidFill>
                  <a:srgbClr val="A81A1A"/>
                </a:solidFill>
                <a:latin typeface="Calibri" pitchFamily="34" charset="0"/>
                <a:ea typeface="Calibri" pitchFamily="34" charset="-122"/>
                <a:cs typeface="Calibri" pitchFamily="34" charset="-120"/>
              </a:rPr>
              <a:t>Payment Approver · Executive · Admin</a:t>
            </a:r>
            <a:endParaRPr lang="en-US" sz="1100" dirty="0"/>
          </a:p>
        </p:txBody>
      </p:sp>
      <p:sp>
        <p:nvSpPr>
          <p:cNvPr id="21" name="Text 19"/>
          <p:cNvSpPr/>
          <p:nvPr/>
        </p:nvSpPr>
        <p:spPr>
          <a:xfrm>
            <a:off x="8339328" y="3255264"/>
            <a:ext cx="3017520" cy="1371600"/>
          </a:xfrm>
          <a:prstGeom prst="rect">
            <a:avLst/>
          </a:prstGeom>
          <a:noFill/>
          <a:ln/>
        </p:spPr>
        <p:txBody>
          <a:bodyPr wrap="square" lIns="0" tIns="0" rIns="0" bIns="0" rtlCol="0" anchor="ctr"/>
          <a:lstStyle/>
          <a:p>
            <a:pPr marL="0" indent="0">
              <a:buNone/>
            </a:pPr>
            <a:r>
              <a:rPr lang="en-US" sz="1150" dirty="0">
                <a:solidFill>
                  <a:srgbClr val="5C616E"/>
                </a:solidFill>
                <a:latin typeface="Calibri" pitchFamily="34" charset="0"/>
                <a:ea typeface="Calibri" pitchFamily="34" charset="-122"/>
                <a:cs typeface="Calibri" pitchFamily="34" charset="-120"/>
              </a:rPr>
              <a:t>Clears the amount. This is the stage a spending tier applies to — above the threshold it needs the Managing Partner.</a:t>
            </a:r>
            <a:endParaRPr lang="en-US" sz="1150" dirty="0"/>
          </a:p>
        </p:txBody>
      </p:sp>
      <p:sp>
        <p:nvSpPr>
          <p:cNvPr id="22" name="Shape 20"/>
          <p:cNvSpPr/>
          <p:nvPr/>
        </p:nvSpPr>
        <p:spPr>
          <a:xfrm>
            <a:off x="8339328" y="4498848"/>
            <a:ext cx="1294790" cy="292608"/>
          </a:xfrm>
          <a:prstGeom prst="roundRect">
            <a:avLst>
              <a:gd name="adj" fmla="val 50000"/>
            </a:avLst>
          </a:prstGeom>
          <a:solidFill>
            <a:srgbClr val="FBE9E9"/>
          </a:solidFill>
          <a:ln/>
        </p:spPr>
      </p:sp>
      <p:sp>
        <p:nvSpPr>
          <p:cNvPr id="23" name="Text 21"/>
          <p:cNvSpPr/>
          <p:nvPr/>
        </p:nvSpPr>
        <p:spPr>
          <a:xfrm>
            <a:off x="8339328" y="4498848"/>
            <a:ext cx="1294790" cy="292608"/>
          </a:xfrm>
          <a:prstGeom prst="rect">
            <a:avLst/>
          </a:prstGeom>
          <a:noFill/>
          <a:ln/>
        </p:spPr>
        <p:txBody>
          <a:bodyPr wrap="square" lIns="0" tIns="0" rIns="0" bIns="0" rtlCol="0" anchor="ctr"/>
          <a:lstStyle/>
          <a:p>
            <a:pPr marL="0" indent="0" algn="ctr">
              <a:buNone/>
            </a:pPr>
            <a:r>
              <a:rPr lang="en-US" sz="1000" b="1" dirty="0">
                <a:solidFill>
                  <a:srgbClr val="A81A1A"/>
                </a:solidFill>
                <a:latin typeface="Calibri" pitchFamily="34" charset="0"/>
                <a:ea typeface="Calibri" pitchFamily="34" charset="-122"/>
                <a:cs typeface="Calibri" pitchFamily="34" charset="-120"/>
              </a:rPr>
              <a:t>Tier applies</a:t>
            </a:r>
            <a:endParaRPr lang="en-US" sz="1000" dirty="0"/>
          </a:p>
        </p:txBody>
      </p:sp>
      <p:sp>
        <p:nvSpPr>
          <p:cNvPr id="24" name="Shape 22"/>
          <p:cNvSpPr/>
          <p:nvPr/>
        </p:nvSpPr>
        <p:spPr>
          <a:xfrm>
            <a:off x="640080" y="5029200"/>
            <a:ext cx="10908792" cy="1115568"/>
          </a:xfrm>
          <a:prstGeom prst="roundRect">
            <a:avLst>
              <a:gd name="adj" fmla="val 6557"/>
            </a:avLst>
          </a:prstGeom>
          <a:solidFill>
            <a:srgbClr val="1A1A2E"/>
          </a:solidFill>
          <a:ln w="12700">
            <a:solidFill>
              <a:srgbClr val="1A1A2E"/>
            </a:solidFill>
            <a:prstDash val="solid"/>
          </a:ln>
        </p:spPr>
      </p:sp>
      <p:sp>
        <p:nvSpPr>
          <p:cNvPr id="25" name="Text 23"/>
          <p:cNvSpPr/>
          <p:nvPr/>
        </p:nvSpPr>
        <p:spPr>
          <a:xfrm>
            <a:off x="914400" y="5175504"/>
            <a:ext cx="3840480" cy="36576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Stage 1 is not an approval.</a:t>
            </a:r>
            <a:endParaRPr lang="en-US" sz="1700" dirty="0"/>
          </a:p>
        </p:txBody>
      </p:sp>
      <p:sp>
        <p:nvSpPr>
          <p:cNvPr id="26" name="Text 24"/>
          <p:cNvSpPr/>
          <p:nvPr/>
        </p:nvSpPr>
        <p:spPr>
          <a:xfrm>
            <a:off x="914400" y="5532120"/>
            <a:ext cx="10332720" cy="502920"/>
          </a:xfrm>
          <a:prstGeom prst="rect">
            <a:avLst/>
          </a:prstGeom>
          <a:noFill/>
          <a:ln/>
        </p:spPr>
        <p:txBody>
          <a:bodyPr wrap="square" lIns="0" tIns="0" rIns="0" bIns="0" rtlCol="0" anchor="ctr"/>
          <a:lstStyle/>
          <a:p>
            <a:pPr marL="0" indent="0">
              <a:buNone/>
            </a:pPr>
            <a:r>
              <a:rPr lang="en-US" sz="1200" dirty="0">
                <a:solidFill>
                  <a:srgbClr val="C9CBD8"/>
                </a:solidFill>
                <a:latin typeface="Calibri" pitchFamily="34" charset="0"/>
                <a:ea typeface="Calibri" pitchFamily="34" charset="-122"/>
                <a:cs typeface="Calibri" pitchFamily="34" charset="-120"/>
              </a:rPr>
              <a:t>A manager confirming the work happened holds no spending limit and no tier. Calling it an approval put “Requires Tier 2” above a stage no tier applies to — so it is now named for what it is.</a:t>
            </a:r>
            <a:endParaRPr lang="en-US" sz="1200" dirty="0"/>
          </a:p>
        </p:txBody>
      </p:sp>
      <p:sp>
        <p:nvSpPr>
          <p:cNvPr id="27" name="Text 2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2 · WHAT THE SYSTEM REFUSES</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The refusals are the point</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Every one of these is enforced in the database, not merely hidden on screen. Try them.</a:t>
            </a:r>
            <a:endParaRPr lang="en-US" sz="1450" dirty="0"/>
          </a:p>
        </p:txBody>
      </p:sp>
      <p:sp>
        <p:nvSpPr>
          <p:cNvPr id="5" name="Shape 3"/>
          <p:cNvSpPr/>
          <p:nvPr/>
        </p:nvSpPr>
        <p:spPr>
          <a:xfrm>
            <a:off x="640080" y="2194560"/>
            <a:ext cx="10908792" cy="749808"/>
          </a:xfrm>
          <a:prstGeom prst="roundRect">
            <a:avLst>
              <a:gd name="adj" fmla="val 7317"/>
            </a:avLst>
          </a:prstGeom>
          <a:solidFill>
            <a:srgbClr val="FBF7F2"/>
          </a:solidFill>
          <a:ln w="12700">
            <a:solidFill>
              <a:srgbClr val="E8E2DA"/>
            </a:solidFill>
            <a:prstDash val="solid"/>
          </a:ln>
        </p:spPr>
      </p:sp>
      <p:pic>
        <p:nvPicPr>
          <p:cNvPr id="6" name="Image 0" descr="preencoded.png"/>
          <p:cNvPicPr>
            <a:picLocks noChangeAspect="1"/>
          </p:cNvPicPr>
          <p:nvPr/>
        </p:nvPicPr>
        <p:blipFill>
          <a:blip r:embed="rId3"/>
          <a:stretch>
            <a:fillRect/>
          </a:stretch>
        </p:blipFill>
        <p:spPr>
          <a:xfrm>
            <a:off x="868680" y="2414016"/>
            <a:ext cx="274320" cy="274320"/>
          </a:xfrm>
          <a:prstGeom prst="rect">
            <a:avLst/>
          </a:prstGeom>
        </p:spPr>
      </p:pic>
      <p:sp>
        <p:nvSpPr>
          <p:cNvPr id="7" name="Text 4"/>
          <p:cNvSpPr/>
          <p:nvPr/>
        </p:nvSpPr>
        <p:spPr>
          <a:xfrm>
            <a:off x="1280160" y="2249424"/>
            <a:ext cx="4114800" cy="32918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Only the Finance Approver releases money</a:t>
            </a:r>
            <a:endParaRPr lang="en-US" sz="1250" dirty="0"/>
          </a:p>
        </p:txBody>
      </p:sp>
      <p:sp>
        <p:nvSpPr>
          <p:cNvPr id="8" name="Text 5"/>
          <p:cNvSpPr/>
          <p:nvPr/>
        </p:nvSpPr>
        <p:spPr>
          <a:xfrm>
            <a:off x="1280160" y="2560320"/>
            <a:ext cx="1005840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An administrator approves within the threshold. An executive approves above it. Neither can execute the transfer.</a:t>
            </a:r>
            <a:endParaRPr lang="en-US" sz="1100" dirty="0"/>
          </a:p>
        </p:txBody>
      </p:sp>
      <p:sp>
        <p:nvSpPr>
          <p:cNvPr id="9" name="Shape 6"/>
          <p:cNvSpPr/>
          <p:nvPr/>
        </p:nvSpPr>
        <p:spPr>
          <a:xfrm>
            <a:off x="640080" y="3017520"/>
            <a:ext cx="10908792" cy="749808"/>
          </a:xfrm>
          <a:prstGeom prst="roundRect">
            <a:avLst>
              <a:gd name="adj" fmla="val 7317"/>
            </a:avLst>
          </a:prstGeom>
          <a:solidFill>
            <a:srgbClr val="FBF7F2"/>
          </a:solidFill>
          <a:ln w="12700">
            <a:solidFill>
              <a:srgbClr val="E8E2DA"/>
            </a:solidFill>
            <a:prstDash val="solid"/>
          </a:ln>
        </p:spPr>
      </p:sp>
      <p:pic>
        <p:nvPicPr>
          <p:cNvPr id="10" name="Image 1" descr="preencoded.png"/>
          <p:cNvPicPr>
            <a:picLocks noChangeAspect="1"/>
          </p:cNvPicPr>
          <p:nvPr/>
        </p:nvPicPr>
        <p:blipFill>
          <a:blip r:embed="rId3"/>
          <a:stretch>
            <a:fillRect/>
          </a:stretch>
        </p:blipFill>
        <p:spPr>
          <a:xfrm>
            <a:off x="868680" y="3236976"/>
            <a:ext cx="274320" cy="274320"/>
          </a:xfrm>
          <a:prstGeom prst="rect">
            <a:avLst/>
          </a:prstGeom>
        </p:spPr>
      </p:pic>
      <p:sp>
        <p:nvSpPr>
          <p:cNvPr id="11" name="Text 7"/>
          <p:cNvSpPr/>
          <p:nvPr/>
        </p:nvSpPr>
        <p:spPr>
          <a:xfrm>
            <a:off x="1280160" y="3072384"/>
            <a:ext cx="4114800" cy="32918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Whoever approved it cannot release it</a:t>
            </a:r>
            <a:endParaRPr lang="en-US" sz="1250" dirty="0"/>
          </a:p>
        </p:txBody>
      </p:sp>
      <p:sp>
        <p:nvSpPr>
          <p:cNvPr id="12" name="Text 8"/>
          <p:cNvSpPr/>
          <p:nvPr/>
        </p:nvSpPr>
        <p:spPr>
          <a:xfrm>
            <a:off x="1280160" y="3383280"/>
            <a:ext cx="1005840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Per payment, per person — not merely per role. It can legitimately refuse a finance approver who approved it themselves. The answer is a second pair of hands.</a:t>
            </a:r>
            <a:endParaRPr lang="en-US" sz="1100" dirty="0"/>
          </a:p>
        </p:txBody>
      </p:sp>
      <p:sp>
        <p:nvSpPr>
          <p:cNvPr id="13" name="Shape 9"/>
          <p:cNvSpPr/>
          <p:nvPr/>
        </p:nvSpPr>
        <p:spPr>
          <a:xfrm>
            <a:off x="640080" y="3840480"/>
            <a:ext cx="10908792" cy="749808"/>
          </a:xfrm>
          <a:prstGeom prst="roundRect">
            <a:avLst>
              <a:gd name="adj" fmla="val 7317"/>
            </a:avLst>
          </a:prstGeom>
          <a:solidFill>
            <a:srgbClr val="FBF7F2"/>
          </a:solidFill>
          <a:ln w="12700">
            <a:solidFill>
              <a:srgbClr val="E8E2DA"/>
            </a:solidFill>
            <a:prstDash val="solid"/>
          </a:ln>
        </p:spPr>
      </p:sp>
      <p:pic>
        <p:nvPicPr>
          <p:cNvPr id="14" name="Image 2" descr="preencoded.png"/>
          <p:cNvPicPr>
            <a:picLocks noChangeAspect="1"/>
          </p:cNvPicPr>
          <p:nvPr/>
        </p:nvPicPr>
        <p:blipFill>
          <a:blip r:embed="rId3"/>
          <a:stretch>
            <a:fillRect/>
          </a:stretch>
        </p:blipFill>
        <p:spPr>
          <a:xfrm>
            <a:off x="868680" y="4059936"/>
            <a:ext cx="274320" cy="274320"/>
          </a:xfrm>
          <a:prstGeom prst="rect">
            <a:avLst/>
          </a:prstGeom>
        </p:spPr>
      </p:pic>
      <p:sp>
        <p:nvSpPr>
          <p:cNvPr id="15" name="Text 10"/>
          <p:cNvSpPr/>
          <p:nvPr/>
        </p:nvSpPr>
        <p:spPr>
          <a:xfrm>
            <a:off x="1280160" y="3895344"/>
            <a:ext cx="4114800" cy="32918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An approver cannot raise their own limit</a:t>
            </a:r>
            <a:endParaRPr lang="en-US" sz="1250" dirty="0"/>
          </a:p>
        </p:txBody>
      </p:sp>
      <p:sp>
        <p:nvSpPr>
          <p:cNvPr id="16" name="Text 11"/>
          <p:cNvSpPr/>
          <p:nvPr/>
        </p:nvSpPr>
        <p:spPr>
          <a:xfrm>
            <a:off x="1280160" y="4206240"/>
            <a:ext cx="1005840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You may not approve against a threshold you are able to lift.</a:t>
            </a:r>
            <a:endParaRPr lang="en-US" sz="1100" dirty="0"/>
          </a:p>
        </p:txBody>
      </p:sp>
      <p:sp>
        <p:nvSpPr>
          <p:cNvPr id="17" name="Shape 12"/>
          <p:cNvSpPr/>
          <p:nvPr/>
        </p:nvSpPr>
        <p:spPr>
          <a:xfrm>
            <a:off x="640080" y="4663440"/>
            <a:ext cx="10908792" cy="749808"/>
          </a:xfrm>
          <a:prstGeom prst="roundRect">
            <a:avLst>
              <a:gd name="adj" fmla="val 7317"/>
            </a:avLst>
          </a:prstGeom>
          <a:solidFill>
            <a:srgbClr val="FBF7F2"/>
          </a:solidFill>
          <a:ln w="12700">
            <a:solidFill>
              <a:srgbClr val="E8E2DA"/>
            </a:solidFill>
            <a:prstDash val="solid"/>
          </a:ln>
        </p:spPr>
      </p:sp>
      <p:pic>
        <p:nvPicPr>
          <p:cNvPr id="18" name="Image 3" descr="preencoded.png"/>
          <p:cNvPicPr>
            <a:picLocks noChangeAspect="1"/>
          </p:cNvPicPr>
          <p:nvPr/>
        </p:nvPicPr>
        <p:blipFill>
          <a:blip r:embed="rId3"/>
          <a:stretch>
            <a:fillRect/>
          </a:stretch>
        </p:blipFill>
        <p:spPr>
          <a:xfrm>
            <a:off x="868680" y="4882896"/>
            <a:ext cx="274320" cy="274320"/>
          </a:xfrm>
          <a:prstGeom prst="rect">
            <a:avLst/>
          </a:prstGeom>
        </p:spPr>
      </p:pic>
      <p:sp>
        <p:nvSpPr>
          <p:cNvPr id="19" name="Text 13"/>
          <p:cNvSpPr/>
          <p:nvPr/>
        </p:nvSpPr>
        <p:spPr>
          <a:xfrm>
            <a:off x="1280160" y="4718304"/>
            <a:ext cx="4114800" cy="32918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A payment above the threshold needs two</a:t>
            </a:r>
            <a:endParaRPr lang="en-US" sz="1250" dirty="0"/>
          </a:p>
        </p:txBody>
      </p:sp>
      <p:sp>
        <p:nvSpPr>
          <p:cNvPr id="20" name="Text 14"/>
          <p:cNvSpPr/>
          <p:nvPr/>
        </p:nvSpPr>
        <p:spPr>
          <a:xfrm>
            <a:off x="1280160" y="5029200"/>
            <a:ext cx="1005840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The administrator and the Managing Partner together.</a:t>
            </a:r>
            <a:endParaRPr lang="en-US" sz="1100" dirty="0"/>
          </a:p>
        </p:txBody>
      </p:sp>
      <p:sp>
        <p:nvSpPr>
          <p:cNvPr id="21" name="Shape 15"/>
          <p:cNvSpPr/>
          <p:nvPr/>
        </p:nvSpPr>
        <p:spPr>
          <a:xfrm>
            <a:off x="640080" y="5486400"/>
            <a:ext cx="10908792" cy="749808"/>
          </a:xfrm>
          <a:prstGeom prst="roundRect">
            <a:avLst>
              <a:gd name="adj" fmla="val 7317"/>
            </a:avLst>
          </a:prstGeom>
          <a:solidFill>
            <a:srgbClr val="FBF7F2"/>
          </a:solidFill>
          <a:ln w="12700">
            <a:solidFill>
              <a:srgbClr val="E8E2DA"/>
            </a:solidFill>
            <a:prstDash val="solid"/>
          </a:ln>
        </p:spPr>
      </p:sp>
      <p:pic>
        <p:nvPicPr>
          <p:cNvPr id="22" name="Image 4" descr="preencoded.png"/>
          <p:cNvPicPr>
            <a:picLocks noChangeAspect="1"/>
          </p:cNvPicPr>
          <p:nvPr/>
        </p:nvPicPr>
        <p:blipFill>
          <a:blip r:embed="rId3"/>
          <a:stretch>
            <a:fillRect/>
          </a:stretch>
        </p:blipFill>
        <p:spPr>
          <a:xfrm>
            <a:off x="868680" y="5705856"/>
            <a:ext cx="274320" cy="274320"/>
          </a:xfrm>
          <a:prstGeom prst="rect">
            <a:avLst/>
          </a:prstGeom>
        </p:spPr>
      </p:pic>
      <p:sp>
        <p:nvSpPr>
          <p:cNvPr id="23" name="Text 16"/>
          <p:cNvSpPr/>
          <p:nvPr/>
        </p:nvSpPr>
        <p:spPr>
          <a:xfrm>
            <a:off x="1280160" y="5541264"/>
            <a:ext cx="4114800" cy="329184"/>
          </a:xfrm>
          <a:prstGeom prst="rect">
            <a:avLst/>
          </a:prstGeom>
          <a:noFill/>
          <a:ln/>
        </p:spPr>
        <p:txBody>
          <a:bodyPr wrap="square" lIns="0" tIns="0" rIns="0" bIns="0" rtlCol="0" anchor="ctr"/>
          <a:lstStyle/>
          <a:p>
            <a:pPr marL="0" indent="0">
              <a:buNone/>
            </a:pPr>
            <a:r>
              <a:rPr lang="en-US" sz="1250" b="1" dirty="0">
                <a:solidFill>
                  <a:srgbClr val="1F2229"/>
                </a:solidFill>
                <a:latin typeface="Calibri" pitchFamily="34" charset="0"/>
                <a:ea typeface="Calibri" pitchFamily="34" charset="-122"/>
                <a:cs typeface="Calibri" pitchFamily="34" charset="-120"/>
              </a:rPr>
              <a:t>Every release is attributed</a:t>
            </a:r>
            <a:endParaRPr lang="en-US" sz="1250" dirty="0"/>
          </a:p>
        </p:txBody>
      </p:sp>
      <p:sp>
        <p:nvSpPr>
          <p:cNvPr id="24" name="Text 17"/>
          <p:cNvSpPr/>
          <p:nvPr/>
        </p:nvSpPr>
        <p:spPr>
          <a:xfrm>
            <a:off x="1280160" y="5852160"/>
            <a:ext cx="1005840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The one action that moves real money records exactly who performed it.</a:t>
            </a:r>
            <a:endParaRPr lang="en-US" sz="1100" dirty="0"/>
          </a:p>
        </p:txBody>
      </p:sp>
      <p:sp>
        <p:nvSpPr>
          <p:cNvPr id="25" name="Text 18"/>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2 · HANDS-ON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Your turn — take one payable all the way</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Use the job you completed yesterday. Swap seats at every stage.</a:t>
            </a:r>
            <a:endParaRPr lang="en-US" sz="1450" dirty="0"/>
          </a:p>
        </p:txBody>
      </p:sp>
      <p:sp>
        <p:nvSpPr>
          <p:cNvPr id="5" name="Shape 3"/>
          <p:cNvSpPr/>
          <p:nvPr/>
        </p:nvSpPr>
        <p:spPr>
          <a:xfrm>
            <a:off x="640080" y="2286000"/>
            <a:ext cx="3566160" cy="3566160"/>
          </a:xfrm>
          <a:prstGeom prst="roundRect">
            <a:avLst>
              <a:gd name="adj" fmla="val 2051"/>
            </a:avLst>
          </a:prstGeom>
          <a:solidFill>
            <a:srgbClr val="FFFFFF"/>
          </a:solidFill>
          <a:ln w="12700">
            <a:solidFill>
              <a:srgbClr val="E8E2DA"/>
            </a:solidFill>
            <a:prstDash val="solid"/>
          </a:ln>
        </p:spPr>
      </p:sp>
      <p:sp>
        <p:nvSpPr>
          <p:cNvPr id="6" name="Shape 4"/>
          <p:cNvSpPr/>
          <p:nvPr/>
        </p:nvSpPr>
        <p:spPr>
          <a:xfrm>
            <a:off x="914400" y="2523744"/>
            <a:ext cx="420624" cy="420624"/>
          </a:xfrm>
          <a:prstGeom prst="ellipse">
            <a:avLst/>
          </a:prstGeom>
          <a:solidFill>
            <a:srgbClr val="D92323"/>
          </a:solidFill>
          <a:ln/>
        </p:spPr>
      </p:sp>
      <p:sp>
        <p:nvSpPr>
          <p:cNvPr id="7" name="Text 5"/>
          <p:cNvSpPr/>
          <p:nvPr/>
        </p:nvSpPr>
        <p:spPr>
          <a:xfrm>
            <a:off x="914400" y="25237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8" name="Text 6"/>
          <p:cNvSpPr/>
          <p:nvPr/>
        </p:nvSpPr>
        <p:spPr>
          <a:xfrm>
            <a:off x="1481328" y="252374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Raise a requisition</a:t>
            </a:r>
            <a:endParaRPr lang="en-US" sz="1650" dirty="0"/>
          </a:p>
        </p:txBody>
      </p:sp>
      <p:sp>
        <p:nvSpPr>
          <p:cNvPr id="9" name="Shape 7"/>
          <p:cNvSpPr/>
          <p:nvPr/>
        </p:nvSpPr>
        <p:spPr>
          <a:xfrm>
            <a:off x="914400" y="3108960"/>
            <a:ext cx="892454" cy="292608"/>
          </a:xfrm>
          <a:prstGeom prst="roundRect">
            <a:avLst>
              <a:gd name="adj" fmla="val 50000"/>
            </a:avLst>
          </a:prstGeom>
          <a:solidFill>
            <a:srgbClr val="FBE9E9"/>
          </a:solidFill>
          <a:ln/>
        </p:spPr>
      </p:sp>
      <p:sp>
        <p:nvSpPr>
          <p:cNvPr id="10" name="Text 8"/>
          <p:cNvSpPr/>
          <p:nvPr/>
        </p:nvSpPr>
        <p:spPr>
          <a:xfrm>
            <a:off x="914400" y="3108960"/>
            <a:ext cx="892454"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oea.pm@</a:t>
            </a:r>
            <a:endParaRPr lang="en-US" sz="900" dirty="0"/>
          </a:p>
        </p:txBody>
      </p:sp>
      <p:sp>
        <p:nvSpPr>
          <p:cNvPr id="11" name="Text 9"/>
          <p:cNvSpPr/>
          <p:nvPr/>
        </p:nvSpPr>
        <p:spPr>
          <a:xfrm>
            <a:off x="914400" y="3584448"/>
            <a:ext cx="3017520" cy="21031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Requisitions → New. Link it to yesterday's job.</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Add two lines: one naming GreenLeaf, one with no payee.</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Submit, and note the total it locks in.</a:t>
            </a:r>
            <a:endParaRPr lang="en-US" sz="1150" dirty="0"/>
          </a:p>
        </p:txBody>
      </p:sp>
      <p:sp>
        <p:nvSpPr>
          <p:cNvPr id="12" name="Shape 10"/>
          <p:cNvSpPr/>
          <p:nvPr/>
        </p:nvSpPr>
        <p:spPr>
          <a:xfrm>
            <a:off x="4352544" y="2286000"/>
            <a:ext cx="3566160" cy="3566160"/>
          </a:xfrm>
          <a:prstGeom prst="roundRect">
            <a:avLst>
              <a:gd name="adj" fmla="val 2051"/>
            </a:avLst>
          </a:prstGeom>
          <a:solidFill>
            <a:srgbClr val="FFFFFF"/>
          </a:solidFill>
          <a:ln w="12700">
            <a:solidFill>
              <a:srgbClr val="E8E2DA"/>
            </a:solidFill>
            <a:prstDash val="solid"/>
          </a:ln>
        </p:spPr>
      </p:sp>
      <p:sp>
        <p:nvSpPr>
          <p:cNvPr id="13" name="Shape 11"/>
          <p:cNvSpPr/>
          <p:nvPr/>
        </p:nvSpPr>
        <p:spPr>
          <a:xfrm>
            <a:off x="4626864" y="2523744"/>
            <a:ext cx="420624" cy="420624"/>
          </a:xfrm>
          <a:prstGeom prst="ellipse">
            <a:avLst/>
          </a:prstGeom>
          <a:solidFill>
            <a:srgbClr val="D92323"/>
          </a:solidFill>
          <a:ln/>
        </p:spPr>
      </p:sp>
      <p:sp>
        <p:nvSpPr>
          <p:cNvPr id="14" name="Text 12"/>
          <p:cNvSpPr/>
          <p:nvPr/>
        </p:nvSpPr>
        <p:spPr>
          <a:xfrm>
            <a:off x="4626864" y="25237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5" name="Text 13"/>
          <p:cNvSpPr/>
          <p:nvPr/>
        </p:nvSpPr>
        <p:spPr>
          <a:xfrm>
            <a:off x="5193792" y="252374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Sign off, then audit</a:t>
            </a:r>
            <a:endParaRPr lang="en-US" sz="1650" dirty="0"/>
          </a:p>
        </p:txBody>
      </p:sp>
      <p:sp>
        <p:nvSpPr>
          <p:cNvPr id="16" name="Shape 14"/>
          <p:cNvSpPr/>
          <p:nvPr/>
        </p:nvSpPr>
        <p:spPr>
          <a:xfrm>
            <a:off x="4626864" y="3108960"/>
            <a:ext cx="2582266" cy="292608"/>
          </a:xfrm>
          <a:prstGeom prst="roundRect">
            <a:avLst>
              <a:gd name="adj" fmla="val 50000"/>
            </a:avLst>
          </a:prstGeom>
          <a:solidFill>
            <a:srgbClr val="FBE9E9"/>
          </a:solidFill>
          <a:ln/>
        </p:spPr>
      </p:sp>
      <p:sp>
        <p:nvSpPr>
          <p:cNvPr id="17" name="Text 15"/>
          <p:cNvSpPr/>
          <p:nvPr/>
        </p:nvSpPr>
        <p:spPr>
          <a:xfrm>
            <a:off x="4626864" y="3108960"/>
            <a:ext cx="2582266"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oea.pm@ · oea.auditapprover@</a:t>
            </a:r>
            <a:endParaRPr lang="en-US" sz="900" dirty="0"/>
          </a:p>
        </p:txBody>
      </p:sp>
      <p:sp>
        <p:nvSpPr>
          <p:cNvPr id="18" name="Text 16"/>
          <p:cNvSpPr/>
          <p:nvPr/>
        </p:nvSpPr>
        <p:spPr>
          <a:xfrm>
            <a:off x="4626864" y="3584448"/>
            <a:ext cx="3017520" cy="21031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Stage 1: confirm the work was done.</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Sign in as the auditor and open the evidence.</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Stage 2: verify, or send it back with a reason.</a:t>
            </a:r>
            <a:endParaRPr lang="en-US" sz="1150" dirty="0"/>
          </a:p>
        </p:txBody>
      </p:sp>
      <p:sp>
        <p:nvSpPr>
          <p:cNvPr id="19" name="Shape 17"/>
          <p:cNvSpPr/>
          <p:nvPr/>
        </p:nvSpPr>
        <p:spPr>
          <a:xfrm>
            <a:off x="8065008" y="2286000"/>
            <a:ext cx="3566160" cy="3566160"/>
          </a:xfrm>
          <a:prstGeom prst="roundRect">
            <a:avLst>
              <a:gd name="adj" fmla="val 2051"/>
            </a:avLst>
          </a:prstGeom>
          <a:solidFill>
            <a:srgbClr val="FFFFFF"/>
          </a:solidFill>
          <a:ln w="12700">
            <a:solidFill>
              <a:srgbClr val="E8E2DA"/>
            </a:solidFill>
            <a:prstDash val="solid"/>
          </a:ln>
        </p:spPr>
      </p:sp>
      <p:sp>
        <p:nvSpPr>
          <p:cNvPr id="20" name="Shape 18"/>
          <p:cNvSpPr/>
          <p:nvPr/>
        </p:nvSpPr>
        <p:spPr>
          <a:xfrm>
            <a:off x="8339328" y="2523744"/>
            <a:ext cx="420624" cy="420624"/>
          </a:xfrm>
          <a:prstGeom prst="ellipse">
            <a:avLst/>
          </a:prstGeom>
          <a:solidFill>
            <a:srgbClr val="D92323"/>
          </a:solidFill>
          <a:ln/>
        </p:spPr>
      </p:sp>
      <p:sp>
        <p:nvSpPr>
          <p:cNvPr id="21" name="Text 19"/>
          <p:cNvSpPr/>
          <p:nvPr/>
        </p:nvSpPr>
        <p:spPr>
          <a:xfrm>
            <a:off x="8339328" y="25237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2" name="Text 20"/>
          <p:cNvSpPr/>
          <p:nvPr/>
        </p:nvSpPr>
        <p:spPr>
          <a:xfrm>
            <a:off x="8906256" y="252374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Approve, then release</a:t>
            </a:r>
            <a:endParaRPr lang="en-US" sz="1650" dirty="0"/>
          </a:p>
        </p:txBody>
      </p:sp>
      <p:sp>
        <p:nvSpPr>
          <p:cNvPr id="23" name="Shape 21"/>
          <p:cNvSpPr/>
          <p:nvPr/>
        </p:nvSpPr>
        <p:spPr>
          <a:xfrm>
            <a:off x="8339328" y="3108960"/>
            <a:ext cx="2582266" cy="292608"/>
          </a:xfrm>
          <a:prstGeom prst="roundRect">
            <a:avLst>
              <a:gd name="adj" fmla="val 50000"/>
            </a:avLst>
          </a:prstGeom>
          <a:solidFill>
            <a:srgbClr val="FBE9E9"/>
          </a:solidFill>
          <a:ln/>
        </p:spPr>
      </p:sp>
      <p:sp>
        <p:nvSpPr>
          <p:cNvPr id="24" name="Text 22"/>
          <p:cNvSpPr/>
          <p:nvPr/>
        </p:nvSpPr>
        <p:spPr>
          <a:xfrm>
            <a:off x="8339328" y="3108960"/>
            <a:ext cx="2582266"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oea.approver@ · oea.finance@</a:t>
            </a:r>
            <a:endParaRPr lang="en-US" sz="900" dirty="0"/>
          </a:p>
        </p:txBody>
      </p:sp>
      <p:sp>
        <p:nvSpPr>
          <p:cNvPr id="25" name="Text 23"/>
          <p:cNvSpPr/>
          <p:nvPr/>
        </p:nvSpPr>
        <p:spPr>
          <a:xfrm>
            <a:off x="8339328" y="3584448"/>
            <a:ext cx="3017520" cy="210312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Stage 3: approve within tier.</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Now try to release it as the approver — expect a refusal.</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Release as Finance. Find it on the ledger and the audit trail.</a:t>
            </a:r>
            <a:endParaRPr lang="en-US" sz="1150" dirty="0"/>
          </a:p>
        </p:txBody>
      </p:sp>
      <p:sp>
        <p:nvSpPr>
          <p:cNvPr id="26" name="Text 24"/>
          <p:cNvSpPr/>
          <p:nvPr/>
        </p:nvSpPr>
        <p:spPr>
          <a:xfrm>
            <a:off x="640080" y="6053328"/>
            <a:ext cx="10908792" cy="365760"/>
          </a:xfrm>
          <a:prstGeom prst="rect">
            <a:avLst/>
          </a:prstGeom>
          <a:noFill/>
          <a:ln/>
        </p:spPr>
        <p:txBody>
          <a:bodyPr wrap="square" lIns="0" tIns="0" rIns="0" bIns="0" rtlCol="0" anchor="ctr"/>
          <a:lstStyle/>
          <a:p>
            <a:pPr marL="0" indent="0">
              <a:buNone/>
            </a:pPr>
            <a:r>
              <a:rPr lang="en-US" sz="1200" b="1" i="1" dirty="0">
                <a:solidFill>
                  <a:srgbClr val="A81A1A"/>
                </a:solidFill>
                <a:latin typeface="Calibri" pitchFamily="34" charset="0"/>
                <a:ea typeface="Calibri" pitchFamily="34" charset="-122"/>
                <a:cs typeface="Calibri" pitchFamily="34" charset="-120"/>
              </a:rPr>
              <a:t>Exercise 6 contains a deliberate failure. If it does not refuse you, that is a finding — tell a facilitator immediately.</a:t>
            </a:r>
            <a:endParaRPr lang="en-US" sz="1200" dirty="0"/>
          </a:p>
        </p:txBody>
      </p:sp>
      <p:sp>
        <p:nvSpPr>
          <p:cNvPr id="27" name="Text 2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220"/>
        </a:solidFill>
        <a:effectLst/>
      </p:bgPr>
    </p:bg>
    <p:spTree>
      <p:nvGrpSpPr>
        <p:cNvPr id="1" name=""/>
        <p:cNvGrpSpPr/>
        <p:nvPr/>
      </p:nvGrpSpPr>
      <p:grpSpPr>
        <a:xfrm>
          <a:off x="0" y="0"/>
          <a:ext cx="0" cy="0"/>
          <a:chOff x="0" y="0"/>
          <a:chExt cx="0" cy="0"/>
        </a:xfrm>
      </p:grpSpPr>
      <p:sp>
        <p:nvSpPr>
          <p:cNvPr id="2" name="Shape 0"/>
          <p:cNvSpPr/>
          <p:nvPr/>
        </p:nvSpPr>
        <p:spPr>
          <a:xfrm>
            <a:off x="9052560" y="-2194560"/>
            <a:ext cx="6035040" cy="6035040"/>
          </a:xfrm>
          <a:prstGeom prst="ellipse">
            <a:avLst/>
          </a:prstGeom>
          <a:solidFill>
            <a:srgbClr val="1A1A2E">
              <a:alpha val="70000"/>
            </a:srgbClr>
          </a:solidFill>
          <a:ln/>
        </p:spPr>
      </p:sp>
      <p:sp>
        <p:nvSpPr>
          <p:cNvPr id="3" name="Shape 1"/>
          <p:cNvSpPr/>
          <p:nvPr/>
        </p:nvSpPr>
        <p:spPr>
          <a:xfrm>
            <a:off x="10424160" y="4480560"/>
            <a:ext cx="3840480" cy="3840480"/>
          </a:xfrm>
          <a:prstGeom prst="ellipse">
            <a:avLst/>
          </a:prstGeom>
          <a:solidFill>
            <a:srgbClr val="D92323">
              <a:alpha val="16000"/>
            </a:srgbClr>
          </a:solidFill>
          <a:ln/>
        </p:spPr>
      </p:sp>
      <p:sp>
        <p:nvSpPr>
          <p:cNvPr id="4" name="Text 2"/>
          <p:cNvSpPr/>
          <p:nvPr/>
        </p:nvSpPr>
        <p:spPr>
          <a:xfrm>
            <a:off x="822960" y="1600200"/>
            <a:ext cx="5486400" cy="411480"/>
          </a:xfrm>
          <a:prstGeom prst="rect">
            <a:avLst/>
          </a:prstGeom>
          <a:noFill/>
          <a:ln/>
        </p:spPr>
        <p:txBody>
          <a:bodyPr wrap="square" lIns="0" tIns="0" rIns="0" bIns="0" rtlCol="0" anchor="ctr"/>
          <a:lstStyle/>
          <a:p>
            <a:pPr marL="0" indent="0">
              <a:buNone/>
            </a:pPr>
            <a:r>
              <a:rPr lang="en-US" sz="1350" b="1" kern="0" spc="300" dirty="0">
                <a:solidFill>
                  <a:srgbClr val="D92323"/>
                </a:solidFill>
                <a:latin typeface="Calibri" pitchFamily="34" charset="0"/>
                <a:ea typeface="Calibri" pitchFamily="34" charset="-122"/>
                <a:cs typeface="Calibri" pitchFamily="34" charset="-120"/>
              </a:rPr>
              <a:t>DAY 3</a:t>
            </a:r>
            <a:endParaRPr lang="en-US" sz="1350" dirty="0"/>
          </a:p>
        </p:txBody>
      </p:sp>
      <p:sp>
        <p:nvSpPr>
          <p:cNvPr id="5" name="Text 3"/>
          <p:cNvSpPr/>
          <p:nvPr/>
        </p:nvSpPr>
        <p:spPr>
          <a:xfrm>
            <a:off x="777240" y="2057400"/>
            <a:ext cx="9601200" cy="11430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Tenancies, landlords and the record</a:t>
            </a:r>
            <a:endParaRPr lang="en-US" sz="4600" dirty="0"/>
          </a:p>
        </p:txBody>
      </p:sp>
      <p:sp>
        <p:nvSpPr>
          <p:cNvPr id="6" name="Text 4"/>
          <p:cNvSpPr/>
          <p:nvPr/>
        </p:nvSpPr>
        <p:spPr>
          <a:xfrm>
            <a:off x="822960" y="3291840"/>
            <a:ext cx="8686800" cy="502920"/>
          </a:xfrm>
          <a:prstGeom prst="rect">
            <a:avLst/>
          </a:prstGeom>
          <a:noFill/>
          <a:ln/>
        </p:spPr>
        <p:txBody>
          <a:bodyPr wrap="square" lIns="0" tIns="0" rIns="0" bIns="0" rtlCol="0" anchor="ctr"/>
          <a:lstStyle/>
          <a:p>
            <a:pPr marL="0" indent="0">
              <a:buNone/>
            </a:pPr>
            <a:r>
              <a:rPr lang="en-US" sz="1700" i="1" dirty="0">
                <a:solidFill>
                  <a:srgbClr val="C9CBD8"/>
                </a:solidFill>
                <a:latin typeface="Calibri" pitchFamily="34" charset="0"/>
                <a:ea typeface="Calibri" pitchFamily="34" charset="-122"/>
                <a:cs typeface="Calibri" pitchFamily="34" charset="-120"/>
              </a:rPr>
              <a:t>The property side — the work OEA is actually known for</a:t>
            </a:r>
            <a:endParaRPr lang="en-US" sz="1700" dirty="0"/>
          </a:p>
        </p:txBody>
      </p:sp>
      <p:sp>
        <p:nvSpPr>
          <p:cNvPr id="7" name="Shape 5"/>
          <p:cNvSpPr/>
          <p:nvPr/>
        </p:nvSpPr>
        <p:spPr>
          <a:xfrm>
            <a:off x="868680" y="4270248"/>
            <a:ext cx="109728" cy="109728"/>
          </a:xfrm>
          <a:prstGeom prst="ellipse">
            <a:avLst/>
          </a:prstGeom>
          <a:solidFill>
            <a:srgbClr val="D92323"/>
          </a:solidFill>
          <a:ln/>
        </p:spPr>
      </p:sp>
      <p:sp>
        <p:nvSpPr>
          <p:cNvPr id="8" name="Text 6"/>
          <p:cNvSpPr/>
          <p:nvPr/>
        </p:nvSpPr>
        <p:spPr>
          <a:xfrm>
            <a:off x="1170432" y="4160520"/>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Application through to a signed tenancy</a:t>
            </a:r>
            <a:endParaRPr lang="en-US" sz="1350" dirty="0"/>
          </a:p>
        </p:txBody>
      </p:sp>
      <p:sp>
        <p:nvSpPr>
          <p:cNvPr id="9" name="Shape 7"/>
          <p:cNvSpPr/>
          <p:nvPr/>
        </p:nvSpPr>
        <p:spPr>
          <a:xfrm>
            <a:off x="868680" y="4690872"/>
            <a:ext cx="109728" cy="109728"/>
          </a:xfrm>
          <a:prstGeom prst="ellipse">
            <a:avLst/>
          </a:prstGeom>
          <a:solidFill>
            <a:srgbClr val="D92323"/>
          </a:solidFill>
          <a:ln/>
        </p:spPr>
      </p:sp>
      <p:sp>
        <p:nvSpPr>
          <p:cNvPr id="10" name="Text 8"/>
          <p:cNvSpPr/>
          <p:nvPr/>
        </p:nvSpPr>
        <p:spPr>
          <a:xfrm>
            <a:off x="1170432" y="4581144"/>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Rent demanded, collected, split and remitted</a:t>
            </a:r>
            <a:endParaRPr lang="en-US" sz="1350" dirty="0"/>
          </a:p>
        </p:txBody>
      </p:sp>
      <p:sp>
        <p:nvSpPr>
          <p:cNvPr id="11" name="Shape 9"/>
          <p:cNvSpPr/>
          <p:nvPr/>
        </p:nvSpPr>
        <p:spPr>
          <a:xfrm>
            <a:off x="868680" y="5111496"/>
            <a:ext cx="109728" cy="109728"/>
          </a:xfrm>
          <a:prstGeom prst="ellipse">
            <a:avLst/>
          </a:prstGeom>
          <a:solidFill>
            <a:srgbClr val="D92323"/>
          </a:solidFill>
          <a:ln/>
        </p:spPr>
      </p:sp>
      <p:sp>
        <p:nvSpPr>
          <p:cNvPr id="12" name="Text 10"/>
          <p:cNvSpPr/>
          <p:nvPr/>
        </p:nvSpPr>
        <p:spPr>
          <a:xfrm>
            <a:off x="1170432" y="5001768"/>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What the landlord sees, and what they never see</a:t>
            </a:r>
            <a:endParaRPr lang="en-US" sz="1350" dirty="0"/>
          </a:p>
        </p:txBody>
      </p:sp>
      <p:sp>
        <p:nvSpPr>
          <p:cNvPr id="13" name="Shape 11"/>
          <p:cNvSpPr/>
          <p:nvPr/>
        </p:nvSpPr>
        <p:spPr>
          <a:xfrm>
            <a:off x="868680" y="5532120"/>
            <a:ext cx="109728" cy="109728"/>
          </a:xfrm>
          <a:prstGeom prst="ellipse">
            <a:avLst/>
          </a:prstGeom>
          <a:solidFill>
            <a:srgbClr val="D92323"/>
          </a:solidFill>
          <a:ln/>
        </p:spPr>
      </p:sp>
      <p:sp>
        <p:nvSpPr>
          <p:cNvPr id="14" name="Text 12"/>
          <p:cNvSpPr/>
          <p:nvPr/>
        </p:nvSpPr>
        <p:spPr>
          <a:xfrm>
            <a:off x="1170432" y="5422392"/>
            <a:ext cx="9144000" cy="347472"/>
          </a:xfrm>
          <a:prstGeom prst="rect">
            <a:avLst/>
          </a:prstGeom>
          <a:noFill/>
          <a:ln/>
        </p:spPr>
        <p:txBody>
          <a:bodyPr wrap="square" lIns="0" tIns="0" rIns="0" bIns="0" rtlCol="0" anchor="ctr"/>
          <a:lstStyle/>
          <a:p>
            <a:pPr marL="0" indent="0">
              <a:buNone/>
            </a:pPr>
            <a:r>
              <a:rPr lang="en-US" sz="1350" dirty="0">
                <a:solidFill>
                  <a:srgbClr val="E4E5EC"/>
                </a:solidFill>
                <a:latin typeface="Calibri" pitchFamily="34" charset="0"/>
                <a:ea typeface="Calibri" pitchFamily="34" charset="-122"/>
                <a:cs typeface="Calibri" pitchFamily="34" charset="-120"/>
              </a:rPr>
              <a:t>Hands-on, then open testing on whatever you like</a:t>
            </a:r>
            <a:endParaRPr lang="en-US" sz="1350" dirty="0"/>
          </a:p>
        </p:txBody>
      </p:sp>
      <p:sp>
        <p:nvSpPr>
          <p:cNvPr id="15" name="Text 1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3 · LETTINGS</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From enquiry to a landlord's statement</a:t>
            </a:r>
            <a:endParaRPr lang="en-US" sz="3200" dirty="0"/>
          </a:p>
        </p:txBody>
      </p:sp>
      <p:sp>
        <p:nvSpPr>
          <p:cNvPr id="4" name="Shape 2"/>
          <p:cNvSpPr/>
          <p:nvPr/>
        </p:nvSpPr>
        <p:spPr>
          <a:xfrm>
            <a:off x="640080" y="2148840"/>
            <a:ext cx="1481328" cy="2331720"/>
          </a:xfrm>
          <a:prstGeom prst="roundRect">
            <a:avLst>
              <a:gd name="adj" fmla="val 4938"/>
            </a:avLst>
          </a:prstGeom>
          <a:solidFill>
            <a:srgbClr val="FBF7F2"/>
          </a:solidFill>
          <a:ln w="12700">
            <a:solidFill>
              <a:srgbClr val="E8E2DA"/>
            </a:solidFill>
            <a:prstDash val="solid"/>
          </a:ln>
        </p:spPr>
      </p:sp>
      <p:sp>
        <p:nvSpPr>
          <p:cNvPr id="5" name="Shape 3"/>
          <p:cNvSpPr/>
          <p:nvPr/>
        </p:nvSpPr>
        <p:spPr>
          <a:xfrm>
            <a:off x="749808" y="2286000"/>
            <a:ext cx="310896" cy="310896"/>
          </a:xfrm>
          <a:prstGeom prst="ellipse">
            <a:avLst/>
          </a:prstGeom>
          <a:solidFill>
            <a:srgbClr val="D92323"/>
          </a:solidFill>
          <a:ln/>
        </p:spPr>
      </p:sp>
      <p:sp>
        <p:nvSpPr>
          <p:cNvPr id="6" name="Text 4"/>
          <p:cNvSpPr/>
          <p:nvPr/>
        </p:nvSpPr>
        <p:spPr>
          <a:xfrm>
            <a:off x="749808"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p:nvPr/>
        </p:nvSpPr>
        <p:spPr>
          <a:xfrm>
            <a:off x="749808"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Application</a:t>
            </a:r>
            <a:endParaRPr lang="en-US" sz="1250" dirty="0"/>
          </a:p>
        </p:txBody>
      </p:sp>
      <p:sp>
        <p:nvSpPr>
          <p:cNvPr id="8" name="Text 6"/>
          <p:cNvSpPr/>
          <p:nvPr/>
        </p:nvSpPr>
        <p:spPr>
          <a:xfrm>
            <a:off x="749808"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Arrives through the property's own link, carrying the property with it.</a:t>
            </a:r>
            <a:endParaRPr lang="en-US" sz="950" dirty="0"/>
          </a:p>
        </p:txBody>
      </p:sp>
      <p:sp>
        <p:nvSpPr>
          <p:cNvPr id="9" name="Shape 7"/>
          <p:cNvSpPr/>
          <p:nvPr/>
        </p:nvSpPr>
        <p:spPr>
          <a:xfrm>
            <a:off x="2267712" y="2148840"/>
            <a:ext cx="1481328" cy="2331720"/>
          </a:xfrm>
          <a:prstGeom prst="roundRect">
            <a:avLst>
              <a:gd name="adj" fmla="val 4938"/>
            </a:avLst>
          </a:prstGeom>
          <a:solidFill>
            <a:srgbClr val="FBE9E9"/>
          </a:solidFill>
          <a:ln w="12700">
            <a:solidFill>
              <a:srgbClr val="F0D4D4"/>
            </a:solidFill>
            <a:prstDash val="solid"/>
          </a:ln>
        </p:spPr>
      </p:sp>
      <p:sp>
        <p:nvSpPr>
          <p:cNvPr id="10" name="Shape 8"/>
          <p:cNvSpPr/>
          <p:nvPr/>
        </p:nvSpPr>
        <p:spPr>
          <a:xfrm>
            <a:off x="2377440" y="2286000"/>
            <a:ext cx="310896" cy="310896"/>
          </a:xfrm>
          <a:prstGeom prst="ellipse">
            <a:avLst/>
          </a:prstGeom>
          <a:solidFill>
            <a:srgbClr val="D92323"/>
          </a:solidFill>
          <a:ln/>
        </p:spPr>
      </p:sp>
      <p:sp>
        <p:nvSpPr>
          <p:cNvPr id="11" name="Text 9"/>
          <p:cNvSpPr/>
          <p:nvPr/>
        </p:nvSpPr>
        <p:spPr>
          <a:xfrm>
            <a:off x="2377440"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2" name="Text 10"/>
          <p:cNvSpPr/>
          <p:nvPr/>
        </p:nvSpPr>
        <p:spPr>
          <a:xfrm>
            <a:off x="2377440"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Two-tier review</a:t>
            </a:r>
            <a:endParaRPr lang="en-US" sz="1250" dirty="0"/>
          </a:p>
        </p:txBody>
      </p:sp>
      <p:sp>
        <p:nvSpPr>
          <p:cNvPr id="13" name="Text 11"/>
          <p:cNvSpPr/>
          <p:nvPr/>
        </p:nvSpPr>
        <p:spPr>
          <a:xfrm>
            <a:off x="2377440"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Two people, both human. No automated system scores or decides.</a:t>
            </a:r>
            <a:endParaRPr lang="en-US" sz="950" dirty="0"/>
          </a:p>
        </p:txBody>
      </p:sp>
      <p:sp>
        <p:nvSpPr>
          <p:cNvPr id="14" name="Shape 12"/>
          <p:cNvSpPr/>
          <p:nvPr/>
        </p:nvSpPr>
        <p:spPr>
          <a:xfrm>
            <a:off x="3895344" y="2148840"/>
            <a:ext cx="1481328" cy="2331720"/>
          </a:xfrm>
          <a:prstGeom prst="roundRect">
            <a:avLst>
              <a:gd name="adj" fmla="val 4938"/>
            </a:avLst>
          </a:prstGeom>
          <a:solidFill>
            <a:srgbClr val="FBF7F2"/>
          </a:solidFill>
          <a:ln w="12700">
            <a:solidFill>
              <a:srgbClr val="E8E2DA"/>
            </a:solidFill>
            <a:prstDash val="solid"/>
          </a:ln>
        </p:spPr>
      </p:sp>
      <p:sp>
        <p:nvSpPr>
          <p:cNvPr id="15" name="Shape 13"/>
          <p:cNvSpPr/>
          <p:nvPr/>
        </p:nvSpPr>
        <p:spPr>
          <a:xfrm>
            <a:off x="4005072" y="2286000"/>
            <a:ext cx="310896" cy="310896"/>
          </a:xfrm>
          <a:prstGeom prst="ellipse">
            <a:avLst/>
          </a:prstGeom>
          <a:solidFill>
            <a:srgbClr val="D92323"/>
          </a:solidFill>
          <a:ln/>
        </p:spPr>
      </p:sp>
      <p:sp>
        <p:nvSpPr>
          <p:cNvPr id="16" name="Text 14"/>
          <p:cNvSpPr/>
          <p:nvPr/>
        </p:nvSpPr>
        <p:spPr>
          <a:xfrm>
            <a:off x="4005072"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7" name="Text 15"/>
          <p:cNvSpPr/>
          <p:nvPr/>
        </p:nvSpPr>
        <p:spPr>
          <a:xfrm>
            <a:off x="4005072"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Lease</a:t>
            </a:r>
            <a:endParaRPr lang="en-US" sz="1250" dirty="0"/>
          </a:p>
        </p:txBody>
      </p:sp>
      <p:sp>
        <p:nvSpPr>
          <p:cNvPr id="18" name="Text 16"/>
          <p:cNvSpPr/>
          <p:nvPr/>
        </p:nvSpPr>
        <p:spPr>
          <a:xfrm>
            <a:off x="4005072"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Drafted, then activated. A unit cannot be let twice for the same dates.</a:t>
            </a:r>
            <a:endParaRPr lang="en-US" sz="950" dirty="0"/>
          </a:p>
        </p:txBody>
      </p:sp>
      <p:sp>
        <p:nvSpPr>
          <p:cNvPr id="19" name="Shape 17"/>
          <p:cNvSpPr/>
          <p:nvPr/>
        </p:nvSpPr>
        <p:spPr>
          <a:xfrm>
            <a:off x="5522976" y="2148840"/>
            <a:ext cx="1481328" cy="2331720"/>
          </a:xfrm>
          <a:prstGeom prst="roundRect">
            <a:avLst>
              <a:gd name="adj" fmla="val 4938"/>
            </a:avLst>
          </a:prstGeom>
          <a:solidFill>
            <a:srgbClr val="FBF7F2"/>
          </a:solidFill>
          <a:ln w="12700">
            <a:solidFill>
              <a:srgbClr val="E8E2DA"/>
            </a:solidFill>
            <a:prstDash val="solid"/>
          </a:ln>
        </p:spPr>
      </p:sp>
      <p:sp>
        <p:nvSpPr>
          <p:cNvPr id="20" name="Shape 18"/>
          <p:cNvSpPr/>
          <p:nvPr/>
        </p:nvSpPr>
        <p:spPr>
          <a:xfrm>
            <a:off x="5632704" y="2286000"/>
            <a:ext cx="310896" cy="310896"/>
          </a:xfrm>
          <a:prstGeom prst="ellipse">
            <a:avLst/>
          </a:prstGeom>
          <a:solidFill>
            <a:srgbClr val="D92323"/>
          </a:solidFill>
          <a:ln/>
        </p:spPr>
      </p:sp>
      <p:sp>
        <p:nvSpPr>
          <p:cNvPr id="21" name="Text 19"/>
          <p:cNvSpPr/>
          <p:nvPr/>
        </p:nvSpPr>
        <p:spPr>
          <a:xfrm>
            <a:off x="5632704"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p:nvPr/>
        </p:nvSpPr>
        <p:spPr>
          <a:xfrm>
            <a:off x="5632704"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Rent demand</a:t>
            </a:r>
            <a:endParaRPr lang="en-US" sz="1250" dirty="0"/>
          </a:p>
        </p:txBody>
      </p:sp>
      <p:sp>
        <p:nvSpPr>
          <p:cNvPr id="23" name="Text 21"/>
          <p:cNvSpPr/>
          <p:nvPr/>
        </p:nvSpPr>
        <p:spPr>
          <a:xfrm>
            <a:off x="5632704"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Annual in advance — raised ahead by however many days you configure.</a:t>
            </a:r>
            <a:endParaRPr lang="en-US" sz="950" dirty="0"/>
          </a:p>
        </p:txBody>
      </p:sp>
      <p:sp>
        <p:nvSpPr>
          <p:cNvPr id="24" name="Shape 22"/>
          <p:cNvSpPr/>
          <p:nvPr/>
        </p:nvSpPr>
        <p:spPr>
          <a:xfrm>
            <a:off x="7150608" y="2148840"/>
            <a:ext cx="1481328" cy="2331720"/>
          </a:xfrm>
          <a:prstGeom prst="roundRect">
            <a:avLst>
              <a:gd name="adj" fmla="val 4938"/>
            </a:avLst>
          </a:prstGeom>
          <a:solidFill>
            <a:srgbClr val="FBF7F2"/>
          </a:solidFill>
          <a:ln w="12700">
            <a:solidFill>
              <a:srgbClr val="E8E2DA"/>
            </a:solidFill>
            <a:prstDash val="solid"/>
          </a:ln>
        </p:spPr>
      </p:sp>
      <p:sp>
        <p:nvSpPr>
          <p:cNvPr id="25" name="Shape 23"/>
          <p:cNvSpPr/>
          <p:nvPr/>
        </p:nvSpPr>
        <p:spPr>
          <a:xfrm>
            <a:off x="7260336" y="2286000"/>
            <a:ext cx="310896" cy="310896"/>
          </a:xfrm>
          <a:prstGeom prst="ellipse">
            <a:avLst/>
          </a:prstGeom>
          <a:solidFill>
            <a:srgbClr val="D92323"/>
          </a:solidFill>
          <a:ln/>
        </p:spPr>
      </p:sp>
      <p:sp>
        <p:nvSpPr>
          <p:cNvPr id="26" name="Text 24"/>
          <p:cNvSpPr/>
          <p:nvPr/>
        </p:nvSpPr>
        <p:spPr>
          <a:xfrm>
            <a:off x="7260336"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7" name="Text 25"/>
          <p:cNvSpPr/>
          <p:nvPr/>
        </p:nvSpPr>
        <p:spPr>
          <a:xfrm>
            <a:off x="7260336"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Collection</a:t>
            </a:r>
            <a:endParaRPr lang="en-US" sz="1250" dirty="0"/>
          </a:p>
        </p:txBody>
      </p:sp>
      <p:sp>
        <p:nvSpPr>
          <p:cNvPr id="28" name="Text 26"/>
          <p:cNvSpPr/>
          <p:nvPr/>
        </p:nvSpPr>
        <p:spPr>
          <a:xfrm>
            <a:off x="7260336"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Payment link; part payments handled.</a:t>
            </a:r>
            <a:endParaRPr lang="en-US" sz="950" dirty="0"/>
          </a:p>
        </p:txBody>
      </p:sp>
      <p:sp>
        <p:nvSpPr>
          <p:cNvPr id="29" name="Shape 27"/>
          <p:cNvSpPr/>
          <p:nvPr/>
        </p:nvSpPr>
        <p:spPr>
          <a:xfrm>
            <a:off x="8778240" y="2148840"/>
            <a:ext cx="1481328" cy="2331720"/>
          </a:xfrm>
          <a:prstGeom prst="roundRect">
            <a:avLst>
              <a:gd name="adj" fmla="val 4938"/>
            </a:avLst>
          </a:prstGeom>
          <a:solidFill>
            <a:srgbClr val="FBF7F2"/>
          </a:solidFill>
          <a:ln w="12700">
            <a:solidFill>
              <a:srgbClr val="E8E2DA"/>
            </a:solidFill>
            <a:prstDash val="solid"/>
          </a:ln>
        </p:spPr>
      </p:sp>
      <p:sp>
        <p:nvSpPr>
          <p:cNvPr id="30" name="Shape 28"/>
          <p:cNvSpPr/>
          <p:nvPr/>
        </p:nvSpPr>
        <p:spPr>
          <a:xfrm>
            <a:off x="8887968" y="2286000"/>
            <a:ext cx="310896" cy="310896"/>
          </a:xfrm>
          <a:prstGeom prst="ellipse">
            <a:avLst/>
          </a:prstGeom>
          <a:solidFill>
            <a:srgbClr val="D92323"/>
          </a:solidFill>
          <a:ln/>
        </p:spPr>
      </p:sp>
      <p:sp>
        <p:nvSpPr>
          <p:cNvPr id="31" name="Text 29"/>
          <p:cNvSpPr/>
          <p:nvPr/>
        </p:nvSpPr>
        <p:spPr>
          <a:xfrm>
            <a:off x="8887968"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2" name="Text 30"/>
          <p:cNvSpPr/>
          <p:nvPr/>
        </p:nvSpPr>
        <p:spPr>
          <a:xfrm>
            <a:off x="8887968"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Split &amp; remit</a:t>
            </a:r>
            <a:endParaRPr lang="en-US" sz="1250" dirty="0"/>
          </a:p>
        </p:txBody>
      </p:sp>
      <p:sp>
        <p:nvSpPr>
          <p:cNvPr id="33" name="Text 31"/>
          <p:cNvSpPr/>
          <p:nvPr/>
        </p:nvSpPr>
        <p:spPr>
          <a:xfrm>
            <a:off x="8887968"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Fees taken, landlord's net paid out.</a:t>
            </a:r>
            <a:endParaRPr lang="en-US" sz="950" dirty="0"/>
          </a:p>
        </p:txBody>
      </p:sp>
      <p:sp>
        <p:nvSpPr>
          <p:cNvPr id="34" name="Shape 32"/>
          <p:cNvSpPr/>
          <p:nvPr/>
        </p:nvSpPr>
        <p:spPr>
          <a:xfrm>
            <a:off x="10405872" y="2148840"/>
            <a:ext cx="1481328" cy="2331720"/>
          </a:xfrm>
          <a:prstGeom prst="roundRect">
            <a:avLst>
              <a:gd name="adj" fmla="val 4938"/>
            </a:avLst>
          </a:prstGeom>
          <a:solidFill>
            <a:srgbClr val="FBF7F2"/>
          </a:solidFill>
          <a:ln w="12700">
            <a:solidFill>
              <a:srgbClr val="E8E2DA"/>
            </a:solidFill>
            <a:prstDash val="solid"/>
          </a:ln>
        </p:spPr>
      </p:sp>
      <p:sp>
        <p:nvSpPr>
          <p:cNvPr id="35" name="Shape 33"/>
          <p:cNvSpPr/>
          <p:nvPr/>
        </p:nvSpPr>
        <p:spPr>
          <a:xfrm>
            <a:off x="10515600" y="2286000"/>
            <a:ext cx="310896" cy="310896"/>
          </a:xfrm>
          <a:prstGeom prst="ellipse">
            <a:avLst/>
          </a:prstGeom>
          <a:solidFill>
            <a:srgbClr val="D92323"/>
          </a:solidFill>
          <a:ln/>
        </p:spPr>
      </p:sp>
      <p:sp>
        <p:nvSpPr>
          <p:cNvPr id="36" name="Text 34"/>
          <p:cNvSpPr/>
          <p:nvPr/>
        </p:nvSpPr>
        <p:spPr>
          <a:xfrm>
            <a:off x="10515600" y="22860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7" name="Text 35"/>
          <p:cNvSpPr/>
          <p:nvPr/>
        </p:nvSpPr>
        <p:spPr>
          <a:xfrm>
            <a:off x="10515600" y="2697480"/>
            <a:ext cx="1261872" cy="548640"/>
          </a:xfrm>
          <a:prstGeom prst="rect">
            <a:avLst/>
          </a:prstGeom>
          <a:noFill/>
          <a:ln/>
        </p:spPr>
        <p:txBody>
          <a:bodyPr wrap="square" lIns="0" tIns="0" rIns="0" bIns="0" rtlCol="0" anchor="ctr"/>
          <a:lstStyle/>
          <a:p>
            <a:pPr marL="0" indent="0">
              <a:buNone/>
            </a:pPr>
            <a:r>
              <a:rPr lang="en-US" sz="1250" b="1" dirty="0">
                <a:solidFill>
                  <a:srgbClr val="1F2229"/>
                </a:solidFill>
                <a:latin typeface="Cambria" pitchFamily="34" charset="0"/>
                <a:ea typeface="Cambria" pitchFamily="34" charset="-122"/>
                <a:cs typeface="Cambria" pitchFamily="34" charset="-120"/>
              </a:rPr>
              <a:t>Statement</a:t>
            </a:r>
            <a:endParaRPr lang="en-US" sz="1250" dirty="0"/>
          </a:p>
        </p:txBody>
      </p:sp>
      <p:sp>
        <p:nvSpPr>
          <p:cNvPr id="38" name="Text 36"/>
          <p:cNvSpPr/>
          <p:nvPr/>
        </p:nvSpPr>
        <p:spPr>
          <a:xfrm>
            <a:off x="10515600" y="3246120"/>
            <a:ext cx="1261872" cy="1143000"/>
          </a:xfrm>
          <a:prstGeom prst="rect">
            <a:avLst/>
          </a:prstGeom>
          <a:noFill/>
          <a:ln/>
        </p:spPr>
        <p:txBody>
          <a:bodyPr wrap="square" lIns="0" tIns="0" rIns="0" bIns="0" rtlCol="0" anchor="ctr"/>
          <a:lstStyle/>
          <a:p>
            <a:pPr marL="0" indent="0">
              <a:buNone/>
            </a:pPr>
            <a:r>
              <a:rPr lang="en-US" sz="950" dirty="0">
                <a:solidFill>
                  <a:srgbClr val="5C616E"/>
                </a:solidFill>
                <a:latin typeface="Calibri" pitchFamily="34" charset="0"/>
                <a:ea typeface="Calibri" pitchFamily="34" charset="-122"/>
                <a:cs typeface="Calibri" pitchFamily="34" charset="-120"/>
              </a:rPr>
              <a:t>What the landlord actually receives.</a:t>
            </a:r>
            <a:endParaRPr lang="en-US" sz="950" dirty="0"/>
          </a:p>
        </p:txBody>
      </p:sp>
      <p:sp>
        <p:nvSpPr>
          <p:cNvPr id="39" name="Shape 37"/>
          <p:cNvSpPr/>
          <p:nvPr/>
        </p:nvSpPr>
        <p:spPr>
          <a:xfrm>
            <a:off x="640080" y="4663440"/>
            <a:ext cx="5349240" cy="1463040"/>
          </a:xfrm>
          <a:prstGeom prst="roundRect">
            <a:avLst>
              <a:gd name="adj" fmla="val 5000"/>
            </a:avLst>
          </a:prstGeom>
          <a:solidFill>
            <a:srgbClr val="FBE9E9"/>
          </a:solidFill>
          <a:ln w="12700">
            <a:solidFill>
              <a:srgbClr val="F0D4D4"/>
            </a:solidFill>
            <a:prstDash val="solid"/>
          </a:ln>
        </p:spPr>
      </p:sp>
      <p:sp>
        <p:nvSpPr>
          <p:cNvPr id="40" name="Text 38"/>
          <p:cNvSpPr/>
          <p:nvPr/>
        </p:nvSpPr>
        <p:spPr>
          <a:xfrm>
            <a:off x="914400" y="4846320"/>
            <a:ext cx="4754880" cy="347472"/>
          </a:xfrm>
          <a:prstGeom prst="rect">
            <a:avLst/>
          </a:prstGeom>
          <a:noFill/>
          <a:ln/>
        </p:spPr>
        <p:txBody>
          <a:bodyPr wrap="square" lIns="0" tIns="0" rIns="0" bIns="0" rtlCol="0" anchor="ctr"/>
          <a:lstStyle/>
          <a:p>
            <a:pPr marL="0" indent="0">
              <a:buNone/>
            </a:pPr>
            <a:r>
              <a:rPr lang="en-US" sz="1550" b="1" dirty="0">
                <a:solidFill>
                  <a:srgbClr val="1F2229"/>
                </a:solidFill>
                <a:latin typeface="Cambria" pitchFamily="34" charset="0"/>
                <a:ea typeface="Cambria" pitchFamily="34" charset="-122"/>
                <a:cs typeface="Cambria" pitchFamily="34" charset="-120"/>
              </a:rPr>
              <a:t>Screening stays human</a:t>
            </a:r>
            <a:endParaRPr lang="en-US" sz="1550" dirty="0"/>
          </a:p>
        </p:txBody>
      </p:sp>
      <p:sp>
        <p:nvSpPr>
          <p:cNvPr id="41" name="Text 39"/>
          <p:cNvSpPr/>
          <p:nvPr/>
        </p:nvSpPr>
        <p:spPr>
          <a:xfrm>
            <a:off x="914400" y="5193792"/>
            <a:ext cx="4800600" cy="82296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Documents may be checked automatically — extraction, format, duplicates. No system decides, scores or recommends an outcome, and the reviewer records their own reason.</a:t>
            </a:r>
            <a:endParaRPr lang="en-US" sz="1100" dirty="0"/>
          </a:p>
        </p:txBody>
      </p:sp>
      <p:sp>
        <p:nvSpPr>
          <p:cNvPr id="42" name="Shape 40"/>
          <p:cNvSpPr/>
          <p:nvPr/>
        </p:nvSpPr>
        <p:spPr>
          <a:xfrm>
            <a:off x="6199632" y="4663440"/>
            <a:ext cx="5349240" cy="1463040"/>
          </a:xfrm>
          <a:prstGeom prst="roundRect">
            <a:avLst>
              <a:gd name="adj" fmla="val 5000"/>
            </a:avLst>
          </a:prstGeom>
          <a:solidFill>
            <a:srgbClr val="FBF7F2"/>
          </a:solidFill>
          <a:ln w="12700">
            <a:solidFill>
              <a:srgbClr val="E8E2DA"/>
            </a:solidFill>
            <a:prstDash val="solid"/>
          </a:ln>
        </p:spPr>
      </p:sp>
      <p:sp>
        <p:nvSpPr>
          <p:cNvPr id="43" name="Text 41"/>
          <p:cNvSpPr/>
          <p:nvPr/>
        </p:nvSpPr>
        <p:spPr>
          <a:xfrm>
            <a:off x="6473952" y="4846320"/>
            <a:ext cx="4754880" cy="347472"/>
          </a:xfrm>
          <a:prstGeom prst="rect">
            <a:avLst/>
          </a:prstGeom>
          <a:noFill/>
          <a:ln/>
        </p:spPr>
        <p:txBody>
          <a:bodyPr wrap="square" lIns="0" tIns="0" rIns="0" bIns="0" rtlCol="0" anchor="ctr"/>
          <a:lstStyle/>
          <a:p>
            <a:pPr marL="0" indent="0">
              <a:buNone/>
            </a:pPr>
            <a:r>
              <a:rPr lang="en-US" sz="1550" b="1" dirty="0">
                <a:solidFill>
                  <a:srgbClr val="1F2229"/>
                </a:solidFill>
                <a:latin typeface="Cambria" pitchFamily="34" charset="0"/>
                <a:ea typeface="Cambria" pitchFamily="34" charset="-122"/>
                <a:cs typeface="Cambria" pitchFamily="34" charset="-120"/>
              </a:rPr>
              <a:t>Renewal notices</a:t>
            </a:r>
            <a:endParaRPr lang="en-US" sz="1550" dirty="0"/>
          </a:p>
        </p:txBody>
      </p:sp>
      <p:sp>
        <p:nvSpPr>
          <p:cNvPr id="44" name="Text 42"/>
          <p:cNvSpPr/>
          <p:nvPr/>
        </p:nvSpPr>
        <p:spPr>
          <a:xfrm>
            <a:off x="6473952" y="5193792"/>
            <a:ext cx="4800600" cy="82296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Go out at 90, 60 and 30 days before a tenancy ends — configurable per organisation. Each fires once per tenancy, per threshold, however many times the job runs.</a:t>
            </a:r>
            <a:endParaRPr lang="en-US" sz="1100" dirty="0"/>
          </a:p>
        </p:txBody>
      </p:sp>
      <p:sp>
        <p:nvSpPr>
          <p:cNvPr id="45" name="Text 4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3 · THE ARITHMETIC</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What comes out of the rent</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Both fees are frozen onto the demand when it is raised. Changing a rate later never rewrites a statement already issued.</a:t>
            </a:r>
            <a:endParaRPr lang="en-US" sz="1450" dirty="0"/>
          </a:p>
        </p:txBody>
      </p:sp>
      <p:sp>
        <p:nvSpPr>
          <p:cNvPr id="5" name="Shape 3"/>
          <p:cNvSpPr/>
          <p:nvPr/>
        </p:nvSpPr>
        <p:spPr>
          <a:xfrm>
            <a:off x="640080" y="2286000"/>
            <a:ext cx="5349240" cy="3108960"/>
          </a:xfrm>
          <a:prstGeom prst="roundRect">
            <a:avLst>
              <a:gd name="adj" fmla="val 2353"/>
            </a:avLst>
          </a:prstGeom>
          <a:solidFill>
            <a:srgbClr val="FFFFFF"/>
          </a:solidFill>
          <a:ln w="12700">
            <a:solidFill>
              <a:srgbClr val="E8E2DA"/>
            </a:solidFill>
            <a:prstDash val="solid"/>
          </a:ln>
        </p:spPr>
      </p:sp>
      <p:pic>
        <p:nvPicPr>
          <p:cNvPr id="6" name="Image 0" descr="preencoded.png"/>
          <p:cNvPicPr>
            <a:picLocks noChangeAspect="1"/>
          </p:cNvPicPr>
          <p:nvPr/>
        </p:nvPicPr>
        <p:blipFill>
          <a:blip r:embed="rId3"/>
          <a:stretch>
            <a:fillRect/>
          </a:stretch>
        </p:blipFill>
        <p:spPr>
          <a:xfrm>
            <a:off x="960120" y="2542032"/>
            <a:ext cx="310896" cy="310896"/>
          </a:xfrm>
          <a:prstGeom prst="rect">
            <a:avLst/>
          </a:prstGeom>
        </p:spPr>
      </p:pic>
      <p:sp>
        <p:nvSpPr>
          <p:cNvPr id="7" name="Text 4"/>
          <p:cNvSpPr/>
          <p:nvPr/>
        </p:nvSpPr>
        <p:spPr>
          <a:xfrm>
            <a:off x="1444752" y="2514600"/>
            <a:ext cx="4206240" cy="384048"/>
          </a:xfrm>
          <a:prstGeom prst="rect">
            <a:avLst/>
          </a:prstGeom>
          <a:noFill/>
          <a:ln/>
        </p:spPr>
        <p:txBody>
          <a:bodyPr wrap="square" lIns="0" tIns="0" rIns="0" bIns="0" rtlCol="0" anchor="ctr"/>
          <a:lstStyle/>
          <a:p>
            <a:pPr marL="0" indent="0">
              <a:buNone/>
            </a:pPr>
            <a:r>
              <a:rPr lang="en-US" sz="1900" b="1" dirty="0">
                <a:solidFill>
                  <a:srgbClr val="1F2229"/>
                </a:solidFill>
                <a:latin typeface="Cambria" pitchFamily="34" charset="0"/>
                <a:ea typeface="Cambria" pitchFamily="34" charset="-122"/>
                <a:cs typeface="Cambria" pitchFamily="34" charset="-120"/>
              </a:rPr>
              <a:t>Management fee</a:t>
            </a:r>
            <a:endParaRPr lang="en-US" sz="1900" dirty="0"/>
          </a:p>
        </p:txBody>
      </p:sp>
      <p:sp>
        <p:nvSpPr>
          <p:cNvPr id="8" name="Text 5"/>
          <p:cNvSpPr/>
          <p:nvPr/>
        </p:nvSpPr>
        <p:spPr>
          <a:xfrm>
            <a:off x="960120" y="2980944"/>
            <a:ext cx="4709160" cy="310896"/>
          </a:xfrm>
          <a:prstGeom prst="rect">
            <a:avLst/>
          </a:prstGeom>
          <a:noFill/>
          <a:ln/>
        </p:spPr>
        <p:txBody>
          <a:bodyPr wrap="square" lIns="0" tIns="0" rIns="0" bIns="0" rtlCol="0" anchor="ctr"/>
          <a:lstStyle/>
          <a:p>
            <a:pPr marL="0" indent="0">
              <a:buNone/>
            </a:pPr>
            <a:r>
              <a:rPr lang="en-US" sz="1250" i="1" dirty="0">
                <a:solidFill>
                  <a:srgbClr val="A81A1A"/>
                </a:solidFill>
                <a:latin typeface="Calibri" pitchFamily="34" charset="0"/>
                <a:ea typeface="Calibri" pitchFamily="34" charset="-122"/>
                <a:cs typeface="Calibri" pitchFamily="34" charset="-120"/>
              </a:rPr>
              <a:t>A percentage of the rent.</a:t>
            </a:r>
            <a:endParaRPr lang="en-US" sz="1250" dirty="0"/>
          </a:p>
        </p:txBody>
      </p:sp>
      <p:sp>
        <p:nvSpPr>
          <p:cNvPr id="9" name="Text 6"/>
          <p:cNvSpPr/>
          <p:nvPr/>
        </p:nvSpPr>
        <p:spPr>
          <a:xfrm>
            <a:off x="960120" y="3401568"/>
            <a:ext cx="4709160" cy="182880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5C616E"/>
                </a:solidFill>
                <a:latin typeface="Calibri" pitchFamily="34" charset="0"/>
                <a:ea typeface="Calibri" pitchFamily="34" charset="-122"/>
                <a:cs typeface="Calibri" pitchFamily="34" charset="-120"/>
              </a:rPr>
              <a:t>The organisation sets a default rate.</a:t>
            </a:r>
            <a:endParaRPr lang="en-US" sz="1150" dirty="0"/>
          </a:p>
          <a:p>
            <a:pPr marL="342900" indent="-342900">
              <a:spcAft>
                <a:spcPts val="700"/>
              </a:spcAft>
              <a:buSzPct val="100000"/>
              <a:buChar char="•"/>
            </a:pPr>
            <a:r>
              <a:rPr lang="en-US" sz="1150" dirty="0">
                <a:solidFill>
                  <a:srgbClr val="5C616E"/>
                </a:solidFill>
                <a:latin typeface="Calibri" pitchFamily="34" charset="0"/>
                <a:ea typeface="Calibri" pitchFamily="34" charset="-122"/>
                <a:cs typeface="Calibri" pitchFamily="34" charset="-120"/>
              </a:rPr>
              <a:t>A landlord may carry their own negotiated rate, shown as a difference from the default with a one-click reset.</a:t>
            </a:r>
            <a:endParaRPr lang="en-US" sz="1150" dirty="0"/>
          </a:p>
        </p:txBody>
      </p:sp>
      <p:sp>
        <p:nvSpPr>
          <p:cNvPr id="10" name="Shape 7"/>
          <p:cNvSpPr/>
          <p:nvPr/>
        </p:nvSpPr>
        <p:spPr>
          <a:xfrm>
            <a:off x="6199632" y="2286000"/>
            <a:ext cx="5349240" cy="3108960"/>
          </a:xfrm>
          <a:prstGeom prst="roundRect">
            <a:avLst>
              <a:gd name="adj" fmla="val 2353"/>
            </a:avLst>
          </a:prstGeom>
          <a:solidFill>
            <a:srgbClr val="FFFFFF"/>
          </a:solidFill>
          <a:ln w="12700">
            <a:solidFill>
              <a:srgbClr val="E8E2DA"/>
            </a:solidFill>
            <a:prstDash val="solid"/>
          </a:ln>
        </p:spPr>
      </p:sp>
      <p:pic>
        <p:nvPicPr>
          <p:cNvPr id="11" name="Image 1" descr="preencoded.png"/>
          <p:cNvPicPr>
            <a:picLocks noChangeAspect="1"/>
          </p:cNvPicPr>
          <p:nvPr/>
        </p:nvPicPr>
        <p:blipFill>
          <a:blip r:embed="rId3"/>
          <a:stretch>
            <a:fillRect/>
          </a:stretch>
        </p:blipFill>
        <p:spPr>
          <a:xfrm>
            <a:off x="6519672" y="2542032"/>
            <a:ext cx="310896" cy="310896"/>
          </a:xfrm>
          <a:prstGeom prst="rect">
            <a:avLst/>
          </a:prstGeom>
        </p:spPr>
      </p:pic>
      <p:sp>
        <p:nvSpPr>
          <p:cNvPr id="12" name="Text 8"/>
          <p:cNvSpPr/>
          <p:nvPr/>
        </p:nvSpPr>
        <p:spPr>
          <a:xfrm>
            <a:off x="7004304" y="2514600"/>
            <a:ext cx="4206240" cy="384048"/>
          </a:xfrm>
          <a:prstGeom prst="rect">
            <a:avLst/>
          </a:prstGeom>
          <a:noFill/>
          <a:ln/>
        </p:spPr>
        <p:txBody>
          <a:bodyPr wrap="square" lIns="0" tIns="0" rIns="0" bIns="0" rtlCol="0" anchor="ctr"/>
          <a:lstStyle/>
          <a:p>
            <a:pPr marL="0" indent="0">
              <a:buNone/>
            </a:pPr>
            <a:r>
              <a:rPr lang="en-US" sz="1900" b="1" dirty="0">
                <a:solidFill>
                  <a:srgbClr val="1F2229"/>
                </a:solidFill>
                <a:latin typeface="Cambria" pitchFamily="34" charset="0"/>
                <a:ea typeface="Cambria" pitchFamily="34" charset="-122"/>
                <a:cs typeface="Cambria" pitchFamily="34" charset="-120"/>
              </a:rPr>
              <a:t>Admin fee</a:t>
            </a:r>
            <a:endParaRPr lang="en-US" sz="1900" dirty="0"/>
          </a:p>
        </p:txBody>
      </p:sp>
      <p:sp>
        <p:nvSpPr>
          <p:cNvPr id="13" name="Text 9"/>
          <p:cNvSpPr/>
          <p:nvPr/>
        </p:nvSpPr>
        <p:spPr>
          <a:xfrm>
            <a:off x="6519672" y="2980944"/>
            <a:ext cx="4709160" cy="310896"/>
          </a:xfrm>
          <a:prstGeom prst="rect">
            <a:avLst/>
          </a:prstGeom>
          <a:noFill/>
          <a:ln/>
        </p:spPr>
        <p:txBody>
          <a:bodyPr wrap="square" lIns="0" tIns="0" rIns="0" bIns="0" rtlCol="0" anchor="ctr"/>
          <a:lstStyle/>
          <a:p>
            <a:pPr marL="0" indent="0">
              <a:buNone/>
            </a:pPr>
            <a:r>
              <a:rPr lang="en-US" sz="1250" i="1" dirty="0">
                <a:solidFill>
                  <a:srgbClr val="A81A1A"/>
                </a:solidFill>
                <a:latin typeface="Calibri" pitchFamily="34" charset="0"/>
                <a:ea typeface="Calibri" pitchFamily="34" charset="-122"/>
                <a:cs typeface="Calibri" pitchFamily="34" charset="-120"/>
              </a:rPr>
              <a:t>A flat amount.</a:t>
            </a:r>
            <a:endParaRPr lang="en-US" sz="1250" dirty="0"/>
          </a:p>
        </p:txBody>
      </p:sp>
      <p:sp>
        <p:nvSpPr>
          <p:cNvPr id="14" name="Text 10"/>
          <p:cNvSpPr/>
          <p:nvPr/>
        </p:nvSpPr>
        <p:spPr>
          <a:xfrm>
            <a:off x="6519672" y="3401568"/>
            <a:ext cx="4709160" cy="182880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5C616E"/>
                </a:solidFill>
                <a:latin typeface="Calibri" pitchFamily="34" charset="0"/>
                <a:ea typeface="Calibri" pitchFamily="34" charset="-122"/>
                <a:cs typeface="Calibri" pitchFamily="34" charset="-120"/>
              </a:rPr>
              <a:t>Charged ONCE per tenancy, on the first demand — the setting that was agreed this month.</a:t>
            </a:r>
            <a:endParaRPr lang="en-US" sz="1150" dirty="0"/>
          </a:p>
          <a:p>
            <a:pPr marL="342900" indent="-342900">
              <a:spcAft>
                <a:spcPts val="700"/>
              </a:spcAft>
              <a:buSzPct val="100000"/>
              <a:buChar char="•"/>
            </a:pPr>
            <a:r>
              <a:rPr lang="en-US" sz="1150" dirty="0">
                <a:solidFill>
                  <a:srgbClr val="5C616E"/>
                </a:solidFill>
                <a:latin typeface="Calibri" pitchFamily="34" charset="0"/>
                <a:ea typeface="Calibri" pitchFamily="34" charset="-122"/>
                <a:cs typeface="Calibri" pitchFamily="34" charset="-120"/>
              </a:rPr>
              <a:t>A renewal continues the same tenancy, so it is not charged again.</a:t>
            </a:r>
            <a:endParaRPr lang="en-US" sz="1150" dirty="0"/>
          </a:p>
          <a:p>
            <a:pPr marL="342900" indent="-342900">
              <a:spcAft>
                <a:spcPts val="700"/>
              </a:spcAft>
              <a:buSzPct val="100000"/>
              <a:buChar char="•"/>
            </a:pPr>
            <a:r>
              <a:rPr lang="en-US" sz="1150" dirty="0">
                <a:solidFill>
                  <a:srgbClr val="5C616E"/>
                </a:solidFill>
                <a:latin typeface="Calibri" pitchFamily="34" charset="0"/>
                <a:ea typeface="Calibri" pitchFamily="34" charset="-122"/>
                <a:cs typeface="Calibri" pitchFamily="34" charset="-120"/>
              </a:rPr>
              <a:t>An individual tenancy can depart from the default if it was negotiated that way.</a:t>
            </a:r>
            <a:endParaRPr lang="en-US" sz="1150" dirty="0"/>
          </a:p>
        </p:txBody>
      </p:sp>
      <p:sp>
        <p:nvSpPr>
          <p:cNvPr id="15" name="Shape 11"/>
          <p:cNvSpPr/>
          <p:nvPr/>
        </p:nvSpPr>
        <p:spPr>
          <a:xfrm>
            <a:off x="640080" y="5532120"/>
            <a:ext cx="10908792" cy="777240"/>
          </a:xfrm>
          <a:prstGeom prst="roundRect">
            <a:avLst>
              <a:gd name="adj" fmla="val 9412"/>
            </a:avLst>
          </a:prstGeom>
          <a:solidFill>
            <a:srgbClr val="E6F3EB"/>
          </a:solidFill>
          <a:ln w="12700">
            <a:solidFill>
              <a:srgbClr val="CBE3D6"/>
            </a:solidFill>
            <a:prstDash val="solid"/>
          </a:ln>
        </p:spPr>
      </p:sp>
      <p:pic>
        <p:nvPicPr>
          <p:cNvPr id="16" name="Image 2" descr="preencoded.png"/>
          <p:cNvPicPr>
            <a:picLocks noChangeAspect="1"/>
          </p:cNvPicPr>
          <p:nvPr/>
        </p:nvPicPr>
        <p:blipFill>
          <a:blip r:embed="rId4"/>
          <a:stretch>
            <a:fillRect/>
          </a:stretch>
        </p:blipFill>
        <p:spPr>
          <a:xfrm>
            <a:off x="914400" y="5742432"/>
            <a:ext cx="237744" cy="237744"/>
          </a:xfrm>
          <a:prstGeom prst="rect">
            <a:avLst/>
          </a:prstGeom>
        </p:spPr>
      </p:pic>
      <p:sp>
        <p:nvSpPr>
          <p:cNvPr id="17" name="Text 12"/>
          <p:cNvSpPr/>
          <p:nvPr/>
        </p:nvSpPr>
        <p:spPr>
          <a:xfrm>
            <a:off x="1280160" y="5532120"/>
            <a:ext cx="10058400" cy="777240"/>
          </a:xfrm>
          <a:prstGeom prst="rect">
            <a:avLst/>
          </a:prstGeom>
          <a:noFill/>
          <a:ln/>
        </p:spPr>
        <p:txBody>
          <a:bodyPr wrap="square" lIns="0" tIns="0" rIns="0" bIns="0" rtlCol="0" anchor="ctr"/>
          <a:lstStyle/>
          <a:p>
            <a:pPr marL="0" indent="0">
              <a:buNone/>
            </a:pPr>
            <a:r>
              <a:rPr lang="en-US" sz="1200" dirty="0">
                <a:solidFill>
                  <a:srgbClr val="1F2229"/>
                </a:solidFill>
                <a:latin typeface="Calibri" pitchFamily="34" charset="0"/>
                <a:ea typeface="Calibri" pitchFamily="34" charset="-122"/>
                <a:cs typeface="Calibri" pitchFamily="34" charset="-120"/>
              </a:rPr>
              <a:t>Both are set in Settings → Lettings by an administrator. Neither needs a developer, and neither reaches backwards.</a:t>
            </a:r>
            <a:endParaRPr lang="en-US" sz="1200" dirty="0"/>
          </a:p>
        </p:txBody>
      </p:sp>
      <p:sp>
        <p:nvSpPr>
          <p:cNvPr id="18" name="Text 1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3 · THE RECORD</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Reporting, and who is allowed to see it</a:t>
            </a:r>
            <a:endParaRPr lang="en-US" sz="3200" dirty="0"/>
          </a:p>
        </p:txBody>
      </p:sp>
      <p:sp>
        <p:nvSpPr>
          <p:cNvPr id="4" name="Shape 2"/>
          <p:cNvSpPr/>
          <p:nvPr/>
        </p:nvSpPr>
        <p:spPr>
          <a:xfrm>
            <a:off x="640080" y="2057400"/>
            <a:ext cx="5349240" cy="3749040"/>
          </a:xfrm>
          <a:prstGeom prst="roundRect">
            <a:avLst>
              <a:gd name="adj" fmla="val 1951"/>
            </a:avLst>
          </a:prstGeom>
          <a:solidFill>
            <a:srgbClr val="FBF7F2"/>
          </a:solidFill>
          <a:ln w="12700">
            <a:solidFill>
              <a:srgbClr val="E8E2DA"/>
            </a:solidFill>
            <a:prstDash val="solid"/>
          </a:ln>
        </p:spPr>
      </p:sp>
      <p:pic>
        <p:nvPicPr>
          <p:cNvPr id="5" name="Image 0" descr="preencoded.png"/>
          <p:cNvPicPr>
            <a:picLocks noChangeAspect="1"/>
          </p:cNvPicPr>
          <p:nvPr/>
        </p:nvPicPr>
        <p:blipFill>
          <a:blip r:embed="rId3"/>
          <a:stretch>
            <a:fillRect/>
          </a:stretch>
        </p:blipFill>
        <p:spPr>
          <a:xfrm>
            <a:off x="914400" y="2286000"/>
            <a:ext cx="310896" cy="310896"/>
          </a:xfrm>
          <a:prstGeom prst="rect">
            <a:avLst/>
          </a:prstGeom>
        </p:spPr>
      </p:pic>
      <p:sp>
        <p:nvSpPr>
          <p:cNvPr id="6" name="Text 3"/>
          <p:cNvSpPr/>
          <p:nvPr/>
        </p:nvSpPr>
        <p:spPr>
          <a:xfrm>
            <a:off x="1389888" y="2258568"/>
            <a:ext cx="4206240" cy="384048"/>
          </a:xfrm>
          <a:prstGeom prst="rect">
            <a:avLst/>
          </a:prstGeom>
          <a:noFill/>
          <a:ln/>
        </p:spPr>
        <p:txBody>
          <a:bodyPr wrap="square" lIns="0" tIns="0" rIns="0" bIns="0" rtlCol="0" anchor="ctr"/>
          <a:lstStyle/>
          <a:p>
            <a:pPr marL="0" indent="0">
              <a:buNone/>
            </a:pPr>
            <a:r>
              <a:rPr lang="en-US" sz="1900" b="1" dirty="0">
                <a:solidFill>
                  <a:srgbClr val="1F2229"/>
                </a:solidFill>
                <a:latin typeface="Cambria" pitchFamily="34" charset="0"/>
                <a:ea typeface="Cambria" pitchFamily="34" charset="-122"/>
                <a:cs typeface="Cambria" pitchFamily="34" charset="-120"/>
              </a:rPr>
              <a:t>Reporting by role</a:t>
            </a:r>
            <a:endParaRPr lang="en-US" sz="1900" dirty="0"/>
          </a:p>
        </p:txBody>
      </p:sp>
      <p:sp>
        <p:nvSpPr>
          <p:cNvPr id="7" name="Text 4"/>
          <p:cNvSpPr/>
          <p:nvPr/>
        </p:nvSpPr>
        <p:spPr>
          <a:xfrm>
            <a:off x="914400" y="2834640"/>
            <a:ext cx="4754880" cy="274320"/>
          </a:xfrm>
          <a:prstGeom prst="rect">
            <a:avLst/>
          </a:prstGeom>
          <a:noFill/>
          <a:ln/>
        </p:spPr>
        <p:txBody>
          <a:bodyPr wrap="square" lIns="0" tIns="0" rIns="0" bIns="0" rtlCol="0" anchor="ctr"/>
          <a:lstStyle/>
          <a:p>
            <a:pPr marL="0" indent="0">
              <a:buNone/>
            </a:pPr>
            <a:r>
              <a:rPr lang="en-US" sz="1200" b="1" dirty="0">
                <a:solidFill>
                  <a:srgbClr val="A81A1A"/>
                </a:solidFill>
                <a:latin typeface="Calibri" pitchFamily="34" charset="0"/>
                <a:ea typeface="Calibri" pitchFamily="34" charset="-122"/>
                <a:cs typeface="Calibri" pitchFamily="34" charset="-120"/>
              </a:rPr>
              <a:t>Landlord</a:t>
            </a:r>
            <a:endParaRPr lang="en-US" sz="1200" dirty="0"/>
          </a:p>
        </p:txBody>
      </p:sp>
      <p:sp>
        <p:nvSpPr>
          <p:cNvPr id="8" name="Text 5"/>
          <p:cNvSpPr/>
          <p:nvPr/>
        </p:nvSpPr>
        <p:spPr>
          <a:xfrm>
            <a:off x="914400" y="3099816"/>
            <a:ext cx="4800600" cy="475488"/>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Their own portfolio, their statements, their payments — live, plus a monthly report.</a:t>
            </a:r>
            <a:endParaRPr lang="en-US" sz="1100" dirty="0"/>
          </a:p>
        </p:txBody>
      </p:sp>
      <p:sp>
        <p:nvSpPr>
          <p:cNvPr id="9" name="Text 6"/>
          <p:cNvSpPr/>
          <p:nvPr/>
        </p:nvSpPr>
        <p:spPr>
          <a:xfrm>
            <a:off x="914400" y="3584448"/>
            <a:ext cx="4754880" cy="274320"/>
          </a:xfrm>
          <a:prstGeom prst="rect">
            <a:avLst/>
          </a:prstGeom>
          <a:noFill/>
          <a:ln/>
        </p:spPr>
        <p:txBody>
          <a:bodyPr wrap="square" lIns="0" tIns="0" rIns="0" bIns="0" rtlCol="0" anchor="ctr"/>
          <a:lstStyle/>
          <a:p>
            <a:pPr marL="0" indent="0">
              <a:buNone/>
            </a:pPr>
            <a:r>
              <a:rPr lang="en-US" sz="1200" b="1" dirty="0">
                <a:solidFill>
                  <a:srgbClr val="A81A1A"/>
                </a:solidFill>
                <a:latin typeface="Calibri" pitchFamily="34" charset="0"/>
                <a:ea typeface="Calibri" pitchFamily="34" charset="-122"/>
                <a:cs typeface="Calibri" pitchFamily="34" charset="-120"/>
              </a:rPr>
              <a:t>Managers</a:t>
            </a:r>
            <a:endParaRPr lang="en-US" sz="1200" dirty="0"/>
          </a:p>
        </p:txBody>
      </p:sp>
      <p:sp>
        <p:nvSpPr>
          <p:cNvPr id="10" name="Text 7"/>
          <p:cNvSpPr/>
          <p:nvPr/>
        </p:nvSpPr>
        <p:spPr>
          <a:xfrm>
            <a:off x="914400" y="3849624"/>
            <a:ext cx="4800600" cy="475488"/>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Operational KPIs for the properties they hold.</a:t>
            </a:r>
            <a:endParaRPr lang="en-US" sz="1100" dirty="0"/>
          </a:p>
        </p:txBody>
      </p:sp>
      <p:sp>
        <p:nvSpPr>
          <p:cNvPr id="11" name="Text 8"/>
          <p:cNvSpPr/>
          <p:nvPr/>
        </p:nvSpPr>
        <p:spPr>
          <a:xfrm>
            <a:off x="914400" y="4334256"/>
            <a:ext cx="4754880" cy="274320"/>
          </a:xfrm>
          <a:prstGeom prst="rect">
            <a:avLst/>
          </a:prstGeom>
          <a:noFill/>
          <a:ln/>
        </p:spPr>
        <p:txBody>
          <a:bodyPr wrap="square" lIns="0" tIns="0" rIns="0" bIns="0" rtlCol="0" anchor="ctr"/>
          <a:lstStyle/>
          <a:p>
            <a:pPr marL="0" indent="0">
              <a:buNone/>
            </a:pPr>
            <a:r>
              <a:rPr lang="en-US" sz="1200" b="1" dirty="0">
                <a:solidFill>
                  <a:srgbClr val="A81A1A"/>
                </a:solidFill>
                <a:latin typeface="Calibri" pitchFamily="34" charset="0"/>
                <a:ea typeface="Calibri" pitchFamily="34" charset="-122"/>
                <a:cs typeface="Calibri" pitchFamily="34" charset="-120"/>
              </a:rPr>
              <a:t>Finance &amp; Executive</a:t>
            </a:r>
            <a:endParaRPr lang="en-US" sz="1200" dirty="0"/>
          </a:p>
        </p:txBody>
      </p:sp>
      <p:sp>
        <p:nvSpPr>
          <p:cNvPr id="12" name="Text 9"/>
          <p:cNvSpPr/>
          <p:nvPr/>
        </p:nvSpPr>
        <p:spPr>
          <a:xfrm>
            <a:off x="914400" y="4599432"/>
            <a:ext cx="4800600" cy="475488"/>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All financials, live.</a:t>
            </a:r>
            <a:endParaRPr lang="en-US" sz="1100" dirty="0"/>
          </a:p>
        </p:txBody>
      </p:sp>
      <p:sp>
        <p:nvSpPr>
          <p:cNvPr id="13" name="Text 10"/>
          <p:cNvSpPr/>
          <p:nvPr/>
        </p:nvSpPr>
        <p:spPr>
          <a:xfrm>
            <a:off x="914400" y="5084064"/>
            <a:ext cx="4754880" cy="274320"/>
          </a:xfrm>
          <a:prstGeom prst="rect">
            <a:avLst/>
          </a:prstGeom>
          <a:noFill/>
          <a:ln/>
        </p:spPr>
        <p:txBody>
          <a:bodyPr wrap="square" lIns="0" tIns="0" rIns="0" bIns="0" rtlCol="0" anchor="ctr"/>
          <a:lstStyle/>
          <a:p>
            <a:pPr marL="0" indent="0">
              <a:buNone/>
            </a:pPr>
            <a:r>
              <a:rPr lang="en-US" sz="1200" b="1" dirty="0">
                <a:solidFill>
                  <a:srgbClr val="A81A1A"/>
                </a:solidFill>
                <a:latin typeface="Calibri" pitchFamily="34" charset="0"/>
                <a:ea typeface="Calibri" pitchFamily="34" charset="-122"/>
                <a:cs typeface="Calibri" pitchFamily="34" charset="-120"/>
              </a:rPr>
              <a:t>Auditor</a:t>
            </a:r>
            <a:endParaRPr lang="en-US" sz="1200" dirty="0"/>
          </a:p>
        </p:txBody>
      </p:sp>
      <p:sp>
        <p:nvSpPr>
          <p:cNvPr id="14" name="Text 11"/>
          <p:cNvSpPr/>
          <p:nvPr/>
        </p:nvSpPr>
        <p:spPr>
          <a:xfrm>
            <a:off x="914400" y="5349240"/>
            <a:ext cx="4800600" cy="475488"/>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Payments at their stage, and their own actions.</a:t>
            </a:r>
            <a:endParaRPr lang="en-US" sz="1100" dirty="0"/>
          </a:p>
        </p:txBody>
      </p:sp>
      <p:sp>
        <p:nvSpPr>
          <p:cNvPr id="15" name="Shape 12"/>
          <p:cNvSpPr/>
          <p:nvPr/>
        </p:nvSpPr>
        <p:spPr>
          <a:xfrm>
            <a:off x="6199632" y="2057400"/>
            <a:ext cx="5349240" cy="3749040"/>
          </a:xfrm>
          <a:prstGeom prst="roundRect">
            <a:avLst>
              <a:gd name="adj" fmla="val 1951"/>
            </a:avLst>
          </a:prstGeom>
          <a:solidFill>
            <a:srgbClr val="FBF7F2"/>
          </a:solidFill>
          <a:ln w="12700">
            <a:solidFill>
              <a:srgbClr val="E8E2DA"/>
            </a:solidFill>
            <a:prstDash val="solid"/>
          </a:ln>
        </p:spPr>
      </p:sp>
      <p:pic>
        <p:nvPicPr>
          <p:cNvPr id="16" name="Image 1" descr="preencoded.png"/>
          <p:cNvPicPr>
            <a:picLocks noChangeAspect="1"/>
          </p:cNvPicPr>
          <p:nvPr/>
        </p:nvPicPr>
        <p:blipFill>
          <a:blip r:embed="rId4"/>
          <a:stretch>
            <a:fillRect/>
          </a:stretch>
        </p:blipFill>
        <p:spPr>
          <a:xfrm>
            <a:off x="6473952" y="2286000"/>
            <a:ext cx="310896" cy="310896"/>
          </a:xfrm>
          <a:prstGeom prst="rect">
            <a:avLst/>
          </a:prstGeom>
        </p:spPr>
      </p:pic>
      <p:sp>
        <p:nvSpPr>
          <p:cNvPr id="17" name="Text 13"/>
          <p:cNvSpPr/>
          <p:nvPr/>
        </p:nvSpPr>
        <p:spPr>
          <a:xfrm>
            <a:off x="6949440" y="2258568"/>
            <a:ext cx="4206240" cy="384048"/>
          </a:xfrm>
          <a:prstGeom prst="rect">
            <a:avLst/>
          </a:prstGeom>
          <a:noFill/>
          <a:ln/>
        </p:spPr>
        <p:txBody>
          <a:bodyPr wrap="square" lIns="0" tIns="0" rIns="0" bIns="0" rtlCol="0" anchor="ctr"/>
          <a:lstStyle/>
          <a:p>
            <a:pPr marL="0" indent="0">
              <a:buNone/>
            </a:pPr>
            <a:r>
              <a:rPr lang="en-US" sz="1900" b="1" dirty="0">
                <a:solidFill>
                  <a:srgbClr val="1F2229"/>
                </a:solidFill>
                <a:latin typeface="Cambria" pitchFamily="34" charset="0"/>
                <a:ea typeface="Cambria" pitchFamily="34" charset="-122"/>
                <a:cs typeface="Cambria" pitchFamily="34" charset="-120"/>
              </a:rPr>
              <a:t>The audit trail</a:t>
            </a:r>
            <a:endParaRPr lang="en-US" sz="1900" dirty="0"/>
          </a:p>
        </p:txBody>
      </p:sp>
      <p:sp>
        <p:nvSpPr>
          <p:cNvPr id="18" name="Text 14"/>
          <p:cNvSpPr/>
          <p:nvPr/>
        </p:nvSpPr>
        <p:spPr>
          <a:xfrm>
            <a:off x="6473952" y="2834640"/>
            <a:ext cx="4800600" cy="2743200"/>
          </a:xfrm>
          <a:prstGeom prst="rect">
            <a:avLst/>
          </a:prstGeom>
          <a:noFill/>
          <a:ln/>
        </p:spPr>
        <p:txBody>
          <a:bodyPr wrap="square" lIns="0" tIns="0" rIns="0" bIns="0" rtlCol="0" anchor="ctr"/>
          <a:lstStyle/>
          <a:p>
            <a:pPr marL="342900" indent="-342900">
              <a:spcAft>
                <a:spcPts val="800"/>
              </a:spcAft>
              <a:buSzPct val="100000"/>
              <a:buChar char="•"/>
            </a:pPr>
            <a:r>
              <a:rPr lang="en-US" sz="1150" dirty="0">
                <a:solidFill>
                  <a:srgbClr val="5C616E"/>
                </a:solidFill>
                <a:latin typeface="Calibri" pitchFamily="34" charset="0"/>
                <a:ea typeface="Calibri" pitchFamily="34" charset="-122"/>
                <a:cs typeface="Calibri" pitchFamily="34" charset="-120"/>
              </a:rPr>
              <a:t>Every action is written down as it happens — who, what, when, and the state before and after.</a:t>
            </a:r>
            <a:endParaRPr lang="en-US" sz="1150" dirty="0"/>
          </a:p>
          <a:p>
            <a:pPr marL="342900" indent="-342900">
              <a:spcAft>
                <a:spcPts val="800"/>
              </a:spcAft>
              <a:buSzPct val="100000"/>
              <a:buChar char="•"/>
            </a:pPr>
            <a:r>
              <a:rPr lang="en-US" sz="1150" dirty="0">
                <a:solidFill>
                  <a:srgbClr val="5C616E"/>
                </a:solidFill>
                <a:latin typeface="Calibri" pitchFamily="34" charset="0"/>
                <a:ea typeface="Calibri" pitchFamily="34" charset="-122"/>
                <a:cs typeface="Calibri" pitchFamily="34" charset="-120"/>
              </a:rPr>
              <a:t>Records are never deleted. Things are retired, not erased.</a:t>
            </a:r>
            <a:endParaRPr lang="en-US" sz="1150" dirty="0"/>
          </a:p>
          <a:p>
            <a:pPr marL="342900" indent="-342900">
              <a:spcAft>
                <a:spcPts val="800"/>
              </a:spcAft>
              <a:buSzPct val="100000"/>
              <a:buChar char="•"/>
            </a:pPr>
            <a:r>
              <a:rPr lang="en-US" sz="1150" dirty="0">
                <a:solidFill>
                  <a:srgbClr val="5C616E"/>
                </a:solidFill>
                <a:latin typeface="Calibri" pitchFamily="34" charset="0"/>
                <a:ea typeface="Calibri" pitchFamily="34" charset="-122"/>
                <a:cs typeface="Calibri" pitchFamily="34" charset="-120"/>
              </a:rPr>
              <a:t>The trail survives the person: deactivating an account never removes what they did.</a:t>
            </a:r>
            <a:endParaRPr lang="en-US" sz="1150" dirty="0"/>
          </a:p>
          <a:p>
            <a:pPr marL="342900" indent="-342900">
              <a:spcAft>
                <a:spcPts val="800"/>
              </a:spcAft>
              <a:buSzPct val="100000"/>
              <a:buChar char="•"/>
            </a:pPr>
            <a:r>
              <a:rPr lang="en-US" sz="1150" dirty="0">
                <a:solidFill>
                  <a:srgbClr val="5C616E"/>
                </a:solidFill>
                <a:latin typeface="Calibri" pitchFamily="34" charset="0"/>
                <a:ea typeface="Calibri" pitchFamily="34" charset="-122"/>
                <a:cs typeface="Calibri" pitchFamily="34" charset="-120"/>
              </a:rPr>
              <a:t>Approvals, payments and releases each carry the name of whoever performed them.</a:t>
            </a:r>
            <a:endParaRPr lang="en-US" sz="1150" dirty="0"/>
          </a:p>
        </p:txBody>
      </p:sp>
      <p:sp>
        <p:nvSpPr>
          <p:cNvPr id="19" name="Text 1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DAY 3 · HANDS-ON</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Your turn — a tenancy, and then anything you like</a:t>
            </a:r>
            <a:endParaRPr lang="en-US" sz="3200" dirty="0"/>
          </a:p>
        </p:txBody>
      </p:sp>
      <p:sp>
        <p:nvSpPr>
          <p:cNvPr id="4" name="Shape 2"/>
          <p:cNvSpPr/>
          <p:nvPr/>
        </p:nvSpPr>
        <p:spPr>
          <a:xfrm>
            <a:off x="640080" y="2103120"/>
            <a:ext cx="3566160" cy="3429000"/>
          </a:xfrm>
          <a:prstGeom prst="roundRect">
            <a:avLst>
              <a:gd name="adj" fmla="val 2133"/>
            </a:avLst>
          </a:prstGeom>
          <a:solidFill>
            <a:srgbClr val="FFFFFF"/>
          </a:solidFill>
          <a:ln w="12700">
            <a:solidFill>
              <a:srgbClr val="E8E2DA"/>
            </a:solidFill>
            <a:prstDash val="solid"/>
          </a:ln>
        </p:spPr>
      </p:sp>
      <p:sp>
        <p:nvSpPr>
          <p:cNvPr id="5" name="Shape 3"/>
          <p:cNvSpPr/>
          <p:nvPr/>
        </p:nvSpPr>
        <p:spPr>
          <a:xfrm>
            <a:off x="914400" y="2340864"/>
            <a:ext cx="420624" cy="420624"/>
          </a:xfrm>
          <a:prstGeom prst="ellipse">
            <a:avLst/>
          </a:prstGeom>
          <a:solidFill>
            <a:srgbClr val="D92323"/>
          </a:solidFill>
          <a:ln/>
        </p:spPr>
      </p:sp>
      <p:sp>
        <p:nvSpPr>
          <p:cNvPr id="6" name="Text 4"/>
          <p:cNvSpPr/>
          <p:nvPr/>
        </p:nvSpPr>
        <p:spPr>
          <a:xfrm>
            <a:off x="914400"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7" name="Text 5"/>
          <p:cNvSpPr/>
          <p:nvPr/>
        </p:nvSpPr>
        <p:spPr>
          <a:xfrm>
            <a:off x="1481328" y="234086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Create a tenancy</a:t>
            </a:r>
            <a:endParaRPr lang="en-US" sz="1650" dirty="0"/>
          </a:p>
        </p:txBody>
      </p:sp>
      <p:sp>
        <p:nvSpPr>
          <p:cNvPr id="8" name="Shape 6"/>
          <p:cNvSpPr/>
          <p:nvPr/>
        </p:nvSpPr>
        <p:spPr>
          <a:xfrm>
            <a:off x="914400" y="2926080"/>
            <a:ext cx="892454" cy="292608"/>
          </a:xfrm>
          <a:prstGeom prst="roundRect">
            <a:avLst>
              <a:gd name="adj" fmla="val 50000"/>
            </a:avLst>
          </a:prstGeom>
          <a:solidFill>
            <a:srgbClr val="FBE9E9"/>
          </a:solidFill>
          <a:ln/>
        </p:spPr>
      </p:sp>
      <p:sp>
        <p:nvSpPr>
          <p:cNvPr id="9" name="Text 7"/>
          <p:cNvSpPr/>
          <p:nvPr/>
        </p:nvSpPr>
        <p:spPr>
          <a:xfrm>
            <a:off x="914400" y="2926080"/>
            <a:ext cx="892454"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oea.pm@</a:t>
            </a:r>
            <a:endParaRPr lang="en-US" sz="900" dirty="0"/>
          </a:p>
        </p:txBody>
      </p:sp>
      <p:sp>
        <p:nvSpPr>
          <p:cNvPr id="10" name="Text 8"/>
          <p:cNvSpPr/>
          <p:nvPr/>
        </p:nvSpPr>
        <p:spPr>
          <a:xfrm>
            <a:off x="914400" y="3401568"/>
            <a:ext cx="3017520" cy="20116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Draft a lease against a vacant unit at Parkview Terraces.</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Set the rent and the escalation.</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Activate it, then raise the first demand.</a:t>
            </a:r>
            <a:endParaRPr lang="en-US" sz="1150" dirty="0"/>
          </a:p>
        </p:txBody>
      </p:sp>
      <p:sp>
        <p:nvSpPr>
          <p:cNvPr id="11" name="Shape 9"/>
          <p:cNvSpPr/>
          <p:nvPr/>
        </p:nvSpPr>
        <p:spPr>
          <a:xfrm>
            <a:off x="4352544" y="2103120"/>
            <a:ext cx="3566160" cy="3429000"/>
          </a:xfrm>
          <a:prstGeom prst="roundRect">
            <a:avLst>
              <a:gd name="adj" fmla="val 2133"/>
            </a:avLst>
          </a:prstGeom>
          <a:solidFill>
            <a:srgbClr val="FFFFFF"/>
          </a:solidFill>
          <a:ln w="12700">
            <a:solidFill>
              <a:srgbClr val="E8E2DA"/>
            </a:solidFill>
            <a:prstDash val="solid"/>
          </a:ln>
        </p:spPr>
      </p:sp>
      <p:sp>
        <p:nvSpPr>
          <p:cNvPr id="12" name="Shape 10"/>
          <p:cNvSpPr/>
          <p:nvPr/>
        </p:nvSpPr>
        <p:spPr>
          <a:xfrm>
            <a:off x="4626864" y="2340864"/>
            <a:ext cx="420624" cy="420624"/>
          </a:xfrm>
          <a:prstGeom prst="ellipse">
            <a:avLst/>
          </a:prstGeom>
          <a:solidFill>
            <a:srgbClr val="D92323"/>
          </a:solidFill>
          <a:ln/>
        </p:spPr>
      </p:sp>
      <p:sp>
        <p:nvSpPr>
          <p:cNvPr id="13" name="Text 11"/>
          <p:cNvSpPr/>
          <p:nvPr/>
        </p:nvSpPr>
        <p:spPr>
          <a:xfrm>
            <a:off x="4626864"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14" name="Text 12"/>
          <p:cNvSpPr/>
          <p:nvPr/>
        </p:nvSpPr>
        <p:spPr>
          <a:xfrm>
            <a:off x="5193792" y="234086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Follow the money</a:t>
            </a:r>
            <a:endParaRPr lang="en-US" sz="1650" dirty="0"/>
          </a:p>
        </p:txBody>
      </p:sp>
      <p:sp>
        <p:nvSpPr>
          <p:cNvPr id="15" name="Shape 13"/>
          <p:cNvSpPr/>
          <p:nvPr/>
        </p:nvSpPr>
        <p:spPr>
          <a:xfrm>
            <a:off x="4626864" y="2926080"/>
            <a:ext cx="2421331" cy="292608"/>
          </a:xfrm>
          <a:prstGeom prst="roundRect">
            <a:avLst>
              <a:gd name="adj" fmla="val 50000"/>
            </a:avLst>
          </a:prstGeom>
          <a:solidFill>
            <a:srgbClr val="FBE9E9"/>
          </a:solidFill>
          <a:ln/>
        </p:spPr>
      </p:sp>
      <p:sp>
        <p:nvSpPr>
          <p:cNvPr id="16" name="Text 14"/>
          <p:cNvSpPr/>
          <p:nvPr/>
        </p:nvSpPr>
        <p:spPr>
          <a:xfrm>
            <a:off x="4626864" y="2926080"/>
            <a:ext cx="2421331"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oea.tenant@ · oea.finance@</a:t>
            </a:r>
            <a:endParaRPr lang="en-US" sz="900" dirty="0"/>
          </a:p>
        </p:txBody>
      </p:sp>
      <p:sp>
        <p:nvSpPr>
          <p:cNvPr id="17" name="Text 15"/>
          <p:cNvSpPr/>
          <p:nvPr/>
        </p:nvSpPr>
        <p:spPr>
          <a:xfrm>
            <a:off x="4626864" y="3401568"/>
            <a:ext cx="3017520" cy="20116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Pay the demand as the tenant.</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As Finance, find the split — fees taken, landlord's net.</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Check the fee matches what the demand froze.</a:t>
            </a:r>
            <a:endParaRPr lang="en-US" sz="1150" dirty="0"/>
          </a:p>
        </p:txBody>
      </p:sp>
      <p:sp>
        <p:nvSpPr>
          <p:cNvPr id="18" name="Shape 16"/>
          <p:cNvSpPr/>
          <p:nvPr/>
        </p:nvSpPr>
        <p:spPr>
          <a:xfrm>
            <a:off x="8065008" y="2103120"/>
            <a:ext cx="3566160" cy="3429000"/>
          </a:xfrm>
          <a:prstGeom prst="roundRect">
            <a:avLst>
              <a:gd name="adj" fmla="val 2133"/>
            </a:avLst>
          </a:prstGeom>
          <a:solidFill>
            <a:srgbClr val="FFFFFF"/>
          </a:solidFill>
          <a:ln w="12700">
            <a:solidFill>
              <a:srgbClr val="E8E2DA"/>
            </a:solidFill>
            <a:prstDash val="solid"/>
          </a:ln>
        </p:spPr>
      </p:sp>
      <p:sp>
        <p:nvSpPr>
          <p:cNvPr id="19" name="Shape 17"/>
          <p:cNvSpPr/>
          <p:nvPr/>
        </p:nvSpPr>
        <p:spPr>
          <a:xfrm>
            <a:off x="8339328" y="2340864"/>
            <a:ext cx="420624" cy="420624"/>
          </a:xfrm>
          <a:prstGeom prst="ellipse">
            <a:avLst/>
          </a:prstGeom>
          <a:solidFill>
            <a:srgbClr val="D92323"/>
          </a:solidFill>
          <a:ln/>
        </p:spPr>
      </p:sp>
      <p:sp>
        <p:nvSpPr>
          <p:cNvPr id="20" name="Text 18"/>
          <p:cNvSpPr/>
          <p:nvPr/>
        </p:nvSpPr>
        <p:spPr>
          <a:xfrm>
            <a:off x="8339328" y="234086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21" name="Text 19"/>
          <p:cNvSpPr/>
          <p:nvPr/>
        </p:nvSpPr>
        <p:spPr>
          <a:xfrm>
            <a:off x="8906256" y="2340864"/>
            <a:ext cx="2560320" cy="420624"/>
          </a:xfrm>
          <a:prstGeom prst="rect">
            <a:avLst/>
          </a:prstGeom>
          <a:noFill/>
          <a:ln/>
        </p:spPr>
        <p:txBody>
          <a:bodyPr wrap="square" lIns="0" tIns="0" rIns="0" bIns="0" rtlCol="0" anchor="ctr"/>
          <a:lstStyle/>
          <a:p>
            <a:pPr marL="0" indent="0">
              <a:buNone/>
            </a:pPr>
            <a:r>
              <a:rPr lang="en-US" sz="1650" b="1" dirty="0">
                <a:solidFill>
                  <a:srgbClr val="1F2229"/>
                </a:solidFill>
                <a:latin typeface="Cambria" pitchFamily="34" charset="0"/>
                <a:ea typeface="Cambria" pitchFamily="34" charset="-122"/>
                <a:cs typeface="Cambria" pitchFamily="34" charset="-120"/>
              </a:rPr>
              <a:t>See it as the landlord</a:t>
            </a:r>
            <a:endParaRPr lang="en-US" sz="1650" dirty="0"/>
          </a:p>
        </p:txBody>
      </p:sp>
      <p:sp>
        <p:nvSpPr>
          <p:cNvPr id="22" name="Shape 20"/>
          <p:cNvSpPr/>
          <p:nvPr/>
        </p:nvSpPr>
        <p:spPr>
          <a:xfrm>
            <a:off x="8339328" y="2926080"/>
            <a:ext cx="1133856" cy="292608"/>
          </a:xfrm>
          <a:prstGeom prst="roundRect">
            <a:avLst>
              <a:gd name="adj" fmla="val 50000"/>
            </a:avLst>
          </a:prstGeom>
          <a:solidFill>
            <a:srgbClr val="FBE9E9"/>
          </a:solidFill>
          <a:ln/>
        </p:spPr>
      </p:sp>
      <p:sp>
        <p:nvSpPr>
          <p:cNvPr id="23" name="Text 21"/>
          <p:cNvSpPr/>
          <p:nvPr/>
        </p:nvSpPr>
        <p:spPr>
          <a:xfrm>
            <a:off x="8339328" y="2926080"/>
            <a:ext cx="1133856" cy="292608"/>
          </a:xfrm>
          <a:prstGeom prst="rect">
            <a:avLst/>
          </a:prstGeom>
          <a:noFill/>
          <a:ln/>
        </p:spPr>
        <p:txBody>
          <a:bodyPr wrap="square" lIns="0" tIns="0" rIns="0" bIns="0" rtlCol="0" anchor="ctr"/>
          <a:lstStyle/>
          <a:p>
            <a:pPr marL="0" indent="0" algn="ctr">
              <a:buNone/>
            </a:pPr>
            <a:r>
              <a:rPr lang="en-US" sz="900" b="1" dirty="0">
                <a:solidFill>
                  <a:srgbClr val="A81A1A"/>
                </a:solidFill>
                <a:latin typeface="Calibri" pitchFamily="34" charset="0"/>
                <a:ea typeface="Calibri" pitchFamily="34" charset="-122"/>
                <a:cs typeface="Calibri" pitchFamily="34" charset="-120"/>
              </a:rPr>
              <a:t>oea.owner@</a:t>
            </a:r>
            <a:endParaRPr lang="en-US" sz="900" dirty="0"/>
          </a:p>
        </p:txBody>
      </p:sp>
      <p:sp>
        <p:nvSpPr>
          <p:cNvPr id="24" name="Text 22"/>
          <p:cNvSpPr/>
          <p:nvPr/>
        </p:nvSpPr>
        <p:spPr>
          <a:xfrm>
            <a:off x="8339328" y="3401568"/>
            <a:ext cx="3017520" cy="2011680"/>
          </a:xfrm>
          <a:prstGeom prst="rect">
            <a:avLst/>
          </a:prstGeom>
          <a:noFill/>
          <a:ln/>
        </p:spPr>
        <p:txBody>
          <a:bodyPr wrap="square" lIns="0" tIns="0" rIns="0" bIns="0" rtlCol="0" anchor="ctr"/>
          <a:lstStyle/>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Open your portfolio and your statement.</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Confirm you can see your money.</a:t>
            </a:r>
            <a:endParaRPr lang="en-US" sz="1150" dirty="0"/>
          </a:p>
          <a:p>
            <a:pPr marL="342900" indent="-342900">
              <a:spcAft>
                <a:spcPts val="600"/>
              </a:spcAft>
              <a:buSzPct val="100000"/>
              <a:buChar char="•"/>
            </a:pPr>
            <a:r>
              <a:rPr lang="en-US" sz="1150" dirty="0">
                <a:solidFill>
                  <a:srgbClr val="5C616E"/>
                </a:solidFill>
                <a:latin typeface="Calibri" pitchFamily="34" charset="0"/>
                <a:ea typeface="Calibri" pitchFamily="34" charset="-122"/>
                <a:cs typeface="Calibri" pitchFamily="34" charset="-120"/>
              </a:rPr>
              <a:t>Confirm you cannot see other tenants' complaints.</a:t>
            </a:r>
            <a:endParaRPr lang="en-US" sz="1150" dirty="0"/>
          </a:p>
        </p:txBody>
      </p:sp>
      <p:sp>
        <p:nvSpPr>
          <p:cNvPr id="25" name="Shape 23"/>
          <p:cNvSpPr/>
          <p:nvPr/>
        </p:nvSpPr>
        <p:spPr>
          <a:xfrm>
            <a:off x="640080" y="5669280"/>
            <a:ext cx="10908792" cy="713232"/>
          </a:xfrm>
          <a:prstGeom prst="roundRect">
            <a:avLst>
              <a:gd name="adj" fmla="val 10256"/>
            </a:avLst>
          </a:prstGeom>
          <a:solidFill>
            <a:srgbClr val="FFFFFF"/>
          </a:solidFill>
          <a:ln w="12700">
            <a:solidFill>
              <a:srgbClr val="E8E2DA"/>
            </a:solidFill>
            <a:prstDash val="solid"/>
          </a:ln>
        </p:spPr>
      </p:sp>
      <p:sp>
        <p:nvSpPr>
          <p:cNvPr id="26" name="Text 24"/>
          <p:cNvSpPr/>
          <p:nvPr/>
        </p:nvSpPr>
        <p:spPr>
          <a:xfrm>
            <a:off x="914400" y="5669280"/>
            <a:ext cx="10332720" cy="713232"/>
          </a:xfrm>
          <a:prstGeom prst="rect">
            <a:avLst/>
          </a:prstGeom>
          <a:noFill/>
          <a:ln/>
        </p:spPr>
        <p:txBody>
          <a:bodyPr wrap="square" lIns="0" tIns="0" rIns="0" bIns="0" rtlCol="0" anchor="ctr"/>
          <a:lstStyle/>
          <a:p>
            <a:pPr marL="0" indent="0">
              <a:buNone/>
            </a:pPr>
            <a:r>
              <a:rPr lang="en-US" sz="1200" b="1" dirty="0">
                <a:solidFill>
                  <a:srgbClr val="1F2229"/>
                </a:solidFill>
                <a:latin typeface="Calibri" pitchFamily="34" charset="0"/>
                <a:ea typeface="Calibri" pitchFamily="34" charset="-122"/>
                <a:cs typeface="Calibri" pitchFamily="34" charset="-120"/>
              </a:rPr>
              <a:t>Then: open testing. </a:t>
            </a:r>
            <a:r>
              <a:rPr lang="en-US" sz="1200" dirty="0">
                <a:solidFill>
                  <a:srgbClr val="1F2229"/>
                </a:solidFill>
                <a:latin typeface="Calibri" pitchFamily="34" charset="0"/>
                <a:ea typeface="Calibri" pitchFamily="34" charset="-122"/>
                <a:cs typeface="Calibri" pitchFamily="34" charset="-120"/>
              </a:rPr>
              <a:t>Pick the screens you will actually live in and use them as if it were a normal Tuesday. That is where the useful findings come from.</a:t>
            </a:r>
            <a:endParaRPr lang="en-US" sz="1200" dirty="0"/>
          </a:p>
        </p:txBody>
      </p:sp>
      <p:sp>
        <p:nvSpPr>
          <p:cNvPr id="27" name="Text 2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THROUGHOUT</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How to report what you find</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A finding we can reproduce is worth ten we cannot.</a:t>
            </a:r>
            <a:endParaRPr lang="en-US" sz="1450" dirty="0"/>
          </a:p>
        </p:txBody>
      </p:sp>
      <p:sp>
        <p:nvSpPr>
          <p:cNvPr id="5" name="Shape 3"/>
          <p:cNvSpPr/>
          <p:nvPr/>
        </p:nvSpPr>
        <p:spPr>
          <a:xfrm>
            <a:off x="640080" y="2194560"/>
            <a:ext cx="3566160" cy="1280160"/>
          </a:xfrm>
          <a:prstGeom prst="roundRect">
            <a:avLst>
              <a:gd name="adj" fmla="val 5714"/>
            </a:avLst>
          </a:prstGeom>
          <a:solidFill>
            <a:srgbClr val="FBF7F2"/>
          </a:solidFill>
          <a:ln w="12700">
            <a:solidFill>
              <a:srgbClr val="E8E2DA"/>
            </a:solidFill>
            <a:prstDash val="solid"/>
          </a:ln>
        </p:spPr>
      </p:sp>
      <p:sp>
        <p:nvSpPr>
          <p:cNvPr id="6" name="Text 4"/>
          <p:cNvSpPr/>
          <p:nvPr/>
        </p:nvSpPr>
        <p:spPr>
          <a:xfrm>
            <a:off x="914400" y="235915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Who you were</a:t>
            </a:r>
            <a:endParaRPr lang="en-US" sz="1500" dirty="0"/>
          </a:p>
        </p:txBody>
      </p:sp>
      <p:sp>
        <p:nvSpPr>
          <p:cNvPr id="7" name="Text 5"/>
          <p:cNvSpPr/>
          <p:nvPr/>
        </p:nvSpPr>
        <p:spPr>
          <a:xfrm>
            <a:off x="914400" y="270662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The exact login — oea.pm@, not “as a manager”.</a:t>
            </a:r>
            <a:endParaRPr lang="en-US" sz="1100" dirty="0"/>
          </a:p>
        </p:txBody>
      </p:sp>
      <p:sp>
        <p:nvSpPr>
          <p:cNvPr id="8" name="Shape 6"/>
          <p:cNvSpPr/>
          <p:nvPr/>
        </p:nvSpPr>
        <p:spPr>
          <a:xfrm>
            <a:off x="4352544" y="2194560"/>
            <a:ext cx="3566160" cy="1280160"/>
          </a:xfrm>
          <a:prstGeom prst="roundRect">
            <a:avLst>
              <a:gd name="adj" fmla="val 5714"/>
            </a:avLst>
          </a:prstGeom>
          <a:solidFill>
            <a:srgbClr val="FBF7F2"/>
          </a:solidFill>
          <a:ln w="12700">
            <a:solidFill>
              <a:srgbClr val="E8E2DA"/>
            </a:solidFill>
            <a:prstDash val="solid"/>
          </a:ln>
        </p:spPr>
      </p:sp>
      <p:sp>
        <p:nvSpPr>
          <p:cNvPr id="9" name="Text 7"/>
          <p:cNvSpPr/>
          <p:nvPr/>
        </p:nvSpPr>
        <p:spPr>
          <a:xfrm>
            <a:off x="4626864" y="235915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What you did</a:t>
            </a:r>
            <a:endParaRPr lang="en-US" sz="1500" dirty="0"/>
          </a:p>
        </p:txBody>
      </p:sp>
      <p:sp>
        <p:nvSpPr>
          <p:cNvPr id="10" name="Text 8"/>
          <p:cNvSpPr/>
          <p:nvPr/>
        </p:nvSpPr>
        <p:spPr>
          <a:xfrm>
            <a:off x="4626864" y="270662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The steps, in order, from signing in.</a:t>
            </a:r>
            <a:endParaRPr lang="en-US" sz="1100" dirty="0"/>
          </a:p>
        </p:txBody>
      </p:sp>
      <p:sp>
        <p:nvSpPr>
          <p:cNvPr id="11" name="Shape 9"/>
          <p:cNvSpPr/>
          <p:nvPr/>
        </p:nvSpPr>
        <p:spPr>
          <a:xfrm>
            <a:off x="8065008" y="2194560"/>
            <a:ext cx="3566160" cy="1280160"/>
          </a:xfrm>
          <a:prstGeom prst="roundRect">
            <a:avLst>
              <a:gd name="adj" fmla="val 5714"/>
            </a:avLst>
          </a:prstGeom>
          <a:solidFill>
            <a:srgbClr val="FBF7F2"/>
          </a:solidFill>
          <a:ln w="12700">
            <a:solidFill>
              <a:srgbClr val="E8E2DA"/>
            </a:solidFill>
            <a:prstDash val="solid"/>
          </a:ln>
        </p:spPr>
      </p:sp>
      <p:sp>
        <p:nvSpPr>
          <p:cNvPr id="12" name="Text 10"/>
          <p:cNvSpPr/>
          <p:nvPr/>
        </p:nvSpPr>
        <p:spPr>
          <a:xfrm>
            <a:off x="8339328" y="235915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What you expected</a:t>
            </a:r>
            <a:endParaRPr lang="en-US" sz="1500" dirty="0"/>
          </a:p>
        </p:txBody>
      </p:sp>
      <p:sp>
        <p:nvSpPr>
          <p:cNvPr id="13" name="Text 11"/>
          <p:cNvSpPr/>
          <p:nvPr/>
        </p:nvSpPr>
        <p:spPr>
          <a:xfrm>
            <a:off x="8339328" y="270662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In your own words.</a:t>
            </a:r>
            <a:endParaRPr lang="en-US" sz="1100" dirty="0"/>
          </a:p>
        </p:txBody>
      </p:sp>
      <p:sp>
        <p:nvSpPr>
          <p:cNvPr id="14" name="Shape 12"/>
          <p:cNvSpPr/>
          <p:nvPr/>
        </p:nvSpPr>
        <p:spPr>
          <a:xfrm>
            <a:off x="640080" y="3657600"/>
            <a:ext cx="3566160" cy="1280160"/>
          </a:xfrm>
          <a:prstGeom prst="roundRect">
            <a:avLst>
              <a:gd name="adj" fmla="val 5714"/>
            </a:avLst>
          </a:prstGeom>
          <a:solidFill>
            <a:srgbClr val="FBF7F2"/>
          </a:solidFill>
          <a:ln w="12700">
            <a:solidFill>
              <a:srgbClr val="E8E2DA"/>
            </a:solidFill>
            <a:prstDash val="solid"/>
          </a:ln>
        </p:spPr>
      </p:sp>
      <p:sp>
        <p:nvSpPr>
          <p:cNvPr id="15" name="Text 13"/>
          <p:cNvSpPr/>
          <p:nvPr/>
        </p:nvSpPr>
        <p:spPr>
          <a:xfrm>
            <a:off x="914400" y="382219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What happened</a:t>
            </a:r>
            <a:endParaRPr lang="en-US" sz="1500" dirty="0"/>
          </a:p>
        </p:txBody>
      </p:sp>
      <p:sp>
        <p:nvSpPr>
          <p:cNvPr id="16" name="Text 14"/>
          <p:cNvSpPr/>
          <p:nvPr/>
        </p:nvSpPr>
        <p:spPr>
          <a:xfrm>
            <a:off x="914400" y="416966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Including the exact wording of any message.</a:t>
            </a:r>
            <a:endParaRPr lang="en-US" sz="1100" dirty="0"/>
          </a:p>
        </p:txBody>
      </p:sp>
      <p:sp>
        <p:nvSpPr>
          <p:cNvPr id="17" name="Shape 15"/>
          <p:cNvSpPr/>
          <p:nvPr/>
        </p:nvSpPr>
        <p:spPr>
          <a:xfrm>
            <a:off x="4352544" y="3657600"/>
            <a:ext cx="3566160" cy="1280160"/>
          </a:xfrm>
          <a:prstGeom prst="roundRect">
            <a:avLst>
              <a:gd name="adj" fmla="val 5714"/>
            </a:avLst>
          </a:prstGeom>
          <a:solidFill>
            <a:srgbClr val="FBF7F2"/>
          </a:solidFill>
          <a:ln w="12700">
            <a:solidFill>
              <a:srgbClr val="E8E2DA"/>
            </a:solidFill>
            <a:prstDash val="solid"/>
          </a:ln>
        </p:spPr>
      </p:sp>
      <p:sp>
        <p:nvSpPr>
          <p:cNvPr id="18" name="Text 16"/>
          <p:cNvSpPr/>
          <p:nvPr/>
        </p:nvSpPr>
        <p:spPr>
          <a:xfrm>
            <a:off x="4626864" y="382219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The reference</a:t>
            </a:r>
            <a:endParaRPr lang="en-US" sz="1500" dirty="0"/>
          </a:p>
        </p:txBody>
      </p:sp>
      <p:sp>
        <p:nvSpPr>
          <p:cNvPr id="19" name="Text 17"/>
          <p:cNvSpPr/>
          <p:nvPr/>
        </p:nvSpPr>
        <p:spPr>
          <a:xfrm>
            <a:off x="4626864" y="416966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Request, requisition or lease number if there is one.</a:t>
            </a:r>
            <a:endParaRPr lang="en-US" sz="1100" dirty="0"/>
          </a:p>
        </p:txBody>
      </p:sp>
      <p:sp>
        <p:nvSpPr>
          <p:cNvPr id="20" name="Shape 18"/>
          <p:cNvSpPr/>
          <p:nvPr/>
        </p:nvSpPr>
        <p:spPr>
          <a:xfrm>
            <a:off x="8065008" y="3657600"/>
            <a:ext cx="3566160" cy="1280160"/>
          </a:xfrm>
          <a:prstGeom prst="roundRect">
            <a:avLst>
              <a:gd name="adj" fmla="val 5714"/>
            </a:avLst>
          </a:prstGeom>
          <a:solidFill>
            <a:srgbClr val="FBF7F2"/>
          </a:solidFill>
          <a:ln w="12700">
            <a:solidFill>
              <a:srgbClr val="E8E2DA"/>
            </a:solidFill>
            <a:prstDash val="solid"/>
          </a:ln>
        </p:spPr>
      </p:sp>
      <p:sp>
        <p:nvSpPr>
          <p:cNvPr id="21" name="Text 19"/>
          <p:cNvSpPr/>
          <p:nvPr/>
        </p:nvSpPr>
        <p:spPr>
          <a:xfrm>
            <a:off x="8339328" y="3822192"/>
            <a:ext cx="3017520" cy="329184"/>
          </a:xfrm>
          <a:prstGeom prst="rect">
            <a:avLst/>
          </a:prstGeom>
          <a:noFill/>
          <a:ln/>
        </p:spPr>
        <p:txBody>
          <a:bodyPr wrap="square" lIns="0" tIns="0" rIns="0" bIns="0" rtlCol="0" anchor="ctr"/>
          <a:lstStyle/>
          <a:p>
            <a:pPr marL="0" indent="0">
              <a:buNone/>
            </a:pPr>
            <a:r>
              <a:rPr lang="en-US" sz="1500" b="1" dirty="0">
                <a:solidFill>
                  <a:srgbClr val="1F2229"/>
                </a:solidFill>
                <a:latin typeface="Cambria" pitchFamily="34" charset="0"/>
                <a:ea typeface="Cambria" pitchFamily="34" charset="-122"/>
                <a:cs typeface="Cambria" pitchFamily="34" charset="-120"/>
              </a:rPr>
              <a:t>When</a:t>
            </a:r>
            <a:endParaRPr lang="en-US" sz="1500" dirty="0"/>
          </a:p>
        </p:txBody>
      </p:sp>
      <p:sp>
        <p:nvSpPr>
          <p:cNvPr id="22" name="Text 20"/>
          <p:cNvSpPr/>
          <p:nvPr/>
        </p:nvSpPr>
        <p:spPr>
          <a:xfrm>
            <a:off x="8339328" y="4169664"/>
            <a:ext cx="3017520" cy="640080"/>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Roughly the time — it lets us find it in the trail.</a:t>
            </a:r>
            <a:endParaRPr lang="en-US" sz="1100" dirty="0"/>
          </a:p>
        </p:txBody>
      </p:sp>
      <p:sp>
        <p:nvSpPr>
          <p:cNvPr id="23" name="Shape 21"/>
          <p:cNvSpPr/>
          <p:nvPr/>
        </p:nvSpPr>
        <p:spPr>
          <a:xfrm>
            <a:off x="640080" y="5257800"/>
            <a:ext cx="10908792" cy="960120"/>
          </a:xfrm>
          <a:prstGeom prst="roundRect">
            <a:avLst>
              <a:gd name="adj" fmla="val 7619"/>
            </a:avLst>
          </a:prstGeom>
          <a:solidFill>
            <a:srgbClr val="E6F3EB"/>
          </a:solidFill>
          <a:ln w="12700">
            <a:solidFill>
              <a:srgbClr val="CBE3D6"/>
            </a:solidFill>
            <a:prstDash val="solid"/>
          </a:ln>
        </p:spPr>
      </p:sp>
      <p:pic>
        <p:nvPicPr>
          <p:cNvPr id="24" name="Image 0" descr="preencoded.png"/>
          <p:cNvPicPr>
            <a:picLocks noChangeAspect="1"/>
          </p:cNvPicPr>
          <p:nvPr/>
        </p:nvPicPr>
        <p:blipFill>
          <a:blip r:embed="rId3"/>
          <a:stretch>
            <a:fillRect/>
          </a:stretch>
        </p:blipFill>
        <p:spPr>
          <a:xfrm>
            <a:off x="914400" y="5532120"/>
            <a:ext cx="256032" cy="256032"/>
          </a:xfrm>
          <a:prstGeom prst="rect">
            <a:avLst/>
          </a:prstGeom>
        </p:spPr>
      </p:pic>
      <p:sp>
        <p:nvSpPr>
          <p:cNvPr id="25" name="Text 22"/>
          <p:cNvSpPr/>
          <p:nvPr/>
        </p:nvSpPr>
        <p:spPr>
          <a:xfrm>
            <a:off x="1298448" y="5257800"/>
            <a:ext cx="10012680" cy="960120"/>
          </a:xfrm>
          <a:prstGeom prst="rect">
            <a:avLst/>
          </a:prstGeom>
          <a:noFill/>
          <a:ln/>
        </p:spPr>
        <p:txBody>
          <a:bodyPr wrap="square" lIns="0" tIns="0" rIns="0" bIns="0" rtlCol="0" anchor="ctr"/>
          <a:lstStyle/>
          <a:p>
            <a:pPr marL="0" indent="0">
              <a:buNone/>
            </a:pPr>
            <a:r>
              <a:rPr lang="en-US" sz="1250" dirty="0">
                <a:solidFill>
                  <a:srgbClr val="1F2229"/>
                </a:solidFill>
                <a:latin typeface="Calibri" pitchFamily="34" charset="0"/>
                <a:ea typeface="Calibri" pitchFamily="34" charset="-122"/>
                <a:cs typeface="Calibri" pitchFamily="34" charset="-120"/>
              </a:rPr>
              <a:t>“It refused me” is not automatically a defect — but it is always worth reporting. Half of them are controls working, and the other half are the ones we want.</a:t>
            </a:r>
            <a:endParaRPr lang="en-US" sz="1250" dirty="0"/>
          </a:p>
        </p:txBody>
      </p:sp>
      <p:sp>
        <p:nvSpPr>
          <p:cNvPr id="26" name="Text 23"/>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BF7F2"/>
        </a:solidFill>
        <a:effectLst/>
      </p:bgPr>
    </p:bg>
    <p:spTree>
      <p:nvGrpSpPr>
        <p:cNvPr id="1" name=""/>
        <p:cNvGrpSpPr/>
        <p:nvPr/>
      </p:nvGrpSpPr>
      <p:grpSpPr>
        <a:xfrm>
          <a:off x="0" y="0"/>
          <a:ext cx="0" cy="0"/>
          <a:chOff x="0" y="0"/>
          <a:chExt cx="0" cy="0"/>
        </a:xfrm>
      </p:grpSpPr>
      <p:sp>
        <p:nvSpPr>
          <p:cNvPr id="2" name="Text 0"/>
          <p:cNvSpPr/>
          <p:nvPr/>
        </p:nvSpPr>
        <p:spPr>
          <a:xfrm>
            <a:off x="640080" y="457200"/>
            <a:ext cx="10515600" cy="292608"/>
          </a:xfrm>
          <a:prstGeom prst="rect">
            <a:avLst/>
          </a:prstGeom>
          <a:noFill/>
          <a:ln/>
        </p:spPr>
        <p:txBody>
          <a:bodyPr wrap="square" lIns="0" tIns="0" rIns="0" bIns="0" rtlCol="0" anchor="ctr"/>
          <a:lstStyle/>
          <a:p>
            <a:pPr marL="0" indent="0">
              <a:buNone/>
            </a:pPr>
            <a:r>
              <a:rPr lang="en-US" sz="1150" b="1" kern="0" spc="200" dirty="0">
                <a:solidFill>
                  <a:srgbClr val="A81A1A"/>
                </a:solidFill>
                <a:latin typeface="Calibri" pitchFamily="34" charset="0"/>
                <a:ea typeface="Calibri" pitchFamily="34" charset="-122"/>
                <a:cs typeface="Calibri" pitchFamily="34" charset="-120"/>
              </a:rPr>
              <a:t>BEFORE YOU ASK</a:t>
            </a:r>
            <a:endParaRPr lang="en-US" sz="1150" dirty="0"/>
          </a:p>
        </p:txBody>
      </p:sp>
      <p:sp>
        <p:nvSpPr>
          <p:cNvPr id="3" name="Text 1"/>
          <p:cNvSpPr/>
          <p:nvPr/>
        </p:nvSpPr>
        <p:spPr>
          <a:xfrm>
            <a:off x="640080" y="804672"/>
            <a:ext cx="10881360" cy="731520"/>
          </a:xfrm>
          <a:prstGeom prst="rect">
            <a:avLst/>
          </a:prstGeom>
          <a:noFill/>
          <a:ln/>
        </p:spPr>
        <p:txBody>
          <a:bodyPr wrap="square" lIns="0" tIns="0" rIns="0" bIns="0" rtlCol="0" anchor="ctr"/>
          <a:lstStyle/>
          <a:p>
            <a:pPr marL="0" indent="0" algn="l">
              <a:buNone/>
            </a:pPr>
            <a:r>
              <a:rPr lang="en-US" sz="3200" b="1" dirty="0">
                <a:solidFill>
                  <a:srgbClr val="1F2229"/>
                </a:solidFill>
                <a:latin typeface="Cambria" pitchFamily="34" charset="0"/>
                <a:ea typeface="Cambria" pitchFamily="34" charset="-122"/>
                <a:cs typeface="Cambria" pitchFamily="34" charset="-120"/>
              </a:rPr>
              <a:t>Known gaps — please do not log these</a:t>
            </a:r>
            <a:endParaRPr lang="en-US" sz="3200" dirty="0"/>
          </a:p>
        </p:txBody>
      </p:sp>
      <p:sp>
        <p:nvSpPr>
          <p:cNvPr id="4" name="Text 2"/>
          <p:cNvSpPr/>
          <p:nvPr/>
        </p:nvSpPr>
        <p:spPr>
          <a:xfrm>
            <a:off x="640080" y="1536192"/>
            <a:ext cx="10332720" cy="457200"/>
          </a:xfrm>
          <a:prstGeom prst="rect">
            <a:avLst/>
          </a:prstGeom>
          <a:noFill/>
          <a:ln/>
        </p:spPr>
        <p:txBody>
          <a:bodyPr wrap="square" lIns="0" tIns="0" rIns="0" bIns="0" rtlCol="0" anchor="ctr"/>
          <a:lstStyle/>
          <a:p>
            <a:pPr marL="0" indent="0">
              <a:buNone/>
            </a:pPr>
            <a:r>
              <a:rPr lang="en-US" sz="1450" dirty="0">
                <a:solidFill>
                  <a:srgbClr val="5C616E"/>
                </a:solidFill>
                <a:latin typeface="Calibri" pitchFamily="34" charset="0"/>
                <a:ea typeface="Calibri" pitchFamily="34" charset="-122"/>
                <a:cs typeface="Calibri" pitchFamily="34" charset="-120"/>
              </a:rPr>
              <a:t>These are already tracked. Anything not on this list, we want to hear about.</a:t>
            </a:r>
            <a:endParaRPr lang="en-US" sz="1450" dirty="0"/>
          </a:p>
        </p:txBody>
      </p:sp>
      <p:sp>
        <p:nvSpPr>
          <p:cNvPr id="5" name="Shape 3"/>
          <p:cNvSpPr/>
          <p:nvPr/>
        </p:nvSpPr>
        <p:spPr>
          <a:xfrm>
            <a:off x="640080" y="2286000"/>
            <a:ext cx="10908792" cy="868680"/>
          </a:xfrm>
          <a:prstGeom prst="roundRect">
            <a:avLst>
              <a:gd name="adj" fmla="val 8421"/>
            </a:avLst>
          </a:prstGeom>
          <a:solidFill>
            <a:srgbClr val="FFFFFF"/>
          </a:solidFill>
          <a:ln w="12700">
            <a:solidFill>
              <a:srgbClr val="E8E2DA"/>
            </a:solidFill>
            <a:prstDash val="solid"/>
          </a:ln>
        </p:spPr>
      </p:sp>
      <p:pic>
        <p:nvPicPr>
          <p:cNvPr id="6" name="Image 0" descr="preencoded.png"/>
          <p:cNvPicPr>
            <a:picLocks noChangeAspect="1"/>
          </p:cNvPicPr>
          <p:nvPr/>
        </p:nvPicPr>
        <p:blipFill>
          <a:blip r:embed="rId3"/>
          <a:stretch>
            <a:fillRect/>
          </a:stretch>
        </p:blipFill>
        <p:spPr>
          <a:xfrm>
            <a:off x="914400" y="2578608"/>
            <a:ext cx="274320" cy="274320"/>
          </a:xfrm>
          <a:prstGeom prst="rect">
            <a:avLst/>
          </a:prstGeom>
        </p:spPr>
      </p:pic>
      <p:sp>
        <p:nvSpPr>
          <p:cNvPr id="7" name="Text 4"/>
          <p:cNvSpPr/>
          <p:nvPr/>
        </p:nvSpPr>
        <p:spPr>
          <a:xfrm>
            <a:off x="1325880" y="2404872"/>
            <a:ext cx="4206240" cy="347472"/>
          </a:xfrm>
          <a:prstGeom prst="rect">
            <a:avLst/>
          </a:prstGeom>
          <a:noFill/>
          <a:ln/>
        </p:spPr>
        <p:txBody>
          <a:bodyPr wrap="square" lIns="0" tIns="0" rIns="0" bIns="0" rtlCol="0" anchor="ctr"/>
          <a:lstStyle/>
          <a:p>
            <a:pPr marL="0" indent="0">
              <a:buNone/>
            </a:pPr>
            <a:r>
              <a:rPr lang="en-US" sz="1300" b="1" dirty="0">
                <a:solidFill>
                  <a:srgbClr val="1F2229"/>
                </a:solidFill>
                <a:latin typeface="Calibri" pitchFamily="34" charset="0"/>
                <a:ea typeface="Calibri" pitchFamily="34" charset="-122"/>
                <a:cs typeface="Calibri" pitchFamily="34" charset="-120"/>
              </a:rPr>
              <a:t>This is the rehearsal environment</a:t>
            </a:r>
            <a:endParaRPr lang="en-US" sz="1300" dirty="0"/>
          </a:p>
        </p:txBody>
      </p:sp>
      <p:sp>
        <p:nvSpPr>
          <p:cNvPr id="8" name="Text 5"/>
          <p:cNvSpPr/>
          <p:nvPr/>
        </p:nvSpPr>
        <p:spPr>
          <a:xfrm>
            <a:off x="1325880" y="2743200"/>
            <a:ext cx="996696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A separate production environment has not been provisioned yet. That is deliberate and sequenced for go-live.</a:t>
            </a:r>
            <a:endParaRPr lang="en-US" sz="1100" dirty="0"/>
          </a:p>
        </p:txBody>
      </p:sp>
      <p:sp>
        <p:nvSpPr>
          <p:cNvPr id="9" name="Shape 6"/>
          <p:cNvSpPr/>
          <p:nvPr/>
        </p:nvSpPr>
        <p:spPr>
          <a:xfrm>
            <a:off x="640080" y="3246120"/>
            <a:ext cx="10908792" cy="868680"/>
          </a:xfrm>
          <a:prstGeom prst="roundRect">
            <a:avLst>
              <a:gd name="adj" fmla="val 8421"/>
            </a:avLst>
          </a:prstGeom>
          <a:solidFill>
            <a:srgbClr val="FFFFFF"/>
          </a:solidFill>
          <a:ln w="12700">
            <a:solidFill>
              <a:srgbClr val="E8E2DA"/>
            </a:solidFill>
            <a:prstDash val="solid"/>
          </a:ln>
        </p:spPr>
      </p:sp>
      <p:pic>
        <p:nvPicPr>
          <p:cNvPr id="10" name="Image 1" descr="preencoded.png"/>
          <p:cNvPicPr>
            <a:picLocks noChangeAspect="1"/>
          </p:cNvPicPr>
          <p:nvPr/>
        </p:nvPicPr>
        <p:blipFill>
          <a:blip r:embed="rId3"/>
          <a:stretch>
            <a:fillRect/>
          </a:stretch>
        </p:blipFill>
        <p:spPr>
          <a:xfrm>
            <a:off x="914400" y="3538728"/>
            <a:ext cx="274320" cy="274320"/>
          </a:xfrm>
          <a:prstGeom prst="rect">
            <a:avLst/>
          </a:prstGeom>
        </p:spPr>
      </p:pic>
      <p:sp>
        <p:nvSpPr>
          <p:cNvPr id="11" name="Text 7"/>
          <p:cNvSpPr/>
          <p:nvPr/>
        </p:nvSpPr>
        <p:spPr>
          <a:xfrm>
            <a:off x="1325880" y="3364992"/>
            <a:ext cx="4206240" cy="347472"/>
          </a:xfrm>
          <a:prstGeom prst="rect">
            <a:avLst/>
          </a:prstGeom>
          <a:noFill/>
          <a:ln/>
        </p:spPr>
        <p:txBody>
          <a:bodyPr wrap="square" lIns="0" tIns="0" rIns="0" bIns="0" rtlCol="0" anchor="ctr"/>
          <a:lstStyle/>
          <a:p>
            <a:pPr marL="0" indent="0">
              <a:buNone/>
            </a:pPr>
            <a:r>
              <a:rPr lang="en-US" sz="1300" b="1" dirty="0">
                <a:solidFill>
                  <a:srgbClr val="1F2229"/>
                </a:solidFill>
                <a:latin typeface="Calibri" pitchFamily="34" charset="0"/>
                <a:ea typeface="Calibri" pitchFamily="34" charset="-122"/>
                <a:cs typeface="Calibri" pitchFamily="34" charset="-120"/>
              </a:rPr>
              <a:t>Payments run in test mode</a:t>
            </a:r>
            <a:endParaRPr lang="en-US" sz="1300" dirty="0"/>
          </a:p>
        </p:txBody>
      </p:sp>
      <p:sp>
        <p:nvSpPr>
          <p:cNvPr id="12" name="Text 8"/>
          <p:cNvSpPr/>
          <p:nvPr/>
        </p:nvSpPr>
        <p:spPr>
          <a:xfrm>
            <a:off x="1325880" y="3703320"/>
            <a:ext cx="996696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Card payments show a test-mode banner. No money moves anywhere.</a:t>
            </a:r>
            <a:endParaRPr lang="en-US" sz="1100" dirty="0"/>
          </a:p>
        </p:txBody>
      </p:sp>
      <p:sp>
        <p:nvSpPr>
          <p:cNvPr id="13" name="Shape 9"/>
          <p:cNvSpPr/>
          <p:nvPr/>
        </p:nvSpPr>
        <p:spPr>
          <a:xfrm>
            <a:off x="640080" y="4206240"/>
            <a:ext cx="10908792" cy="868680"/>
          </a:xfrm>
          <a:prstGeom prst="roundRect">
            <a:avLst>
              <a:gd name="adj" fmla="val 8421"/>
            </a:avLst>
          </a:prstGeom>
          <a:solidFill>
            <a:srgbClr val="FFFFFF"/>
          </a:solidFill>
          <a:ln w="12700">
            <a:solidFill>
              <a:srgbClr val="E8E2DA"/>
            </a:solidFill>
            <a:prstDash val="solid"/>
          </a:ln>
        </p:spPr>
      </p:sp>
      <p:pic>
        <p:nvPicPr>
          <p:cNvPr id="14" name="Image 2" descr="preencoded.png"/>
          <p:cNvPicPr>
            <a:picLocks noChangeAspect="1"/>
          </p:cNvPicPr>
          <p:nvPr/>
        </p:nvPicPr>
        <p:blipFill>
          <a:blip r:embed="rId3"/>
          <a:stretch>
            <a:fillRect/>
          </a:stretch>
        </p:blipFill>
        <p:spPr>
          <a:xfrm>
            <a:off x="914400" y="4498848"/>
            <a:ext cx="274320" cy="274320"/>
          </a:xfrm>
          <a:prstGeom prst="rect">
            <a:avLst/>
          </a:prstGeom>
        </p:spPr>
      </p:pic>
      <p:sp>
        <p:nvSpPr>
          <p:cNvPr id="15" name="Text 10"/>
          <p:cNvSpPr/>
          <p:nvPr/>
        </p:nvSpPr>
        <p:spPr>
          <a:xfrm>
            <a:off x="1325880" y="4325112"/>
            <a:ext cx="4206240" cy="347472"/>
          </a:xfrm>
          <a:prstGeom prst="rect">
            <a:avLst/>
          </a:prstGeom>
          <a:noFill/>
          <a:ln/>
        </p:spPr>
        <p:txBody>
          <a:bodyPr wrap="square" lIns="0" tIns="0" rIns="0" bIns="0" rtlCol="0" anchor="ctr"/>
          <a:lstStyle/>
          <a:p>
            <a:pPr marL="0" indent="0">
              <a:buNone/>
            </a:pPr>
            <a:r>
              <a:rPr lang="en-US" sz="1300" b="1" dirty="0">
                <a:solidFill>
                  <a:srgbClr val="1F2229"/>
                </a:solidFill>
                <a:latin typeface="Calibri" pitchFamily="34" charset="0"/>
                <a:ea typeface="Calibri" pitchFamily="34" charset="-122"/>
                <a:cs typeface="Calibri" pitchFamily="34" charset="-120"/>
              </a:rPr>
              <a:t>Some channels are still being provisioned</a:t>
            </a:r>
            <a:endParaRPr lang="en-US" sz="1300" dirty="0"/>
          </a:p>
        </p:txBody>
      </p:sp>
      <p:sp>
        <p:nvSpPr>
          <p:cNvPr id="16" name="Text 11"/>
          <p:cNvSpPr/>
          <p:nvPr/>
        </p:nvSpPr>
        <p:spPr>
          <a:xfrm>
            <a:off x="1325880" y="4663440"/>
            <a:ext cx="996696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WhatsApp and Telegram routing works; a couple of account-level confirmations are outstanding.</a:t>
            </a:r>
            <a:endParaRPr lang="en-US" sz="1100" dirty="0"/>
          </a:p>
        </p:txBody>
      </p:sp>
      <p:sp>
        <p:nvSpPr>
          <p:cNvPr id="17" name="Shape 12"/>
          <p:cNvSpPr/>
          <p:nvPr/>
        </p:nvSpPr>
        <p:spPr>
          <a:xfrm>
            <a:off x="640080" y="5166360"/>
            <a:ext cx="10908792" cy="868680"/>
          </a:xfrm>
          <a:prstGeom prst="roundRect">
            <a:avLst>
              <a:gd name="adj" fmla="val 8421"/>
            </a:avLst>
          </a:prstGeom>
          <a:solidFill>
            <a:srgbClr val="FFFFFF"/>
          </a:solidFill>
          <a:ln w="12700">
            <a:solidFill>
              <a:srgbClr val="E8E2DA"/>
            </a:solidFill>
            <a:prstDash val="solid"/>
          </a:ln>
        </p:spPr>
      </p:sp>
      <p:pic>
        <p:nvPicPr>
          <p:cNvPr id="18" name="Image 3" descr="preencoded.png"/>
          <p:cNvPicPr>
            <a:picLocks noChangeAspect="1"/>
          </p:cNvPicPr>
          <p:nvPr/>
        </p:nvPicPr>
        <p:blipFill>
          <a:blip r:embed="rId3"/>
          <a:stretch>
            <a:fillRect/>
          </a:stretch>
        </p:blipFill>
        <p:spPr>
          <a:xfrm>
            <a:off x="914400" y="5458968"/>
            <a:ext cx="274320" cy="274320"/>
          </a:xfrm>
          <a:prstGeom prst="rect">
            <a:avLst/>
          </a:prstGeom>
        </p:spPr>
      </p:pic>
      <p:sp>
        <p:nvSpPr>
          <p:cNvPr id="19" name="Text 13"/>
          <p:cNvSpPr/>
          <p:nvPr/>
        </p:nvSpPr>
        <p:spPr>
          <a:xfrm>
            <a:off x="1325880" y="5285232"/>
            <a:ext cx="4206240" cy="347472"/>
          </a:xfrm>
          <a:prstGeom prst="rect">
            <a:avLst/>
          </a:prstGeom>
          <a:noFill/>
          <a:ln/>
        </p:spPr>
        <p:txBody>
          <a:bodyPr wrap="square" lIns="0" tIns="0" rIns="0" bIns="0" rtlCol="0" anchor="ctr"/>
          <a:lstStyle/>
          <a:p>
            <a:pPr marL="0" indent="0">
              <a:buNone/>
            </a:pPr>
            <a:r>
              <a:rPr lang="en-US" sz="1300" b="1" dirty="0">
                <a:solidFill>
                  <a:srgbClr val="1F2229"/>
                </a:solidFill>
                <a:latin typeface="Calibri" pitchFamily="34" charset="0"/>
                <a:ea typeface="Calibri" pitchFamily="34" charset="-122"/>
                <a:cs typeface="Calibri" pitchFamily="34" charset="-120"/>
              </a:rPr>
              <a:t>Email replies</a:t>
            </a:r>
            <a:endParaRPr lang="en-US" sz="1300" dirty="0"/>
          </a:p>
        </p:txBody>
      </p:sp>
      <p:sp>
        <p:nvSpPr>
          <p:cNvPr id="20" name="Text 14"/>
          <p:cNvSpPr/>
          <p:nvPr/>
        </p:nvSpPr>
        <p:spPr>
          <a:xfrm>
            <a:off x="1325880" y="5623560"/>
            <a:ext cx="9966960" cy="329184"/>
          </a:xfrm>
          <a:prstGeom prst="rect">
            <a:avLst/>
          </a:prstGeom>
          <a:noFill/>
          <a:ln/>
        </p:spPr>
        <p:txBody>
          <a:bodyPr wrap="square" lIns="0" tIns="0" rIns="0" bIns="0" rtlCol="0" anchor="ctr"/>
          <a:lstStyle/>
          <a:p>
            <a:pPr marL="0" indent="0">
              <a:buNone/>
            </a:pPr>
            <a:r>
              <a:rPr lang="en-US" sz="1100" dirty="0">
                <a:solidFill>
                  <a:srgbClr val="5C616E"/>
                </a:solidFill>
                <a:latin typeface="Calibri" pitchFamily="34" charset="0"/>
                <a:ea typeface="Calibri" pitchFamily="34" charset="-122"/>
                <a:cs typeface="Calibri" pitchFamily="34" charset="-120"/>
              </a:rPr>
              <a:t>Sending works. The reply-to inboxes for OEA are being set by an administrator this week.</a:t>
            </a:r>
            <a:endParaRPr lang="en-US" sz="1100" dirty="0"/>
          </a:p>
        </p:txBody>
      </p:sp>
      <p:sp>
        <p:nvSpPr>
          <p:cNvPr id="21" name="Text 15"/>
          <p:cNvSpPr/>
          <p:nvPr/>
        </p:nvSpPr>
        <p:spPr>
          <a:xfrm>
            <a:off x="11323015" y="6355080"/>
            <a:ext cx="548640" cy="320040"/>
          </a:xfrm>
          <a:prstGeom prst="rect">
            <a:avLst/>
          </a:prstGeom>
          <a:noFill/>
          <a:ln/>
        </p:spPr>
        <p:txBody>
          <a:bodyPr wrap="square" lIns="0" tIns="0" rIns="0" bIns="0" rtlCol="0" anchor="ctr"/>
          <a:lstStyle/>
          <a:p>
            <a:pPr marL="0" indent="0" algn="r">
              <a:buNone/>
            </a:pPr>
            <a:r>
              <a:rPr lang="en-US" sz="1000" dirty="0">
                <a:solidFill>
                  <a:srgbClr val="5C616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220"/>
        </a:solidFill>
        <a:effectLst/>
      </p:bgPr>
    </p:bg>
    <p:spTree>
      <p:nvGrpSpPr>
        <p:cNvPr id="1" name=""/>
        <p:cNvGrpSpPr/>
        <p:nvPr/>
      </p:nvGrpSpPr>
      <p:grpSpPr>
        <a:xfrm>
          <a:off x="0" y="0"/>
          <a:ext cx="0" cy="0"/>
          <a:chOff x="0" y="0"/>
          <a:chExt cx="0" cy="0"/>
        </a:xfrm>
      </p:grpSpPr>
      <p:sp>
        <p:nvSpPr>
          <p:cNvPr id="2" name="Shape 0"/>
          <p:cNvSpPr/>
          <p:nvPr/>
        </p:nvSpPr>
        <p:spPr>
          <a:xfrm>
            <a:off x="8869680" y="-2286000"/>
            <a:ext cx="6217920" cy="6217920"/>
          </a:xfrm>
          <a:prstGeom prst="ellipse">
            <a:avLst/>
          </a:prstGeom>
          <a:solidFill>
            <a:srgbClr val="1A1A2E">
              <a:alpha val="72000"/>
            </a:srgbClr>
          </a:solidFill>
          <a:ln/>
        </p:spPr>
      </p:sp>
      <p:sp>
        <p:nvSpPr>
          <p:cNvPr id="3" name="Text 1"/>
          <p:cNvSpPr/>
          <p:nvPr/>
        </p:nvSpPr>
        <p:spPr>
          <a:xfrm>
            <a:off x="822960" y="2286000"/>
            <a:ext cx="10058400" cy="91440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Three days, thirteen roles, one system.</a:t>
            </a:r>
            <a:endParaRPr lang="en-US" sz="4000" dirty="0"/>
          </a:p>
        </p:txBody>
      </p:sp>
      <p:sp>
        <p:nvSpPr>
          <p:cNvPr id="4" name="Text 2"/>
          <p:cNvSpPr/>
          <p:nvPr/>
        </p:nvSpPr>
        <p:spPr>
          <a:xfrm>
            <a:off x="822960" y="3291840"/>
            <a:ext cx="9601200" cy="457200"/>
          </a:xfrm>
          <a:prstGeom prst="rect">
            <a:avLst/>
          </a:prstGeom>
          <a:noFill/>
          <a:ln/>
        </p:spPr>
        <p:txBody>
          <a:bodyPr wrap="square" lIns="0" tIns="0" rIns="0" bIns="0" rtlCol="0" anchor="ctr"/>
          <a:lstStyle/>
          <a:p>
            <a:pPr marL="0" indent="0">
              <a:buNone/>
            </a:pPr>
            <a:r>
              <a:rPr lang="en-US" sz="1800" i="1" dirty="0">
                <a:solidFill>
                  <a:srgbClr val="C9CBD8"/>
                </a:solidFill>
                <a:latin typeface="Calibri" pitchFamily="34" charset="0"/>
                <a:ea typeface="Calibri" pitchFamily="34" charset="-122"/>
                <a:cs typeface="Calibri" pitchFamily="34" charset="-120"/>
              </a:rPr>
              <a:t>What you could not do is as important as what you could. Tell us both.</a:t>
            </a:r>
            <a:endParaRPr lang="en-US" sz="1800" dirty="0"/>
          </a:p>
        </p:txBody>
      </p:sp>
      <p:sp>
        <p:nvSpPr>
          <p:cNvPr id="5" name="Shape 3"/>
          <p:cNvSpPr/>
          <p:nvPr/>
        </p:nvSpPr>
        <p:spPr>
          <a:xfrm>
            <a:off x="822960" y="4114800"/>
            <a:ext cx="2011680" cy="0"/>
          </a:xfrm>
          <a:prstGeom prst="line">
            <a:avLst/>
          </a:prstGeom>
          <a:noFill/>
          <a:ln w="25400">
            <a:solidFill>
              <a:srgbClr val="D92323"/>
            </a:solidFill>
            <a:prstDash val="solid"/>
          </a:ln>
        </p:spPr>
      </p:sp>
      <p:sp>
        <p:nvSpPr>
          <p:cNvPr id="6" name="Text 4"/>
          <p:cNvSpPr/>
          <p:nvPr/>
        </p:nvSpPr>
        <p:spPr>
          <a:xfrm>
            <a:off x="822960" y="4297680"/>
            <a:ext cx="8229600" cy="365760"/>
          </a:xfrm>
          <a:prstGeom prst="rect">
            <a:avLst/>
          </a:prstGeom>
          <a:noFill/>
          <a:ln/>
        </p:spPr>
        <p:txBody>
          <a:bodyPr wrap="square" lIns="0" tIns="0" rIns="0" bIns="0" rtlCol="0" anchor="ctr"/>
          <a:lstStyle/>
          <a:p>
            <a:pPr marL="0" indent="0">
              <a:buNone/>
            </a:pPr>
            <a:r>
              <a:rPr lang="en-US" sz="1300" dirty="0">
                <a:solidFill>
                  <a:srgbClr val="E4E5EC"/>
                </a:solidFill>
                <a:latin typeface="Calibri" pitchFamily="34" charset="0"/>
                <a:ea typeface="Calibri" pitchFamily="34" charset="-122"/>
                <a:cs typeface="Calibri" pitchFamily="34" charset="-120"/>
              </a:rPr>
              <a:t>Ora Egbunike &amp; Associates  ·  oeaportal.com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265</TotalTime>
  <Words>4745</Words>
  <Application>Microsoft Office PowerPoint</Application>
  <PresentationFormat>Widescreen</PresentationFormat>
  <Paragraphs>466</Paragraphs>
  <Slides>23</Slides>
  <Notes>23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Joseph Amapakabo</cp:lastModifiedBy>
  <cp:revision>2</cp:revision>
  <dcterms:created xsi:type="dcterms:W3CDTF">2026-08-24T08:08:06Z</dcterms:created>
  <dcterms:modified xsi:type="dcterms:W3CDTF">2026-08-24T14:03:41Z</dcterms:modified>
</cp:coreProperties>
</file>