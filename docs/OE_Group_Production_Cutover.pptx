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Suites</c:v>
                </c:pt>
              </c:strCache>
            </c:strRef>
          </c:tx>
          <c:dPt>
            <c:idx val="0"/>
            <c:spPr>
              <a:solidFill>
                <a:srgbClr val="003366"/>
              </a:solidFill>
            </c:spPr>
          </c:dPt>
          <c:dPt>
            <c:idx val="1"/>
            <c:spPr>
              <a:solidFill>
                <a:srgbClr val="003366"/>
              </a:solidFill>
            </c:spPr>
          </c:dPt>
          <c:dPt>
            <c:idx val="2"/>
            <c:spPr>
              <a:solidFill>
                <a:srgbClr val="003366"/>
              </a:solidFill>
            </c:spPr>
          </c:dPt>
          <c:dPt>
            <c:idx val="3"/>
            <c:spPr>
              <a:solidFill>
                <a:srgbClr val="003366"/>
              </a:solidFill>
            </c:spPr>
          </c:dPt>
          <c:dPt>
            <c:idx val="4"/>
            <c:spPr>
              <a:solidFill>
                <a:srgbClr val="003366"/>
              </a:solidFill>
            </c:spPr>
          </c:dPt>
          <c:dPt>
            <c:idx val="5"/>
            <c:spPr>
              <a:solidFill>
                <a:srgbClr val="1F7A4D"/>
              </a:solidFill>
            </c:spPr>
          </c:dPt>
          <c:cat>
            <c:strRef>
              <c:f>Sheet1!$A$2:$A$7</c:f>
              <c:strCache>
                <c:ptCount val="6"/>
                <c:pt idx="0">
                  <c:v>rc4
23 Sep</c:v>
                </c:pt>
                <c:pt idx="1">
                  <c:v>rc5
24 Sep</c:v>
                </c:pt>
                <c:pt idx="2">
                  <c:v>rc6
25 Sep</c:v>
                </c:pt>
                <c:pt idx="3">
                  <c:v>rc7
25 Sep</c:v>
                </c:pt>
                <c:pt idx="4">
                  <c:v>rc8
28 Sep</c:v>
                </c:pt>
                <c:pt idx="5">
                  <c:v>rc9
29 Sep</c:v>
                </c:pt>
              </c:strCache>
            </c:strRef>
          </c:cat>
          <c:val>
            <c:numRef>
              <c:f>Sheet1!$B$2:$B$7</c:f>
              <c:numCache>
                <c:formatCode>General</c:formatCode>
                <c:ptCount val="6"/>
                <c:pt idx="0">
                  <c:v>128</c:v>
                </c:pt>
                <c:pt idx="1">
                  <c:v>128</c:v>
                </c:pt>
                <c:pt idx="2">
                  <c:v>129</c:v>
                </c:pt>
                <c:pt idx="3">
                  <c:v>129</c:v>
                </c:pt>
                <c:pt idx="4">
                  <c:v>132</c:v>
                </c:pt>
                <c:pt idx="5">
                  <c:v>132</c:v>
                </c:pt>
              </c:numCache>
            </c:numRef>
          </c:val>
        </c:ser>
        <c:dLbls>
          <c:numFmt formatCode="0" sourceLinked="0"/>
          <c:txPr>
            <a:bodyPr/>
            <a:lstStyle/>
            <a:p>
              <a:pPr>
                <a:defRPr sz="1300" b="1">
                  <a:solidFill>
                    <a:srgbClr val="003366"/>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8E0EA"/>
            </a:solidFill>
          </a:ln>
        </c:spPr>
        <c:txPr>
          <a:bodyPr/>
          <a:lstStyle/>
          <a:p>
            <a:pPr>
              <a:defRPr sz="1000">
                <a:solidFill>
                  <a:srgbClr val="7A8A9B"/>
                </a:solidFill>
              </a:defRPr>
            </a:pPr>
          </a:p>
        </c:txPr>
        <c:crossAx val="-2113994440"/>
        <c:crosses val="autoZero"/>
        <c:auto val="1"/>
        <c:lblAlgn val="ctr"/>
        <c:lblOffset val="100"/>
        <c:noMultiLvlLbl val="0"/>
      </c:catAx>
      <c:valAx>
        <c:axId val="-2113994440"/>
        <c:scaling>
          <c:max val="140.0"/>
          <c:min val="10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edition of the cutover deck. The 23 Sept edition asked for two uninterrupted days to take the platform from verified build to production-ready; the cutover ran 23-28 Sept and the board authorised go-live on 28 Sept. Source for every figure: docs/GO_LIVE_BUILD_PLAN.md tracker and docs/verify-runs/ on main, as of 29 Sept.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from GO_LIVE_BUILD_PLAN.md section 3. Stage 1: done 1.3, 1.7, 1.9, 1.11, 1.12; in progress 1.1 DPAs (zero signed), 1.2 privacy notice (published 24 Sept, legal review owed), 1.4, 1.10 (Flutterwave in, minute unsigned); open 1.5 NDPC, 1.6 special-category, 1.8 Flutterwave live keys. Stage 3: 3.5 open (gateway label must read live); 3.2 held for a file read-back. Stage 5: 5.1 not ticked, 5.5a Flutterwave webhook open. Stage 6: 6.1-6.4 done, 6.5 onboarding in progress, 6.6 first real money not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docs/verify-runs/rc8-20260928.md (132 of 132); GO_LIVE_BUILD_PLAN 6.1 (C1 passive 0 High on production, C4 active 0 High on the rc8 branch over a throwaway database, C2a p95 498 ms 0% failed, C2b p99 453 ms 0 5xx, C3 973 refused 0 5xx) and 6.2 (external pen test done, report to be filed); restore-drill-20260926.md (foreign keys 271/271, 3 accounts, 1 MFA factor). Onboarding: 6.5, 28 Sept.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commit history on main, 23-28 Sept. rc4 23 Sept (Option A); rc5 deployed 24 Sept (128/128); privacy notice published 24 Sept; 5.5/5.6 channels 25 Sept; 5.10 read-back 25 Sept; Turnstile 25 Sept; rc6 and rc7 129/129 25 Sept; 4.1 and 4.5 26 Sept; lockout 0303 26 Sept; C1-C4 26-27 Sept; rc8 132/132, 6.1 closed, go-live authorised, onboarding and freeze 28 Sept.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Stage 5: 5.2 (rc5 at 5f5512a, 24 Sept; main deploys itself to production), 5.3 variables 24 Sept, 5.4 admin+MFA 24 Sept, 5.5/5.6 channels 25 Sept, 5.7 domains moved, 5.8 custom_domain bound 24 Sept, 5.9 dpl_ ids match, 5.10 read-back 25 Sept. Open: 5.1 (not ticked), 5.5a Flutterwave webhook, and 3.5 (gateway label reads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 #53 merged 23 Sept (374c2a4), tagged rc4, carried into every later release. Draft minute: docs/BOARD_MINUTE_GATEWAY_OPTION_A.md ("Draft for adoption. Not yet signed."). CLAUDE.md decision 4 is marked CONTESTED until it is signed. Tracker items 1.8, 1.10, 2.12, 3.5, 5.5a.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rc4 128/128 (rc4-20260923.log), rc5 128/128 (rc5-20260924.log), rc6 129/129 (rc6-20260925.md), rc7 129/129 (rc7-20260925.md), rc8 132/132 (rc8-20260928.md). The y-axis starts at 100 to make the growth visible; say so if asked. rc5 died on a B1 breach in the privacy notice; rc8 carries A9.4, the lockout (0303), B4-F1 and C-PF. The test ticket (25 Sept) was removed, and the OEA test tenant (26 Sept) was retired because the audit trail is append-only.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6.5 (freeze ruleset 'Go-live freeze'), 2.5 (PITR re-declined on cost 28 Sept, containment stated), 6.1 (staging-only rule), 4.4 and 6.3 (continuous through the first month), and the rc8 decision to ship on Next 14.2.35 with rc9 as the Next 15.5 upgrade; rc9 (PR #73) merged 29 Sept 09:07 with the freeze lifted for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GO_LIVE_BUILD_PLAN Stage 1: 1.1 (13 DPAs + Cloudflare as fourteenth; correction note to counsel 28 Sept; self-serve DPAs being accepted; Telegram carries live conversations with no DPA), 1.2, 1.5, 1.8, 1.9, 1.10, 1.6, 1.11/6.2, 1.12/6.4. 1.4 (data-subject-rights procedure) is written, not yet published, and rides on 1.2 and 1.5.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five decisions. rc9 (Next.js 15, tag v1.0.0-rc9 at 9dab9a2, 132/132 on staging) went live 29 Sept 09:07; freeze ruleset restored 09:08. Context: the 23 Sept edition asked for two uninterrupted days; the cutover itself is now done. What remains is compliance and the live gateway key, both board-owned.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ounded Rectangle 1"/>
          <p:cNvSpPr/>
          <p:nvPr/>
        </p:nvSpPr>
        <p:spPr>
          <a:xfrm>
            <a:off x="7863840" y="0"/>
            <a:ext cx="4325112" cy="448056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9052560" y="3108960"/>
            <a:ext cx="3136392" cy="3749039"/>
          </a:xfrm>
          <a:prstGeom prst="roundRect">
            <a:avLst>
              <a:gd name="adj" fmla="val 6000"/>
            </a:avLst>
          </a:prstGeom>
          <a:solidFill>
            <a:srgbClr val="0E2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868680"/>
            <a:ext cx="5486400" cy="274320"/>
          </a:xfrm>
          <a:prstGeom prst="rect">
            <a:avLst/>
          </a:prstGeom>
          <a:noFill/>
        </p:spPr>
        <p:txBody>
          <a:bodyPr wrap="square" lIns="0" rIns="0" tIns="0" bIns="0" anchor="t">
            <a:spAutoFit/>
          </a:bodyPr>
          <a:lstStyle/>
          <a:p>
            <a:pPr algn="l"/>
            <a:r>
              <a:rPr sz="1000" b="1" i="0" spc="300">
                <a:solidFill>
                  <a:srgbClr val="C08A1E"/>
                </a:solidFill>
                <a:latin typeface="Calibri"/>
              </a:rPr>
              <a:t>BOARD CONFIDENTIAL</a:t>
            </a:r>
          </a:p>
        </p:txBody>
      </p:sp>
      <p:sp>
        <p:nvSpPr>
          <p:cNvPr id="5" name="TextBox 4"/>
          <p:cNvSpPr txBox="1"/>
          <p:nvPr/>
        </p:nvSpPr>
        <p:spPr>
          <a:xfrm>
            <a:off x="868680" y="2148840"/>
            <a:ext cx="6858000" cy="822960"/>
          </a:xfrm>
          <a:prstGeom prst="rect">
            <a:avLst/>
          </a:prstGeom>
          <a:noFill/>
        </p:spPr>
        <p:txBody>
          <a:bodyPr wrap="square" lIns="0" rIns="0" tIns="0" bIns="0" anchor="t">
            <a:spAutoFit/>
          </a:bodyPr>
          <a:lstStyle/>
          <a:p>
            <a:pPr algn="l"/>
            <a:r>
              <a:rPr sz="4400" b="1" i="0">
                <a:solidFill>
                  <a:srgbClr val="FFFFFF"/>
                </a:solidFill>
                <a:latin typeface="Cambria"/>
              </a:rPr>
              <a:t>OE Group</a:t>
            </a:r>
          </a:p>
        </p:txBody>
      </p:sp>
      <p:sp>
        <p:nvSpPr>
          <p:cNvPr id="6" name="TextBox 5"/>
          <p:cNvSpPr txBox="1"/>
          <p:nvPr/>
        </p:nvSpPr>
        <p:spPr>
          <a:xfrm>
            <a:off x="868680" y="2926080"/>
            <a:ext cx="7498079" cy="640080"/>
          </a:xfrm>
          <a:prstGeom prst="rect">
            <a:avLst/>
          </a:prstGeom>
          <a:noFill/>
        </p:spPr>
        <p:txBody>
          <a:bodyPr wrap="square" lIns="0" rIns="0" tIns="0" bIns="0" anchor="t">
            <a:spAutoFit/>
          </a:bodyPr>
          <a:lstStyle/>
          <a:p>
            <a:pPr algn="l"/>
            <a:r>
              <a:rPr sz="3200" b="0" i="0">
                <a:solidFill>
                  <a:srgbClr val="D8E5F5"/>
                </a:solidFill>
                <a:latin typeface="Cambria"/>
              </a:rPr>
              <a:t>Cutover to Production</a:t>
            </a:r>
          </a:p>
        </p:txBody>
      </p:sp>
      <p:sp>
        <p:nvSpPr>
          <p:cNvPr id="7" name="TextBox 6"/>
          <p:cNvSpPr txBox="1"/>
          <p:nvPr/>
        </p:nvSpPr>
        <p:spPr>
          <a:xfrm>
            <a:off x="868680" y="3840480"/>
            <a:ext cx="6766560" cy="731520"/>
          </a:xfrm>
          <a:prstGeom prst="rect">
            <a:avLst/>
          </a:prstGeom>
          <a:noFill/>
        </p:spPr>
        <p:txBody>
          <a:bodyPr wrap="square" lIns="0" rIns="0" tIns="0" bIns="0" anchor="t">
            <a:spAutoFit/>
          </a:bodyPr>
          <a:lstStyle/>
          <a:p>
            <a:pPr algn="l"/>
            <a:r>
              <a:rPr sz="1500" b="0" i="0">
                <a:solidFill>
                  <a:srgbClr val="9FB4CC"/>
                </a:solidFill>
                <a:latin typeface="Calibri"/>
              </a:rPr>
              <a:t>Status report: live since 28 September 2026, with onboarding under way and the board's open items named</a:t>
            </a:r>
          </a:p>
        </p:txBody>
      </p:sp>
      <p:sp>
        <p:nvSpPr>
          <p:cNvPr id="8" name="TextBox 7"/>
          <p:cNvSpPr txBox="1"/>
          <p:nvPr/>
        </p:nvSpPr>
        <p:spPr>
          <a:xfrm>
            <a:off x="868680" y="5806440"/>
            <a:ext cx="6400800" cy="274320"/>
          </a:xfrm>
          <a:prstGeom prst="rect">
            <a:avLst/>
          </a:prstGeom>
          <a:noFill/>
        </p:spPr>
        <p:txBody>
          <a:bodyPr wrap="square" lIns="0" rIns="0" tIns="0" bIns="0" anchor="t">
            <a:spAutoFit/>
          </a:bodyPr>
          <a:lstStyle/>
          <a:p>
            <a:pPr algn="l"/>
            <a:r>
              <a:rPr sz="1300" b="1" i="0">
                <a:solidFill>
                  <a:srgbClr val="FFFFFF"/>
                </a:solidFill>
                <a:latin typeface="Calibri"/>
              </a:rPr>
              <a:t>29 September 2026</a:t>
            </a:r>
          </a:p>
        </p:txBody>
      </p:sp>
      <p:sp>
        <p:nvSpPr>
          <p:cNvPr id="9" name="TextBox 8"/>
          <p:cNvSpPr txBox="1"/>
          <p:nvPr/>
        </p:nvSpPr>
        <p:spPr>
          <a:xfrm>
            <a:off x="868680" y="6126480"/>
            <a:ext cx="6858000" cy="274320"/>
          </a:xfrm>
          <a:prstGeom prst="rect">
            <a:avLst/>
          </a:prstGeom>
          <a:noFill/>
        </p:spPr>
        <p:txBody>
          <a:bodyPr wrap="square" lIns="0" rIns="0" tIns="0" bIns="0" anchor="t">
            <a:spAutoFit/>
          </a:bodyPr>
          <a:lstStyle/>
          <a:p>
            <a:pPr algn="l"/>
            <a:r>
              <a:rPr sz="1000" b="0" i="0">
                <a:solidFill>
                  <a:srgbClr val="9FB4CC"/>
                </a:solidFill>
                <a:latin typeface="Calibri"/>
              </a:rPr>
              <a:t>Release v1.0.0-rc9 in production  ·  132 of 132 suites  ·  board GO 28 Sept  ·  OEA onboarding under way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road to go-live — where each stage stands</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From the go-live tracker on main, 29 September. Stage 6 is where the organisation is now.</a:t>
            </a:r>
          </a:p>
        </p:txBody>
      </p:sp>
      <p:sp>
        <p:nvSpPr>
          <p:cNvPr id="4" name="Rounded Rectangle 3"/>
          <p:cNvSpPr/>
          <p:nvPr/>
        </p:nvSpPr>
        <p:spPr>
          <a:xfrm>
            <a:off x="54864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0</a:t>
            </a:r>
          </a:p>
        </p:txBody>
      </p:sp>
      <p:sp>
        <p:nvSpPr>
          <p:cNvPr id="6" name="Rounded Rectangle 5"/>
          <p:cNvSpPr/>
          <p:nvPr/>
        </p:nvSpPr>
        <p:spPr>
          <a:xfrm>
            <a:off x="1874519"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7" name="TextBox 6"/>
          <p:cNvSpPr txBox="1"/>
          <p:nvPr/>
        </p:nvSpPr>
        <p:spPr>
          <a:xfrm>
            <a:off x="77724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Freeze the candidate</a:t>
            </a:r>
          </a:p>
        </p:txBody>
      </p:sp>
      <p:sp>
        <p:nvSpPr>
          <p:cNvPr id="8" name="TextBox 7"/>
          <p:cNvSpPr txBox="1"/>
          <p:nvPr/>
        </p:nvSpPr>
        <p:spPr>
          <a:xfrm>
            <a:off x="77724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rc4 → rc9; rc9 (Next.js 15) live, 132/132</a:t>
            </a:r>
          </a:p>
        </p:txBody>
      </p:sp>
      <p:sp>
        <p:nvSpPr>
          <p:cNvPr id="9" name="Rounded Rectangle 8"/>
          <p:cNvSpPr/>
          <p:nvPr/>
        </p:nvSpPr>
        <p:spPr>
          <a:xfrm>
            <a:off x="338328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11880" y="2011680"/>
            <a:ext cx="502920" cy="50292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11" name="Rounded Rectangle 10"/>
          <p:cNvSpPr/>
          <p:nvPr/>
        </p:nvSpPr>
        <p:spPr>
          <a:xfrm>
            <a:off x="4709159" y="2112264"/>
            <a:ext cx="1097280" cy="274320"/>
          </a:xfrm>
          <a:prstGeom prst="roundRect">
            <a:avLst>
              <a:gd name="adj" fmla="val 50000"/>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5 OF 12</a:t>
            </a:r>
          </a:p>
        </p:txBody>
      </p:sp>
      <p:sp>
        <p:nvSpPr>
          <p:cNvPr id="12" name="TextBox 11"/>
          <p:cNvSpPr txBox="1"/>
          <p:nvPr/>
        </p:nvSpPr>
        <p:spPr>
          <a:xfrm>
            <a:off x="361188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External long poles</a:t>
            </a:r>
          </a:p>
        </p:txBody>
      </p:sp>
      <p:sp>
        <p:nvSpPr>
          <p:cNvPr id="13" name="TextBox 12"/>
          <p:cNvSpPr txBox="1"/>
          <p:nvPr/>
        </p:nvSpPr>
        <p:spPr>
          <a:xfrm>
            <a:off x="361188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DPAs, Flutterwave live keys, NDPC still open</a:t>
            </a:r>
          </a:p>
        </p:txBody>
      </p:sp>
      <p:sp>
        <p:nvSpPr>
          <p:cNvPr id="14" name="Rounded Rectangle 13"/>
          <p:cNvSpPr/>
          <p:nvPr/>
        </p:nvSpPr>
        <p:spPr>
          <a:xfrm>
            <a:off x="621792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4652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6" name="Rounded Rectangle 15"/>
          <p:cNvSpPr/>
          <p:nvPr/>
        </p:nvSpPr>
        <p:spPr>
          <a:xfrm>
            <a:off x="7543800" y="2112264"/>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10 OF 13</a:t>
            </a:r>
          </a:p>
        </p:txBody>
      </p:sp>
      <p:sp>
        <p:nvSpPr>
          <p:cNvPr id="17" name="TextBox 16"/>
          <p:cNvSpPr txBox="1"/>
          <p:nvPr/>
        </p:nvSpPr>
        <p:spPr>
          <a:xfrm>
            <a:off x="644652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Close technical gaps</a:t>
            </a:r>
          </a:p>
        </p:txBody>
      </p:sp>
      <p:sp>
        <p:nvSpPr>
          <p:cNvPr id="18" name="TextBox 17"/>
          <p:cNvSpPr txBox="1"/>
          <p:nvPr/>
        </p:nvSpPr>
        <p:spPr>
          <a:xfrm>
            <a:off x="644652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CAPTCHA, backups, rate limits done; 3 finishing</a:t>
            </a:r>
          </a:p>
        </p:txBody>
      </p:sp>
      <p:sp>
        <p:nvSpPr>
          <p:cNvPr id="19" name="Rounded Rectangle 18"/>
          <p:cNvSpPr/>
          <p:nvPr/>
        </p:nvSpPr>
        <p:spPr>
          <a:xfrm>
            <a:off x="9052560" y="1783080"/>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81160" y="201168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21" name="Rounded Rectangle 20"/>
          <p:cNvSpPr/>
          <p:nvPr/>
        </p:nvSpPr>
        <p:spPr>
          <a:xfrm>
            <a:off x="10378440" y="2112264"/>
            <a:ext cx="1097280" cy="274320"/>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4 OF 6</a:t>
            </a:r>
          </a:p>
        </p:txBody>
      </p:sp>
      <p:sp>
        <p:nvSpPr>
          <p:cNvPr id="22" name="TextBox 21"/>
          <p:cNvSpPr txBox="1"/>
          <p:nvPr/>
        </p:nvSpPr>
        <p:spPr>
          <a:xfrm>
            <a:off x="9281160" y="2679191"/>
            <a:ext cx="2194560" cy="548640"/>
          </a:xfrm>
          <a:prstGeom prst="rect">
            <a:avLst/>
          </a:prstGeom>
          <a:noFill/>
        </p:spPr>
        <p:txBody>
          <a:bodyPr wrap="square" lIns="0" rIns="0" tIns="0" bIns="0" anchor="t">
            <a:spAutoFit/>
          </a:bodyPr>
          <a:lstStyle/>
          <a:p>
            <a:pPr algn="l"/>
            <a:r>
              <a:rPr sz="1500" b="1" i="0">
                <a:solidFill>
                  <a:srgbClr val="003366"/>
                </a:solidFill>
                <a:latin typeface="Cambria"/>
              </a:rPr>
              <a:t>Provision production</a:t>
            </a:r>
          </a:p>
        </p:txBody>
      </p:sp>
      <p:sp>
        <p:nvSpPr>
          <p:cNvPr id="23" name="TextBox 22"/>
          <p:cNvSpPr txBox="1"/>
          <p:nvPr/>
        </p:nvSpPr>
        <p:spPr>
          <a:xfrm>
            <a:off x="9281160" y="3264408"/>
            <a:ext cx="2194560" cy="457200"/>
          </a:xfrm>
          <a:prstGeom prst="rect">
            <a:avLst/>
          </a:prstGeom>
          <a:noFill/>
        </p:spPr>
        <p:txBody>
          <a:bodyPr wrap="square" lIns="0" rIns="0" tIns="0" bIns="0" anchor="t">
            <a:spAutoFit/>
          </a:bodyPr>
          <a:lstStyle/>
          <a:p>
            <a:pPr algn="l"/>
            <a:r>
              <a:rPr sz="1150" b="0" i="0">
                <a:solidFill>
                  <a:srgbClr val="1C2B3A"/>
                </a:solidFill>
                <a:latin typeface="Calibri"/>
              </a:rPr>
              <a:t>Waiting on one setting: the live gateway key</a:t>
            </a:r>
          </a:p>
        </p:txBody>
      </p:sp>
      <p:sp>
        <p:nvSpPr>
          <p:cNvPr id="24" name="Rounded Rectangle 23"/>
          <p:cNvSpPr/>
          <p:nvPr/>
        </p:nvSpPr>
        <p:spPr>
          <a:xfrm>
            <a:off x="54864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7724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26" name="Rounded Rectangle 25"/>
          <p:cNvSpPr/>
          <p:nvPr/>
        </p:nvSpPr>
        <p:spPr>
          <a:xfrm>
            <a:off x="187451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DONE</a:t>
            </a:r>
          </a:p>
        </p:txBody>
      </p:sp>
      <p:sp>
        <p:nvSpPr>
          <p:cNvPr id="27" name="TextBox 26"/>
          <p:cNvSpPr txBox="1"/>
          <p:nvPr/>
        </p:nvSpPr>
        <p:spPr>
          <a:xfrm>
            <a:off x="77724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Dress rehearsal</a:t>
            </a:r>
          </a:p>
        </p:txBody>
      </p:sp>
      <p:sp>
        <p:nvSpPr>
          <p:cNvPr id="28" name="TextBox 27"/>
          <p:cNvSpPr txBox="1"/>
          <p:nvPr/>
        </p:nvSpPr>
        <p:spPr>
          <a:xfrm>
            <a:off x="77724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Staging on the tag; restore drill proven</a:t>
            </a:r>
          </a:p>
        </p:txBody>
      </p:sp>
      <p:sp>
        <p:nvSpPr>
          <p:cNvPr id="29" name="Rounded Rectangle 28"/>
          <p:cNvSpPr/>
          <p:nvPr/>
        </p:nvSpPr>
        <p:spPr>
          <a:xfrm>
            <a:off x="338328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361188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5</a:t>
            </a:r>
          </a:p>
        </p:txBody>
      </p:sp>
      <p:sp>
        <p:nvSpPr>
          <p:cNvPr id="31" name="Rounded Rectangle 30"/>
          <p:cNvSpPr/>
          <p:nvPr/>
        </p:nvSpPr>
        <p:spPr>
          <a:xfrm>
            <a:off x="4709159" y="4325112"/>
            <a:ext cx="1097280" cy="274320"/>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9 OF 11</a:t>
            </a:r>
          </a:p>
        </p:txBody>
      </p:sp>
      <p:sp>
        <p:nvSpPr>
          <p:cNvPr id="32" name="TextBox 31"/>
          <p:cNvSpPr txBox="1"/>
          <p:nvPr/>
        </p:nvSpPr>
        <p:spPr>
          <a:xfrm>
            <a:off x="361188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Cutover</a:t>
            </a:r>
          </a:p>
        </p:txBody>
      </p:sp>
      <p:sp>
        <p:nvSpPr>
          <p:cNvPr id="33" name="TextBox 32"/>
          <p:cNvSpPr txBox="1"/>
          <p:nvPr/>
        </p:nvSpPr>
        <p:spPr>
          <a:xfrm>
            <a:off x="361188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Domains, channels, admin + MFA, read-back done</a:t>
            </a:r>
          </a:p>
        </p:txBody>
      </p:sp>
      <p:sp>
        <p:nvSpPr>
          <p:cNvPr id="34" name="Rounded Rectangle 33"/>
          <p:cNvSpPr/>
          <p:nvPr/>
        </p:nvSpPr>
        <p:spPr>
          <a:xfrm>
            <a:off x="6217920" y="3995928"/>
            <a:ext cx="2651760" cy="201168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44652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6</a:t>
            </a:r>
          </a:p>
        </p:txBody>
      </p:sp>
      <p:sp>
        <p:nvSpPr>
          <p:cNvPr id="36" name="Rounded Rectangle 35"/>
          <p:cNvSpPr/>
          <p:nvPr/>
        </p:nvSpPr>
        <p:spPr>
          <a:xfrm>
            <a:off x="7543800" y="4325112"/>
            <a:ext cx="1097280" cy="274320"/>
          </a:xfrm>
          <a:prstGeom prst="roundRect">
            <a:avLst>
              <a:gd name="adj" fmla="val 5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LIVE</a:t>
            </a:r>
          </a:p>
        </p:txBody>
      </p:sp>
      <p:sp>
        <p:nvSpPr>
          <p:cNvPr id="37" name="TextBox 36"/>
          <p:cNvSpPr txBox="1"/>
          <p:nvPr/>
        </p:nvSpPr>
        <p:spPr>
          <a:xfrm>
            <a:off x="644652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Prove it, then open it</a:t>
            </a:r>
          </a:p>
        </p:txBody>
      </p:sp>
      <p:sp>
        <p:nvSpPr>
          <p:cNvPr id="38" name="TextBox 37"/>
          <p:cNvSpPr txBox="1"/>
          <p:nvPr/>
        </p:nvSpPr>
        <p:spPr>
          <a:xfrm>
            <a:off x="644652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Pen test done; GO given 28 Sept; onboarding</a:t>
            </a:r>
          </a:p>
        </p:txBody>
      </p:sp>
      <p:sp>
        <p:nvSpPr>
          <p:cNvPr id="39" name="Rounded Rectangle 38"/>
          <p:cNvSpPr/>
          <p:nvPr/>
        </p:nvSpPr>
        <p:spPr>
          <a:xfrm>
            <a:off x="9052560" y="3995928"/>
            <a:ext cx="2651760" cy="201168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9281160" y="4224528"/>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7</a:t>
            </a:r>
          </a:p>
        </p:txBody>
      </p:sp>
      <p:sp>
        <p:nvSpPr>
          <p:cNvPr id="41" name="Rounded Rectangle 40"/>
          <p:cNvSpPr/>
          <p:nvPr/>
        </p:nvSpPr>
        <p:spPr>
          <a:xfrm>
            <a:off x="10378440" y="4325112"/>
            <a:ext cx="1097280" cy="274320"/>
          </a:xfrm>
          <a:prstGeom prst="roundRect">
            <a:avLst>
              <a:gd name="adj" fmla="val 50000"/>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Calibri"/>
              </a:rPr>
              <a:t>STARTING</a:t>
            </a:r>
          </a:p>
        </p:txBody>
      </p:sp>
      <p:sp>
        <p:nvSpPr>
          <p:cNvPr id="42" name="TextBox 41"/>
          <p:cNvSpPr txBox="1"/>
          <p:nvPr/>
        </p:nvSpPr>
        <p:spPr>
          <a:xfrm>
            <a:off x="9281160" y="4892040"/>
            <a:ext cx="2194560" cy="548640"/>
          </a:xfrm>
          <a:prstGeom prst="rect">
            <a:avLst/>
          </a:prstGeom>
          <a:noFill/>
        </p:spPr>
        <p:txBody>
          <a:bodyPr wrap="square" lIns="0" rIns="0" tIns="0" bIns="0" anchor="t">
            <a:spAutoFit/>
          </a:bodyPr>
          <a:lstStyle/>
          <a:p>
            <a:pPr algn="l"/>
            <a:r>
              <a:rPr sz="1500" b="1" i="0">
                <a:solidFill>
                  <a:srgbClr val="003366"/>
                </a:solidFill>
                <a:latin typeface="Cambria"/>
              </a:rPr>
              <a:t>Operate</a:t>
            </a:r>
          </a:p>
        </p:txBody>
      </p:sp>
      <p:sp>
        <p:nvSpPr>
          <p:cNvPr id="43" name="TextBox 42"/>
          <p:cNvSpPr txBox="1"/>
          <p:nvPr/>
        </p:nvSpPr>
        <p:spPr>
          <a:xfrm>
            <a:off x="9281160" y="5477256"/>
            <a:ext cx="2194560" cy="457200"/>
          </a:xfrm>
          <a:prstGeom prst="rect">
            <a:avLst/>
          </a:prstGeom>
          <a:noFill/>
        </p:spPr>
        <p:txBody>
          <a:bodyPr wrap="square" lIns="0" rIns="0" tIns="0" bIns="0" anchor="t">
            <a:spAutoFit/>
          </a:bodyPr>
          <a:lstStyle/>
          <a:p>
            <a:pPr algn="l"/>
            <a:r>
              <a:rPr sz="1150" b="0" i="0">
                <a:solidFill>
                  <a:srgbClr val="1C2B3A"/>
                </a:solidFill>
                <a:latin typeface="Calibri"/>
              </a:rPr>
              <a:t>Reconciliation, guides, monitoring, drills</a:t>
            </a:r>
          </a:p>
        </p:txBody>
      </p:sp>
      <p:sp>
        <p:nvSpPr>
          <p:cNvPr id="44" name="TextBox 43"/>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Every open item is one the board chose to go live with. </a:t>
            </a:r>
            <a:r>
              <a:rPr sz="1200" b="0" i="0">
                <a:solidFill>
                  <a:srgbClr val="1C2B3A"/>
                </a:solidFill>
                <a:latin typeface="Calibri"/>
              </a:rPr>
              <a:t>None blocks the platform working; two block real money online (the Flutterwave live key and its webhook).</a:t>
            </a:r>
          </a:p>
        </p:txBody>
      </p:sp>
      <p:sp>
        <p:nvSpPr>
          <p:cNvPr id="45" name="TextBox 4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Production is live — and the controls held under test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Every figure is from a committed run record or test result, 24–29 September.</a:t>
            </a:r>
          </a:p>
        </p:txBody>
      </p:sp>
      <p:sp>
        <p:nvSpPr>
          <p:cNvPr id="4" name="Rounded Rectangle 3"/>
          <p:cNvSpPr/>
          <p:nvPr/>
        </p:nvSpPr>
        <p:spPr>
          <a:xfrm>
            <a:off x="54864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132/132</a:t>
            </a:r>
          </a:p>
        </p:txBody>
      </p:sp>
      <p:sp>
        <p:nvSpPr>
          <p:cNvPr id="6" name="TextBox 5"/>
          <p:cNvSpPr txBox="1"/>
          <p:nvPr/>
        </p:nvSpPr>
        <p:spPr>
          <a:xfrm>
            <a:off x="77724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suites passed, rc8 and rc9</a:t>
            </a:r>
          </a:p>
        </p:txBody>
      </p:sp>
      <p:sp>
        <p:nvSpPr>
          <p:cNvPr id="7" name="TextBox 6"/>
          <p:cNvSpPr txBox="1"/>
          <p:nvPr/>
        </p:nvSpPr>
        <p:spPr>
          <a:xfrm>
            <a:off x="77724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rc8 went live on 28 Sept. rc9, the Next.js 15 upgrade that clears the critical advisory, replaced it on 29 Sept</a:t>
            </a:r>
          </a:p>
        </p:txBody>
      </p:sp>
      <p:sp>
        <p:nvSpPr>
          <p:cNvPr id="8" name="Rounded Rectangle 7"/>
          <p:cNvSpPr/>
          <p:nvPr/>
        </p:nvSpPr>
        <p:spPr>
          <a:xfrm>
            <a:off x="338328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6616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0 High</a:t>
            </a:r>
          </a:p>
        </p:txBody>
      </p:sp>
      <p:sp>
        <p:nvSpPr>
          <p:cNvPr id="10" name="TextBox 9"/>
          <p:cNvSpPr txBox="1"/>
          <p:nvPr/>
        </p:nvSpPr>
        <p:spPr>
          <a:xfrm>
            <a:off x="361188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security findings open</a:t>
            </a:r>
          </a:p>
        </p:txBody>
      </p:sp>
      <p:sp>
        <p:nvSpPr>
          <p:cNvPr id="11" name="TextBox 10"/>
          <p:cNvSpPr txBox="1"/>
          <p:nvPr/>
        </p:nvSpPr>
        <p:spPr>
          <a:xfrm>
            <a:off x="361188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Passive scan on production and active scan on rc8: no High findings. The external pen test is also complete</a:t>
            </a:r>
          </a:p>
        </p:txBody>
      </p:sp>
      <p:sp>
        <p:nvSpPr>
          <p:cNvPr id="12" name="Rounded Rectangle 11"/>
          <p:cNvSpPr/>
          <p:nvPr/>
        </p:nvSpPr>
        <p:spPr>
          <a:xfrm>
            <a:off x="621792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498 ms</a:t>
            </a:r>
          </a:p>
        </p:txBody>
      </p:sp>
      <p:sp>
        <p:nvSpPr>
          <p:cNvPr id="14" name="TextBox 13"/>
          <p:cNvSpPr txBox="1"/>
          <p:nvPr/>
        </p:nvSpPr>
        <p:spPr>
          <a:xfrm>
            <a:off x="644652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response time at load (p95)</a:t>
            </a:r>
          </a:p>
        </p:txBody>
      </p:sp>
      <p:sp>
        <p:nvSpPr>
          <p:cNvPr id="15" name="TextBox 14"/>
          <p:cNvSpPr txBox="1"/>
          <p:nvPr/>
        </p:nvSpPr>
        <p:spPr>
          <a:xfrm>
            <a:off x="644652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0% of requests failed. Under a spike, p99 was 453 ms. The rate limiter refused 973 abusive calls with 0 errors</a:t>
            </a:r>
          </a:p>
        </p:txBody>
      </p:sp>
      <p:sp>
        <p:nvSpPr>
          <p:cNvPr id="16" name="Rounded Rectangle 15"/>
          <p:cNvSpPr/>
          <p:nvPr/>
        </p:nvSpPr>
        <p:spPr>
          <a:xfrm>
            <a:off x="9052560" y="1783080"/>
            <a:ext cx="2651760" cy="2834640"/>
          </a:xfrm>
          <a:prstGeom prst="roundRect">
            <a:avLst>
              <a:gd name="adj" fmla="val 5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35440" y="2011680"/>
            <a:ext cx="2286000" cy="868680"/>
          </a:xfrm>
          <a:prstGeom prst="rect">
            <a:avLst/>
          </a:prstGeom>
          <a:noFill/>
        </p:spPr>
        <p:txBody>
          <a:bodyPr wrap="square" lIns="0" rIns="0" tIns="0" bIns="0" anchor="t">
            <a:spAutoFit/>
          </a:bodyPr>
          <a:lstStyle/>
          <a:p>
            <a:pPr algn="ctr"/>
            <a:r>
              <a:rPr sz="3600" b="1" i="0">
                <a:solidFill>
                  <a:srgbClr val="1F7A4D"/>
                </a:solidFill>
                <a:latin typeface="Cambria"/>
              </a:rPr>
              <a:t>271/271</a:t>
            </a:r>
          </a:p>
        </p:txBody>
      </p:sp>
      <p:sp>
        <p:nvSpPr>
          <p:cNvPr id="18" name="TextBox 17"/>
          <p:cNvSpPr txBox="1"/>
          <p:nvPr/>
        </p:nvSpPr>
        <p:spPr>
          <a:xfrm>
            <a:off x="9281160" y="2926080"/>
            <a:ext cx="2194560" cy="365760"/>
          </a:xfrm>
          <a:prstGeom prst="rect">
            <a:avLst/>
          </a:prstGeom>
          <a:noFill/>
        </p:spPr>
        <p:txBody>
          <a:bodyPr wrap="square" lIns="0" rIns="0" tIns="0" bIns="0" anchor="t">
            <a:spAutoFit/>
          </a:bodyPr>
          <a:lstStyle/>
          <a:p>
            <a:pPr algn="ctr"/>
            <a:r>
              <a:rPr sz="1300" b="1" i="0">
                <a:solidFill>
                  <a:srgbClr val="003366"/>
                </a:solidFill>
                <a:latin typeface="Calibri"/>
              </a:rPr>
              <a:t>links intact on restore</a:t>
            </a:r>
          </a:p>
        </p:txBody>
      </p:sp>
      <p:sp>
        <p:nvSpPr>
          <p:cNvPr id="19" name="TextBox 18"/>
          <p:cNvSpPr txBox="1"/>
          <p:nvPr/>
        </p:nvSpPr>
        <p:spPr>
          <a:xfrm>
            <a:off x="9281160" y="3383280"/>
            <a:ext cx="2194560" cy="1143000"/>
          </a:xfrm>
          <a:prstGeom prst="rect">
            <a:avLst/>
          </a:prstGeom>
          <a:noFill/>
        </p:spPr>
        <p:txBody>
          <a:bodyPr wrap="square" lIns="0" rIns="0" tIns="0" bIns="0" anchor="t">
            <a:spAutoFit/>
          </a:bodyPr>
          <a:lstStyle/>
          <a:p>
            <a:pPr algn="ctr"/>
            <a:r>
              <a:rPr sz="1100" b="0" i="0">
                <a:solidFill>
                  <a:srgbClr val="1C2B3A"/>
                </a:solidFill>
                <a:latin typeface="Calibri"/>
              </a:rPr>
              <a:t>A real production backup was restored with sign-in accounts and MFA intact, so the rollback is proven</a:t>
            </a:r>
          </a:p>
        </p:txBody>
      </p:sp>
      <p:sp>
        <p:nvSpPr>
          <p:cNvPr id="20" name="Rounded Rectangle 19"/>
          <p:cNvSpPr/>
          <p:nvPr/>
        </p:nvSpPr>
        <p:spPr>
          <a:xfrm>
            <a:off x="548640" y="4892040"/>
            <a:ext cx="11064240" cy="1097280"/>
          </a:xfrm>
          <a:prstGeom prst="roundRect">
            <a:avLst>
              <a:gd name="adj" fmla="val 6000"/>
            </a:avLst>
          </a:prstGeom>
          <a:solidFill>
            <a:srgbClr val="EA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5056632"/>
            <a:ext cx="10424160" cy="822960"/>
          </a:xfrm>
          <a:prstGeom prst="rect">
            <a:avLst/>
          </a:prstGeom>
          <a:noFill/>
        </p:spPr>
        <p:txBody>
          <a:bodyPr wrap="square" lIns="0" rIns="0" tIns="0" bIns="0" anchor="t">
            <a:spAutoFit/>
          </a:bodyPr>
          <a:lstStyle/>
          <a:p>
            <a:pPr algn="l"/>
            <a:r>
              <a:rPr sz="1300" b="1" i="0">
                <a:solidFill>
                  <a:srgbClr val="003366"/>
                </a:solidFill>
                <a:latin typeface="Calibri"/>
              </a:rPr>
              <a:t>Where it stands today. </a:t>
            </a:r>
            <a:r>
              <a:rPr sz="1300" b="0" i="0">
                <a:solidFill>
                  <a:srgbClr val="1C2B3A"/>
                </a:solidFill>
                <a:latin typeface="Calibri"/>
              </a:rPr>
              <a:t>OEA's organisation and some of its staff are onboarded, and its property upload has begun. A production backup was taken before the first real record. No money has moved through the platform yet. The first real collection, reconciliation and payout is the next milestone.</a:t>
            </a:r>
          </a:p>
        </p:txBody>
      </p:sp>
      <p:sp>
        <p:nvSpPr>
          <p:cNvPr id="22" name="TextBox 2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cutover window, 23–29 September</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What was asked for as two uninterrupted days ran as six, then a seventh for the first release under the freeze.</a:t>
            </a:r>
          </a:p>
        </p:txBody>
      </p:sp>
      <p:cxnSp>
        <p:nvCxnSpPr>
          <p:cNvPr id="4" name="Connector 3"/>
          <p:cNvCxnSpPr/>
          <p:nvPr/>
        </p:nvCxnSpPr>
        <p:spPr>
          <a:xfrm>
            <a:off x="1280160" y="2212848"/>
            <a:ext cx="9546336" cy="0"/>
          </a:xfrm>
          <a:prstGeom prst="line">
            <a:avLst/>
          </a:prstGeom>
          <a:ln w="25400">
            <a:solidFill>
              <a:srgbClr val="D8E0EA"/>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950976"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23</a:t>
            </a:r>
          </a:p>
        </p:txBody>
      </p:sp>
      <p:sp>
        <p:nvSpPr>
          <p:cNvPr id="6" name="TextBox 5"/>
          <p:cNvSpPr txBox="1"/>
          <p:nvPr/>
        </p:nvSpPr>
        <p:spPr>
          <a:xfrm>
            <a:off x="548640"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TUE · SEPT</a:t>
            </a:r>
          </a:p>
        </p:txBody>
      </p:sp>
      <p:sp>
        <p:nvSpPr>
          <p:cNvPr id="7" name="Rounded Rectangle 6"/>
          <p:cNvSpPr/>
          <p:nvPr/>
        </p:nvSpPr>
        <p:spPr>
          <a:xfrm>
            <a:off x="548640"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8368"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Gateway decision built</a:t>
            </a:r>
          </a:p>
        </p:txBody>
      </p:sp>
      <p:sp>
        <p:nvSpPr>
          <p:cNvPr id="9" name="TextBox 8"/>
          <p:cNvSpPr txBox="1"/>
          <p:nvPr/>
        </p:nvSpPr>
        <p:spPr>
          <a:xfrm>
            <a:off x="658368"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Flutterwave replaces Paystack for collections (rc4)</a:t>
            </a:r>
          </a:p>
        </p:txBody>
      </p:sp>
      <p:sp>
        <p:nvSpPr>
          <p:cNvPr id="10" name="Oval 9"/>
          <p:cNvSpPr/>
          <p:nvPr/>
        </p:nvSpPr>
        <p:spPr>
          <a:xfrm>
            <a:off x="2542032"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24</a:t>
            </a:r>
          </a:p>
        </p:txBody>
      </p:sp>
      <p:sp>
        <p:nvSpPr>
          <p:cNvPr id="11" name="TextBox 10"/>
          <p:cNvSpPr txBox="1"/>
          <p:nvPr/>
        </p:nvSpPr>
        <p:spPr>
          <a:xfrm>
            <a:off x="2139696"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WED · SEPT</a:t>
            </a:r>
          </a:p>
        </p:txBody>
      </p:sp>
      <p:sp>
        <p:nvSpPr>
          <p:cNvPr id="12" name="Rounded Rectangle 11"/>
          <p:cNvSpPr/>
          <p:nvPr/>
        </p:nvSpPr>
        <p:spPr>
          <a:xfrm>
            <a:off x="2139696"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49424"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Production switched on</a:t>
            </a:r>
          </a:p>
        </p:txBody>
      </p:sp>
      <p:sp>
        <p:nvSpPr>
          <p:cNvPr id="14" name="TextBox 13"/>
          <p:cNvSpPr txBox="1"/>
          <p:nvPr/>
        </p:nvSpPr>
        <p:spPr>
          <a:xfrm>
            <a:off x="2249424"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rc5 deployed; settings in place</a:t>
            </a:r>
          </a:p>
        </p:txBody>
      </p:sp>
      <p:sp>
        <p:nvSpPr>
          <p:cNvPr id="15" name="TextBox 14"/>
          <p:cNvSpPr txBox="1"/>
          <p:nvPr/>
        </p:nvSpPr>
        <p:spPr>
          <a:xfrm>
            <a:off x="2249424"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Operator admin created, MFA on</a:t>
            </a:r>
          </a:p>
        </p:txBody>
      </p:sp>
      <p:sp>
        <p:nvSpPr>
          <p:cNvPr id="16" name="TextBox 15"/>
          <p:cNvSpPr txBox="1"/>
          <p:nvPr/>
        </p:nvSpPr>
        <p:spPr>
          <a:xfrm>
            <a:off x="2249424"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Domains moved; privacy notice live</a:t>
            </a:r>
          </a:p>
        </p:txBody>
      </p:sp>
      <p:sp>
        <p:nvSpPr>
          <p:cNvPr id="17" name="Oval 16"/>
          <p:cNvSpPr/>
          <p:nvPr/>
        </p:nvSpPr>
        <p:spPr>
          <a:xfrm>
            <a:off x="4133087"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25</a:t>
            </a:r>
          </a:p>
        </p:txBody>
      </p:sp>
      <p:sp>
        <p:nvSpPr>
          <p:cNvPr id="18" name="TextBox 17"/>
          <p:cNvSpPr txBox="1"/>
          <p:nvPr/>
        </p:nvSpPr>
        <p:spPr>
          <a:xfrm>
            <a:off x="3730752"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THU · SEPT</a:t>
            </a:r>
          </a:p>
        </p:txBody>
      </p:sp>
      <p:sp>
        <p:nvSpPr>
          <p:cNvPr id="19" name="Rounded Rectangle 18"/>
          <p:cNvSpPr/>
          <p:nvPr/>
        </p:nvSpPr>
        <p:spPr>
          <a:xfrm>
            <a:off x="3730752"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840480"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Channels and doors</a:t>
            </a:r>
          </a:p>
        </p:txBody>
      </p:sp>
      <p:sp>
        <p:nvSpPr>
          <p:cNvPr id="21" name="TextBox 20"/>
          <p:cNvSpPr txBox="1"/>
          <p:nvPr/>
        </p:nvSpPr>
        <p:spPr>
          <a:xfrm>
            <a:off x="3840480"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WhatsApp and Telegram live on production</a:t>
            </a:r>
          </a:p>
        </p:txBody>
      </p:sp>
      <p:sp>
        <p:nvSpPr>
          <p:cNvPr id="22" name="TextBox 21"/>
          <p:cNvSpPr txBox="1"/>
          <p:nvPr/>
        </p:nvSpPr>
        <p:spPr>
          <a:xfrm>
            <a:off x="3840480"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CAPTCHA on every sign-in door</a:t>
            </a:r>
          </a:p>
        </p:txBody>
      </p:sp>
      <p:sp>
        <p:nvSpPr>
          <p:cNvPr id="23" name="TextBox 22"/>
          <p:cNvSpPr txBox="1"/>
          <p:nvPr/>
        </p:nvSpPr>
        <p:spPr>
          <a:xfrm>
            <a:off x="3840480"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rc6 and rc7: 129/129</a:t>
            </a:r>
          </a:p>
        </p:txBody>
      </p:sp>
      <p:sp>
        <p:nvSpPr>
          <p:cNvPr id="24" name="Oval 23"/>
          <p:cNvSpPr/>
          <p:nvPr/>
        </p:nvSpPr>
        <p:spPr>
          <a:xfrm>
            <a:off x="5724144"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26</a:t>
            </a:r>
          </a:p>
        </p:txBody>
      </p:sp>
      <p:sp>
        <p:nvSpPr>
          <p:cNvPr id="25" name="TextBox 24"/>
          <p:cNvSpPr txBox="1"/>
          <p:nvPr/>
        </p:nvSpPr>
        <p:spPr>
          <a:xfrm>
            <a:off x="5321808"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FRI · SEPT</a:t>
            </a:r>
          </a:p>
        </p:txBody>
      </p:sp>
      <p:sp>
        <p:nvSpPr>
          <p:cNvPr id="26" name="Rounded Rectangle 25"/>
          <p:cNvSpPr/>
          <p:nvPr/>
        </p:nvSpPr>
        <p:spPr>
          <a:xfrm>
            <a:off x="5321808"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31536"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Rehearsal and rollback</a:t>
            </a:r>
          </a:p>
        </p:txBody>
      </p:sp>
      <p:sp>
        <p:nvSpPr>
          <p:cNvPr id="28" name="TextBox 27"/>
          <p:cNvSpPr txBox="1"/>
          <p:nvPr/>
        </p:nvSpPr>
        <p:spPr>
          <a:xfrm>
            <a:off x="5431536"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Staging proven on rc7</a:t>
            </a:r>
          </a:p>
        </p:txBody>
      </p:sp>
      <p:sp>
        <p:nvSpPr>
          <p:cNvPr id="29" name="TextBox 28"/>
          <p:cNvSpPr txBox="1"/>
          <p:nvPr/>
        </p:nvSpPr>
        <p:spPr>
          <a:xfrm>
            <a:off x="5431536"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Backup restored intact</a:t>
            </a:r>
          </a:p>
        </p:txBody>
      </p:sp>
      <p:sp>
        <p:nvSpPr>
          <p:cNvPr id="30" name="TextBox 29"/>
          <p:cNvSpPr txBox="1"/>
          <p:nvPr/>
        </p:nvSpPr>
        <p:spPr>
          <a:xfrm>
            <a:off x="5431536"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Account lockout after 5 wrong passwords</a:t>
            </a:r>
          </a:p>
        </p:txBody>
      </p:sp>
      <p:sp>
        <p:nvSpPr>
          <p:cNvPr id="31" name="Oval 30"/>
          <p:cNvSpPr/>
          <p:nvPr/>
        </p:nvSpPr>
        <p:spPr>
          <a:xfrm>
            <a:off x="7315200" y="1883664"/>
            <a:ext cx="658368" cy="6583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27</a:t>
            </a:r>
          </a:p>
        </p:txBody>
      </p:sp>
      <p:sp>
        <p:nvSpPr>
          <p:cNvPr id="32" name="TextBox 31"/>
          <p:cNvSpPr txBox="1"/>
          <p:nvPr/>
        </p:nvSpPr>
        <p:spPr>
          <a:xfrm>
            <a:off x="6912864"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SAT · SEPT</a:t>
            </a:r>
          </a:p>
        </p:txBody>
      </p:sp>
      <p:sp>
        <p:nvSpPr>
          <p:cNvPr id="33" name="Rounded Rectangle 32"/>
          <p:cNvSpPr/>
          <p:nvPr/>
        </p:nvSpPr>
        <p:spPr>
          <a:xfrm>
            <a:off x="6912864" y="2926080"/>
            <a:ext cx="1463040" cy="301752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022592" y="3063240"/>
            <a:ext cx="1243584" cy="502920"/>
          </a:xfrm>
          <a:prstGeom prst="rect">
            <a:avLst/>
          </a:prstGeom>
          <a:noFill/>
        </p:spPr>
        <p:txBody>
          <a:bodyPr wrap="square" lIns="0" rIns="0" tIns="0" bIns="0" anchor="t">
            <a:spAutoFit/>
          </a:bodyPr>
          <a:lstStyle/>
          <a:p>
            <a:pPr algn="l"/>
            <a:r>
              <a:rPr sz="1200" b="1" i="0">
                <a:solidFill>
                  <a:srgbClr val="003366"/>
                </a:solidFill>
                <a:latin typeface="Cambria"/>
              </a:rPr>
              <a:t>Security self-test</a:t>
            </a:r>
          </a:p>
        </p:txBody>
      </p:sp>
      <p:sp>
        <p:nvSpPr>
          <p:cNvPr id="35" name="TextBox 34"/>
          <p:cNvSpPr txBox="1"/>
          <p:nvPr/>
        </p:nvSpPr>
        <p:spPr>
          <a:xfrm>
            <a:off x="7022592"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Load, spike, rate-limit: pass</a:t>
            </a:r>
          </a:p>
        </p:txBody>
      </p:sp>
      <p:sp>
        <p:nvSpPr>
          <p:cNvPr id="36" name="TextBox 35"/>
          <p:cNvSpPr txBox="1"/>
          <p:nvPr/>
        </p:nvSpPr>
        <p:spPr>
          <a:xfrm>
            <a:off x="7022592"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Passive and active scans: 0 High</a:t>
            </a:r>
          </a:p>
        </p:txBody>
      </p:sp>
      <p:sp>
        <p:nvSpPr>
          <p:cNvPr id="37" name="Oval 36"/>
          <p:cNvSpPr/>
          <p:nvPr/>
        </p:nvSpPr>
        <p:spPr>
          <a:xfrm>
            <a:off x="8906256" y="1883664"/>
            <a:ext cx="658368" cy="658368"/>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28</a:t>
            </a:r>
          </a:p>
        </p:txBody>
      </p:sp>
      <p:sp>
        <p:nvSpPr>
          <p:cNvPr id="38" name="TextBox 37"/>
          <p:cNvSpPr txBox="1"/>
          <p:nvPr/>
        </p:nvSpPr>
        <p:spPr>
          <a:xfrm>
            <a:off x="8503920"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SUN · SEPT</a:t>
            </a:r>
          </a:p>
        </p:txBody>
      </p:sp>
      <p:sp>
        <p:nvSpPr>
          <p:cNvPr id="39" name="Rounded Rectangle 38"/>
          <p:cNvSpPr/>
          <p:nvPr/>
        </p:nvSpPr>
        <p:spPr>
          <a:xfrm>
            <a:off x="8503920" y="2926080"/>
            <a:ext cx="1463040" cy="301752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613648" y="3063240"/>
            <a:ext cx="1243584" cy="502920"/>
          </a:xfrm>
          <a:prstGeom prst="rect">
            <a:avLst/>
          </a:prstGeom>
          <a:noFill/>
        </p:spPr>
        <p:txBody>
          <a:bodyPr wrap="square" lIns="0" rIns="0" tIns="0" bIns="0" anchor="t">
            <a:spAutoFit/>
          </a:bodyPr>
          <a:lstStyle/>
          <a:p>
            <a:pPr algn="l"/>
            <a:r>
              <a:rPr sz="1200" b="1" i="0">
                <a:solidFill>
                  <a:srgbClr val="1F7A4D"/>
                </a:solidFill>
                <a:latin typeface="Cambria"/>
              </a:rPr>
              <a:t>GO</a:t>
            </a:r>
          </a:p>
        </p:txBody>
      </p:sp>
      <p:sp>
        <p:nvSpPr>
          <p:cNvPr id="41" name="TextBox 40"/>
          <p:cNvSpPr txBox="1"/>
          <p:nvPr/>
        </p:nvSpPr>
        <p:spPr>
          <a:xfrm>
            <a:off x="8613648"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rc8: 132/132; pen test done</a:t>
            </a:r>
          </a:p>
        </p:txBody>
      </p:sp>
      <p:sp>
        <p:nvSpPr>
          <p:cNvPr id="42" name="TextBox 41"/>
          <p:cNvSpPr txBox="1"/>
          <p:nvPr/>
        </p:nvSpPr>
        <p:spPr>
          <a:xfrm>
            <a:off x="8613648"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Board authorises go-live</a:t>
            </a:r>
          </a:p>
        </p:txBody>
      </p:sp>
      <p:sp>
        <p:nvSpPr>
          <p:cNvPr id="43" name="TextBox 42"/>
          <p:cNvSpPr txBox="1"/>
          <p:nvPr/>
        </p:nvSpPr>
        <p:spPr>
          <a:xfrm>
            <a:off x="8613648"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OEA onboarding begins; code freeze</a:t>
            </a:r>
          </a:p>
        </p:txBody>
      </p:sp>
      <p:sp>
        <p:nvSpPr>
          <p:cNvPr id="44" name="Oval 43"/>
          <p:cNvSpPr/>
          <p:nvPr/>
        </p:nvSpPr>
        <p:spPr>
          <a:xfrm>
            <a:off x="10497312" y="1883664"/>
            <a:ext cx="658368" cy="658368"/>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mbria"/>
              </a:rPr>
              <a:t>29</a:t>
            </a:r>
          </a:p>
        </p:txBody>
      </p:sp>
      <p:sp>
        <p:nvSpPr>
          <p:cNvPr id="45" name="TextBox 44"/>
          <p:cNvSpPr txBox="1"/>
          <p:nvPr/>
        </p:nvSpPr>
        <p:spPr>
          <a:xfrm>
            <a:off x="10094976" y="2615184"/>
            <a:ext cx="1463040" cy="228600"/>
          </a:xfrm>
          <a:prstGeom prst="rect">
            <a:avLst/>
          </a:prstGeom>
          <a:noFill/>
        </p:spPr>
        <p:txBody>
          <a:bodyPr wrap="square" lIns="0" rIns="0" tIns="0" bIns="0" anchor="t">
            <a:spAutoFit/>
          </a:bodyPr>
          <a:lstStyle/>
          <a:p>
            <a:pPr algn="ctr"/>
            <a:r>
              <a:rPr sz="900" b="1" i="0" spc="100">
                <a:solidFill>
                  <a:srgbClr val="7A8A9B"/>
                </a:solidFill>
                <a:latin typeface="Calibri"/>
              </a:rPr>
              <a:t>MON · SEPT</a:t>
            </a:r>
          </a:p>
        </p:txBody>
      </p:sp>
      <p:sp>
        <p:nvSpPr>
          <p:cNvPr id="46" name="Rounded Rectangle 45"/>
          <p:cNvSpPr/>
          <p:nvPr/>
        </p:nvSpPr>
        <p:spPr>
          <a:xfrm>
            <a:off x="10094976" y="2926080"/>
            <a:ext cx="1463040" cy="3017520"/>
          </a:xfrm>
          <a:prstGeom prst="roundRect">
            <a:avLst>
              <a:gd name="adj" fmla="val 6000"/>
            </a:avLst>
          </a:prstGeom>
          <a:solidFill>
            <a:srgbClr val="EAF1F9"/>
          </a:solidFill>
          <a:ln w="9525">
            <a:solidFill>
              <a:srgbClr val="1F7A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204704" y="3063240"/>
            <a:ext cx="1243584" cy="502920"/>
          </a:xfrm>
          <a:prstGeom prst="rect">
            <a:avLst/>
          </a:prstGeom>
          <a:noFill/>
        </p:spPr>
        <p:txBody>
          <a:bodyPr wrap="square" lIns="0" rIns="0" tIns="0" bIns="0" anchor="t">
            <a:spAutoFit/>
          </a:bodyPr>
          <a:lstStyle/>
          <a:p>
            <a:pPr algn="l"/>
            <a:r>
              <a:rPr sz="1200" b="1" i="0">
                <a:solidFill>
                  <a:srgbClr val="1F7A4D"/>
                </a:solidFill>
                <a:latin typeface="Cambria"/>
              </a:rPr>
              <a:t>First release live</a:t>
            </a:r>
          </a:p>
        </p:txBody>
      </p:sp>
      <p:sp>
        <p:nvSpPr>
          <p:cNvPr id="48" name="TextBox 47"/>
          <p:cNvSpPr txBox="1"/>
          <p:nvPr/>
        </p:nvSpPr>
        <p:spPr>
          <a:xfrm>
            <a:off x="10204704" y="3657600"/>
            <a:ext cx="1243584" cy="731520"/>
          </a:xfrm>
          <a:prstGeom prst="rect">
            <a:avLst/>
          </a:prstGeom>
          <a:noFill/>
        </p:spPr>
        <p:txBody>
          <a:bodyPr wrap="square" lIns="0" rIns="0" tIns="0" bIns="0" anchor="t">
            <a:spAutoFit/>
          </a:bodyPr>
          <a:lstStyle/>
          <a:p>
            <a:pPr algn="l"/>
            <a:r>
              <a:rPr sz="1000" b="0" i="0">
                <a:solidFill>
                  <a:srgbClr val="1C2B3A"/>
                </a:solidFill>
                <a:latin typeface="Calibri"/>
              </a:rPr>
              <a:t>rc9: Next.js 15, 132/132</a:t>
            </a:r>
          </a:p>
        </p:txBody>
      </p:sp>
      <p:sp>
        <p:nvSpPr>
          <p:cNvPr id="49" name="TextBox 48"/>
          <p:cNvSpPr txBox="1"/>
          <p:nvPr/>
        </p:nvSpPr>
        <p:spPr>
          <a:xfrm>
            <a:off x="10204704" y="4370832"/>
            <a:ext cx="1243584" cy="731520"/>
          </a:xfrm>
          <a:prstGeom prst="rect">
            <a:avLst/>
          </a:prstGeom>
          <a:noFill/>
        </p:spPr>
        <p:txBody>
          <a:bodyPr wrap="square" lIns="0" rIns="0" tIns="0" bIns="0" anchor="t">
            <a:spAutoFit/>
          </a:bodyPr>
          <a:lstStyle/>
          <a:p>
            <a:pPr algn="l"/>
            <a:r>
              <a:rPr sz="1000" b="0" i="0">
                <a:solidFill>
                  <a:srgbClr val="1C2B3A"/>
                </a:solidFill>
                <a:latin typeface="Calibri"/>
              </a:rPr>
              <a:t>Critical advisory cleared</a:t>
            </a:r>
          </a:p>
        </p:txBody>
      </p:sp>
      <p:sp>
        <p:nvSpPr>
          <p:cNvPr id="50" name="TextBox 49"/>
          <p:cNvSpPr txBox="1"/>
          <p:nvPr/>
        </p:nvSpPr>
        <p:spPr>
          <a:xfrm>
            <a:off x="10204704" y="5084064"/>
            <a:ext cx="1243584" cy="731520"/>
          </a:xfrm>
          <a:prstGeom prst="rect">
            <a:avLst/>
          </a:prstGeom>
          <a:noFill/>
        </p:spPr>
        <p:txBody>
          <a:bodyPr wrap="square" lIns="0" rIns="0" tIns="0" bIns="0" anchor="t">
            <a:spAutoFit/>
          </a:bodyPr>
          <a:lstStyle/>
          <a:p>
            <a:pPr algn="l"/>
            <a:r>
              <a:rPr sz="1000" b="0" i="0">
                <a:solidFill>
                  <a:srgbClr val="1C2B3A"/>
                </a:solidFill>
                <a:latin typeface="Calibri"/>
              </a:rPr>
              <a:t>Freeze lifted 1 min, restored</a:t>
            </a:r>
          </a:p>
        </p:txBody>
      </p:sp>
      <p:sp>
        <p:nvSpPr>
          <p:cNvPr id="51" name="TextBox 50"/>
          <p:cNvSpPr txBox="1"/>
          <p:nvPr/>
        </p:nvSpPr>
        <p:spPr>
          <a:xfrm>
            <a:off x="548640" y="6172200"/>
            <a:ext cx="11064240" cy="274320"/>
          </a:xfrm>
          <a:prstGeom prst="rect">
            <a:avLst/>
          </a:prstGeom>
          <a:noFill/>
        </p:spPr>
        <p:txBody>
          <a:bodyPr wrap="square" lIns="0" rIns="0" tIns="0" bIns="0" anchor="t">
            <a:spAutoFit/>
          </a:bodyPr>
          <a:lstStyle/>
          <a:p>
            <a:pPr algn="l"/>
            <a:r>
              <a:rPr sz="1200" b="1" i="0">
                <a:solidFill>
                  <a:srgbClr val="003366"/>
                </a:solidFill>
                <a:latin typeface="Calibri"/>
              </a:rPr>
              <a:t>Six release candidates in seven days. </a:t>
            </a:r>
            <a:r>
              <a:rPr sz="1200" b="0" i="0">
                <a:solidFill>
                  <a:srgbClr val="1C2B3A"/>
                </a:solidFill>
                <a:latin typeface="Calibri"/>
              </a:rPr>
              <a:t>Each passed the full suite before it was tagged, and rc9 showed a fix can ship under the freeze.</a:t>
            </a:r>
          </a:p>
        </p:txBody>
      </p:sp>
      <p:sp>
        <p:nvSpPr>
          <p:cNvPr id="52" name="TextBox 51"/>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Cutover steps: eight done, two waiting on Flutterwave</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Stage 5 of the go-live plan, as recorded in the tracker on 29 September.</a:t>
            </a:r>
          </a:p>
        </p:txBody>
      </p:sp>
      <p:sp>
        <p:nvSpPr>
          <p:cNvPr id="4" name="Rounded Rectangle 3"/>
          <p:cNvSpPr/>
          <p:nvPr/>
        </p:nvSpPr>
        <p:spPr>
          <a:xfrm>
            <a:off x="548640" y="1737360"/>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901952"/>
            <a:ext cx="493776" cy="493776"/>
          </a:xfrm>
          <a:prstGeom prst="ellipse">
            <a:avLst/>
          </a:prstGeom>
          <a:solidFill>
            <a:srgbClr val="7A8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19"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Confirm the target</a:t>
            </a:r>
          </a:p>
        </p:txBody>
      </p:sp>
      <p:sp>
        <p:nvSpPr>
          <p:cNvPr id="7" name="TextBox 6"/>
          <p:cNvSpPr txBox="1"/>
          <p:nvPr/>
        </p:nvSpPr>
        <p:spPr>
          <a:xfrm>
            <a:off x="1417319"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in practice, but not ticked in the tracker — tick it</a:t>
            </a:r>
          </a:p>
        </p:txBody>
      </p:sp>
      <p:sp>
        <p:nvSpPr>
          <p:cNvPr id="8" name="TextBox 7"/>
          <p:cNvSpPr txBox="1"/>
          <p:nvPr/>
        </p:nvSpPr>
        <p:spPr>
          <a:xfrm>
            <a:off x="5486400" y="1938528"/>
            <a:ext cx="365760" cy="411480"/>
          </a:xfrm>
          <a:prstGeom prst="rect">
            <a:avLst/>
          </a:prstGeom>
          <a:noFill/>
        </p:spPr>
        <p:txBody>
          <a:bodyPr wrap="square" lIns="0" rIns="0" tIns="0" bIns="0" anchor="t">
            <a:spAutoFit/>
          </a:bodyPr>
          <a:lstStyle/>
          <a:p>
            <a:pPr algn="ctr"/>
            <a:r>
              <a:rPr sz="2000" b="1" i="0">
                <a:solidFill>
                  <a:srgbClr val="7A8A9B"/>
                </a:solidFill>
                <a:latin typeface="Calibri"/>
              </a:rPr>
              <a:t>—</a:t>
            </a:r>
          </a:p>
        </p:txBody>
      </p:sp>
      <p:sp>
        <p:nvSpPr>
          <p:cNvPr id="9" name="Rounded Rectangle 8"/>
          <p:cNvSpPr/>
          <p:nvPr/>
        </p:nvSpPr>
        <p:spPr>
          <a:xfrm>
            <a:off x="54864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19"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Deploy the release candidate</a:t>
            </a:r>
          </a:p>
        </p:txBody>
      </p:sp>
      <p:sp>
        <p:nvSpPr>
          <p:cNvPr id="12" name="TextBox 11"/>
          <p:cNvSpPr txBox="1"/>
          <p:nvPr/>
        </p:nvSpPr>
        <p:spPr>
          <a:xfrm>
            <a:off x="1417319"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rc5 went live 24 Sept; production runs rc9 since 29 Sept</a:t>
            </a:r>
          </a:p>
        </p:txBody>
      </p:sp>
      <p:sp>
        <p:nvSpPr>
          <p:cNvPr id="13" name="TextBox 12"/>
          <p:cNvSpPr txBox="1"/>
          <p:nvPr/>
        </p:nvSpPr>
        <p:spPr>
          <a:xfrm>
            <a:off x="5486400"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14" name="Rounded Rectangle 13"/>
          <p:cNvSpPr/>
          <p:nvPr/>
        </p:nvSpPr>
        <p:spPr>
          <a:xfrm>
            <a:off x="548640" y="3529584"/>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94176"/>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19"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Set every variable</a:t>
            </a:r>
          </a:p>
        </p:txBody>
      </p:sp>
      <p:sp>
        <p:nvSpPr>
          <p:cNvPr id="17" name="TextBox 16"/>
          <p:cNvSpPr txBox="1"/>
          <p:nvPr/>
        </p:nvSpPr>
        <p:spPr>
          <a:xfrm>
            <a:off x="1417319"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Set 24 Sept, but the gateway label cannot read LIVE until the live key arrives</a:t>
            </a:r>
          </a:p>
        </p:txBody>
      </p:sp>
      <p:sp>
        <p:nvSpPr>
          <p:cNvPr id="18" name="TextBox 17"/>
          <p:cNvSpPr txBox="1"/>
          <p:nvPr/>
        </p:nvSpPr>
        <p:spPr>
          <a:xfrm>
            <a:off x="5486400" y="3730752"/>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19" name="Rounded Rectangle 18"/>
          <p:cNvSpPr/>
          <p:nvPr/>
        </p:nvSpPr>
        <p:spPr>
          <a:xfrm>
            <a:off x="54864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19"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Create the first operator admin</a:t>
            </a:r>
          </a:p>
        </p:txBody>
      </p:sp>
      <p:sp>
        <p:nvSpPr>
          <p:cNvPr id="22" name="TextBox 21"/>
          <p:cNvSpPr txBox="1"/>
          <p:nvPr/>
        </p:nvSpPr>
        <p:spPr>
          <a:xfrm>
            <a:off x="1417319"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password changed, MFA on</a:t>
            </a:r>
          </a:p>
        </p:txBody>
      </p:sp>
      <p:sp>
        <p:nvSpPr>
          <p:cNvPr id="23" name="TextBox 22"/>
          <p:cNvSpPr txBox="1"/>
          <p:nvPr/>
        </p:nvSpPr>
        <p:spPr>
          <a:xfrm>
            <a:off x="5486400"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4" name="Rounded Rectangle 23"/>
          <p:cNvSpPr/>
          <p:nvPr/>
        </p:nvSpPr>
        <p:spPr>
          <a:xfrm>
            <a:off x="54864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19"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Re-point the chat channels</a:t>
            </a:r>
          </a:p>
        </p:txBody>
      </p:sp>
      <p:sp>
        <p:nvSpPr>
          <p:cNvPr id="27" name="TextBox 26"/>
          <p:cNvSpPr txBox="1"/>
          <p:nvPr/>
        </p:nvSpPr>
        <p:spPr>
          <a:xfrm>
            <a:off x="1417319"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Both WhatsApp numbers and both Telegram bots routed, 25 Sept</a:t>
            </a:r>
          </a:p>
        </p:txBody>
      </p:sp>
      <p:sp>
        <p:nvSpPr>
          <p:cNvPr id="28" name="TextBox 27"/>
          <p:cNvSpPr txBox="1"/>
          <p:nvPr/>
        </p:nvSpPr>
        <p:spPr>
          <a:xfrm>
            <a:off x="5486400"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29" name="Rounded Rectangle 28"/>
          <p:cNvSpPr/>
          <p:nvPr/>
        </p:nvSpPr>
        <p:spPr>
          <a:xfrm>
            <a:off x="6172200" y="1737360"/>
            <a:ext cx="5440680" cy="822960"/>
          </a:xfrm>
          <a:prstGeom prst="roundRect">
            <a:avLst>
              <a:gd name="adj" fmla="val 10000"/>
            </a:avLst>
          </a:prstGeom>
          <a:solidFill>
            <a:srgbClr val="FFFFFF"/>
          </a:solidFill>
          <a:ln w="9525">
            <a:solidFill>
              <a:srgbClr val="B568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355080" y="1901952"/>
            <a:ext cx="493776" cy="49377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6</a:t>
            </a:r>
          </a:p>
        </p:txBody>
      </p:sp>
      <p:sp>
        <p:nvSpPr>
          <p:cNvPr id="31" name="TextBox 30"/>
          <p:cNvSpPr txBox="1"/>
          <p:nvPr/>
        </p:nvSpPr>
        <p:spPr>
          <a:xfrm>
            <a:off x="7040880" y="1856231"/>
            <a:ext cx="4023360" cy="292608"/>
          </a:xfrm>
          <a:prstGeom prst="rect">
            <a:avLst/>
          </a:prstGeom>
          <a:noFill/>
        </p:spPr>
        <p:txBody>
          <a:bodyPr wrap="square" lIns="0" rIns="0" tIns="0" bIns="0" anchor="t">
            <a:spAutoFit/>
          </a:bodyPr>
          <a:lstStyle/>
          <a:p>
            <a:pPr algn="l"/>
            <a:r>
              <a:rPr sz="1400" b="1" i="0">
                <a:solidFill>
                  <a:srgbClr val="003366"/>
                </a:solidFill>
                <a:latin typeface="Calibri"/>
              </a:rPr>
              <a:t>Point Flutterwave at production</a:t>
            </a:r>
          </a:p>
        </p:txBody>
      </p:sp>
      <p:sp>
        <p:nvSpPr>
          <p:cNvPr id="32" name="TextBox 31"/>
          <p:cNvSpPr txBox="1"/>
          <p:nvPr/>
        </p:nvSpPr>
        <p:spPr>
          <a:xfrm>
            <a:off x="7040880" y="2167128"/>
            <a:ext cx="4023360" cy="347472"/>
          </a:xfrm>
          <a:prstGeom prst="rect">
            <a:avLst/>
          </a:prstGeom>
          <a:noFill/>
        </p:spPr>
        <p:txBody>
          <a:bodyPr wrap="square" lIns="0" rIns="0" tIns="0" bIns="0" anchor="t">
            <a:spAutoFit/>
          </a:bodyPr>
          <a:lstStyle/>
          <a:p>
            <a:pPr algn="l"/>
            <a:r>
              <a:rPr sz="1050" b="0" i="0">
                <a:solidFill>
                  <a:srgbClr val="1C2B3A"/>
                </a:solidFill>
                <a:latin typeface="Calibri"/>
              </a:rPr>
              <a:t>Open: the webhook and secret hash follow the live key</a:t>
            </a:r>
          </a:p>
        </p:txBody>
      </p:sp>
      <p:sp>
        <p:nvSpPr>
          <p:cNvPr id="33" name="TextBox 32"/>
          <p:cNvSpPr txBox="1"/>
          <p:nvPr/>
        </p:nvSpPr>
        <p:spPr>
          <a:xfrm>
            <a:off x="11109959" y="1938528"/>
            <a:ext cx="365760" cy="411480"/>
          </a:xfrm>
          <a:prstGeom prst="rect">
            <a:avLst/>
          </a:prstGeom>
          <a:noFill/>
        </p:spPr>
        <p:txBody>
          <a:bodyPr wrap="square" lIns="0" rIns="0" tIns="0" bIns="0" anchor="t">
            <a:spAutoFit/>
          </a:bodyPr>
          <a:lstStyle/>
          <a:p>
            <a:pPr algn="ctr"/>
            <a:r>
              <a:rPr sz="2000" b="1" i="0">
                <a:solidFill>
                  <a:srgbClr val="B5680A"/>
                </a:solidFill>
                <a:latin typeface="Calibri"/>
              </a:rPr>
              <a:t>!</a:t>
            </a:r>
          </a:p>
        </p:txBody>
      </p:sp>
      <p:sp>
        <p:nvSpPr>
          <p:cNvPr id="34" name="Rounded Rectangle 33"/>
          <p:cNvSpPr/>
          <p:nvPr/>
        </p:nvSpPr>
        <p:spPr>
          <a:xfrm>
            <a:off x="6172200" y="2633472"/>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355080" y="2798064"/>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7</a:t>
            </a:r>
          </a:p>
        </p:txBody>
      </p:sp>
      <p:sp>
        <p:nvSpPr>
          <p:cNvPr id="36" name="TextBox 35"/>
          <p:cNvSpPr txBox="1"/>
          <p:nvPr/>
        </p:nvSpPr>
        <p:spPr>
          <a:xfrm>
            <a:off x="7040880" y="2752344"/>
            <a:ext cx="4023360" cy="292608"/>
          </a:xfrm>
          <a:prstGeom prst="rect">
            <a:avLst/>
          </a:prstGeom>
          <a:noFill/>
        </p:spPr>
        <p:txBody>
          <a:bodyPr wrap="square" lIns="0" rIns="0" tIns="0" bIns="0" anchor="t">
            <a:spAutoFit/>
          </a:bodyPr>
          <a:lstStyle/>
          <a:p>
            <a:pPr algn="l"/>
            <a:r>
              <a:rPr sz="1400" b="1" i="0">
                <a:solidFill>
                  <a:srgbClr val="003366"/>
                </a:solidFill>
                <a:latin typeface="Calibri"/>
              </a:rPr>
              <a:t>Move the three portal domains</a:t>
            </a:r>
          </a:p>
        </p:txBody>
      </p:sp>
      <p:sp>
        <p:nvSpPr>
          <p:cNvPr id="37" name="TextBox 36"/>
          <p:cNvSpPr txBox="1"/>
          <p:nvPr/>
        </p:nvSpPr>
        <p:spPr>
          <a:xfrm>
            <a:off x="7040880" y="3063239"/>
            <a:ext cx="4023360" cy="347472"/>
          </a:xfrm>
          <a:prstGeom prst="rect">
            <a:avLst/>
          </a:prstGeom>
          <a:noFill/>
        </p:spPr>
        <p:txBody>
          <a:bodyPr wrap="square" lIns="0" rIns="0" tIns="0" bIns="0" anchor="t">
            <a:spAutoFit/>
          </a:bodyPr>
          <a:lstStyle/>
          <a:p>
            <a:pPr algn="l"/>
            <a:r>
              <a:rPr sz="1050" b="0" i="0">
                <a:solidFill>
                  <a:srgbClr val="1C2B3A"/>
                </a:solidFill>
                <a:latin typeface="Calibri"/>
              </a:rPr>
              <a:t>Moved, never aliased; confirmed 24 Sept</a:t>
            </a:r>
          </a:p>
        </p:txBody>
      </p:sp>
      <p:sp>
        <p:nvSpPr>
          <p:cNvPr id="38" name="TextBox 37"/>
          <p:cNvSpPr txBox="1"/>
          <p:nvPr/>
        </p:nvSpPr>
        <p:spPr>
          <a:xfrm>
            <a:off x="11109959" y="2834640"/>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39" name="Rounded Rectangle 38"/>
          <p:cNvSpPr/>
          <p:nvPr/>
        </p:nvSpPr>
        <p:spPr>
          <a:xfrm>
            <a:off x="6172200" y="3529584"/>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6355080" y="3694176"/>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8</a:t>
            </a:r>
          </a:p>
        </p:txBody>
      </p:sp>
      <p:sp>
        <p:nvSpPr>
          <p:cNvPr id="41" name="TextBox 40"/>
          <p:cNvSpPr txBox="1"/>
          <p:nvPr/>
        </p:nvSpPr>
        <p:spPr>
          <a:xfrm>
            <a:off x="7040880" y="3648456"/>
            <a:ext cx="4023360" cy="292608"/>
          </a:xfrm>
          <a:prstGeom prst="rect">
            <a:avLst/>
          </a:prstGeom>
          <a:noFill/>
        </p:spPr>
        <p:txBody>
          <a:bodyPr wrap="square" lIns="0" rIns="0" tIns="0" bIns="0" anchor="t">
            <a:spAutoFit/>
          </a:bodyPr>
          <a:lstStyle/>
          <a:p>
            <a:pPr algn="l"/>
            <a:r>
              <a:rPr sz="1400" b="1" i="0">
                <a:solidFill>
                  <a:srgbClr val="003366"/>
                </a:solidFill>
                <a:latin typeface="Calibri"/>
              </a:rPr>
              <a:t>Bind each organisation's domain</a:t>
            </a:r>
          </a:p>
        </p:txBody>
      </p:sp>
      <p:sp>
        <p:nvSpPr>
          <p:cNvPr id="42" name="TextBox 41"/>
          <p:cNvSpPr txBox="1"/>
          <p:nvPr/>
        </p:nvSpPr>
        <p:spPr>
          <a:xfrm>
            <a:off x="7040880" y="3959352"/>
            <a:ext cx="4023360" cy="347472"/>
          </a:xfrm>
          <a:prstGeom prst="rect">
            <a:avLst/>
          </a:prstGeom>
          <a:noFill/>
        </p:spPr>
        <p:txBody>
          <a:bodyPr wrap="square" lIns="0" rIns="0" tIns="0" bIns="0" anchor="t">
            <a:spAutoFit/>
          </a:bodyPr>
          <a:lstStyle/>
          <a:p>
            <a:pPr algn="l"/>
            <a:r>
              <a:rPr sz="1050" b="0" i="0">
                <a:solidFill>
                  <a:srgbClr val="1C2B3A"/>
                </a:solidFill>
                <a:latin typeface="Calibri"/>
              </a:rPr>
              <a:t>Done 24 Sept: each portal's links carry its own brand</a:t>
            </a:r>
          </a:p>
        </p:txBody>
      </p:sp>
      <p:sp>
        <p:nvSpPr>
          <p:cNvPr id="43" name="TextBox 42"/>
          <p:cNvSpPr txBox="1"/>
          <p:nvPr/>
        </p:nvSpPr>
        <p:spPr>
          <a:xfrm>
            <a:off x="11109959" y="3730752"/>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4" name="Rounded Rectangle 43"/>
          <p:cNvSpPr/>
          <p:nvPr/>
        </p:nvSpPr>
        <p:spPr>
          <a:xfrm>
            <a:off x="6172200" y="4425696"/>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6355080" y="4590288"/>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9</a:t>
            </a:r>
          </a:p>
        </p:txBody>
      </p:sp>
      <p:sp>
        <p:nvSpPr>
          <p:cNvPr id="46" name="TextBox 45"/>
          <p:cNvSpPr txBox="1"/>
          <p:nvPr/>
        </p:nvSpPr>
        <p:spPr>
          <a:xfrm>
            <a:off x="7040880" y="4544568"/>
            <a:ext cx="4023360" cy="292608"/>
          </a:xfrm>
          <a:prstGeom prst="rect">
            <a:avLst/>
          </a:prstGeom>
          <a:noFill/>
        </p:spPr>
        <p:txBody>
          <a:bodyPr wrap="square" lIns="0" rIns="0" tIns="0" bIns="0" anchor="t">
            <a:spAutoFit/>
          </a:bodyPr>
          <a:lstStyle/>
          <a:p>
            <a:pPr algn="l"/>
            <a:r>
              <a:rPr sz="1400" b="1" i="0">
                <a:solidFill>
                  <a:srgbClr val="003366"/>
                </a:solidFill>
                <a:latin typeface="Calibri"/>
              </a:rPr>
              <a:t>Prove which build answers</a:t>
            </a:r>
          </a:p>
        </p:txBody>
      </p:sp>
      <p:sp>
        <p:nvSpPr>
          <p:cNvPr id="47" name="TextBox 46"/>
          <p:cNvSpPr txBox="1"/>
          <p:nvPr/>
        </p:nvSpPr>
        <p:spPr>
          <a:xfrm>
            <a:off x="7040880" y="4855464"/>
            <a:ext cx="4023360" cy="347472"/>
          </a:xfrm>
          <a:prstGeom prst="rect">
            <a:avLst/>
          </a:prstGeom>
          <a:noFill/>
        </p:spPr>
        <p:txBody>
          <a:bodyPr wrap="square" lIns="0" rIns="0" tIns="0" bIns="0" anchor="t">
            <a:spAutoFit/>
          </a:bodyPr>
          <a:lstStyle/>
          <a:p>
            <a:pPr algn="l"/>
            <a:r>
              <a:rPr sz="1050" b="0" i="0">
                <a:solidFill>
                  <a:srgbClr val="1C2B3A"/>
                </a:solidFill>
                <a:latin typeface="Calibri"/>
              </a:rPr>
              <a:t>Every hostname returns the same deployment id</a:t>
            </a:r>
          </a:p>
        </p:txBody>
      </p:sp>
      <p:sp>
        <p:nvSpPr>
          <p:cNvPr id="48" name="TextBox 47"/>
          <p:cNvSpPr txBox="1"/>
          <p:nvPr/>
        </p:nvSpPr>
        <p:spPr>
          <a:xfrm>
            <a:off x="11109959" y="4626864"/>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49" name="Rounded Rectangle 48"/>
          <p:cNvSpPr/>
          <p:nvPr/>
        </p:nvSpPr>
        <p:spPr>
          <a:xfrm>
            <a:off x="6172200" y="5321808"/>
            <a:ext cx="5440680" cy="822960"/>
          </a:xfrm>
          <a:prstGeom prst="roundRect">
            <a:avLst>
              <a:gd name="adj" fmla="val 10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6355080" y="5486400"/>
            <a:ext cx="493776" cy="49377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10</a:t>
            </a:r>
          </a:p>
        </p:txBody>
      </p:sp>
      <p:sp>
        <p:nvSpPr>
          <p:cNvPr id="51" name="TextBox 50"/>
          <p:cNvSpPr txBox="1"/>
          <p:nvPr/>
        </p:nvSpPr>
        <p:spPr>
          <a:xfrm>
            <a:off x="7040880" y="5440680"/>
            <a:ext cx="4023360" cy="292608"/>
          </a:xfrm>
          <a:prstGeom prst="rect">
            <a:avLst/>
          </a:prstGeom>
          <a:noFill/>
        </p:spPr>
        <p:txBody>
          <a:bodyPr wrap="square" lIns="0" rIns="0" tIns="0" bIns="0" anchor="t">
            <a:spAutoFit/>
          </a:bodyPr>
          <a:lstStyle/>
          <a:p>
            <a:pPr algn="l"/>
            <a:r>
              <a:rPr sz="1400" b="1" i="0">
                <a:solidFill>
                  <a:srgbClr val="003366"/>
                </a:solidFill>
                <a:latin typeface="Calibri"/>
              </a:rPr>
              <a:t>Verify production</a:t>
            </a:r>
          </a:p>
        </p:txBody>
      </p:sp>
      <p:sp>
        <p:nvSpPr>
          <p:cNvPr id="52" name="TextBox 51"/>
          <p:cNvSpPr txBox="1"/>
          <p:nvPr/>
        </p:nvSpPr>
        <p:spPr>
          <a:xfrm>
            <a:off x="7040880" y="5751576"/>
            <a:ext cx="4023360" cy="347472"/>
          </a:xfrm>
          <a:prstGeom prst="rect">
            <a:avLst/>
          </a:prstGeom>
          <a:noFill/>
        </p:spPr>
        <p:txBody>
          <a:bodyPr wrap="square" lIns="0" rIns="0" tIns="0" bIns="0" anchor="t">
            <a:spAutoFit/>
          </a:bodyPr>
          <a:lstStyle/>
          <a:p>
            <a:pPr algn="l"/>
            <a:r>
              <a:rPr sz="1050" b="0" i="0">
                <a:solidFill>
                  <a:srgbClr val="1C2B3A"/>
                </a:solidFill>
                <a:latin typeface="Calibri"/>
              </a:rPr>
              <a:t>Read-back done 25 Sept; production confirmed clean</a:t>
            </a:r>
          </a:p>
        </p:txBody>
      </p:sp>
      <p:sp>
        <p:nvSpPr>
          <p:cNvPr id="53" name="TextBox 52"/>
          <p:cNvSpPr txBox="1"/>
          <p:nvPr/>
        </p:nvSpPr>
        <p:spPr>
          <a:xfrm>
            <a:off x="11109959" y="5522976"/>
            <a:ext cx="365760" cy="411480"/>
          </a:xfrm>
          <a:prstGeom prst="rect">
            <a:avLst/>
          </a:prstGeom>
          <a:noFill/>
        </p:spPr>
        <p:txBody>
          <a:bodyPr wrap="square" lIns="0" rIns="0" tIns="0" bIns="0" anchor="t">
            <a:spAutoFit/>
          </a:bodyPr>
          <a:lstStyle/>
          <a:p>
            <a:pPr algn="ctr"/>
            <a:r>
              <a:rPr sz="2000" b="1" i="0">
                <a:solidFill>
                  <a:srgbClr val="1F7A4D"/>
                </a:solidFill>
                <a:latin typeface="Calibri"/>
              </a:rPr>
              <a:t>✓</a:t>
            </a:r>
          </a:p>
        </p:txBody>
      </p:sp>
      <p:sp>
        <p:nvSpPr>
          <p:cNvPr id="54" name="TextBox 53"/>
          <p:cNvSpPr txBox="1"/>
          <p:nvPr/>
        </p:nvSpPr>
        <p:spPr>
          <a:xfrm>
            <a:off x="548640" y="6236208"/>
            <a:ext cx="11064240" cy="274320"/>
          </a:xfrm>
          <a:prstGeom prst="rect">
            <a:avLst/>
          </a:prstGeom>
          <a:noFill/>
        </p:spPr>
        <p:txBody>
          <a:bodyPr wrap="square" lIns="0" rIns="0" tIns="0" bIns="0" anchor="t">
            <a:spAutoFit/>
          </a:bodyPr>
          <a:lstStyle/>
          <a:p>
            <a:pPr algn="l"/>
            <a:r>
              <a:rPr sz="1200" b="1" i="0">
                <a:solidFill>
                  <a:srgbClr val="003366"/>
                </a:solidFill>
                <a:latin typeface="Calibri"/>
              </a:rPr>
              <a:t>Until the Flutterwave live key arrives, </a:t>
            </a:r>
            <a:r>
              <a:rPr sz="1200" b="0" i="0">
                <a:solidFill>
                  <a:srgbClr val="1C2B3A"/>
                </a:solidFill>
                <a:latin typeface="Calibri"/>
              </a:rPr>
              <a:t>payments come in by bank transfer with proof, confirmed by three people. Nothing else waits on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Payment gateway: built in, waiting on the live key</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board's Option A (23 Sept) shipped in rc4 and is in production. The live key and the board minute are what remain.</a:t>
            </a:r>
          </a:p>
        </p:txBody>
      </p:sp>
      <p:sp>
        <p:nvSpPr>
          <p:cNvPr id="4" name="Rounded Rectangle 3"/>
          <p:cNvSpPr/>
          <p:nvPr/>
        </p:nvSpPr>
        <p:spPr>
          <a:xfrm>
            <a:off x="54864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822959" y="1965960"/>
            <a:ext cx="2377440" cy="292608"/>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BUILT AND LIVE</a:t>
            </a:r>
          </a:p>
        </p:txBody>
      </p:sp>
      <p:sp>
        <p:nvSpPr>
          <p:cNvPr id="6" name="Oval 5"/>
          <p:cNvSpPr/>
          <p:nvPr/>
        </p:nvSpPr>
        <p:spPr>
          <a:xfrm>
            <a:off x="868680" y="2532888"/>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7" name="TextBox 6"/>
          <p:cNvSpPr txBox="1"/>
          <p:nvPr/>
        </p:nvSpPr>
        <p:spPr>
          <a:xfrm>
            <a:off x="114300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takes Naira and foreign-currency collections</a:t>
            </a:r>
          </a:p>
        </p:txBody>
      </p:sp>
      <p:sp>
        <p:nvSpPr>
          <p:cNvPr id="8" name="Oval 7"/>
          <p:cNvSpPr/>
          <p:nvPr/>
        </p:nvSpPr>
        <p:spPr>
          <a:xfrm>
            <a:off x="868680" y="2953512"/>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9" name="TextBox 8"/>
          <p:cNvSpPr txBox="1"/>
          <p:nvPr/>
        </p:nvSpPr>
        <p:spPr>
          <a:xfrm>
            <a:off x="114300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Payouts never reach Flutterwave; they go by recorded bank transfer</a:t>
            </a:r>
          </a:p>
        </p:txBody>
      </p:sp>
      <p:sp>
        <p:nvSpPr>
          <p:cNvPr id="10" name="Oval 9"/>
          <p:cNvSpPr/>
          <p:nvPr/>
        </p:nvSpPr>
        <p:spPr>
          <a:xfrm>
            <a:off x="868680" y="3374136"/>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1" name="TextBox 10"/>
          <p:cNvSpPr txBox="1"/>
          <p:nvPr/>
        </p:nvSpPr>
        <p:spPr>
          <a:xfrm>
            <a:off x="114300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A payment in the wrong currency is refused, never posted</a:t>
            </a:r>
          </a:p>
        </p:txBody>
      </p:sp>
      <p:sp>
        <p:nvSpPr>
          <p:cNvPr id="12" name="Oval 11"/>
          <p:cNvSpPr/>
          <p:nvPr/>
        </p:nvSpPr>
        <p:spPr>
          <a:xfrm>
            <a:off x="868680" y="3794760"/>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3" name="TextBox 12"/>
          <p:cNvSpPr txBox="1"/>
          <p:nvPr/>
        </p:nvSpPr>
        <p:spPr>
          <a:xfrm>
            <a:off x="114300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Each organisation connects its own Flutterwave account</a:t>
            </a:r>
          </a:p>
        </p:txBody>
      </p:sp>
      <p:sp>
        <p:nvSpPr>
          <p:cNvPr id="14" name="Oval 13"/>
          <p:cNvSpPr/>
          <p:nvPr/>
        </p:nvSpPr>
        <p:spPr>
          <a:xfrm>
            <a:off x="868680" y="4215384"/>
            <a:ext cx="128016" cy="128016"/>
          </a:xfrm>
          <a:prstGeom prst="ellipse">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5" name="TextBox 14"/>
          <p:cNvSpPr txBox="1"/>
          <p:nvPr/>
        </p:nvSpPr>
        <p:spPr>
          <a:xfrm>
            <a:off x="114300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Paystack code is kept but switched off; no key, no traffic</a:t>
            </a:r>
          </a:p>
        </p:txBody>
      </p:sp>
      <p:sp>
        <p:nvSpPr>
          <p:cNvPr id="16" name="Rounded Rectangle 15"/>
          <p:cNvSpPr/>
          <p:nvPr/>
        </p:nvSpPr>
        <p:spPr>
          <a:xfrm>
            <a:off x="6172200" y="1783080"/>
            <a:ext cx="5440680" cy="288036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446520" y="1965960"/>
            <a:ext cx="2377440" cy="292608"/>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STILL OPEN</a:t>
            </a:r>
          </a:p>
        </p:txBody>
      </p:sp>
      <p:sp>
        <p:nvSpPr>
          <p:cNvPr id="18" name="Oval 17"/>
          <p:cNvSpPr/>
          <p:nvPr/>
        </p:nvSpPr>
        <p:spPr>
          <a:xfrm>
            <a:off x="6492240" y="2532888"/>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19" name="TextBox 18"/>
          <p:cNvSpPr txBox="1"/>
          <p:nvPr/>
        </p:nvSpPr>
        <p:spPr>
          <a:xfrm>
            <a:off x="6766560" y="2468880"/>
            <a:ext cx="4663440" cy="365760"/>
          </a:xfrm>
          <a:prstGeom prst="rect">
            <a:avLst/>
          </a:prstGeom>
          <a:noFill/>
        </p:spPr>
        <p:txBody>
          <a:bodyPr wrap="square" lIns="0" rIns="0" tIns="0" bIns="0" anchor="t">
            <a:spAutoFit/>
          </a:bodyPr>
          <a:lstStyle/>
          <a:p>
            <a:pPr algn="l"/>
            <a:r>
              <a:rPr sz="1250" b="0" i="0">
                <a:solidFill>
                  <a:srgbClr val="1C2B3A"/>
                </a:solidFill>
                <a:latin typeface="Calibri"/>
              </a:rPr>
              <a:t>Flutterwave business verification → live secret key (1.8)</a:t>
            </a:r>
          </a:p>
        </p:txBody>
      </p:sp>
      <p:sp>
        <p:nvSpPr>
          <p:cNvPr id="20" name="Oval 19"/>
          <p:cNvSpPr/>
          <p:nvPr/>
        </p:nvSpPr>
        <p:spPr>
          <a:xfrm>
            <a:off x="6492240" y="2953512"/>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1" name="TextBox 20"/>
          <p:cNvSpPr txBox="1"/>
          <p:nvPr/>
        </p:nvSpPr>
        <p:spPr>
          <a:xfrm>
            <a:off x="6766560" y="2889504"/>
            <a:ext cx="4663440" cy="365760"/>
          </a:xfrm>
          <a:prstGeom prst="rect">
            <a:avLst/>
          </a:prstGeom>
          <a:noFill/>
        </p:spPr>
        <p:txBody>
          <a:bodyPr wrap="square" lIns="0" rIns="0" tIns="0" bIns="0" anchor="t">
            <a:spAutoFit/>
          </a:bodyPr>
          <a:lstStyle/>
          <a:p>
            <a:pPr algn="l"/>
            <a:r>
              <a:rPr sz="1250" b="0" i="0">
                <a:solidFill>
                  <a:srgbClr val="1C2B3A"/>
                </a:solidFill>
                <a:latin typeface="Calibri"/>
              </a:rPr>
              <a:t>Webhook and secret hash in the Flutterwave dashboard (5.5a)</a:t>
            </a:r>
          </a:p>
        </p:txBody>
      </p:sp>
      <p:sp>
        <p:nvSpPr>
          <p:cNvPr id="22" name="Oval 21"/>
          <p:cNvSpPr/>
          <p:nvPr/>
        </p:nvSpPr>
        <p:spPr>
          <a:xfrm>
            <a:off x="6492240" y="3374136"/>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3" name="TextBox 22"/>
          <p:cNvSpPr txBox="1"/>
          <p:nvPr/>
        </p:nvSpPr>
        <p:spPr>
          <a:xfrm>
            <a:off x="6766560" y="3310128"/>
            <a:ext cx="4663440" cy="365760"/>
          </a:xfrm>
          <a:prstGeom prst="rect">
            <a:avLst/>
          </a:prstGeom>
          <a:noFill/>
        </p:spPr>
        <p:txBody>
          <a:bodyPr wrap="square" lIns="0" rIns="0" tIns="0" bIns="0" anchor="t">
            <a:spAutoFit/>
          </a:bodyPr>
          <a:lstStyle/>
          <a:p>
            <a:pPr algn="l"/>
            <a:r>
              <a:rPr sz="1250" b="0" i="0">
                <a:solidFill>
                  <a:srgbClr val="1C2B3A"/>
                </a:solidFill>
                <a:latin typeface="Calibri"/>
              </a:rPr>
              <a:t>Board minute amending locked decision 4: drafted, unsigned</a:t>
            </a:r>
          </a:p>
        </p:txBody>
      </p:sp>
      <p:sp>
        <p:nvSpPr>
          <p:cNvPr id="24" name="Oval 23"/>
          <p:cNvSpPr/>
          <p:nvPr/>
        </p:nvSpPr>
        <p:spPr>
          <a:xfrm>
            <a:off x="6492240" y="3794760"/>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5" name="TextBox 24"/>
          <p:cNvSpPr txBox="1"/>
          <p:nvPr/>
        </p:nvSpPr>
        <p:spPr>
          <a:xfrm>
            <a:off x="6766560" y="3730752"/>
            <a:ext cx="4663440" cy="365760"/>
          </a:xfrm>
          <a:prstGeom prst="rect">
            <a:avLst/>
          </a:prstGeom>
          <a:noFill/>
        </p:spPr>
        <p:txBody>
          <a:bodyPr wrap="square" lIns="0" rIns="0" tIns="0" bIns="0" anchor="t">
            <a:spAutoFit/>
          </a:bodyPr>
          <a:lstStyle/>
          <a:p>
            <a:pPr algn="l"/>
            <a:r>
              <a:rPr sz="1250" b="0" i="0">
                <a:solidFill>
                  <a:srgbClr val="1C2B3A"/>
                </a:solidFill>
                <a:latin typeface="Calibri"/>
              </a:rPr>
              <a:t>Automated Flutterwave payouts (Option B), after go-live</a:t>
            </a:r>
          </a:p>
        </p:txBody>
      </p:sp>
      <p:sp>
        <p:nvSpPr>
          <p:cNvPr id="26" name="Oval 25"/>
          <p:cNvSpPr/>
          <p:nvPr/>
        </p:nvSpPr>
        <p:spPr>
          <a:xfrm>
            <a:off x="6492240" y="4215384"/>
            <a:ext cx="128016" cy="128016"/>
          </a:xfrm>
          <a:prstGeom prst="ellipse">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 b="1">
                <a:solidFill>
                  <a:srgbClr val="FFFFFF"/>
                </a:solidFill>
                <a:latin typeface="Cambria"/>
              </a:rPr>
              <a:t/>
            </a:r>
          </a:p>
        </p:txBody>
      </p:sp>
      <p:sp>
        <p:nvSpPr>
          <p:cNvPr id="27" name="TextBox 26"/>
          <p:cNvSpPr txBox="1"/>
          <p:nvPr/>
        </p:nvSpPr>
        <p:spPr>
          <a:xfrm>
            <a:off x="6766560" y="4151376"/>
            <a:ext cx="4663440" cy="365760"/>
          </a:xfrm>
          <a:prstGeom prst="rect">
            <a:avLst/>
          </a:prstGeom>
          <a:noFill/>
        </p:spPr>
        <p:txBody>
          <a:bodyPr wrap="square" lIns="0" rIns="0" tIns="0" bIns="0" anchor="t">
            <a:spAutoFit/>
          </a:bodyPr>
          <a:lstStyle/>
          <a:p>
            <a:pPr algn="l"/>
            <a:r>
              <a:rPr sz="1250" b="0" i="0">
                <a:solidFill>
                  <a:srgbClr val="1C2B3A"/>
                </a:solidFill>
                <a:latin typeface="Calibri"/>
              </a:rPr>
              <a:t>Gateway label on screen reads LIVE (3.5)</a:t>
            </a:r>
          </a:p>
        </p:txBody>
      </p:sp>
      <p:sp>
        <p:nvSpPr>
          <p:cNvPr id="28" name="Rounded Rectangle 27"/>
          <p:cNvSpPr/>
          <p:nvPr/>
        </p:nvSpPr>
        <p:spPr>
          <a:xfrm>
            <a:off x="548640" y="4846320"/>
            <a:ext cx="11064240" cy="1188720"/>
          </a:xfrm>
          <a:prstGeom prst="roundRect">
            <a:avLst>
              <a:gd name="adj" fmla="val 6000"/>
            </a:avLst>
          </a:prstGeom>
          <a:solidFill>
            <a:srgbClr val="EAF1F9"/>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4983480"/>
            <a:ext cx="2743200" cy="228600"/>
          </a:xfrm>
          <a:prstGeom prst="rect">
            <a:avLst/>
          </a:prstGeom>
          <a:noFill/>
        </p:spPr>
        <p:txBody>
          <a:bodyPr wrap="square" lIns="0" rIns="0" tIns="0" bIns="0" anchor="t">
            <a:spAutoFit/>
          </a:bodyPr>
          <a:lstStyle/>
          <a:p>
            <a:pPr algn="l"/>
            <a:r>
              <a:rPr sz="950" b="1" i="0" spc="150">
                <a:solidFill>
                  <a:srgbClr val="C08A1E"/>
                </a:solidFill>
                <a:latin typeface="Calibri"/>
              </a:rPr>
              <a:t>MEANWHILE</a:t>
            </a:r>
          </a:p>
        </p:txBody>
      </p:sp>
      <p:sp>
        <p:nvSpPr>
          <p:cNvPr id="30" name="TextBox 29"/>
          <p:cNvSpPr txBox="1"/>
          <p:nvPr/>
        </p:nvSpPr>
        <p:spPr>
          <a:xfrm>
            <a:off x="822960" y="5230368"/>
            <a:ext cx="10515600" cy="914400"/>
          </a:xfrm>
          <a:prstGeom prst="rect">
            <a:avLst/>
          </a:prstGeom>
          <a:noFill/>
        </p:spPr>
        <p:txBody>
          <a:bodyPr wrap="square" lIns="0" rIns="0" tIns="0" bIns="0" anchor="t">
            <a:spAutoFit/>
          </a:bodyPr>
          <a:lstStyle/>
          <a:p>
            <a:pPr algn="l"/>
            <a:r>
              <a:rPr sz="1250" b="1" i="0">
                <a:solidFill>
                  <a:srgbClr val="003366"/>
                </a:solidFill>
                <a:latin typeface="Calibri"/>
              </a:rPr>
              <a:t>Money can still move, just not online. </a:t>
            </a:r>
            <a:r>
              <a:rPr sz="1250" b="0" i="0">
                <a:solidFill>
                  <a:srgbClr val="1C2B3A"/>
                </a:solidFill>
                <a:latin typeface="Calibri"/>
              </a:rPr>
              <a:t>A tenant pays by bank transfer and attaches proof. The auditor, the Managing Partner and the Payment Approver confirm it in turn, and only then does it reach the ledger. Vendors and landlords are paid by recorded bank transfer through the same three-desk approval.</a:t>
            </a:r>
          </a:p>
        </p:txBody>
      </p:sp>
      <p:sp>
        <p:nvSpPr>
          <p:cNvPr id="31" name="TextBox 30"/>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Verification: every release passed in full first</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The suite grew as findings were fixed. Each new check stays in the suite for good.</a:t>
            </a:r>
          </a:p>
        </p:txBody>
      </p:sp>
      <p:sp>
        <p:nvSpPr>
          <p:cNvPr id="4" name="Rounded Rectangle 3"/>
          <p:cNvSpPr/>
          <p:nvPr/>
        </p:nvSpPr>
        <p:spPr>
          <a:xfrm>
            <a:off x="548640" y="1737360"/>
            <a:ext cx="5394960" cy="4434840"/>
          </a:xfrm>
          <a:prstGeom prst="roundRect">
            <a:avLst>
              <a:gd name="adj" fmla="val 4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74519"/>
            <a:ext cx="4937760" cy="320040"/>
          </a:xfrm>
          <a:prstGeom prst="rect">
            <a:avLst/>
          </a:prstGeom>
          <a:noFill/>
        </p:spPr>
        <p:txBody>
          <a:bodyPr wrap="square" lIns="0" rIns="0" tIns="0" bIns="0" anchor="t">
            <a:spAutoFit/>
          </a:bodyPr>
          <a:lstStyle/>
          <a:p>
            <a:pPr algn="l"/>
            <a:r>
              <a:rPr sz="1400" b="1" i="0">
                <a:solidFill>
                  <a:srgbClr val="003366"/>
                </a:solidFill>
                <a:latin typeface="Calibri"/>
              </a:rPr>
              <a:t>Automated suites passing, per release candidate</a:t>
            </a:r>
          </a:p>
        </p:txBody>
      </p:sp>
      <p:sp>
        <p:nvSpPr>
          <p:cNvPr id="6" name="TextBox 5"/>
          <p:cNvSpPr txBox="1"/>
          <p:nvPr/>
        </p:nvSpPr>
        <p:spPr>
          <a:xfrm>
            <a:off x="777240" y="2194560"/>
            <a:ext cx="4937760" cy="274320"/>
          </a:xfrm>
          <a:prstGeom prst="rect">
            <a:avLst/>
          </a:prstGeom>
          <a:noFill/>
        </p:spPr>
        <p:txBody>
          <a:bodyPr wrap="square" lIns="0" rIns="0" tIns="0" bIns="0" anchor="t">
            <a:spAutoFit/>
          </a:bodyPr>
          <a:lstStyle/>
          <a:p>
            <a:pPr algn="l"/>
            <a:r>
              <a:rPr sz="1050" b="0" i="0">
                <a:solidFill>
                  <a:srgbClr val="7A8A9B"/>
                </a:solidFill>
                <a:latin typeface="Calibri"/>
              </a:rPr>
              <a:t>Run records in docs/verify-runs and the rc9 tag, 23–29 September</a:t>
            </a:r>
          </a:p>
        </p:txBody>
      </p:sp>
      <p:graphicFrame>
        <p:nvGraphicFramePr>
          <p:cNvPr id="7" name="Chart 6"/>
          <p:cNvGraphicFramePr>
            <a:graphicFrameLocks noGrp="1"/>
          </p:cNvGraphicFramePr>
          <p:nvPr/>
        </p:nvGraphicFramePr>
        <p:xfrm>
          <a:off x="731520" y="2560320"/>
          <a:ext cx="5029200" cy="3474720"/>
        </p:xfrm>
        <a:graphic>
          <a:graphicData uri="http://schemas.openxmlformats.org/drawingml/2006/chart">
            <c:chart xmlns:c="http://schemas.openxmlformats.org/drawingml/2006/chart" r:id="rId2"/>
          </a:graphicData>
        </a:graphic>
      </p:graphicFrame>
      <p:sp>
        <p:nvSpPr>
          <p:cNvPr id="8" name="TextBox 7"/>
          <p:cNvSpPr txBox="1"/>
          <p:nvPr/>
        </p:nvSpPr>
        <p:spPr>
          <a:xfrm>
            <a:off x="6263640" y="1737360"/>
            <a:ext cx="5349240" cy="274320"/>
          </a:xfrm>
          <a:prstGeom prst="rect">
            <a:avLst/>
          </a:prstGeom>
          <a:noFill/>
        </p:spPr>
        <p:txBody>
          <a:bodyPr wrap="square" lIns="0" rIns="0" tIns="0" bIns="0" anchor="t">
            <a:spAutoFit/>
          </a:bodyPr>
          <a:lstStyle/>
          <a:p>
            <a:pPr algn="l"/>
            <a:r>
              <a:rPr sz="1400" b="1" i="0">
                <a:solidFill>
                  <a:srgbClr val="003366"/>
                </a:solidFill>
                <a:latin typeface="Calibri"/>
              </a:rPr>
              <a:t>Every fix retired the release</a:t>
            </a:r>
          </a:p>
        </p:txBody>
      </p:sp>
      <p:sp>
        <p:nvSpPr>
          <p:cNvPr id="9" name="TextBox 8"/>
          <p:cNvSpPr txBox="1"/>
          <p:nvPr/>
        </p:nvSpPr>
        <p:spPr>
          <a:xfrm>
            <a:off x="6263640" y="2039112"/>
            <a:ext cx="5349240" cy="731520"/>
          </a:xfrm>
          <a:prstGeom prst="rect">
            <a:avLst/>
          </a:prstGeom>
          <a:noFill/>
        </p:spPr>
        <p:txBody>
          <a:bodyPr wrap="square" lIns="0" rIns="0" tIns="0" bIns="0" anchor="t">
            <a:spAutoFit/>
          </a:bodyPr>
          <a:lstStyle/>
          <a:p>
            <a:pPr algn="l"/>
            <a:r>
              <a:rPr sz="1150" b="0" i="0">
                <a:solidFill>
                  <a:srgbClr val="1C2B3A"/>
                </a:solidFill>
                <a:latin typeface="Calibri"/>
              </a:rPr>
              <a:t>A change after the tag meant a new candidate and a full re-run. That is why there are six candidates in seven days, not one.</a:t>
            </a:r>
          </a:p>
        </p:txBody>
      </p:sp>
      <p:sp>
        <p:nvSpPr>
          <p:cNvPr id="10" name="TextBox 9"/>
          <p:cNvSpPr txBox="1"/>
          <p:nvPr/>
        </p:nvSpPr>
        <p:spPr>
          <a:xfrm>
            <a:off x="6263640" y="2834639"/>
            <a:ext cx="5349240" cy="274320"/>
          </a:xfrm>
          <a:prstGeom prst="rect">
            <a:avLst/>
          </a:prstGeom>
          <a:noFill/>
        </p:spPr>
        <p:txBody>
          <a:bodyPr wrap="square" lIns="0" rIns="0" tIns="0" bIns="0" anchor="t">
            <a:spAutoFit/>
          </a:bodyPr>
          <a:lstStyle/>
          <a:p>
            <a:pPr algn="l"/>
            <a:r>
              <a:rPr sz="1400" b="1" i="0">
                <a:solidFill>
                  <a:srgbClr val="003366"/>
                </a:solidFill>
                <a:latin typeface="Calibri"/>
              </a:rPr>
              <a:t>What the checks caught</a:t>
            </a:r>
          </a:p>
        </p:txBody>
      </p:sp>
      <p:sp>
        <p:nvSpPr>
          <p:cNvPr id="11" name="TextBox 10"/>
          <p:cNvSpPr txBox="1"/>
          <p:nvPr/>
        </p:nvSpPr>
        <p:spPr>
          <a:xfrm>
            <a:off x="6263640" y="3136391"/>
            <a:ext cx="5349240" cy="731520"/>
          </a:xfrm>
          <a:prstGeom prst="rect">
            <a:avLst/>
          </a:prstGeom>
          <a:noFill/>
        </p:spPr>
        <p:txBody>
          <a:bodyPr wrap="square" lIns="0" rIns="0" tIns="0" bIns="0" anchor="t">
            <a:spAutoFit/>
          </a:bodyPr>
          <a:lstStyle/>
          <a:p>
            <a:pPr algn="l"/>
            <a:r>
              <a:rPr sz="1150" b="0" i="0">
                <a:solidFill>
                  <a:srgbClr val="1C2B3A"/>
                </a:solidFill>
                <a:latin typeface="Calibri"/>
              </a:rPr>
              <a:t>Among them: the privacy notice named both client brands on every portal (rc5); a High finding in the security self-test (rc8); a missing account lockout, now five tries (rc8).</a:t>
            </a:r>
          </a:p>
        </p:txBody>
      </p:sp>
      <p:sp>
        <p:nvSpPr>
          <p:cNvPr id="12" name="TextBox 11"/>
          <p:cNvSpPr txBox="1"/>
          <p:nvPr/>
        </p:nvSpPr>
        <p:spPr>
          <a:xfrm>
            <a:off x="6263640" y="3931920"/>
            <a:ext cx="5349240" cy="274320"/>
          </a:xfrm>
          <a:prstGeom prst="rect">
            <a:avLst/>
          </a:prstGeom>
          <a:noFill/>
        </p:spPr>
        <p:txBody>
          <a:bodyPr wrap="square" lIns="0" rIns="0" tIns="0" bIns="0" anchor="t">
            <a:spAutoFit/>
          </a:bodyPr>
          <a:lstStyle/>
          <a:p>
            <a:pPr algn="l"/>
            <a:r>
              <a:rPr sz="1400" b="1" i="0">
                <a:solidFill>
                  <a:srgbClr val="003366"/>
                </a:solidFill>
                <a:latin typeface="Calibri"/>
              </a:rPr>
              <a:t>Two tests only people can run</a:t>
            </a:r>
          </a:p>
        </p:txBody>
      </p:sp>
      <p:sp>
        <p:nvSpPr>
          <p:cNvPr id="13" name="TextBox 12"/>
          <p:cNvSpPr txBox="1"/>
          <p:nvPr/>
        </p:nvSpPr>
        <p:spPr>
          <a:xfrm>
            <a:off x="6263640" y="4233672"/>
            <a:ext cx="5349240" cy="731520"/>
          </a:xfrm>
          <a:prstGeom prst="rect">
            <a:avLst/>
          </a:prstGeom>
          <a:noFill/>
        </p:spPr>
        <p:txBody>
          <a:bodyPr wrap="square" lIns="0" rIns="0" tIns="0" bIns="0" anchor="t">
            <a:spAutoFit/>
          </a:bodyPr>
          <a:lstStyle/>
          <a:p>
            <a:pPr algn="l"/>
            <a:r>
              <a:rPr sz="1150" b="0" i="0">
                <a:solidFill>
                  <a:srgbClr val="1C2B3A"/>
                </a:solidFill>
                <a:latin typeface="Calibri"/>
              </a:rPr>
              <a:t>Real staff testing and the money path were accepted as continuous through the first month (board, 28 Sept).</a:t>
            </a:r>
          </a:p>
        </p:txBody>
      </p:sp>
      <p:sp>
        <p:nvSpPr>
          <p:cNvPr id="14" name="TextBox 13"/>
          <p:cNvSpPr txBox="1"/>
          <p:nvPr/>
        </p:nvSpPr>
        <p:spPr>
          <a:xfrm>
            <a:off x="6263640" y="5029200"/>
            <a:ext cx="5349240" cy="274320"/>
          </a:xfrm>
          <a:prstGeom prst="rect">
            <a:avLst/>
          </a:prstGeom>
          <a:noFill/>
        </p:spPr>
        <p:txBody>
          <a:bodyPr wrap="square" lIns="0" rIns="0" tIns="0" bIns="0" anchor="t">
            <a:spAutoFit/>
          </a:bodyPr>
          <a:lstStyle/>
          <a:p>
            <a:pPr algn="l"/>
            <a:r>
              <a:rPr sz="1400" b="1" i="0">
                <a:solidFill>
                  <a:srgbClr val="003366"/>
                </a:solidFill>
                <a:latin typeface="Calibri"/>
              </a:rPr>
              <a:t>Production is never the test bench</a:t>
            </a:r>
          </a:p>
        </p:txBody>
      </p:sp>
      <p:sp>
        <p:nvSpPr>
          <p:cNvPr id="15" name="TextBox 14"/>
          <p:cNvSpPr txBox="1"/>
          <p:nvPr/>
        </p:nvSpPr>
        <p:spPr>
          <a:xfrm>
            <a:off x="6263640" y="5330952"/>
            <a:ext cx="5349240" cy="731520"/>
          </a:xfrm>
          <a:prstGeom prst="rect">
            <a:avLst/>
          </a:prstGeom>
          <a:noFill/>
        </p:spPr>
        <p:txBody>
          <a:bodyPr wrap="square" lIns="0" rIns="0" tIns="0" bIns="0" anchor="t">
            <a:spAutoFit/>
          </a:bodyPr>
          <a:lstStyle/>
          <a:p>
            <a:pPr algn="l"/>
            <a:r>
              <a:rPr sz="1150" b="0" i="0">
                <a:solidFill>
                  <a:srgbClr val="1C2B3A"/>
                </a:solidFill>
                <a:latin typeface="Calibri"/>
              </a:rPr>
              <a:t>Twice a test record reached production and a check found it. Trying things out now happens on staging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Running live: how the first month's risk is contained</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Decisions taken at go-live, each with what it costs and what makes it acceptable.</a:t>
            </a:r>
          </a:p>
        </p:txBody>
      </p:sp>
      <p:sp>
        <p:nvSpPr>
          <p:cNvPr id="4" name="Rounded Rectangle 3"/>
          <p:cNvSpPr/>
          <p:nvPr/>
        </p:nvSpPr>
        <p:spPr>
          <a:xfrm>
            <a:off x="548640" y="1737360"/>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31520" y="1892807"/>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6" name="TextBox 5"/>
          <p:cNvSpPr txBox="1"/>
          <p:nvPr/>
        </p:nvSpPr>
        <p:spPr>
          <a:xfrm>
            <a:off x="1417320" y="1847088"/>
            <a:ext cx="3291840" cy="320040"/>
          </a:xfrm>
          <a:prstGeom prst="rect">
            <a:avLst/>
          </a:prstGeom>
          <a:noFill/>
        </p:spPr>
        <p:txBody>
          <a:bodyPr wrap="square" lIns="0" rIns="0" tIns="0" bIns="0" anchor="t">
            <a:spAutoFit/>
          </a:bodyPr>
          <a:lstStyle/>
          <a:p>
            <a:pPr algn="l"/>
            <a:r>
              <a:rPr sz="1350" b="1" i="0">
                <a:solidFill>
                  <a:srgbClr val="003366"/>
                </a:solidFill>
                <a:latin typeface="Calibri"/>
              </a:rPr>
              <a:t>Code freeze on main</a:t>
            </a:r>
          </a:p>
        </p:txBody>
      </p:sp>
      <p:sp>
        <p:nvSpPr>
          <p:cNvPr id="7" name="TextBox 6"/>
          <p:cNvSpPr txBox="1"/>
          <p:nvPr/>
        </p:nvSpPr>
        <p:spPr>
          <a:xfrm>
            <a:off x="1417320" y="2148840"/>
            <a:ext cx="3291840" cy="365760"/>
          </a:xfrm>
          <a:prstGeom prst="rect">
            <a:avLst/>
          </a:prstGeom>
          <a:noFill/>
        </p:spPr>
        <p:txBody>
          <a:bodyPr wrap="square" lIns="0" rIns="0" tIns="0" bIns="0" anchor="t">
            <a:spAutoFit/>
          </a:bodyPr>
          <a:lstStyle/>
          <a:p>
            <a:pPr algn="l"/>
            <a:r>
              <a:rPr sz="1000" b="0" i="1">
                <a:solidFill>
                  <a:srgbClr val="7A8A9B"/>
                </a:solidFill>
                <a:latin typeface="Calibri"/>
              </a:rPr>
              <a:t>Because main deploys itself to production within minutes.</a:t>
            </a:r>
          </a:p>
        </p:txBody>
      </p:sp>
      <p:sp>
        <p:nvSpPr>
          <p:cNvPr id="8" name="TextBox 7"/>
          <p:cNvSpPr txBox="1"/>
          <p:nvPr/>
        </p:nvSpPr>
        <p:spPr>
          <a:xfrm>
            <a:off x="4892040" y="1865376"/>
            <a:ext cx="6492240" cy="640080"/>
          </a:xfrm>
          <a:prstGeom prst="rect">
            <a:avLst/>
          </a:prstGeom>
          <a:noFill/>
        </p:spPr>
        <p:txBody>
          <a:bodyPr wrap="square" lIns="0" rIns="0" tIns="0" bIns="0" anchor="ctr">
            <a:spAutoFit/>
          </a:bodyPr>
          <a:lstStyle/>
          <a:p>
            <a:pPr algn="l"/>
            <a:r>
              <a:rPr sz="1150" b="0" i="0">
                <a:solidFill>
                  <a:srgbClr val="1C2B3A"/>
                </a:solidFill>
                <a:latin typeface="Calibri"/>
              </a:rPr>
              <a:t>A GitHub ruleset blocks changes to the live branch during onboarding. A fix is released by lifting it briefly, then restoring it.</a:t>
            </a:r>
          </a:p>
        </p:txBody>
      </p:sp>
      <p:sp>
        <p:nvSpPr>
          <p:cNvPr id="9" name="Rounded Rectangle 8"/>
          <p:cNvSpPr/>
          <p:nvPr/>
        </p:nvSpPr>
        <p:spPr>
          <a:xfrm>
            <a:off x="548640" y="2624328"/>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31520" y="2779776"/>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1" name="TextBox 10"/>
          <p:cNvSpPr txBox="1"/>
          <p:nvPr/>
        </p:nvSpPr>
        <p:spPr>
          <a:xfrm>
            <a:off x="1417320" y="2734056"/>
            <a:ext cx="3291840" cy="320040"/>
          </a:xfrm>
          <a:prstGeom prst="rect">
            <a:avLst/>
          </a:prstGeom>
          <a:noFill/>
        </p:spPr>
        <p:txBody>
          <a:bodyPr wrap="square" lIns="0" rIns="0" tIns="0" bIns="0" anchor="t">
            <a:spAutoFit/>
          </a:bodyPr>
          <a:lstStyle/>
          <a:p>
            <a:pPr algn="l"/>
            <a:r>
              <a:rPr sz="1350" b="1" i="0">
                <a:solidFill>
                  <a:srgbClr val="003366"/>
                </a:solidFill>
                <a:latin typeface="Calibri"/>
              </a:rPr>
              <a:t>Backup after every loading session</a:t>
            </a:r>
          </a:p>
        </p:txBody>
      </p:sp>
      <p:sp>
        <p:nvSpPr>
          <p:cNvPr id="12" name="TextBox 11"/>
          <p:cNvSpPr txBox="1"/>
          <p:nvPr/>
        </p:nvSpPr>
        <p:spPr>
          <a:xfrm>
            <a:off x="1417320" y="3035808"/>
            <a:ext cx="3291840" cy="365760"/>
          </a:xfrm>
          <a:prstGeom prst="rect">
            <a:avLst/>
          </a:prstGeom>
          <a:noFill/>
        </p:spPr>
        <p:txBody>
          <a:bodyPr wrap="square" lIns="0" rIns="0" tIns="0" bIns="0" anchor="t">
            <a:spAutoFit/>
          </a:bodyPr>
          <a:lstStyle/>
          <a:p>
            <a:pPr algn="l"/>
            <a:r>
              <a:rPr sz="1000" b="0" i="1">
                <a:solidFill>
                  <a:srgbClr val="7A8A9B"/>
                </a:solidFill>
                <a:latin typeface="Calibri"/>
              </a:rPr>
              <a:t>The most that could be lost is one session's entries, re-entered from the files uploaded.</a:t>
            </a:r>
          </a:p>
        </p:txBody>
      </p:sp>
      <p:sp>
        <p:nvSpPr>
          <p:cNvPr id="13" name="TextBox 12"/>
          <p:cNvSpPr txBox="1"/>
          <p:nvPr/>
        </p:nvSpPr>
        <p:spPr>
          <a:xfrm>
            <a:off x="4892040" y="2752344"/>
            <a:ext cx="6492240" cy="640080"/>
          </a:xfrm>
          <a:prstGeom prst="rect">
            <a:avLst/>
          </a:prstGeom>
          <a:noFill/>
        </p:spPr>
        <p:txBody>
          <a:bodyPr wrap="square" lIns="0" rIns="0" tIns="0" bIns="0" anchor="ctr">
            <a:spAutoFit/>
          </a:bodyPr>
          <a:lstStyle/>
          <a:p>
            <a:pPr algn="l"/>
            <a:r>
              <a:rPr sz="1150" b="0" i="0">
                <a:solidFill>
                  <a:srgbClr val="1C2B3A"/>
                </a:solidFill>
                <a:latin typeface="Calibri"/>
              </a:rPr>
              <a:t>Point-in-time recovery was declined again on cost at go-live. A backup is taken after each session and every evening.</a:t>
            </a:r>
          </a:p>
        </p:txBody>
      </p:sp>
      <p:sp>
        <p:nvSpPr>
          <p:cNvPr id="14" name="Rounded Rectangle 13"/>
          <p:cNvSpPr/>
          <p:nvPr/>
        </p:nvSpPr>
        <p:spPr>
          <a:xfrm>
            <a:off x="548640" y="3511296"/>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666744"/>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6" name="TextBox 15"/>
          <p:cNvSpPr txBox="1"/>
          <p:nvPr/>
        </p:nvSpPr>
        <p:spPr>
          <a:xfrm>
            <a:off x="1417320" y="3621024"/>
            <a:ext cx="3291840" cy="320040"/>
          </a:xfrm>
          <a:prstGeom prst="rect">
            <a:avLst/>
          </a:prstGeom>
          <a:noFill/>
        </p:spPr>
        <p:txBody>
          <a:bodyPr wrap="square" lIns="0" rIns="0" tIns="0" bIns="0" anchor="t">
            <a:spAutoFit/>
          </a:bodyPr>
          <a:lstStyle/>
          <a:p>
            <a:pPr algn="l"/>
            <a:r>
              <a:rPr sz="1350" b="1" i="0">
                <a:solidFill>
                  <a:srgbClr val="003366"/>
                </a:solidFill>
                <a:latin typeface="Calibri"/>
              </a:rPr>
              <a:t>Staging for anything experimental</a:t>
            </a:r>
          </a:p>
        </p:txBody>
      </p:sp>
      <p:sp>
        <p:nvSpPr>
          <p:cNvPr id="17" name="TextBox 16"/>
          <p:cNvSpPr txBox="1"/>
          <p:nvPr/>
        </p:nvSpPr>
        <p:spPr>
          <a:xfrm>
            <a:off x="1417320" y="3922776"/>
            <a:ext cx="3291840" cy="365760"/>
          </a:xfrm>
          <a:prstGeom prst="rect">
            <a:avLst/>
          </a:prstGeom>
          <a:noFill/>
        </p:spPr>
        <p:txBody>
          <a:bodyPr wrap="square" lIns="0" rIns="0" tIns="0" bIns="0" anchor="t">
            <a:spAutoFit/>
          </a:bodyPr>
          <a:lstStyle/>
          <a:p>
            <a:pPr algn="l"/>
            <a:r>
              <a:rPr sz="1000" b="0" i="1">
                <a:solidFill>
                  <a:srgbClr val="7A8A9B"/>
                </a:solidFill>
                <a:latin typeface="Calibri"/>
              </a:rPr>
              <a:t>A test record in production cannot be deleted, because the audit trail is append-only.</a:t>
            </a:r>
          </a:p>
        </p:txBody>
      </p:sp>
      <p:sp>
        <p:nvSpPr>
          <p:cNvPr id="18" name="TextBox 17"/>
          <p:cNvSpPr txBox="1"/>
          <p:nvPr/>
        </p:nvSpPr>
        <p:spPr>
          <a:xfrm>
            <a:off x="4892040" y="3639312"/>
            <a:ext cx="6492240" cy="640080"/>
          </a:xfrm>
          <a:prstGeom prst="rect">
            <a:avLst/>
          </a:prstGeom>
          <a:noFill/>
        </p:spPr>
        <p:txBody>
          <a:bodyPr wrap="square" lIns="0" rIns="0" tIns="0" bIns="0" anchor="ctr">
            <a:spAutoFit/>
          </a:bodyPr>
          <a:lstStyle/>
          <a:p>
            <a:pPr algn="l"/>
            <a:r>
              <a:rPr sz="1150" b="0" i="0">
                <a:solidFill>
                  <a:srgbClr val="1C2B3A"/>
                </a:solidFill>
                <a:latin typeface="Calibri"/>
              </a:rPr>
              <a:t>Production holds real records only. Trying things out, demos and training run on staging.</a:t>
            </a:r>
          </a:p>
        </p:txBody>
      </p:sp>
      <p:sp>
        <p:nvSpPr>
          <p:cNvPr id="19" name="Rounded Rectangle 18"/>
          <p:cNvSpPr/>
          <p:nvPr/>
        </p:nvSpPr>
        <p:spPr>
          <a:xfrm>
            <a:off x="548640" y="4398264"/>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31520" y="4553712"/>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21" name="TextBox 20"/>
          <p:cNvSpPr txBox="1"/>
          <p:nvPr/>
        </p:nvSpPr>
        <p:spPr>
          <a:xfrm>
            <a:off x="1417320" y="4507992"/>
            <a:ext cx="3291840" cy="320040"/>
          </a:xfrm>
          <a:prstGeom prst="rect">
            <a:avLst/>
          </a:prstGeom>
          <a:noFill/>
        </p:spPr>
        <p:txBody>
          <a:bodyPr wrap="square" lIns="0" rIns="0" tIns="0" bIns="0" anchor="t">
            <a:spAutoFit/>
          </a:bodyPr>
          <a:lstStyle/>
          <a:p>
            <a:pPr algn="l"/>
            <a:r>
              <a:rPr sz="1350" b="1" i="0">
                <a:solidFill>
                  <a:srgbClr val="003366"/>
                </a:solidFill>
                <a:latin typeface="Calibri"/>
              </a:rPr>
              <a:t>Money proven on the first real payments</a:t>
            </a:r>
          </a:p>
        </p:txBody>
      </p:sp>
      <p:sp>
        <p:nvSpPr>
          <p:cNvPr id="22" name="TextBox 21"/>
          <p:cNvSpPr txBox="1"/>
          <p:nvPr/>
        </p:nvSpPr>
        <p:spPr>
          <a:xfrm>
            <a:off x="1417320" y="4809744"/>
            <a:ext cx="3291840" cy="365760"/>
          </a:xfrm>
          <a:prstGeom prst="rect">
            <a:avLst/>
          </a:prstGeom>
          <a:noFill/>
        </p:spPr>
        <p:txBody>
          <a:bodyPr wrap="square" lIns="0" rIns="0" tIns="0" bIns="0" anchor="t">
            <a:spAutoFit/>
          </a:bodyPr>
          <a:lstStyle/>
          <a:p>
            <a:pPr algn="l"/>
            <a:r>
              <a:rPr sz="1000" b="0" i="1">
                <a:solidFill>
                  <a:srgbClr val="7A8A9B"/>
                </a:solidFill>
                <a:latin typeface="Calibri"/>
              </a:rPr>
              <a:t>Accepted by the board as continuous through the first month.</a:t>
            </a:r>
          </a:p>
        </p:txBody>
      </p:sp>
      <p:sp>
        <p:nvSpPr>
          <p:cNvPr id="23" name="TextBox 22"/>
          <p:cNvSpPr txBox="1"/>
          <p:nvPr/>
        </p:nvSpPr>
        <p:spPr>
          <a:xfrm>
            <a:off x="4892040" y="4526279"/>
            <a:ext cx="6492240" cy="640080"/>
          </a:xfrm>
          <a:prstGeom prst="rect">
            <a:avLst/>
          </a:prstGeom>
          <a:noFill/>
        </p:spPr>
        <p:txBody>
          <a:bodyPr wrap="square" lIns="0" rIns="0" tIns="0" bIns="0" anchor="ctr">
            <a:spAutoFit/>
          </a:bodyPr>
          <a:lstStyle/>
          <a:p>
            <a:pPr algn="l"/>
            <a:r>
              <a:rPr sz="1150" b="0" i="0">
                <a:solidFill>
                  <a:srgbClr val="1C2B3A"/>
                </a:solidFill>
                <a:latin typeface="Calibri"/>
              </a:rPr>
              <a:t>The first real collection, reconciliation and payout will each be reconciled by hand.</a:t>
            </a:r>
          </a:p>
        </p:txBody>
      </p:sp>
      <p:sp>
        <p:nvSpPr>
          <p:cNvPr id="24" name="Rounded Rectangle 23"/>
          <p:cNvSpPr/>
          <p:nvPr/>
        </p:nvSpPr>
        <p:spPr>
          <a:xfrm>
            <a:off x="548640" y="5285231"/>
            <a:ext cx="11064240" cy="804672"/>
          </a:xfrm>
          <a:prstGeom prst="roundRect">
            <a:avLst>
              <a:gd name="adj" fmla="val 8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31520" y="5440679"/>
            <a:ext cx="493776" cy="493776"/>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5</a:t>
            </a:r>
          </a:p>
        </p:txBody>
      </p:sp>
      <p:sp>
        <p:nvSpPr>
          <p:cNvPr id="26" name="TextBox 25"/>
          <p:cNvSpPr txBox="1"/>
          <p:nvPr/>
        </p:nvSpPr>
        <p:spPr>
          <a:xfrm>
            <a:off x="1417320" y="5394959"/>
            <a:ext cx="3291840" cy="320040"/>
          </a:xfrm>
          <a:prstGeom prst="rect">
            <a:avLst/>
          </a:prstGeom>
          <a:noFill/>
        </p:spPr>
        <p:txBody>
          <a:bodyPr wrap="square" lIns="0" rIns="0" tIns="0" bIns="0" anchor="t">
            <a:spAutoFit/>
          </a:bodyPr>
          <a:lstStyle/>
          <a:p>
            <a:pPr algn="l"/>
            <a:r>
              <a:rPr sz="1350" b="1" i="0">
                <a:solidFill>
                  <a:srgbClr val="003366"/>
                </a:solidFill>
                <a:latin typeface="Calibri"/>
              </a:rPr>
              <a:t>A fix ships under the freeze</a:t>
            </a:r>
          </a:p>
        </p:txBody>
      </p:sp>
      <p:sp>
        <p:nvSpPr>
          <p:cNvPr id="27" name="TextBox 26"/>
          <p:cNvSpPr txBox="1"/>
          <p:nvPr/>
        </p:nvSpPr>
        <p:spPr>
          <a:xfrm>
            <a:off x="1417320" y="5696712"/>
            <a:ext cx="3291840" cy="365760"/>
          </a:xfrm>
          <a:prstGeom prst="rect">
            <a:avLst/>
          </a:prstGeom>
          <a:noFill/>
        </p:spPr>
        <p:txBody>
          <a:bodyPr wrap="square" lIns="0" rIns="0" tIns="0" bIns="0" anchor="t">
            <a:spAutoFit/>
          </a:bodyPr>
          <a:lstStyle/>
          <a:p>
            <a:pPr algn="l"/>
            <a:r>
              <a:rPr sz="1000" b="0" i="1">
                <a:solidFill>
                  <a:srgbClr val="7A8A9B"/>
                </a:solidFill>
                <a:latin typeface="Calibri"/>
              </a:rPr>
              <a:t>The critical advisory accepted for rc8 is now cleared.</a:t>
            </a:r>
          </a:p>
        </p:txBody>
      </p:sp>
      <p:sp>
        <p:nvSpPr>
          <p:cNvPr id="28" name="TextBox 27"/>
          <p:cNvSpPr txBox="1"/>
          <p:nvPr/>
        </p:nvSpPr>
        <p:spPr>
          <a:xfrm>
            <a:off x="4892040" y="5413247"/>
            <a:ext cx="6492240" cy="640080"/>
          </a:xfrm>
          <a:prstGeom prst="rect">
            <a:avLst/>
          </a:prstGeom>
          <a:noFill/>
        </p:spPr>
        <p:txBody>
          <a:bodyPr wrap="square" lIns="0" rIns="0" tIns="0" bIns="0" anchor="ctr">
            <a:spAutoFit/>
          </a:bodyPr>
          <a:lstStyle/>
          <a:p>
            <a:pPr algn="l"/>
            <a:r>
              <a:rPr sz="1150" b="0" i="0">
                <a:solidFill>
                  <a:srgbClr val="1C2B3A"/>
                </a:solidFill>
                <a:latin typeface="Calibri"/>
              </a:rPr>
              <a:t>rc9, the Next.js 15 upgrade, went live on 29 Sept. The freeze was lifted for the merge and restored one minute later.</a:t>
            </a:r>
          </a:p>
        </p:txBody>
      </p:sp>
      <p:sp>
        <p:nvSpPr>
          <p:cNvPr id="29" name="TextBox 2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411480"/>
            <a:ext cx="11064240" cy="685800"/>
          </a:xfrm>
          <a:prstGeom prst="rect">
            <a:avLst/>
          </a:prstGeom>
          <a:noFill/>
        </p:spPr>
        <p:txBody>
          <a:bodyPr wrap="square" lIns="0" rIns="0" tIns="0" bIns="0" anchor="t">
            <a:spAutoFit/>
          </a:bodyPr>
          <a:lstStyle/>
          <a:p>
            <a:pPr algn="l"/>
            <a:r>
              <a:rPr sz="3200" b="1" i="0">
                <a:solidFill>
                  <a:srgbClr val="003366"/>
                </a:solidFill>
                <a:latin typeface="Cambria"/>
              </a:rPr>
              <a:t>The board's items — what is done and what is still open</a:t>
            </a:r>
          </a:p>
        </p:txBody>
      </p:sp>
      <p:sp>
        <p:nvSpPr>
          <p:cNvPr id="3" name="TextBox 2"/>
          <p:cNvSpPr txBox="1"/>
          <p:nvPr/>
        </p:nvSpPr>
        <p:spPr>
          <a:xfrm>
            <a:off x="548640" y="1097280"/>
            <a:ext cx="11064240" cy="365760"/>
          </a:xfrm>
          <a:prstGeom prst="rect">
            <a:avLst/>
          </a:prstGeom>
          <a:noFill/>
        </p:spPr>
        <p:txBody>
          <a:bodyPr wrap="square" lIns="0" rIns="0" tIns="0" bIns="0" anchor="t">
            <a:spAutoFit/>
          </a:bodyPr>
          <a:lstStyle/>
          <a:p>
            <a:pPr algn="l"/>
            <a:r>
              <a:rPr sz="1400" b="0" i="0">
                <a:solidFill>
                  <a:srgbClr val="7A8A9B"/>
                </a:solidFill>
                <a:latin typeface="Calibri"/>
              </a:rPr>
              <a:t>Go-live was authorised with the open items below as a deliberate decision. Each still needs an owner and a date.</a:t>
            </a:r>
          </a:p>
        </p:txBody>
      </p:sp>
      <p:sp>
        <p:nvSpPr>
          <p:cNvPr id="4" name="Rounded Rectangle 3"/>
          <p:cNvSpPr/>
          <p:nvPr/>
        </p:nvSpPr>
        <p:spPr>
          <a:xfrm>
            <a:off x="548640"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Processor agreements (14)</a:t>
            </a:r>
          </a:p>
        </p:txBody>
      </p:sp>
      <p:sp>
        <p:nvSpPr>
          <p:cNvPr id="6" name="Rounded Rectangle 5"/>
          <p:cNvSpPr/>
          <p:nvPr/>
        </p:nvSpPr>
        <p:spPr>
          <a:xfrm>
            <a:off x="3154680"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7" name="TextBox 6"/>
          <p:cNvSpPr txBox="1"/>
          <p:nvPr/>
        </p:nvSpPr>
        <p:spPr>
          <a:xfrm>
            <a:off x="777240"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 + DPO</a:t>
            </a:r>
          </a:p>
        </p:txBody>
      </p:sp>
      <p:sp>
        <p:nvSpPr>
          <p:cNvPr id="8" name="TextBox 7"/>
          <p:cNvSpPr txBox="1"/>
          <p:nvPr/>
        </p:nvSpPr>
        <p:spPr>
          <a:xfrm>
            <a:off x="777240"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Pack with counsel; none signed yet</a:t>
            </a:r>
          </a:p>
        </p:txBody>
      </p:sp>
      <p:sp>
        <p:nvSpPr>
          <p:cNvPr id="9" name="Rounded Rectangle 8"/>
          <p:cNvSpPr/>
          <p:nvPr/>
        </p:nvSpPr>
        <p:spPr>
          <a:xfrm>
            <a:off x="429767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52627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Privacy notice</a:t>
            </a:r>
          </a:p>
        </p:txBody>
      </p:sp>
      <p:sp>
        <p:nvSpPr>
          <p:cNvPr id="11" name="Rounded Rectangle 10"/>
          <p:cNvSpPr/>
          <p:nvPr/>
        </p:nvSpPr>
        <p:spPr>
          <a:xfrm>
            <a:off x="6903720" y="196596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12" name="TextBox 11"/>
          <p:cNvSpPr txBox="1"/>
          <p:nvPr/>
        </p:nvSpPr>
        <p:spPr>
          <a:xfrm>
            <a:off x="452627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3" name="TextBox 12"/>
          <p:cNvSpPr txBox="1"/>
          <p:nvPr/>
        </p:nvSpPr>
        <p:spPr>
          <a:xfrm>
            <a:off x="452627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Published 24 Sept; legal review owed</a:t>
            </a:r>
          </a:p>
        </p:txBody>
      </p:sp>
      <p:sp>
        <p:nvSpPr>
          <p:cNvPr id="14" name="Rounded Rectangle 13"/>
          <p:cNvSpPr/>
          <p:nvPr/>
        </p:nvSpPr>
        <p:spPr>
          <a:xfrm>
            <a:off x="8046719" y="178308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1947672"/>
            <a:ext cx="2240280" cy="548640"/>
          </a:xfrm>
          <a:prstGeom prst="rect">
            <a:avLst/>
          </a:prstGeom>
          <a:noFill/>
        </p:spPr>
        <p:txBody>
          <a:bodyPr wrap="square" lIns="0" rIns="0" tIns="0" bIns="0" anchor="t">
            <a:spAutoFit/>
          </a:bodyPr>
          <a:lstStyle/>
          <a:p>
            <a:pPr algn="l"/>
            <a:r>
              <a:rPr sz="1300" b="1" i="0">
                <a:solidFill>
                  <a:srgbClr val="003366"/>
                </a:solidFill>
                <a:latin typeface="Calibri"/>
              </a:rPr>
              <a:t>NDPC registration; DPO published</a:t>
            </a:r>
          </a:p>
        </p:txBody>
      </p:sp>
      <p:sp>
        <p:nvSpPr>
          <p:cNvPr id="16" name="Rounded Rectangle 15"/>
          <p:cNvSpPr/>
          <p:nvPr/>
        </p:nvSpPr>
        <p:spPr>
          <a:xfrm>
            <a:off x="10652759" y="196596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17" name="TextBox 16"/>
          <p:cNvSpPr txBox="1"/>
          <p:nvPr/>
        </p:nvSpPr>
        <p:spPr>
          <a:xfrm>
            <a:off x="8275319" y="2560320"/>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LEGAL</a:t>
            </a:r>
          </a:p>
        </p:txBody>
      </p:sp>
      <p:sp>
        <p:nvSpPr>
          <p:cNvPr id="18" name="TextBox 17"/>
          <p:cNvSpPr txBox="1"/>
          <p:nvPr/>
        </p:nvSpPr>
        <p:spPr>
          <a:xfrm>
            <a:off x="8275319" y="276148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started</a:t>
            </a:r>
          </a:p>
        </p:txBody>
      </p:sp>
      <p:sp>
        <p:nvSpPr>
          <p:cNvPr id="19" name="Rounded Rectangle 18"/>
          <p:cNvSpPr/>
          <p:nvPr/>
        </p:nvSpPr>
        <p:spPr>
          <a:xfrm>
            <a:off x="548640"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Flutterwave live keys</a:t>
            </a:r>
          </a:p>
        </p:txBody>
      </p:sp>
      <p:sp>
        <p:nvSpPr>
          <p:cNvPr id="21" name="Rounded Rectangle 20"/>
          <p:cNvSpPr/>
          <p:nvPr/>
        </p:nvSpPr>
        <p:spPr>
          <a:xfrm>
            <a:off x="3154680" y="342900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22" name="TextBox 21"/>
          <p:cNvSpPr txBox="1"/>
          <p:nvPr/>
        </p:nvSpPr>
        <p:spPr>
          <a:xfrm>
            <a:off x="777240"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3" name="TextBox 22"/>
          <p:cNvSpPr txBox="1"/>
          <p:nvPr/>
        </p:nvSpPr>
        <p:spPr>
          <a:xfrm>
            <a:off x="777240"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Verification in progress; blocks online payments</a:t>
            </a:r>
          </a:p>
        </p:txBody>
      </p:sp>
      <p:sp>
        <p:nvSpPr>
          <p:cNvPr id="24" name="Rounded Rectangle 23"/>
          <p:cNvSpPr/>
          <p:nvPr/>
        </p:nvSpPr>
        <p:spPr>
          <a:xfrm>
            <a:off x="429767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7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Segregated client-funds accounts</a:t>
            </a:r>
          </a:p>
        </p:txBody>
      </p:sp>
      <p:sp>
        <p:nvSpPr>
          <p:cNvPr id="26" name="Rounded Rectangle 25"/>
          <p:cNvSpPr/>
          <p:nvPr/>
        </p:nvSpPr>
        <p:spPr>
          <a:xfrm>
            <a:off x="6903720" y="342900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27" name="TextBox 26"/>
          <p:cNvSpPr txBox="1"/>
          <p:nvPr/>
        </p:nvSpPr>
        <p:spPr>
          <a:xfrm>
            <a:off x="452627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FINANCE</a:t>
            </a:r>
          </a:p>
        </p:txBody>
      </p:sp>
      <p:sp>
        <p:nvSpPr>
          <p:cNvPr id="28" name="TextBox 27"/>
          <p:cNvSpPr txBox="1"/>
          <p:nvPr/>
        </p:nvSpPr>
        <p:spPr>
          <a:xfrm>
            <a:off x="452627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24 Sept: one per organisation</a:t>
            </a:r>
          </a:p>
        </p:txBody>
      </p:sp>
      <p:sp>
        <p:nvSpPr>
          <p:cNvPr id="29" name="Rounded Rectangle 28"/>
          <p:cNvSpPr/>
          <p:nvPr/>
        </p:nvSpPr>
        <p:spPr>
          <a:xfrm>
            <a:off x="8046719" y="3246120"/>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19" y="3410712"/>
            <a:ext cx="2240280" cy="548640"/>
          </a:xfrm>
          <a:prstGeom prst="rect">
            <a:avLst/>
          </a:prstGeom>
          <a:noFill/>
        </p:spPr>
        <p:txBody>
          <a:bodyPr wrap="square" lIns="0" rIns="0" tIns="0" bIns="0" anchor="t">
            <a:spAutoFit/>
          </a:bodyPr>
          <a:lstStyle/>
          <a:p>
            <a:pPr algn="l"/>
            <a:r>
              <a:rPr sz="1300" b="1" i="0">
                <a:solidFill>
                  <a:srgbClr val="003366"/>
                </a:solidFill>
                <a:latin typeface="Calibri"/>
              </a:rPr>
              <a:t>Gateway minute (decision 4)</a:t>
            </a:r>
          </a:p>
        </p:txBody>
      </p:sp>
      <p:sp>
        <p:nvSpPr>
          <p:cNvPr id="31" name="Rounded Rectangle 30"/>
          <p:cNvSpPr/>
          <p:nvPr/>
        </p:nvSpPr>
        <p:spPr>
          <a:xfrm>
            <a:off x="10652759" y="3429000"/>
            <a:ext cx="777240" cy="256032"/>
          </a:xfrm>
          <a:prstGeom prst="roundRect">
            <a:avLst>
              <a:gd name="adj" fmla="val 50000"/>
            </a:avLst>
          </a:prstGeom>
          <a:solidFill>
            <a:srgbClr val="B5680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PART</a:t>
            </a:r>
          </a:p>
        </p:txBody>
      </p:sp>
      <p:sp>
        <p:nvSpPr>
          <p:cNvPr id="32" name="TextBox 31"/>
          <p:cNvSpPr txBox="1"/>
          <p:nvPr/>
        </p:nvSpPr>
        <p:spPr>
          <a:xfrm>
            <a:off x="8275319" y="402335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3" name="TextBox 32"/>
          <p:cNvSpPr txBox="1"/>
          <p:nvPr/>
        </p:nvSpPr>
        <p:spPr>
          <a:xfrm>
            <a:off x="8275319" y="4224528"/>
            <a:ext cx="3108960" cy="274320"/>
          </a:xfrm>
          <a:prstGeom prst="rect">
            <a:avLst/>
          </a:prstGeom>
          <a:noFill/>
        </p:spPr>
        <p:txBody>
          <a:bodyPr wrap="square" lIns="0" rIns="0" tIns="0" bIns="0" anchor="t">
            <a:spAutoFit/>
          </a:bodyPr>
          <a:lstStyle/>
          <a:p>
            <a:pPr algn="l"/>
            <a:r>
              <a:rPr sz="1100" b="0" i="0">
                <a:solidFill>
                  <a:srgbClr val="1C2B3A"/>
                </a:solidFill>
                <a:latin typeface="Calibri"/>
              </a:rPr>
              <a:t>Drafted; awaiting signature</a:t>
            </a:r>
          </a:p>
        </p:txBody>
      </p:sp>
      <p:sp>
        <p:nvSpPr>
          <p:cNvPr id="34" name="Rounded Rectangle 33"/>
          <p:cNvSpPr/>
          <p:nvPr/>
        </p:nvSpPr>
        <p:spPr>
          <a:xfrm>
            <a:off x="548640"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Special-category data decision</a:t>
            </a:r>
          </a:p>
        </p:txBody>
      </p:sp>
      <p:sp>
        <p:nvSpPr>
          <p:cNvPr id="36" name="Rounded Rectangle 35"/>
          <p:cNvSpPr/>
          <p:nvPr/>
        </p:nvSpPr>
        <p:spPr>
          <a:xfrm>
            <a:off x="3154680" y="4892040"/>
            <a:ext cx="777240" cy="256032"/>
          </a:xfrm>
          <a:prstGeom prst="roundRect">
            <a:avLst>
              <a:gd name="adj" fmla="val 50000"/>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OPEN</a:t>
            </a:r>
          </a:p>
        </p:txBody>
      </p:sp>
      <p:sp>
        <p:nvSpPr>
          <p:cNvPr id="37" name="TextBox 36"/>
          <p:cNvSpPr txBox="1"/>
          <p:nvPr/>
        </p:nvSpPr>
        <p:spPr>
          <a:xfrm>
            <a:off x="777240"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38" name="TextBox 37"/>
          <p:cNvSpPr txBox="1"/>
          <p:nvPr/>
        </p:nvSpPr>
        <p:spPr>
          <a:xfrm>
            <a:off x="777240"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Not yet decided</a:t>
            </a:r>
          </a:p>
        </p:txBody>
      </p:sp>
      <p:sp>
        <p:nvSpPr>
          <p:cNvPr id="39" name="Rounded Rectangle 38"/>
          <p:cNvSpPr/>
          <p:nvPr/>
        </p:nvSpPr>
        <p:spPr>
          <a:xfrm>
            <a:off x="429767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2627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External penetration test</a:t>
            </a:r>
          </a:p>
        </p:txBody>
      </p:sp>
      <p:sp>
        <p:nvSpPr>
          <p:cNvPr id="41" name="Rounded Rectangle 40"/>
          <p:cNvSpPr/>
          <p:nvPr/>
        </p:nvSpPr>
        <p:spPr>
          <a:xfrm>
            <a:off x="6903720"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2" name="TextBox 41"/>
          <p:cNvSpPr txBox="1"/>
          <p:nvPr/>
        </p:nvSpPr>
        <p:spPr>
          <a:xfrm>
            <a:off x="452627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3" name="TextBox 42"/>
          <p:cNvSpPr txBox="1"/>
          <p:nvPr/>
        </p:nvSpPr>
        <p:spPr>
          <a:xfrm>
            <a:off x="452627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Done; report to be filed</a:t>
            </a:r>
          </a:p>
        </p:txBody>
      </p:sp>
      <p:sp>
        <p:nvSpPr>
          <p:cNvPr id="44" name="Rounded Rectangle 43"/>
          <p:cNvSpPr/>
          <p:nvPr/>
        </p:nvSpPr>
        <p:spPr>
          <a:xfrm>
            <a:off x="8046719" y="4709159"/>
            <a:ext cx="3566160" cy="1280160"/>
          </a:xfrm>
          <a:prstGeom prst="roundRect">
            <a:avLst>
              <a:gd name="adj" fmla="val 6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275319" y="4873751"/>
            <a:ext cx="2240280" cy="548640"/>
          </a:xfrm>
          <a:prstGeom prst="rect">
            <a:avLst/>
          </a:prstGeom>
          <a:noFill/>
        </p:spPr>
        <p:txBody>
          <a:bodyPr wrap="square" lIns="0" rIns="0" tIns="0" bIns="0" anchor="t">
            <a:spAutoFit/>
          </a:bodyPr>
          <a:lstStyle/>
          <a:p>
            <a:pPr algn="l"/>
            <a:r>
              <a:rPr sz="1300" b="1" i="0">
                <a:solidFill>
                  <a:srgbClr val="003366"/>
                </a:solidFill>
                <a:latin typeface="Calibri"/>
              </a:rPr>
              <a:t>Go-live date and GO</a:t>
            </a:r>
          </a:p>
        </p:txBody>
      </p:sp>
      <p:sp>
        <p:nvSpPr>
          <p:cNvPr id="46" name="Rounded Rectangle 45"/>
          <p:cNvSpPr/>
          <p:nvPr/>
        </p:nvSpPr>
        <p:spPr>
          <a:xfrm>
            <a:off x="10652759" y="4892040"/>
            <a:ext cx="777240" cy="256032"/>
          </a:xfrm>
          <a:prstGeom prst="roundRect">
            <a:avLst>
              <a:gd name="adj" fmla="val 50000"/>
            </a:avLst>
          </a:prstGeom>
          <a:solidFill>
            <a:srgbClr val="1F7A4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libri"/>
              </a:rPr>
              <a:t>DONE</a:t>
            </a:r>
          </a:p>
        </p:txBody>
      </p:sp>
      <p:sp>
        <p:nvSpPr>
          <p:cNvPr id="47" name="TextBox 46"/>
          <p:cNvSpPr txBox="1"/>
          <p:nvPr/>
        </p:nvSpPr>
        <p:spPr>
          <a:xfrm>
            <a:off x="8275319" y="5486399"/>
            <a:ext cx="3108960" cy="228600"/>
          </a:xfrm>
          <a:prstGeom prst="rect">
            <a:avLst/>
          </a:prstGeom>
          <a:noFill/>
        </p:spPr>
        <p:txBody>
          <a:bodyPr wrap="square" lIns="0" rIns="0" tIns="0" bIns="0" anchor="t">
            <a:spAutoFit/>
          </a:bodyPr>
          <a:lstStyle/>
          <a:p>
            <a:pPr algn="l"/>
            <a:r>
              <a:rPr sz="850" b="1" i="0" spc="80">
                <a:solidFill>
                  <a:srgbClr val="7A8A9B"/>
                </a:solidFill>
                <a:latin typeface="Calibri"/>
              </a:rPr>
              <a:t>BOARD</a:t>
            </a:r>
          </a:p>
        </p:txBody>
      </p:sp>
      <p:sp>
        <p:nvSpPr>
          <p:cNvPr id="48" name="TextBox 47"/>
          <p:cNvSpPr txBox="1"/>
          <p:nvPr/>
        </p:nvSpPr>
        <p:spPr>
          <a:xfrm>
            <a:off x="8275319" y="5687568"/>
            <a:ext cx="3108960" cy="274320"/>
          </a:xfrm>
          <a:prstGeom prst="rect">
            <a:avLst/>
          </a:prstGeom>
          <a:noFill/>
        </p:spPr>
        <p:txBody>
          <a:bodyPr wrap="square" lIns="0" rIns="0" tIns="0" bIns="0" anchor="t">
            <a:spAutoFit/>
          </a:bodyPr>
          <a:lstStyle/>
          <a:p>
            <a:pPr algn="l"/>
            <a:r>
              <a:rPr sz="1100" b="0" i="0">
                <a:solidFill>
                  <a:srgbClr val="1C2B3A"/>
                </a:solidFill>
                <a:latin typeface="Calibri"/>
              </a:rPr>
              <a:t>GO given 28 Sept</a:t>
            </a:r>
          </a:p>
        </p:txBody>
      </p:sp>
      <p:sp>
        <p:nvSpPr>
          <p:cNvPr id="49" name="TextBox 48"/>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7A8A9B"/>
                </a:solidFill>
                <a:latin typeface="Calibri"/>
              </a:rPr>
              <a:t>Board Confidential  ·  29 September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B2E"/>
        </a:solidFill>
        <a:effectLst/>
      </p:bgPr>
    </p:bg>
    <p:spTree>
      <p:nvGrpSpPr>
        <p:cNvPr id="1" name=""/>
        <p:cNvGrpSpPr/>
        <p:nvPr/>
      </p:nvGrpSpPr>
      <p:grpSpPr/>
      <p:sp>
        <p:nvSpPr>
          <p:cNvPr id="2" name="Rectangle 1"/>
          <p:cNvSpPr/>
          <p:nvPr/>
        </p:nvSpPr>
        <p:spPr>
          <a:xfrm>
            <a:off x="8778240" y="0"/>
            <a:ext cx="3410712" cy="6858000"/>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502920"/>
            <a:ext cx="7863840" cy="731520"/>
          </a:xfrm>
          <a:prstGeom prst="rect">
            <a:avLst/>
          </a:prstGeom>
          <a:noFill/>
        </p:spPr>
        <p:txBody>
          <a:bodyPr wrap="square" lIns="0" rIns="0" tIns="0" bIns="0" anchor="t">
            <a:spAutoFit/>
          </a:bodyPr>
          <a:lstStyle/>
          <a:p>
            <a:pPr algn="l"/>
            <a:r>
              <a:rPr sz="3400" b="1" i="0">
                <a:solidFill>
                  <a:srgbClr val="FFFFFF"/>
                </a:solidFill>
                <a:latin typeface="Cambria"/>
              </a:rPr>
              <a:t>Decisions requested today</a:t>
            </a:r>
          </a:p>
        </p:txBody>
      </p:sp>
      <p:sp>
        <p:nvSpPr>
          <p:cNvPr id="4" name="TextBox 3"/>
          <p:cNvSpPr txBox="1"/>
          <p:nvPr/>
        </p:nvSpPr>
        <p:spPr>
          <a:xfrm>
            <a:off x="548640" y="1234440"/>
            <a:ext cx="7863840" cy="365760"/>
          </a:xfrm>
          <a:prstGeom prst="rect">
            <a:avLst/>
          </a:prstGeom>
          <a:noFill/>
        </p:spPr>
        <p:txBody>
          <a:bodyPr wrap="square" lIns="0" rIns="0" tIns="0" bIns="0" anchor="t">
            <a:spAutoFit/>
          </a:bodyPr>
          <a:lstStyle/>
          <a:p>
            <a:pPr algn="l"/>
            <a:r>
              <a:rPr sz="1400" b="0" i="0">
                <a:solidFill>
                  <a:srgbClr val="9FB4CC"/>
                </a:solidFill>
                <a:latin typeface="Calibri"/>
              </a:rPr>
              <a:t>Live and onboarding. These five close the gap to fully compliant and paid online.</a:t>
            </a:r>
          </a:p>
        </p:txBody>
      </p:sp>
      <p:sp>
        <p:nvSpPr>
          <p:cNvPr id="5" name="Oval 4"/>
          <p:cNvSpPr/>
          <p:nvPr/>
        </p:nvSpPr>
        <p:spPr>
          <a:xfrm>
            <a:off x="548640" y="1801368"/>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1</a:t>
            </a:r>
          </a:p>
        </p:txBody>
      </p:sp>
      <p:sp>
        <p:nvSpPr>
          <p:cNvPr id="6" name="TextBox 5"/>
          <p:cNvSpPr txBox="1"/>
          <p:nvPr/>
        </p:nvSpPr>
        <p:spPr>
          <a:xfrm>
            <a:off x="1325880" y="1783080"/>
            <a:ext cx="7132320" cy="365760"/>
          </a:xfrm>
          <a:prstGeom prst="rect">
            <a:avLst/>
          </a:prstGeom>
          <a:noFill/>
        </p:spPr>
        <p:txBody>
          <a:bodyPr wrap="square" lIns="0" rIns="0" tIns="0" bIns="0" anchor="t">
            <a:spAutoFit/>
          </a:bodyPr>
          <a:lstStyle/>
          <a:p>
            <a:pPr algn="l"/>
            <a:r>
              <a:rPr sz="1700" b="1" i="0">
                <a:solidFill>
                  <a:srgbClr val="FFFFFF"/>
                </a:solidFill>
                <a:latin typeface="Calibri"/>
              </a:rPr>
              <a:t>Sign the gateway minute</a:t>
            </a:r>
          </a:p>
        </p:txBody>
      </p:sp>
      <p:sp>
        <p:nvSpPr>
          <p:cNvPr id="7" name="TextBox 6"/>
          <p:cNvSpPr txBox="1"/>
          <p:nvPr/>
        </p:nvSpPr>
        <p:spPr>
          <a:xfrm>
            <a:off x="1325880" y="2148840"/>
            <a:ext cx="7132320" cy="502920"/>
          </a:xfrm>
          <a:prstGeom prst="rect">
            <a:avLst/>
          </a:prstGeom>
          <a:noFill/>
        </p:spPr>
        <p:txBody>
          <a:bodyPr wrap="square" lIns="0" rIns="0" tIns="0" bIns="0" anchor="t">
            <a:spAutoFit/>
          </a:bodyPr>
          <a:lstStyle/>
          <a:p>
            <a:pPr algn="l"/>
            <a:r>
              <a:rPr sz="1200" b="0" i="0">
                <a:solidFill>
                  <a:srgbClr val="D8E5F5"/>
                </a:solidFill>
                <a:latin typeface="Calibri"/>
              </a:rPr>
              <a:t>adopting Flutterwave for collections and amending locked decision 4. The code already runs this way.</a:t>
            </a:r>
          </a:p>
        </p:txBody>
      </p:sp>
      <p:sp>
        <p:nvSpPr>
          <p:cNvPr id="8" name="Oval 7"/>
          <p:cNvSpPr/>
          <p:nvPr/>
        </p:nvSpPr>
        <p:spPr>
          <a:xfrm>
            <a:off x="548640" y="2697479"/>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2</a:t>
            </a:r>
          </a:p>
        </p:txBody>
      </p:sp>
      <p:sp>
        <p:nvSpPr>
          <p:cNvPr id="9" name="TextBox 8"/>
          <p:cNvSpPr txBox="1"/>
          <p:nvPr/>
        </p:nvSpPr>
        <p:spPr>
          <a:xfrm>
            <a:off x="1325880" y="2679191"/>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date for the Flutterwave live key</a:t>
            </a:r>
          </a:p>
        </p:txBody>
      </p:sp>
      <p:sp>
        <p:nvSpPr>
          <p:cNvPr id="10" name="TextBox 9"/>
          <p:cNvSpPr txBox="1"/>
          <p:nvPr/>
        </p:nvSpPr>
        <p:spPr>
          <a:xfrm>
            <a:off x="1325880" y="3044951"/>
            <a:ext cx="7132320" cy="502920"/>
          </a:xfrm>
          <a:prstGeom prst="rect">
            <a:avLst/>
          </a:prstGeom>
          <a:noFill/>
        </p:spPr>
        <p:txBody>
          <a:bodyPr wrap="square" lIns="0" rIns="0" tIns="0" bIns="0" anchor="t">
            <a:spAutoFit/>
          </a:bodyPr>
          <a:lstStyle/>
          <a:p>
            <a:pPr algn="l"/>
            <a:r>
              <a:rPr sz="1200" b="0" i="0">
                <a:solidFill>
                  <a:srgbClr val="D8E5F5"/>
                </a:solidFill>
                <a:latin typeface="Calibri"/>
              </a:rPr>
              <a:t>It is the one thing between tenants and paying online. Assign an owner in Finance.</a:t>
            </a:r>
          </a:p>
        </p:txBody>
      </p:sp>
      <p:sp>
        <p:nvSpPr>
          <p:cNvPr id="11" name="Oval 10"/>
          <p:cNvSpPr/>
          <p:nvPr/>
        </p:nvSpPr>
        <p:spPr>
          <a:xfrm>
            <a:off x="548640" y="3593591"/>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3</a:t>
            </a:r>
          </a:p>
        </p:txBody>
      </p:sp>
      <p:sp>
        <p:nvSpPr>
          <p:cNvPr id="12" name="TextBox 11"/>
          <p:cNvSpPr txBox="1"/>
          <p:nvPr/>
        </p:nvSpPr>
        <p:spPr>
          <a:xfrm>
            <a:off x="1325880" y="3575303"/>
            <a:ext cx="7132320" cy="365760"/>
          </a:xfrm>
          <a:prstGeom prst="rect">
            <a:avLst/>
          </a:prstGeom>
          <a:noFill/>
        </p:spPr>
        <p:txBody>
          <a:bodyPr wrap="square" lIns="0" rIns="0" tIns="0" bIns="0" anchor="t">
            <a:spAutoFit/>
          </a:bodyPr>
          <a:lstStyle/>
          <a:p>
            <a:pPr algn="l"/>
            <a:r>
              <a:rPr sz="1700" b="1" i="0">
                <a:solidFill>
                  <a:srgbClr val="FFFFFF"/>
                </a:solidFill>
                <a:latin typeface="Calibri"/>
              </a:rPr>
              <a:t>Set a deadline for the processor agreements</a:t>
            </a:r>
          </a:p>
        </p:txBody>
      </p:sp>
      <p:sp>
        <p:nvSpPr>
          <p:cNvPr id="13" name="TextBox 12"/>
          <p:cNvSpPr txBox="1"/>
          <p:nvPr/>
        </p:nvSpPr>
        <p:spPr>
          <a:xfrm>
            <a:off x="1325880" y="3941063"/>
            <a:ext cx="7132320" cy="502920"/>
          </a:xfrm>
          <a:prstGeom prst="rect">
            <a:avLst/>
          </a:prstGeom>
          <a:noFill/>
        </p:spPr>
        <p:txBody>
          <a:bodyPr wrap="square" lIns="0" rIns="0" tIns="0" bIns="0" anchor="t">
            <a:spAutoFit/>
          </a:bodyPr>
          <a:lstStyle/>
          <a:p>
            <a:pPr algn="l"/>
            <a:r>
              <a:rPr sz="1200" b="0" i="0">
                <a:solidFill>
                  <a:srgbClr val="D8E5F5"/>
                </a:solidFill>
                <a:latin typeface="Calibri"/>
              </a:rPr>
              <a:t>starting with Telegram, which already carries live tenant conversations and has no agreement.</a:t>
            </a:r>
          </a:p>
        </p:txBody>
      </p:sp>
      <p:sp>
        <p:nvSpPr>
          <p:cNvPr id="14" name="Oval 13"/>
          <p:cNvSpPr/>
          <p:nvPr/>
        </p:nvSpPr>
        <p:spPr>
          <a:xfrm>
            <a:off x="548640" y="4489703"/>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4</a:t>
            </a:r>
          </a:p>
        </p:txBody>
      </p:sp>
      <p:sp>
        <p:nvSpPr>
          <p:cNvPr id="15" name="TextBox 14"/>
          <p:cNvSpPr txBox="1"/>
          <p:nvPr/>
        </p:nvSpPr>
        <p:spPr>
          <a:xfrm>
            <a:off x="1325880" y="4471416"/>
            <a:ext cx="7132320" cy="365760"/>
          </a:xfrm>
          <a:prstGeom prst="rect">
            <a:avLst/>
          </a:prstGeom>
          <a:noFill/>
        </p:spPr>
        <p:txBody>
          <a:bodyPr wrap="square" lIns="0" rIns="0" tIns="0" bIns="0" anchor="t">
            <a:spAutoFit/>
          </a:bodyPr>
          <a:lstStyle/>
          <a:p>
            <a:pPr algn="l"/>
            <a:r>
              <a:rPr sz="1700" b="1" i="0">
                <a:solidFill>
                  <a:srgbClr val="FFFFFF"/>
                </a:solidFill>
                <a:latin typeface="Calibri"/>
              </a:rPr>
              <a:t>Decide NDPC registration and special-category data</a:t>
            </a:r>
          </a:p>
        </p:txBody>
      </p:sp>
      <p:sp>
        <p:nvSpPr>
          <p:cNvPr id="16" name="TextBox 15"/>
          <p:cNvSpPr txBox="1"/>
          <p:nvPr/>
        </p:nvSpPr>
        <p:spPr>
          <a:xfrm>
            <a:off x="1325880" y="4837176"/>
            <a:ext cx="7132320" cy="502920"/>
          </a:xfrm>
          <a:prstGeom prst="rect">
            <a:avLst/>
          </a:prstGeom>
          <a:noFill/>
        </p:spPr>
        <p:txBody>
          <a:bodyPr wrap="square" lIns="0" rIns="0" tIns="0" bIns="0" anchor="t">
            <a:spAutoFit/>
          </a:bodyPr>
          <a:lstStyle/>
          <a:p>
            <a:pPr algn="l"/>
            <a:r>
              <a:rPr sz="1200" b="0" i="0">
                <a:solidFill>
                  <a:srgbClr val="D8E5F5"/>
                </a:solidFill>
                <a:latin typeface="Calibri"/>
              </a:rPr>
              <a:t>the two data-protection items with no progress yet.</a:t>
            </a:r>
          </a:p>
        </p:txBody>
      </p:sp>
      <p:sp>
        <p:nvSpPr>
          <p:cNvPr id="17" name="Oval 16"/>
          <p:cNvSpPr/>
          <p:nvPr/>
        </p:nvSpPr>
        <p:spPr>
          <a:xfrm>
            <a:off x="548640" y="5385815"/>
            <a:ext cx="548640" cy="548640"/>
          </a:xfrm>
          <a:prstGeom prst="ellipse">
            <a:avLst/>
          </a:prstGeom>
          <a:solidFill>
            <a:srgbClr val="C08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A1B2E"/>
                </a:solidFill>
                <a:latin typeface="Cambria"/>
              </a:rPr>
              <a:t>5</a:t>
            </a:r>
          </a:p>
        </p:txBody>
      </p:sp>
      <p:sp>
        <p:nvSpPr>
          <p:cNvPr id="18" name="TextBox 17"/>
          <p:cNvSpPr txBox="1"/>
          <p:nvPr/>
        </p:nvSpPr>
        <p:spPr>
          <a:xfrm>
            <a:off x="1325880" y="5367527"/>
            <a:ext cx="7132320" cy="365760"/>
          </a:xfrm>
          <a:prstGeom prst="rect">
            <a:avLst/>
          </a:prstGeom>
          <a:noFill/>
        </p:spPr>
        <p:txBody>
          <a:bodyPr wrap="square" lIns="0" rIns="0" tIns="0" bIns="0" anchor="t">
            <a:spAutoFit/>
          </a:bodyPr>
          <a:lstStyle/>
          <a:p>
            <a:pPr algn="l"/>
            <a:r>
              <a:rPr sz="1700" b="1" i="0">
                <a:solidFill>
                  <a:srgbClr val="FFFFFF"/>
                </a:solidFill>
                <a:latin typeface="Calibri"/>
              </a:rPr>
              <a:t>Name an owner and date for the first real payment</a:t>
            </a:r>
          </a:p>
        </p:txBody>
      </p:sp>
      <p:sp>
        <p:nvSpPr>
          <p:cNvPr id="19" name="TextBox 18"/>
          <p:cNvSpPr txBox="1"/>
          <p:nvPr/>
        </p:nvSpPr>
        <p:spPr>
          <a:xfrm>
            <a:off x="1325880" y="5733288"/>
            <a:ext cx="7132320" cy="502920"/>
          </a:xfrm>
          <a:prstGeom prst="rect">
            <a:avLst/>
          </a:prstGeom>
          <a:noFill/>
        </p:spPr>
        <p:txBody>
          <a:bodyPr wrap="square" lIns="0" rIns="0" tIns="0" bIns="0" anchor="t">
            <a:spAutoFit/>
          </a:bodyPr>
          <a:lstStyle/>
          <a:p>
            <a:pPr algn="l"/>
            <a:r>
              <a:rPr sz="1200" b="0" i="0">
                <a:solidFill>
                  <a:srgbClr val="D8E5F5"/>
                </a:solidFill>
                <a:latin typeface="Calibri"/>
              </a:rPr>
              <a:t>the first collection, bank reconciliation and payout, each reconciled by hand (6.6).</a:t>
            </a:r>
          </a:p>
        </p:txBody>
      </p:sp>
      <p:sp>
        <p:nvSpPr>
          <p:cNvPr id="20" name="TextBox 19"/>
          <p:cNvSpPr txBox="1"/>
          <p:nvPr/>
        </p:nvSpPr>
        <p:spPr>
          <a:xfrm>
            <a:off x="9189720" y="1097280"/>
            <a:ext cx="2743200" cy="685800"/>
          </a:xfrm>
          <a:prstGeom prst="rect">
            <a:avLst/>
          </a:prstGeom>
          <a:noFill/>
        </p:spPr>
        <p:txBody>
          <a:bodyPr wrap="square" lIns="0" rIns="0" tIns="0" bIns="0" anchor="t">
            <a:spAutoFit/>
          </a:bodyPr>
          <a:lstStyle/>
          <a:p>
            <a:pPr algn="l"/>
            <a:r>
              <a:rPr sz="3600" b="1" i="0">
                <a:solidFill>
                  <a:srgbClr val="C08A1E"/>
                </a:solidFill>
                <a:latin typeface="Cambria"/>
              </a:rPr>
              <a:t>LIVE</a:t>
            </a:r>
          </a:p>
        </p:txBody>
      </p:sp>
      <p:sp>
        <p:nvSpPr>
          <p:cNvPr id="21" name="TextBox 20"/>
          <p:cNvSpPr txBox="1"/>
          <p:nvPr/>
        </p:nvSpPr>
        <p:spPr>
          <a:xfrm>
            <a:off x="9189720" y="1810512"/>
            <a:ext cx="2743200" cy="320040"/>
          </a:xfrm>
          <a:prstGeom prst="rect">
            <a:avLst/>
          </a:prstGeom>
          <a:noFill/>
        </p:spPr>
        <p:txBody>
          <a:bodyPr wrap="square" lIns="0" rIns="0" tIns="0" bIns="0" anchor="t">
            <a:spAutoFit/>
          </a:bodyPr>
          <a:lstStyle/>
          <a:p>
            <a:pPr algn="l"/>
            <a:r>
              <a:rPr sz="1200" b="0" i="0">
                <a:solidFill>
                  <a:srgbClr val="D8E5F5"/>
                </a:solidFill>
                <a:latin typeface="Calibri"/>
              </a:rPr>
              <a:t>since 28 September</a:t>
            </a:r>
          </a:p>
        </p:txBody>
      </p:sp>
      <p:sp>
        <p:nvSpPr>
          <p:cNvPr id="22" name="TextBox 21"/>
          <p:cNvSpPr txBox="1"/>
          <p:nvPr/>
        </p:nvSpPr>
        <p:spPr>
          <a:xfrm>
            <a:off x="9189720" y="2743200"/>
            <a:ext cx="2743200" cy="685800"/>
          </a:xfrm>
          <a:prstGeom prst="rect">
            <a:avLst/>
          </a:prstGeom>
          <a:noFill/>
        </p:spPr>
        <p:txBody>
          <a:bodyPr wrap="square" lIns="0" rIns="0" tIns="0" bIns="0" anchor="t">
            <a:spAutoFit/>
          </a:bodyPr>
          <a:lstStyle/>
          <a:p>
            <a:pPr algn="l"/>
            <a:r>
              <a:rPr sz="3600" b="1" i="0">
                <a:solidFill>
                  <a:srgbClr val="C08A1E"/>
                </a:solidFill>
                <a:latin typeface="Cambria"/>
              </a:rPr>
              <a:t>132/132</a:t>
            </a:r>
          </a:p>
        </p:txBody>
      </p:sp>
      <p:sp>
        <p:nvSpPr>
          <p:cNvPr id="23" name="TextBox 22"/>
          <p:cNvSpPr txBox="1"/>
          <p:nvPr/>
        </p:nvSpPr>
        <p:spPr>
          <a:xfrm>
            <a:off x="9189720" y="3456432"/>
            <a:ext cx="2743200" cy="320040"/>
          </a:xfrm>
          <a:prstGeom prst="rect">
            <a:avLst/>
          </a:prstGeom>
          <a:noFill/>
        </p:spPr>
        <p:txBody>
          <a:bodyPr wrap="square" lIns="0" rIns="0" tIns="0" bIns="0" anchor="t">
            <a:spAutoFit/>
          </a:bodyPr>
          <a:lstStyle/>
          <a:p>
            <a:pPr algn="l"/>
            <a:r>
              <a:rPr sz="1200" b="0" i="0">
                <a:solidFill>
                  <a:srgbClr val="D8E5F5"/>
                </a:solidFill>
                <a:latin typeface="Calibri"/>
              </a:rPr>
              <a:t>suites passing on rc9</a:t>
            </a:r>
          </a:p>
        </p:txBody>
      </p:sp>
      <p:sp>
        <p:nvSpPr>
          <p:cNvPr id="24" name="TextBox 23"/>
          <p:cNvSpPr txBox="1"/>
          <p:nvPr/>
        </p:nvSpPr>
        <p:spPr>
          <a:xfrm>
            <a:off x="9189720" y="4389120"/>
            <a:ext cx="2743200" cy="685800"/>
          </a:xfrm>
          <a:prstGeom prst="rect">
            <a:avLst/>
          </a:prstGeom>
          <a:noFill/>
        </p:spPr>
        <p:txBody>
          <a:bodyPr wrap="square" lIns="0" rIns="0" tIns="0" bIns="0" anchor="t">
            <a:spAutoFit/>
          </a:bodyPr>
          <a:lstStyle/>
          <a:p>
            <a:pPr algn="l"/>
            <a:r>
              <a:rPr sz="3600" b="1" i="0">
                <a:solidFill>
                  <a:srgbClr val="C08A1E"/>
                </a:solidFill>
                <a:latin typeface="Cambria"/>
              </a:rPr>
              <a:t>₦0</a:t>
            </a:r>
          </a:p>
        </p:txBody>
      </p:sp>
      <p:sp>
        <p:nvSpPr>
          <p:cNvPr id="25" name="TextBox 24"/>
          <p:cNvSpPr txBox="1"/>
          <p:nvPr/>
        </p:nvSpPr>
        <p:spPr>
          <a:xfrm>
            <a:off x="9189720" y="5102352"/>
            <a:ext cx="2743200" cy="320040"/>
          </a:xfrm>
          <a:prstGeom prst="rect">
            <a:avLst/>
          </a:prstGeom>
          <a:noFill/>
        </p:spPr>
        <p:txBody>
          <a:bodyPr wrap="square" lIns="0" rIns="0" tIns="0" bIns="0" anchor="t">
            <a:spAutoFit/>
          </a:bodyPr>
          <a:lstStyle/>
          <a:p>
            <a:pPr algn="l"/>
            <a:r>
              <a:rPr sz="1200" b="0" i="0">
                <a:solidFill>
                  <a:srgbClr val="D8E5F5"/>
                </a:solidFill>
                <a:latin typeface="Calibri"/>
              </a:rPr>
              <a:t>moved so far; first payment next</a:t>
            </a:r>
          </a:p>
        </p:txBody>
      </p:sp>
      <p:sp>
        <p:nvSpPr>
          <p:cNvPr id="26" name="TextBox 25"/>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6E86A2"/>
                </a:solidFill>
                <a:latin typeface="Calibri"/>
              </a:rPr>
              <a:t>Board Confidential  ·  29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