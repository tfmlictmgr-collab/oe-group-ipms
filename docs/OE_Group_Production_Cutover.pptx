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₦</c:v>
                </c:pt>
              </c:strCache>
            </c:strRef>
          </c:tx>
          <c:dPt>
            <c:idx val="0"/>
            <c:spPr>
              <a:solidFill>
                <a:srgbClr val="0B2545"/>
              </a:solidFill>
            </c:spPr>
          </c:dPt>
          <c:dPt>
            <c:idx val="1"/>
            <c:spPr>
              <a:solidFill>
                <a:srgbClr val="0B2545"/>
              </a:solidFill>
            </c:spPr>
          </c:dPt>
          <c:dPt>
            <c:idx val="2"/>
            <c:spPr>
              <a:solidFill>
                <a:srgbClr val="0B2545"/>
              </a:solidFill>
            </c:spPr>
          </c:dPt>
          <c:dPt>
            <c:idx val="3"/>
            <c:spPr>
              <a:solidFill>
                <a:srgbClr val="0B2545"/>
              </a:solidFill>
            </c:spPr>
          </c:dPt>
          <c:dPt>
            <c:idx val="4"/>
            <c:spPr>
              <a:solidFill>
                <a:srgbClr val="0B2545"/>
              </a:solidFill>
            </c:spPr>
          </c:dPt>
          <c:cat>
            <c:strRef>
              <c:f>Sheet1!$A$2:$A$6</c:f>
              <c:strCache>
                <c:ptCount val="5"/>
                <c:pt idx="0">
                  <c:v>Website hosting (Vercel)</c:v>
                </c:pt>
                <c:pt idx="1">
                  <c:v>AI backup service (Google)</c:v>
                </c:pt>
                <c:pt idx="2">
                  <c:v>New live database</c:v>
                </c:pt>
                <c:pt idx="3">
                  <c:v>WhatsApp business line (360dialog)</c:v>
                </c:pt>
                <c:pt idx="4">
                  <c:v>Security and heavy-load testing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28000</c:v>
                </c:pt>
                <c:pt idx="1">
                  <c:v>43000</c:v>
                </c:pt>
                <c:pt idx="2">
                  <c:v>64358</c:v>
                </c:pt>
                <c:pt idx="3">
                  <c:v>156800</c:v>
                </c:pt>
                <c:pt idx="4">
                  <c:v>247000</c:v>
                </c:pt>
              </c:numCache>
            </c:numRef>
          </c:val>
        </c:ser>
        <c:dLbls>
          <c:numFmt formatCode="&quot;₦&quot;#,##0" sourceLinked="0"/>
          <c:txPr>
            <a:bodyPr/>
            <a:lstStyle/>
            <a:p>
              <a:pPr>
                <a:defRPr sz="1500" b="1">
                  <a:solidFill>
                    <a:srgbClr val="0B254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4E2"/>
            </a:solidFill>
          </a:ln>
        </c:spPr>
        <c:txPr>
          <a:bodyPr/>
          <a:lstStyle/>
          <a:p>
            <a:pPr>
              <a:defRPr sz="1400">
                <a:solidFill>
                  <a:srgbClr val="13202E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0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edition replaces the 29 Sept one. It is written for the board in plain language. Sources: the go-live tracker, the Memorandum to the Chairman of 6 Oct 2026, and the project lead's update of 7 Oct (gateway approvals, training, Executive role).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since 28 Sept (board GO). Gateway approvals and training: project lead's update, 7 Oct. Executive role: built 2-3 Oct (migrations 0306-0312), merged and deployed 3 Oct; not yet tested with the person who will hold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Tracker dates: production deployed 24 Sept (5.2); self-assessment and load tests 26-27 Sept (6.1); board GO 28 Sept (6.4); Executive role and two-step sign-in merged 3 Oct. Gateway approvals per the project lead: Paystack verified 2 Oct, Flutterwave 5 Oct; both live keys are connected on the OEA portal. 'Next' is tracker item 6.6, not yet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Paystack verified OEA on 2 Oct and Flutterwave on 5 Oct; both live keys are on the OEA portal. From 7 Oct the system routes Naira collections and all payouts through Paystack and every foreign currency through Flutterwave, which is locked decision 4 as originally written. Flutterwave takes Naira only for an org with no Paystack account. The first live payment is tracker 6.6.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 the project lead, 7 Oct: the three-day programme began yesterday (6 Oct) for property managers (staff on ground); the other sessions are today and tomorrow. Which groups attend days 2 and 3 should be named on the slide if known. The ₦250,000 is from section 2 of the Memorandum to the Chairman (6 Oct).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59 (operations_executive, migrations 0306-0312): OEA only; rank above the regional manager, below the MP. Organisation-wide operations (0309); may approve stage 2 of an ops requisition at or below the operator-set limit, ₦500,000 by default, never one she raised; no money release, ledger, export or audit. Several powers are operator switches (0310-0312). Untested with the real account; a demo login exists on staging (oea.opsexec@oegroup.test).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 section 2: approved Phase 1 ₦5,257,421.88; released before Stage 2 ₦4,191,062.50; Stage 2 ₦1,066,359.38, part released ₦533,000, balance ₦533,359.38. The total released (₦4,724,062.50 = 4,191,062.50 + 533,000; 89.9%) is derived here, not stated in the memo.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 section 2 expenditure, as stated: new blank database 64,358; deployment manager 28,000; penetration and load test 247,000; 360dialog WABA 156,800; AI fallback (Google API) 43,000. The memo printed a total of ₦541,800 and a balance of -₦8,800; the five lines add to ₦539,158, so the corrected total is ₦539,158 and the overspend ₦6,158 (corrected 7 Oct). WhatsApp is still off as of 7 Oct (project lead).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 section 2 'Still owed': staff training 250,000; contingency reserve (15%) 406,359.38; total owed 665,159.38 as printed; corrected here to ₦662,517.38 = 250,000 + 406,359.38 + the corrected ₦6,158 overspend. Contingency already spent on subscriptions: ₦192,356 (corrected by the project lead, 7 Oct; the memo printed ₦193,158).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 section 4, figures as stated. Two rows are annual plans rather than month x 12 (project lead, 7 Oct): AI is one ₦170,000 plan for the first year, with a top-up requested if it runs out; Monitoring is an annual subscription at a discount. So the yearly column (₦3,201,602) is what the plans cost; the monthly total is the memo's figure and is not x12 of the year. Replaces the 3 Sept table (₦516,375 a month).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keys connected on the OEA portal; first live payment not yet made (project lead, 7 Oct; tracker 6.6). WhatsApp off since 1 Oct. Legal has not yet responded with the documentation (processor agreements, privacy notice review). decision 59 (Executive role); 1.1 processor agreements (none signed as of 28 Sept); 1.2 privacy notice (published 24 Sept, legal review owed); 1.5 NDPC registration. Special-category data (1.6) is also still undecided.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1-2 are the memo's recommendation (section 5). 3: on 7 Oct Naira collections moved back to Paystack, with Flutterwave for foreign currency. That is locked decision 4 as written, so the 23 Sept draft minute (Flutterwave for Naira) is superseded and should not be signed. 4 per the project lead's update.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.png"/><Relationship Id="rId9" Type="http://schemas.openxmlformats.org/officeDocument/2006/relationships/image" Target="../media/image5.png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image" Target="../media/image23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138160" y="0"/>
            <a:ext cx="4050791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006840" y="1828800"/>
            <a:ext cx="2286000" cy="2286000"/>
          </a:xfrm>
          <a:prstGeom prst="ellipse">
            <a:avLst/>
          </a:prstGeom>
          <a:solidFill>
            <a:srgbClr val="D4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4" name="Picture 3" descr="Ro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33172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822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D49A1A"/>
                </a:solidFill>
                <a:latin typeface="Calibri"/>
              </a:rPr>
              <a:t>BOARD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7132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mbria"/>
              </a:rPr>
              <a:t>TENTai is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8036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CFE0F5"/>
                </a:solidFill>
                <a:latin typeface="Cambria"/>
              </a:rPr>
              <a:t>Going live: where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Both payment providers have approved OEA. Staff training is under way. A new Executive role is ready for Engr Ola.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69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D49A1A"/>
                </a:solidFill>
                <a:latin typeface="Calibri"/>
              </a:rPr>
              <a:t>7 October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8076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FE0F5"/>
                </a:solidFill>
                <a:latin typeface="Calibri"/>
              </a:rPr>
              <a:t>Prepared for the Board · OE Group of Companies (TFML · OEA)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mbria"/>
              </a:rPr>
              <a:t>Where we are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475B"/>
                </a:solidFill>
                <a:latin typeface="Calibri"/>
              </a:rPr>
              <a:t>Four things to know this morning.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68680" y="2194560"/>
            <a:ext cx="1234440" cy="123444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6" name="Picture 5" descr="Ro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256" y="2466136"/>
            <a:ext cx="691286" cy="6912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1720" y="21488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2545"/>
                </a:solidFill>
                <a:latin typeface="Cambria"/>
              </a:rPr>
              <a:t>Live and in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74320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3202E"/>
                </a:solidFill>
                <a:latin typeface="Calibri"/>
              </a:rPr>
              <a:t>The system went live on 28 September. OEA is loading its properties and its staff.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6492240" y="2194560"/>
            <a:ext cx="1234440" cy="123444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1" name="Picture 10" descr="Credit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816" y="2466136"/>
            <a:ext cx="691286" cy="69128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55279" y="21488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2545"/>
                </a:solidFill>
                <a:latin typeface="Cambria"/>
              </a:rPr>
              <a:t>Payments ready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74320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3202E"/>
                </a:solidFill>
                <a:latin typeface="Calibri"/>
              </a:rPr>
              <a:t>Paystack and Flutterwave approved OEA, and both are now connected to OEA's portal.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690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68680" y="4480560"/>
            <a:ext cx="1234440" cy="123444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6" name="Picture 15" descr="GraduationC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256" y="4752136"/>
            <a:ext cx="691286" cy="69128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331720" y="44348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2545"/>
                </a:solidFill>
                <a:latin typeface="Cambria"/>
              </a:rPr>
              <a:t>Training under 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502920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3202E"/>
                </a:solidFill>
                <a:latin typeface="Calibri"/>
              </a:rPr>
              <a:t>A three-day staff programme began yesterday, starting with the property managers.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06908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492240" y="4480560"/>
            <a:ext cx="1234440" cy="1234440"/>
          </a:xfrm>
          <a:prstGeom prst="ellipse">
            <a:avLst/>
          </a:prstGeom>
          <a:solidFill>
            <a:srgbClr val="A3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21" name="Picture 20" descr="User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3816" y="4752136"/>
            <a:ext cx="691286" cy="69128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955279" y="44348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2545"/>
                </a:solidFill>
                <a:latin typeface="Cambria"/>
              </a:rPr>
              <a:t>Executive role ready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502920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3202E"/>
                </a:solidFill>
                <a:latin typeface="Calibri"/>
              </a:rPr>
              <a:t>Engr Ola's new role is built into the system. It has not been tested yet.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75B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mbria"/>
              </a:rPr>
              <a:t>The road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475B"/>
                </a:solidFill>
                <a:latin typeface="Calibri"/>
              </a:rPr>
              <a:t>From switching on to everyday use, in seven steps.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89304" y="2395728"/>
            <a:ext cx="9601200" cy="0"/>
          </a:xfrm>
          <a:prstGeom prst="line">
            <a:avLst/>
          </a:prstGeom>
          <a:ln w="5080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32104" y="1938528"/>
            <a:ext cx="914400" cy="91440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6" name="Picture 5" descr="Ro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" y="2139696"/>
            <a:ext cx="512064" cy="512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7180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6723F"/>
                </a:solidFill>
                <a:latin typeface="Calibri"/>
              </a:rPr>
              <a:t>24 Sep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29000"/>
            <a:ext cx="14813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8368" y="356616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0B2545"/>
                </a:solidFill>
                <a:latin typeface="Cambria"/>
              </a:rPr>
              <a:t>Switched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343400"/>
            <a:ext cx="12618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13202E"/>
                </a:solidFill>
                <a:latin typeface="Calibri"/>
              </a:rPr>
              <a:t>The live system was set up, empty and secure</a:t>
            </a:r>
          </a:p>
        </p:txBody>
      </p:sp>
      <p:sp>
        <p:nvSpPr>
          <p:cNvPr id="11" name="Oval 10"/>
          <p:cNvSpPr/>
          <p:nvPr/>
        </p:nvSpPr>
        <p:spPr>
          <a:xfrm>
            <a:off x="2432304" y="1938528"/>
            <a:ext cx="914400" cy="91440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2" name="Picture 11" descr="Shield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472" y="2139696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48840" y="297180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6723F"/>
                </a:solidFill>
                <a:latin typeface="Calibri"/>
              </a:rPr>
              <a:t>26–27 Sep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3429000"/>
            <a:ext cx="14813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258568" y="356616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0B2545"/>
                </a:solidFill>
                <a:latin typeface="Cambria"/>
              </a:rPr>
              <a:t>Safety-tested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4343400"/>
            <a:ext cx="12618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13202E"/>
                </a:solidFill>
                <a:latin typeface="Calibri"/>
              </a:rPr>
              <a:t>Security, heavy-load and backup tests all passed</a:t>
            </a:r>
          </a:p>
        </p:txBody>
      </p:sp>
      <p:sp>
        <p:nvSpPr>
          <p:cNvPr id="17" name="Oval 16"/>
          <p:cNvSpPr/>
          <p:nvPr/>
        </p:nvSpPr>
        <p:spPr>
          <a:xfrm>
            <a:off x="4032504" y="1938528"/>
            <a:ext cx="914400" cy="91440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8" name="Picture 17" descr="F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672" y="2139696"/>
            <a:ext cx="512064" cy="5120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49039" y="297180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6723F"/>
                </a:solidFill>
                <a:latin typeface="Calibri"/>
              </a:rPr>
              <a:t>28 Sep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49039" y="3429000"/>
            <a:ext cx="14813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858768" y="356616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0B2545"/>
                </a:solidFill>
                <a:latin typeface="Cambria"/>
              </a:rPr>
              <a:t>Board said 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768" y="4343400"/>
            <a:ext cx="12618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13202E"/>
                </a:solidFill>
                <a:latin typeface="Calibri"/>
              </a:rPr>
              <a:t>OEA began loading its properties and staff</a:t>
            </a:r>
          </a:p>
        </p:txBody>
      </p:sp>
      <p:sp>
        <p:nvSpPr>
          <p:cNvPr id="23" name="Oval 22"/>
          <p:cNvSpPr/>
          <p:nvPr/>
        </p:nvSpPr>
        <p:spPr>
          <a:xfrm>
            <a:off x="5632704" y="1938528"/>
            <a:ext cx="914400" cy="91440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24" name="Picture 23" descr="Spark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872" y="2139696"/>
            <a:ext cx="512064" cy="5120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297180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6723F"/>
                </a:solidFill>
                <a:latin typeface="Calibri"/>
              </a:rPr>
              <a:t>2–3 Oct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49240" y="3429000"/>
            <a:ext cx="14813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458968" y="356616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0B2545"/>
                </a:solidFill>
                <a:latin typeface="Cambria"/>
              </a:rPr>
              <a:t>New 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343400"/>
            <a:ext cx="12618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13202E"/>
                </a:solidFill>
                <a:latin typeface="Calibri"/>
              </a:rPr>
              <a:t>Executive role and two-step sign-in added</a:t>
            </a:r>
          </a:p>
        </p:txBody>
      </p:sp>
      <p:sp>
        <p:nvSpPr>
          <p:cNvPr id="29" name="Oval 28"/>
          <p:cNvSpPr/>
          <p:nvPr/>
        </p:nvSpPr>
        <p:spPr>
          <a:xfrm>
            <a:off x="7232904" y="1938528"/>
            <a:ext cx="914400" cy="91440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30" name="Picture 29" descr="Credit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072" y="2139696"/>
            <a:ext cx="512064" cy="5120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297180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6723F"/>
                </a:solidFill>
                <a:latin typeface="Calibri"/>
              </a:rPr>
              <a:t>2 &amp; 5 Oct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3429000"/>
            <a:ext cx="14813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059168" y="356616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0B2545"/>
                </a:solidFill>
                <a:latin typeface="Cambria"/>
              </a:rPr>
              <a:t>Payments approved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9168" y="4343400"/>
            <a:ext cx="12618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13202E"/>
                </a:solidFill>
                <a:latin typeface="Calibri"/>
              </a:rPr>
              <a:t>Paystack on 2 Oct, Flutterwave on 5 Oct</a:t>
            </a:r>
          </a:p>
        </p:txBody>
      </p:sp>
      <p:sp>
        <p:nvSpPr>
          <p:cNvPr id="35" name="Oval 34"/>
          <p:cNvSpPr/>
          <p:nvPr/>
        </p:nvSpPr>
        <p:spPr>
          <a:xfrm>
            <a:off x="8833104" y="1938528"/>
            <a:ext cx="914400" cy="91440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36" name="Picture 35" descr="GraduationC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4272" y="2139696"/>
            <a:ext cx="512064" cy="51206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549640" y="297180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B2545"/>
                </a:solidFill>
                <a:latin typeface="Calibri"/>
              </a:rPr>
              <a:t>6–8 Oct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49640" y="3429000"/>
            <a:ext cx="14813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659367" y="356616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0B2545"/>
                </a:solidFill>
                <a:latin typeface="Cambria"/>
              </a:rPr>
              <a:t>Staff training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59367" y="4343400"/>
            <a:ext cx="12618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13202E"/>
                </a:solidFill>
                <a:latin typeface="Calibri"/>
              </a:rPr>
              <a:t>Three days of hands-on training</a:t>
            </a:r>
          </a:p>
        </p:txBody>
      </p:sp>
      <p:sp>
        <p:nvSpPr>
          <p:cNvPr id="41" name="Oval 40"/>
          <p:cNvSpPr/>
          <p:nvPr/>
        </p:nvSpPr>
        <p:spPr>
          <a:xfrm>
            <a:off x="10433304" y="1938528"/>
            <a:ext cx="914400" cy="914400"/>
          </a:xfrm>
          <a:prstGeom prst="ellipse">
            <a:avLst/>
          </a:prstGeom>
          <a:solidFill>
            <a:srgbClr val="A3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42" name="Picture 41" descr="HandCoin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34472" y="2139696"/>
            <a:ext cx="512064" cy="51206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149840" y="297180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A35A00"/>
                </a:solidFill>
                <a:latin typeface="Calibri"/>
              </a:rPr>
              <a:t>Next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9840" y="3429000"/>
            <a:ext cx="14813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3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259567" y="3566160"/>
            <a:ext cx="1261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0B2545"/>
                </a:solidFill>
                <a:latin typeface="Cambria"/>
              </a:rPr>
              <a:t>First real payment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59567" y="4343400"/>
            <a:ext cx="12618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13202E"/>
                </a:solidFill>
                <a:latin typeface="Calibri"/>
              </a:rPr>
              <a:t>Checked by hand, end to end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75B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mbria"/>
              </a:rPr>
              <a:t>Payments: both providers have said yes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475B"/>
                </a:solidFill>
                <a:latin typeface="Calibri"/>
              </a:rPr>
              <a:t>OEA's business verification is approved by Paystack and by Flutterwave.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2120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67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960120" cy="96012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6" name="Picture 5" descr="Badg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66" y="2222906"/>
            <a:ext cx="537667" cy="5376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0240" y="19659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2545"/>
                </a:solidFill>
                <a:latin typeface="Cambria"/>
              </a:rPr>
              <a:t>Paystack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0" y="2029967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APPROVED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5146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3202E"/>
                </a:solidFill>
                <a:latin typeface="Calibri"/>
              </a:rPr>
              <a:t>Approved 2 October. Takes Naira payments, and pays vendors and landlords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2120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67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" y="3611880"/>
            <a:ext cx="960120" cy="96012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2" name="Picture 11" descr="Badg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66" y="3823106"/>
            <a:ext cx="537667" cy="53766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20240" y="3566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2545"/>
                </a:solidFill>
                <a:latin typeface="Cambria"/>
              </a:rPr>
              <a:t>Flutterwave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36301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114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3202E"/>
                </a:solidFill>
                <a:latin typeface="Calibri"/>
              </a:rPr>
              <a:t>Approved 5 October. Takes payments in foreign currency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7373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What happens next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286000"/>
            <a:ext cx="566928" cy="566928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24028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2545"/>
                </a:solidFill>
                <a:latin typeface="Calibri"/>
              </a:rPr>
              <a:t>Live keys connected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51760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3202E"/>
                </a:solidFill>
                <a:latin typeface="Calibri"/>
              </a:rPr>
              <a:t>Both providers' live keys are now plugged into OEA's portal. Done.</a:t>
            </a:r>
          </a:p>
        </p:txBody>
      </p:sp>
      <p:sp>
        <p:nvSpPr>
          <p:cNvPr id="20" name="Oval 19"/>
          <p:cNvSpPr/>
          <p:nvPr/>
        </p:nvSpPr>
        <p:spPr>
          <a:xfrm>
            <a:off x="6172200" y="3273552"/>
            <a:ext cx="566928" cy="566928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3227832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2545"/>
                </a:solidFill>
                <a:latin typeface="Calibri"/>
              </a:rPr>
              <a:t>Make one small real payment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639312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3202E"/>
                </a:solidFill>
                <a:latin typeface="Calibri"/>
              </a:rPr>
              <a:t>Check by hand that it lands in OEA's own account and shows correctly.</a:t>
            </a:r>
          </a:p>
        </p:txBody>
      </p:sp>
      <p:sp>
        <p:nvSpPr>
          <p:cNvPr id="23" name="Oval 22"/>
          <p:cNvSpPr/>
          <p:nvPr/>
        </p:nvSpPr>
        <p:spPr>
          <a:xfrm>
            <a:off x="6172200" y="4261104"/>
            <a:ext cx="566928" cy="566928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15384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B2545"/>
                </a:solidFill>
                <a:latin typeface="Calibri"/>
              </a:rPr>
              <a:t>Open online payment to tenants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4626864"/>
            <a:ext cx="4663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3202E"/>
                </a:solidFill>
                <a:latin typeface="Calibri"/>
              </a:rPr>
              <a:t>Tenants can then pay by card or bank online, and get a receipt at once.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6000"/>
            </a:avLst>
          </a:prstGeom>
          <a:solidFill>
            <a:srgbClr val="E6F2EA"/>
          </a:solidFill>
          <a:ln w="9525">
            <a:solidFill>
              <a:srgbClr val="167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22960" y="5458968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libri"/>
              </a:rPr>
              <a:t>Until the first live payment is checked, </a:t>
            </a:r>
            <a:r>
              <a:rPr sz="1600" b="0" i="0">
                <a:solidFill>
                  <a:srgbClr val="1C2B3A"/>
                </a:solidFill>
                <a:latin typeface="Calibri"/>
              </a:rPr>
              <a:t>tenants pay by bank transfer and upload proof. Three people check each one before it counts, and vendors are paid by recorded bank transfer.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75B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mbria"/>
              </a:rPr>
              <a:t>Staff training: three days, under 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475B"/>
                </a:solidFill>
                <a:latin typeface="Calibri"/>
              </a:rPr>
              <a:t>Hands-on sessions so every desk can use the system from day 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167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22959" y="2057400"/>
            <a:ext cx="1097280" cy="109728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6" name="Picture 5" descr="Calendar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361" y="2298801"/>
            <a:ext cx="614476" cy="6144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2103120"/>
            <a:ext cx="1920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150">
                <a:solidFill>
                  <a:srgbClr val="16723F"/>
                </a:solidFill>
                <a:latin typeface="Calibri"/>
              </a:rPr>
              <a:t>DAY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514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Tue 6 Oct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338328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97763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2545"/>
                </a:solidFill>
                <a:latin typeface="Calibri"/>
              </a:rPr>
              <a:t>Property managers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480560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3202E"/>
                </a:solidFill>
                <a:latin typeface="Calibri"/>
              </a:rPr>
              <a:t>The staff on the ground, who log and follow up every request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78308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571999" y="2057400"/>
            <a:ext cx="1097280" cy="10972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4" name="Picture 13" descr="Calendar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401" y="2298801"/>
            <a:ext cx="614476" cy="6144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52159" y="2103120"/>
            <a:ext cx="1920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150">
                <a:solidFill>
                  <a:srgbClr val="0B2545"/>
                </a:solidFill>
                <a:latin typeface="Calibri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59" y="2514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Wed 7 Oct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1999" y="338328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397763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2545"/>
                </a:solidFill>
                <a:latin typeface="Calibri"/>
              </a:rPr>
              <a:t>Other staff groups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1999" y="4480560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3202E"/>
                </a:solidFill>
                <a:latin typeface="Calibri"/>
              </a:rPr>
              <a:t>Scheduled for today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78308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3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321040" y="2057400"/>
            <a:ext cx="1097280" cy="1097280"/>
          </a:xfrm>
          <a:prstGeom prst="ellipse">
            <a:avLst/>
          </a:prstGeom>
          <a:solidFill>
            <a:srgbClr val="A3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22" name="Picture 21" descr="Calendar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2441" y="2298801"/>
            <a:ext cx="614476" cy="6144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199" y="2103120"/>
            <a:ext cx="1920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150">
                <a:solidFill>
                  <a:srgbClr val="A35A00"/>
                </a:solidFill>
                <a:latin typeface="Calibri"/>
              </a:rPr>
              <a:t>DAY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199" y="2514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2545"/>
                </a:solidFill>
                <a:latin typeface="Cambria"/>
              </a:rPr>
              <a:t>Thu 8 Oct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38328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A3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TOMORROW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97763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B2545"/>
                </a:solidFill>
                <a:latin typeface="Calibri"/>
              </a:rPr>
              <a:t>Other staff groups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480560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3202E"/>
                </a:solidFill>
                <a:latin typeface="Calibri"/>
              </a:rPr>
              <a:t>Scheduled for tomorrow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235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9525">
            <a:solidFill>
              <a:srgbClr val="A3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2960" y="5733288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libri"/>
              </a:rPr>
              <a:t>Cost: </a:t>
            </a:r>
            <a:r>
              <a:rPr sz="1600" b="0" i="0">
                <a:solidFill>
                  <a:srgbClr val="1C2B3A"/>
                </a:solidFill>
                <a:latin typeface="Calibri"/>
              </a:rPr>
              <a:t>staff training (₦250,000) is one of the items still owed in the Stage 2 funding.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75B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mbria"/>
              </a:rPr>
              <a:t>A new role for Engr Ola: Executive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475B"/>
                </a:solidFill>
                <a:latin typeface="Calibri"/>
              </a:rPr>
              <a:t>Built into the system for OEA, one level below the Managing Partner.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47548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167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1984248"/>
            <a:ext cx="914400" cy="91440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6" name="Picture 5" descr="Circl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185416"/>
            <a:ext cx="512064" cy="5120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74519" y="1965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0B2545"/>
                </a:solidFill>
                <a:latin typeface="Cambria"/>
              </a:rPr>
              <a:t>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441448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13202E"/>
                </a:solidFill>
                <a:latin typeface="Calibri"/>
              </a:rPr>
              <a:t>Added to the system on 2–3 October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46120"/>
            <a:ext cx="47548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3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77240" y="3447288"/>
            <a:ext cx="914400" cy="914400"/>
          </a:xfrm>
          <a:prstGeom prst="ellipse">
            <a:avLst/>
          </a:prstGeom>
          <a:solidFill>
            <a:srgbClr val="A3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1" name="Picture 10" descr="Hourg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648456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429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0B2545"/>
                </a:solidFill>
                <a:latin typeface="Cambria"/>
              </a:rPr>
              <a:t>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904487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13202E"/>
                </a:solidFill>
                <a:latin typeface="Calibri"/>
              </a:rPr>
              <a:t>Instruction given to bring her onto the 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709160"/>
            <a:ext cx="47548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A82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910328"/>
            <a:ext cx="914400" cy="914400"/>
          </a:xfrm>
          <a:prstGeom prst="ellipse">
            <a:avLst/>
          </a:prstGeom>
          <a:solidFill>
            <a:srgbClr val="A82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6" name="Picture 15" descr="Triangle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5111496"/>
            <a:ext cx="512064" cy="5120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74519" y="48920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0B2545"/>
                </a:solidFill>
                <a:latin typeface="Cambria"/>
              </a:rPr>
              <a:t>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5367528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13202E"/>
                </a:solidFill>
                <a:latin typeface="Calibri"/>
              </a:rPr>
              <a:t>Not yet tested with her. Next, once she is set 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0" y="1783080"/>
            <a:ext cx="5943600" cy="4251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0" y="1920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0B2545"/>
                </a:solidFill>
                <a:latin typeface="Cambria"/>
              </a:rPr>
              <a:t>What she will be able to do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2551176"/>
            <a:ext cx="384048" cy="384048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22" name="Picture 21" descr="Circl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8090" y="2635666"/>
            <a:ext cx="215066" cy="2150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92240" y="251460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3202E"/>
                </a:solidFill>
                <a:latin typeface="Calibri"/>
              </a:rPr>
              <a:t>See all of OEA's day-to-day operations, across every property</a:t>
            </a:r>
          </a:p>
        </p:txBody>
      </p:sp>
      <p:sp>
        <p:nvSpPr>
          <p:cNvPr id="24" name="Oval 23"/>
          <p:cNvSpPr/>
          <p:nvPr/>
        </p:nvSpPr>
        <p:spPr>
          <a:xfrm>
            <a:off x="5943600" y="3282696"/>
            <a:ext cx="384048" cy="384048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25" name="Picture 24" descr="Circl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8090" y="3367186"/>
            <a:ext cx="215066" cy="21506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92240" y="324612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3202E"/>
                </a:solidFill>
                <a:latin typeface="Calibri"/>
              </a:rPr>
              <a:t>Raise, assign and close work, as a property or facilities manager does</a:t>
            </a:r>
          </a:p>
        </p:txBody>
      </p:sp>
      <p:sp>
        <p:nvSpPr>
          <p:cNvPr id="27" name="Oval 26"/>
          <p:cNvSpPr/>
          <p:nvPr/>
        </p:nvSpPr>
        <p:spPr>
          <a:xfrm>
            <a:off x="5943600" y="4014215"/>
            <a:ext cx="384048" cy="384048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28" name="Picture 27" descr="Circl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8090" y="4098706"/>
            <a:ext cx="215066" cy="21506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92240" y="3977639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3202E"/>
                </a:solidFill>
                <a:latin typeface="Calibri"/>
              </a:rPr>
              <a:t>Invite facilities managers, property managers and operations staff</a:t>
            </a:r>
          </a:p>
        </p:txBody>
      </p:sp>
      <p:sp>
        <p:nvSpPr>
          <p:cNvPr id="30" name="Oval 29"/>
          <p:cNvSpPr/>
          <p:nvPr/>
        </p:nvSpPr>
        <p:spPr>
          <a:xfrm>
            <a:off x="5943600" y="4745736"/>
            <a:ext cx="384048" cy="384048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31" name="Picture 30" descr="Circle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8090" y="4830226"/>
            <a:ext cx="215066" cy="21506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4709159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3202E"/>
                </a:solidFill>
                <a:latin typeface="Calibri"/>
              </a:rPr>
              <a:t>Approve operations requests for money up to ₦500,000, never her own</a:t>
            </a:r>
          </a:p>
        </p:txBody>
      </p:sp>
      <p:sp>
        <p:nvSpPr>
          <p:cNvPr id="33" name="Oval 32"/>
          <p:cNvSpPr/>
          <p:nvPr/>
        </p:nvSpPr>
        <p:spPr>
          <a:xfrm>
            <a:off x="5943600" y="5477255"/>
            <a:ext cx="384048" cy="384048"/>
          </a:xfrm>
          <a:prstGeom prst="ellipse">
            <a:avLst/>
          </a:prstGeom>
          <a:solidFill>
            <a:srgbClr val="A82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34" name="Picture 33" descr="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8090" y="5561746"/>
            <a:ext cx="215066" cy="21506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92240" y="5440679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A82A1F"/>
                </a:solidFill>
                <a:latin typeface="Calibri"/>
              </a:rPr>
              <a:t>She does not release money. </a:t>
            </a:r>
            <a:r>
              <a:rPr sz="1600" b="0" i="0">
                <a:solidFill>
                  <a:srgbClr val="13202E"/>
                </a:solidFill>
                <a:latin typeface="Calibri"/>
              </a:rPr>
              <a:t>Paying out stays with the Payment Officer.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75B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mbria"/>
              </a:rPr>
              <a:t>Stage 2 funding: half released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475B"/>
                </a:solidFill>
                <a:latin typeface="Calibri"/>
              </a:rPr>
              <a:t>From the Memorandum to the Chairman, 6 October 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0B2545"/>
                </a:solidFill>
                <a:latin typeface="Cambria"/>
              </a:rPr>
              <a:t>₦1,066,359.38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3202E"/>
                </a:solidFill>
                <a:latin typeface="Calibri"/>
              </a:rPr>
              <a:t>Stage 2 approved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80559" y="19659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16723F"/>
                </a:solidFill>
                <a:latin typeface="Cambria"/>
              </a:rPr>
              <a:t>₦533,000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3202E"/>
                </a:solidFill>
                <a:latin typeface="Calibri"/>
              </a:rPr>
              <a:t>Released so far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599" y="196596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A35A00"/>
                </a:solidFill>
                <a:latin typeface="Cambria"/>
              </a:rPr>
              <a:t>₦533,359.38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3202E"/>
                </a:solidFill>
                <a:latin typeface="Calibri"/>
              </a:rPr>
              <a:t>Still to be released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Calibri"/>
              </a:rPr>
              <a:t>Stage 2 released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43400"/>
            <a:ext cx="11064240" cy="502920"/>
          </a:xfrm>
          <a:prstGeom prst="roundRect">
            <a:avLst>
              <a:gd name="adj" fmla="val 50000"/>
            </a:avLst>
          </a:prstGeom>
          <a:solidFill>
            <a:srgbClr val="DD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48640" y="4343400"/>
            <a:ext cx="5530255" cy="502920"/>
          </a:xfrm>
          <a:prstGeom prst="roundRect">
            <a:avLst>
              <a:gd name="adj" fmla="val 50000"/>
            </a:avLst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50% released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5321808"/>
            <a:ext cx="777240" cy="77724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9" name="Picture 18" descr="Lan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232" y="5492800"/>
            <a:ext cx="435254" cy="43525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83080" y="5303520"/>
            <a:ext cx="96012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The whole Phase 1 budget is ₦5,257,421.88. </a:t>
            </a:r>
            <a:r>
              <a:rPr sz="1700" b="0" i="0">
                <a:solidFill>
                  <a:srgbClr val="1C2B3A"/>
                </a:solidFill>
                <a:latin typeface="Calibri"/>
              </a:rPr>
              <a:t>With this part release, ₦4,724,062.50 has been released in total, about 90%.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75B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mbria"/>
              </a:rPr>
              <a:t>How the ₦533,000 was spent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475B"/>
                </a:solidFill>
                <a:latin typeface="Calibri"/>
              </a:rPr>
              <a:t>Testing, and the subscriptions that keep the system running.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73736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0" y="1783080"/>
            <a:ext cx="38404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01000" y="19202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33475B"/>
                </a:solidFill>
                <a:latin typeface="Calibri"/>
              </a:rPr>
              <a:t>TOTAL SPENT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2860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2545"/>
                </a:solidFill>
                <a:latin typeface="Cambria"/>
              </a:rPr>
              <a:t>₦539,158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97180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3202E"/>
                </a:solidFill>
                <a:latin typeface="Calibri"/>
              </a:rPr>
              <a:t>₦6,158 more than released. The extra comes from the contingency reserve.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931920"/>
            <a:ext cx="3840480" cy="233172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 w="9525">
            <a:solidFill>
              <a:srgbClr val="A82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8001000" y="4114800"/>
            <a:ext cx="685800" cy="685800"/>
          </a:xfrm>
          <a:prstGeom prst="ellipse">
            <a:avLst/>
          </a:prstGeom>
          <a:solidFill>
            <a:srgbClr val="A82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1" name="Picture 10" descr="Triangle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1875" y="4265676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23960" y="41605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A82A1F"/>
                </a:solidFill>
                <a:latin typeface="Calibri"/>
              </a:rPr>
              <a:t>WhatsApp is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4892040"/>
            <a:ext cx="34747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0">
                <a:solidFill>
                  <a:srgbClr val="13202E"/>
                </a:solidFill>
                <a:latin typeface="Calibri"/>
              </a:rPr>
              <a:t>The WhatsApp subscription expired on 1 October and was cancelled. It is still off today.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75B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mbria"/>
              </a:rPr>
              <a:t>What is still 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475B"/>
                </a:solidFill>
                <a:latin typeface="Calibri"/>
              </a:rPr>
              <a:t>Two items remain from the Stage 2 budget.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68680" y="2057400"/>
            <a:ext cx="1097280" cy="10972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6" name="Picture 5" descr="Graduation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081" y="2298801"/>
            <a:ext cx="614476" cy="6144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94560" y="205740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2545"/>
                </a:solidFill>
                <a:latin typeface="Cambria"/>
              </a:rPr>
              <a:t>₦250,000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26974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2545"/>
                </a:solidFill>
                <a:latin typeface="Calibri"/>
              </a:rPr>
              <a:t>Staff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3202E"/>
                </a:solidFill>
                <a:latin typeface="Calibri"/>
              </a:rPr>
              <a:t>The three-day programme under way this week.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44068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92240" y="2057400"/>
            <a:ext cx="1097280" cy="1097280"/>
          </a:xfrm>
          <a:prstGeom prst="ellipse">
            <a:avLst/>
          </a:prstGeom>
          <a:solidFill>
            <a:srgbClr val="A3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2" name="Picture 11" descr="PiggyBa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1" y="2298801"/>
            <a:ext cx="614476" cy="6144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18120" y="205740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35A00"/>
                </a:solidFill>
                <a:latin typeface="Cambria"/>
              </a:rPr>
              <a:t>₦406,359.38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69748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B2545"/>
                </a:solidFill>
                <a:latin typeface="Calibri"/>
              </a:rPr>
              <a:t>Contingency reserve (15%)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3375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3202E"/>
                </a:solidFill>
                <a:latin typeface="Calibri"/>
              </a:rPr>
              <a:t>₦192,356 of it has already gone on keeping subscriptions running, so work did not stall.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11064240" cy="15087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150">
                <a:solidFill>
                  <a:srgbClr val="D49A1A"/>
                </a:solidFill>
                <a:latin typeface="Calibri"/>
              </a:rPr>
              <a:t>TOTAL OWED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₦662,517.38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4983480"/>
            <a:ext cx="5669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Includes the ₦6,158 overspend. The contingency absorbs it, so the balance to release stays ₦533,359.38.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75B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mbria"/>
              </a:rPr>
              <a:t>What it costs to keep running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475B"/>
                </a:solidFill>
                <a:latin typeface="Calibri"/>
              </a:rPr>
              <a:t>About ₦3.2 million a year in subscription plans, from the 6 October memo.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20">
                <a:solidFill>
                  <a:srgbClr val="33475B"/>
                </a:solidFill>
                <a:latin typeface="Calibri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7373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 spc="120">
                <a:solidFill>
                  <a:srgbClr val="33475B"/>
                </a:solidFill>
                <a:latin typeface="Calibri"/>
              </a:rPr>
              <a:t>PER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7373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 spc="120">
                <a:solidFill>
                  <a:srgbClr val="33475B"/>
                </a:solidFill>
                <a:latin typeface="Calibri"/>
              </a:rPr>
              <a:t>PER YEAR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722376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58368" y="2185415"/>
            <a:ext cx="475488" cy="475488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9" name="Picture 8" descr="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75" y="2290023"/>
            <a:ext cx="266273" cy="2662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2130551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450591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33475B"/>
                </a:solidFill>
                <a:latin typeface="Calibri"/>
              </a:rPr>
              <a:t>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9424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3202E"/>
                </a:solidFill>
                <a:latin typeface="Calibri"/>
              </a:rPr>
              <a:t>₦75,124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249424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0" i="0">
                <a:solidFill>
                  <a:srgbClr val="13202E"/>
                </a:solidFill>
                <a:latin typeface="Calibri"/>
              </a:rPr>
              <a:t>₦901,488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16352"/>
            <a:ext cx="722376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8368" y="2898648"/>
            <a:ext cx="475488" cy="475488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6" name="Picture 15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75" y="3003255"/>
            <a:ext cx="266273" cy="26627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71600" y="2843784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Hosting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6382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33475B"/>
                </a:solidFill>
                <a:latin typeface="Calibri"/>
              </a:rPr>
              <a:t>Vercel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62656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3202E"/>
                </a:solidFill>
                <a:latin typeface="Calibri"/>
              </a:rPr>
              <a:t>₦49,322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962656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0" i="0">
                <a:solidFill>
                  <a:srgbClr val="13202E"/>
                </a:solidFill>
                <a:latin typeface="Calibri"/>
              </a:rPr>
              <a:t>₦591,864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9584"/>
            <a:ext cx="722376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58368" y="3611880"/>
            <a:ext cx="475488" cy="475488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23" name="Picture 22" descr="Message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75" y="3716487"/>
            <a:ext cx="266273" cy="26627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71600" y="3557016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WhatsApp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8770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33475B"/>
                </a:solidFill>
                <a:latin typeface="Calibri"/>
              </a:rPr>
              <a:t>WhatsApp Business (OEA)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675888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3202E"/>
                </a:solidFill>
                <a:latin typeface="Calibri"/>
              </a:rPr>
              <a:t>₦79,187.50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67588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0" i="0">
                <a:solidFill>
                  <a:srgbClr val="13202E"/>
                </a:solidFill>
                <a:latin typeface="Calibri"/>
              </a:rPr>
              <a:t>₦950,250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242816"/>
            <a:ext cx="722376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658368" y="4325112"/>
            <a:ext cx="475488" cy="475488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30" name="Picture 29" descr="B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975" y="4429719"/>
            <a:ext cx="266273" cy="26627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71600" y="427024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5902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33475B"/>
                </a:solidFill>
                <a:latin typeface="Calibri"/>
              </a:rPr>
              <a:t>One plan for the first year; top-up if it runs 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438912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3202E"/>
                </a:solidFill>
                <a:latin typeface="Calibri"/>
              </a:rPr>
              <a:t>₦170,000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43891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0" i="0">
                <a:solidFill>
                  <a:srgbClr val="13202E"/>
                </a:solidFill>
                <a:latin typeface="Calibri"/>
              </a:rPr>
              <a:t>₦170,000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956048"/>
            <a:ext cx="722376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658368" y="5038344"/>
            <a:ext cx="475488" cy="475488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37" name="Picture 36" descr="Activ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975" y="5142951"/>
            <a:ext cx="266273" cy="266273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371600" y="4983480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Calibri"/>
              </a:rPr>
              <a:t>Monitoring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53035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33475B"/>
                </a:solidFill>
                <a:latin typeface="Calibri"/>
              </a:rPr>
              <a:t>Annual plan, at a discount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10235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1" i="0">
                <a:solidFill>
                  <a:srgbClr val="13202E"/>
                </a:solidFill>
                <a:latin typeface="Calibri"/>
              </a:rPr>
              <a:t>₦48,450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51023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700" b="0" i="0">
                <a:solidFill>
                  <a:srgbClr val="13202E"/>
                </a:solidFill>
                <a:latin typeface="Calibri"/>
              </a:rPr>
              <a:t>₦588,000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715000"/>
            <a:ext cx="7223760" cy="658368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371600" y="5833872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5833872"/>
            <a:ext cx="1920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00" b="1" i="0">
                <a:solidFill>
                  <a:srgbClr val="FFFFFF"/>
                </a:solidFill>
                <a:latin typeface="Calibri"/>
              </a:rPr>
              <a:t>₦422,083.50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5833872"/>
            <a:ext cx="1600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900" b="1" i="0">
                <a:solidFill>
                  <a:srgbClr val="FFFFFF"/>
                </a:solidFill>
                <a:latin typeface="Calibri"/>
              </a:rPr>
              <a:t>₦3,201,602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92440" y="1783080"/>
            <a:ext cx="352044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672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321040" y="192024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16723F"/>
                </a:solidFill>
                <a:latin typeface="Cambria"/>
              </a:rPr>
              <a:t>Already covered or free</a:t>
            </a:r>
          </a:p>
        </p:txBody>
      </p:sp>
      <p:sp>
        <p:nvSpPr>
          <p:cNvPr id="48" name="Oval 47"/>
          <p:cNvSpPr/>
          <p:nvPr/>
        </p:nvSpPr>
        <p:spPr>
          <a:xfrm>
            <a:off x="8321040" y="2560320"/>
            <a:ext cx="548640" cy="54864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49" name="Picture 48" descr="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1740" y="2681020"/>
            <a:ext cx="307238" cy="30723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006840" y="251460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0B2545"/>
                </a:solidFill>
                <a:latin typeface="Calibri"/>
              </a:rPr>
              <a:t>Website names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28803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3202E"/>
                </a:solidFill>
                <a:latin typeface="Calibri"/>
              </a:rPr>
              <a:t>Paid for two years</a:t>
            </a:r>
          </a:p>
        </p:txBody>
      </p:sp>
      <p:sp>
        <p:nvSpPr>
          <p:cNvPr id="52" name="Oval 51"/>
          <p:cNvSpPr/>
          <p:nvPr/>
        </p:nvSpPr>
        <p:spPr>
          <a:xfrm>
            <a:off x="8321040" y="3474720"/>
            <a:ext cx="548640" cy="54864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53" name="Picture 52" descr="CreditC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1740" y="3595420"/>
            <a:ext cx="307238" cy="30723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006840" y="342900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0B2545"/>
                </a:solidFill>
                <a:latin typeface="Calibri"/>
              </a:rPr>
              <a:t>Paystack, Flutterwave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6840" y="37947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3202E"/>
                </a:solidFill>
                <a:latin typeface="Calibri"/>
              </a:rPr>
              <a:t>Fees per payment only</a:t>
            </a:r>
          </a:p>
        </p:txBody>
      </p:sp>
      <p:sp>
        <p:nvSpPr>
          <p:cNvPr id="56" name="Oval 55"/>
          <p:cNvSpPr/>
          <p:nvPr/>
        </p:nvSpPr>
        <p:spPr>
          <a:xfrm>
            <a:off x="8321040" y="4389120"/>
            <a:ext cx="548640" cy="54864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57" name="Picture 56" descr="Shield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1740" y="4509820"/>
            <a:ext cx="307238" cy="30723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006840" y="434340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0B2545"/>
                </a:solidFill>
                <a:latin typeface="Calibri"/>
              </a:rPr>
              <a:t>Form protection, Telegram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47091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3202E"/>
                </a:solidFill>
                <a:latin typeface="Calibri"/>
              </a:rPr>
              <a:t>Free for now</a:t>
            </a:r>
          </a:p>
        </p:txBody>
      </p:sp>
      <p:sp>
        <p:nvSpPr>
          <p:cNvPr id="60" name="Oval 59"/>
          <p:cNvSpPr/>
          <p:nvPr/>
        </p:nvSpPr>
        <p:spPr>
          <a:xfrm>
            <a:off x="8321040" y="5303520"/>
            <a:ext cx="548640" cy="548640"/>
          </a:xfrm>
          <a:prstGeom prst="ellipse">
            <a:avLst/>
          </a:prstGeom>
          <a:solidFill>
            <a:srgbClr val="16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61" name="Picture 60" descr="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1740" y="5424220"/>
            <a:ext cx="307238" cy="307238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006840" y="525780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 i="0">
                <a:solidFill>
                  <a:srgbClr val="0B2545"/>
                </a:solidFill>
                <a:latin typeface="Calibri"/>
              </a:rPr>
              <a:t>Data backups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562356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13202E"/>
                </a:solidFill>
                <a:latin typeface="Calibri"/>
              </a:rPr>
              <a:t>On TFML's Google Workspace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75B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B2545"/>
                </a:solidFill>
                <a:latin typeface="Cambria"/>
              </a:rPr>
              <a:t>Still to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3475B"/>
                </a:solidFill>
                <a:latin typeface="Calibri"/>
              </a:rPr>
              <a:t>What remains before the system is complete and fully compliant.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440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77240" y="2011680"/>
            <a:ext cx="868680" cy="868680"/>
          </a:xfrm>
          <a:prstGeom prst="ellipse">
            <a:avLst/>
          </a:prstGeom>
          <a:solidFill>
            <a:srgbClr val="A3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6" name="Picture 5" descr="Credit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349" y="2202789"/>
            <a:ext cx="486460" cy="4864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1947672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0B2545"/>
                </a:solidFill>
                <a:latin typeface="Calibri"/>
              </a:rPr>
              <a:t>Make the first live payment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587752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3202E"/>
                </a:solidFill>
                <a:latin typeface="Calibri"/>
              </a:rPr>
              <a:t>Keys are connected; check it by hand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0116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A3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440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00800" y="2011680"/>
            <a:ext cx="868680" cy="868680"/>
          </a:xfrm>
          <a:prstGeom prst="ellipse">
            <a:avLst/>
          </a:prstGeom>
          <a:solidFill>
            <a:srgbClr val="A3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2" name="Picture 11" descr="User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1909" y="2202789"/>
            <a:ext cx="486460" cy="4864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52360" y="1947672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0B2545"/>
                </a:solidFill>
                <a:latin typeface="Calibri"/>
              </a:rPr>
              <a:t>Onboard and test Engr Ola's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587752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3202E"/>
                </a:solidFill>
                <a:latin typeface="Calibri"/>
              </a:rPr>
              <a:t>Instruction given; testing follows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0" y="20116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A3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264408"/>
            <a:ext cx="5440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77240" y="3493008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8" name="Picture 17" descr="GraduationC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349" y="3684117"/>
            <a:ext cx="486460" cy="4864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828800" y="34290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0B2545"/>
                </a:solidFill>
                <a:latin typeface="Calibri"/>
              </a:rPr>
              <a:t>Finish staff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0690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3202E"/>
                </a:solidFill>
                <a:latin typeface="Calibri"/>
              </a:rPr>
              <a:t>Days 2 and 3: today and tomorrow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3493008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264408"/>
            <a:ext cx="5440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6400800" y="3493008"/>
            <a:ext cx="868680" cy="868680"/>
          </a:xfrm>
          <a:prstGeom prst="ellipse">
            <a:avLst/>
          </a:prstGeom>
          <a:solidFill>
            <a:srgbClr val="A82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24" name="Picture 23" descr="Message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1909" y="3684117"/>
            <a:ext cx="486460" cy="4864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52360" y="34290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0B2545"/>
                </a:solidFill>
                <a:latin typeface="Calibri"/>
              </a:rPr>
              <a:t>Switch WhatsApp back 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406908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3202E"/>
                </a:solidFill>
                <a:latin typeface="Calibri"/>
              </a:rPr>
              <a:t>Off since 1 October; needs its subscription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41280" y="3493008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A82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OFF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45736"/>
            <a:ext cx="5440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777240" y="4974336"/>
            <a:ext cx="868680" cy="868680"/>
          </a:xfrm>
          <a:prstGeom prst="ellipse">
            <a:avLst/>
          </a:prstGeom>
          <a:solidFill>
            <a:srgbClr val="A82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30" name="Picture 29" descr="Clipboard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8349" y="5165445"/>
            <a:ext cx="486460" cy="4864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828800" y="4910328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0B2545"/>
                </a:solidFill>
                <a:latin typeface="Calibri"/>
              </a:rPr>
              <a:t>Legal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550408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3202E"/>
                </a:solidFill>
                <a:latin typeface="Calibri"/>
              </a:rPr>
              <a:t>Legal has not yet sent them back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17720" y="4974336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A82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WAITING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745736"/>
            <a:ext cx="5440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6400800" y="4974336"/>
            <a:ext cx="868680" cy="868680"/>
          </a:xfrm>
          <a:prstGeom prst="ellipse">
            <a:avLst/>
          </a:prstGeom>
          <a:solidFill>
            <a:srgbClr val="A82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36" name="Picture 35" descr="Land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1909" y="5165445"/>
            <a:ext cx="486460" cy="4864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452360" y="4910328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50" b="1" i="0">
                <a:solidFill>
                  <a:srgbClr val="0B2545"/>
                </a:solidFill>
                <a:latin typeface="Calibri"/>
              </a:rPr>
              <a:t>Register with the NDPC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550408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3202E"/>
                </a:solidFill>
                <a:latin typeface="Calibri"/>
              </a:rPr>
              <a:t>The national data protection regulator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41280" y="4974336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A82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3475B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78240" y="0"/>
            <a:ext cx="3410712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What we ask the board today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685800" cy="685800"/>
          </a:xfrm>
          <a:prstGeom prst="ellipse">
            <a:avLst/>
          </a:prstGeom>
          <a:solidFill>
            <a:srgbClr val="D4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08182B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463040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Release the Stage 2 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6596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CFE0F5"/>
                </a:solidFill>
                <a:latin typeface="Calibri"/>
              </a:rPr>
              <a:t>₦533,359.38, to finish training and close out Stage 2.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715768"/>
            <a:ext cx="685800" cy="685800"/>
          </a:xfrm>
          <a:prstGeom prst="ellipse">
            <a:avLst/>
          </a:prstGeom>
          <a:solidFill>
            <a:srgbClr val="D4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08182B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670048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Approve the subscription plans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172968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CFE0F5"/>
                </a:solidFill>
                <a:latin typeface="Calibri"/>
              </a:rPr>
              <a:t>About ₦3.2 million a year, so no service is cut off. WhatsApp is off right now.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922776"/>
            <a:ext cx="685800" cy="685800"/>
          </a:xfrm>
          <a:prstGeom prst="ellipse">
            <a:avLst/>
          </a:prstGeom>
          <a:solidFill>
            <a:srgbClr val="D4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08182B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877056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Note: payments run as the board first decided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379976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CFE0F5"/>
                </a:solidFill>
                <a:latin typeface="Calibri"/>
              </a:rPr>
              <a:t>Paystack for Naira, in and out. Flutterwave for foreign currency. No change to the rules is needed.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29784"/>
            <a:ext cx="685800" cy="685800"/>
          </a:xfrm>
          <a:prstGeom prst="ellipse">
            <a:avLst/>
          </a:prstGeom>
          <a:solidFill>
            <a:srgbClr val="D4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08182B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08406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Support Engr Ola's onboarding this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586984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CFE0F5"/>
                </a:solidFill>
                <a:latin typeface="Calibri"/>
              </a:rPr>
              <a:t>So her new role can be tested with her before it is relied on.</a:t>
            </a:r>
          </a:p>
        </p:txBody>
      </p:sp>
      <p:sp>
        <p:nvSpPr>
          <p:cNvPr id="16" name="Oval 15"/>
          <p:cNvSpPr/>
          <p:nvPr/>
        </p:nvSpPr>
        <p:spPr>
          <a:xfrm>
            <a:off x="9189720" y="685800"/>
            <a:ext cx="777240" cy="777240"/>
          </a:xfrm>
          <a:prstGeom prst="ellipse">
            <a:avLst/>
          </a:prstGeom>
          <a:solidFill>
            <a:srgbClr val="D4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17" name="Picture 16" descr="Ro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0712" y="856792"/>
            <a:ext cx="435254" cy="43525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104120" y="667512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55448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CFE0F5"/>
                </a:solidFill>
                <a:latin typeface="Calibri"/>
              </a:rPr>
              <a:t>since 28 September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189720" y="2651760"/>
            <a:ext cx="777240" cy="777240"/>
          </a:xfrm>
          <a:prstGeom prst="ellipse">
            <a:avLst/>
          </a:prstGeom>
          <a:solidFill>
            <a:srgbClr val="D4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21" name="Picture 20" descr="Credit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0712" y="2822752"/>
            <a:ext cx="435254" cy="43525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04120" y="2633472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2 of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520439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CFE0F5"/>
                </a:solidFill>
                <a:latin typeface="Calibri"/>
              </a:rPr>
              <a:t>payment providers approved</a:t>
            </a:r>
          </a:p>
        </p:txBody>
      </p:sp>
      <p:sp>
        <p:nvSpPr>
          <p:cNvPr id="24" name="Oval 23"/>
          <p:cNvSpPr/>
          <p:nvPr/>
        </p:nvSpPr>
        <p:spPr>
          <a:xfrm>
            <a:off x="9189720" y="4617720"/>
            <a:ext cx="777240" cy="777240"/>
          </a:xfrm>
          <a:prstGeom prst="ellipse">
            <a:avLst/>
          </a:prstGeom>
          <a:solidFill>
            <a:srgbClr val="D49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pic>
        <p:nvPicPr>
          <p:cNvPr id="25" name="Picture 24" descr="GraduationC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0712" y="4788712"/>
            <a:ext cx="435254" cy="43525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04120" y="4599432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3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20" y="548640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CFE0F5"/>
                </a:solidFill>
                <a:latin typeface="Calibri"/>
              </a:rPr>
              <a:t>of staff training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FE0F5"/>
                </a:solidFill>
                <a:latin typeface="Calibri"/>
              </a:rPr>
              <a:t>OE Group · TENTai · Board Confidential · 7 October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