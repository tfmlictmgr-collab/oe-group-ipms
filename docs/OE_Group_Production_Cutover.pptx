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Minutes</c:v>
                </c:pt>
              </c:strCache>
            </c:strRef>
          </c:tx>
          <c:dPt>
            <c:idx val="0"/>
            <c:spPr>
              <a:solidFill>
                <a:srgbClr val="003366"/>
              </a:solidFill>
            </c:spPr>
          </c:dPt>
          <c:dPt>
            <c:idx val="1"/>
            <c:spPr>
              <a:solidFill>
                <a:srgbClr val="003366"/>
              </a:solidFill>
            </c:spPr>
          </c:dPt>
          <c:dPt>
            <c:idx val="2"/>
            <c:spPr>
              <a:solidFill>
                <a:srgbClr val="003366"/>
              </a:solidFill>
            </c:spPr>
          </c:dPt>
          <c:dPt>
            <c:idx val="3"/>
            <c:spPr>
              <a:solidFill>
                <a:srgbClr val="1F7A4D"/>
              </a:solidFill>
            </c:spPr>
          </c:dPt>
          <c:cat>
            <c:strRef>
              <c:f>Sheet1!$A$2:$A$5</c:f>
              <c:strCache>
                <c:ptCount val="4"/>
                <c:pt idx="0">
                  <c:v>rc2 · run 1
19 Sep</c:v>
                </c:pt>
                <c:pt idx="1">
                  <c:v>rc2 · run 2
20 Sep</c:v>
                </c:pt>
                <c:pt idx="2">
                  <c:v>rc2 · run 3
20 Sep</c:v>
                </c:pt>
                <c:pt idx="3">
                  <c:v>rc3
21 Sep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</c:v>
                </c:pt>
                <c:pt idx="1">
                  <c:v>71</c:v>
                </c:pt>
                <c:pt idx="2">
                  <c:v>68</c:v>
                </c:pt>
                <c:pt idx="3">
                  <c:v>56</c:v>
                </c:pt>
              </c:numCache>
            </c:numRef>
          </c:val>
        </c:ser>
        <c:dLbls>
          <c:numFmt formatCode="0&quot; min&quot;" sourceLinked="0"/>
          <c:txPr>
            <a:bodyPr/>
            <a:lstStyle/>
            <a:p>
              <a:pPr>
                <a:defRPr sz="1300" b="1">
                  <a:solidFill>
                    <a:srgbClr val="00336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E0EA"/>
            </a:solidFill>
          </a:ln>
        </c:spPr>
        <c:txPr>
          <a:bodyPr/>
          <a:lstStyle/>
          <a:p>
            <a:pPr>
              <a:defRPr sz="1000">
                <a:solidFill>
                  <a:srgbClr val="7A8A9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translates the go-live runbook (GO_LIVE_BUILD_PLAN.md, GO_LIVE_CHECKLIST.md, GO_LIVE_RUNWAY.md) into the board's terms: where cutover stands, what the cutover itself involves, why verification takes the time it does, and the one thing being asked for — two uninterrupted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0: rc3 frozen 21 Sept; 124 of 124 suites, gitleaks clean. Stage 1: only the breach procedure and the hosting region are closed; the data-subject-rights procedure is in progress. Stage 2: 2.1-2.3, 2.5-2.7 and 2.9 done; bootstrap script, Turnstile/SMS wiring, prod world tooling and rc3 are finishing. Stage 3: Supabase project created (eu-west-1), migrated to 0300 schema-only, seven buckets verified, emptiness proven; the Vercel link read-back and the live environment variables remain.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docs/verify-runs/rc3-20260921.log (124 of 124 passed); docs/verify-runs/stage3-20260921-production-proof.md (schema 0300, 321 migrations, buckets all OK, business tables at zero). Two organisations and zero users is the correct shape: the platform operator and the service-charge client are both created by migration.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GO_LIVE_BUILD_PLAN.md Stage 5 steps 5.1-5.10. Two points worth stating to the board: (1) domains are MOVED between Vercel projects, never aliased — an alias once froze both brand portals on an 18-day-old build; (2) propagation is verified by the deployment id served on each hostname, because a 200 status proves only that something answered. The ZAP active scan, load test and staff UAT follow in Stage 6, in the window before the first client is onboarded.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Measured in the code on 23 Sept: lib/gateway/index.ts routes NGN to Paystack and only non-NGN to Flutterwave (getGateway, resolveOrgGateway); the Flutterwave adapter refuses createRecipient/transfer ('collections only, not payouts'); account-name resolution and the bank list call Paystack (lib/bank-resolve.ts, lib/bank-actions.ts). The database already accepts a per-org Flutterwave credential (0156) and the payment_gateway enum includes flutterwave (0032); the webhook route is per-gateway. The recorded bank-transfer payout route (0289, decision 48) runs the full B4 gate and needs no gateway. Build figures are engineering estimates. The switch amends locked scope decision 4 and should be minuted. Decision 47 still applies: each organisation's money moves through its own Flutterwave merchant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Timings: sum of per-suite durations in docs/verify-runs/rc2-20260919.log (66), rc2-20260920.log (71), rc2-20260920-final.log (68), rc3-20260921.log (56). Suites share one database and are run serially; running them in parallel produces rate-limit failures that look like defects. Slowest single suites: conversational intelligence (~4 min, it calls the AI router per message), people directory, role surface, finance journey. Rule 7 of the go-live plan: if a fix lands after the tag, the tag is dead.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two consecutive working days, released from regular ICT support duties, for the build owner. Day 1 is GO_LIVE_BUILD_PLAN Stage 4 (4.1-4.5); Day 2 is Stage 5 (5.1-5.10) plus Stage 6.1, the security pass, which can only run against an empty production. Real clients are onboarded only after the board's go/no-go (6.4), which in turn requires the DPAs, privacy notice and live payment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Hours are engineering estimates for one person working through GO_LIVE_BUILD_PLAN Stages 4-6.1; Stage 4.2's output is a runbook with real durations, which will replace them. The two incidents referenced are INCIDENT_2026-08-05 (a deploy aimed at the wrong Vercel project) and INCIDENT_2026-08-06 (a migration aimed at the frozen demo database).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GO_LIVE_BUILD_PLAN Stage 1 items 1.1, 1.2, 1.5, 1.8, 1.9, 1.10, 1.6, 1.11, 1.12. Closed already: 1.3 breach procedure, 1.7 hosting region (eu-west-1). In progress: 1.4 data-subject-rights procedure. The board go/no-go (6.4) requires 1.1-1.5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ask. If the board approves the two days, Day 1 starts with cutting rc4 (the current candidate rc3 has been superseded by later commits, including the public Terms and Refund pages). Clients are onboarded only after the board's own go/no-go, which depends on the DPAs, privacy notice and live payment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63840" y="0"/>
            <a:ext cx="4325112" cy="4480560"/>
          </a:xfrm>
          <a:prstGeom prst="roundRect">
            <a:avLst>
              <a:gd name="adj" fmla="val 6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052560" y="3108960"/>
            <a:ext cx="3136392" cy="3749039"/>
          </a:xfrm>
          <a:prstGeom prst="roundRect">
            <a:avLst>
              <a:gd name="adj" fmla="val 6000"/>
            </a:avLst>
          </a:prstGeom>
          <a:solidFill>
            <a:srgbClr val="0E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C08A1E"/>
                </a:solidFill>
                <a:latin typeface="Calibri"/>
              </a:rPr>
              <a:t>BOARD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OE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D8E5F5"/>
                </a:solidFill>
                <a:latin typeface="Cambria"/>
              </a:rPr>
              <a:t>Cutover to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9FB4CC"/>
                </a:solidFill>
                <a:latin typeface="Calibri"/>
              </a:rPr>
              <a:t>From a verified build to a live platform — and the two uninterrupted working days it takes to get there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8064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23 September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126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FB4CC"/>
                </a:solidFill>
                <a:latin typeface="Calibri"/>
              </a:rPr>
              <a:t>Candidate v1.0.0-rc3  ·  production provisioned at schema 0300, empty  ·  go-live pending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03366"/>
                </a:solidFill>
                <a:latin typeface="Cambria"/>
              </a:rPr>
              <a:t>The road to go-live — eight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A8A9B"/>
                </a:solidFill>
                <a:latin typeface="Calibri"/>
              </a:rPr>
              <a:t>Measured against the go-live tracker on 23 September. Stages 0–2 run in parallel; 3 → 6 are strictly sequential.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4519" y="211226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79191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Freeze the candidate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rc3 tagged · 124/124 suites · secrets scan clean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830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11880" y="2011680"/>
            <a:ext cx="502920" cy="50292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11226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 OF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679191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External long poles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26440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Board-owned: DPAs, Flutterwave verification, bank account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46520" y="2011680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211226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7 OF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79191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Close technical gaps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26440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New: switch the payment gateway to Flutterwave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783080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281160" y="2011680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78440" y="211226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 OF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679191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Provision production, empty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26440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Created, schema 0300, proven empty by query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95928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EAF1F9"/>
          </a:solidFill>
          <a:ln w="9525">
            <a:solidFill>
              <a:srgbClr val="00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77240" y="4224528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432511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920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Dress rehearsal on staging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47725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Whole cutover run first on staging, timed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3280" y="3995928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EAF1F9"/>
          </a:solidFill>
          <a:ln w="9525">
            <a:solidFill>
              <a:srgbClr val="00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3611880" y="4224528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09159" y="432511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7A8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NOT STARTED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8920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Cutover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47725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Ten steps, one sitting, verified one by 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95928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6446520" y="4224528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432511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7A8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NOT STARTED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8920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Prove it, then open 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547725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Security pass, staff UAT, board go/no-go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995928"/>
            <a:ext cx="26517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281160" y="4224528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78440" y="432511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7A8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AFTER GO-LIVE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48920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Operate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547725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Daily bank reconciliation, guides, monitoring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3366"/>
                </a:solidFill>
                <a:latin typeface="Calibri"/>
              </a:rPr>
              <a:t>The two days requested cover stages 4 and 5 </a:t>
            </a:r>
            <a:r>
              <a:rPr sz="1200" b="0" i="0">
                <a:solidFill>
                  <a:srgbClr val="1C2B3A"/>
                </a:solidFill>
                <a:latin typeface="Calibri"/>
              </a:rPr>
              <a:t>(outlined), and open stage 6. Stage 1 is the board's, and runs alongside.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A9B"/>
                </a:solidFill>
                <a:latin typeface="Calibri"/>
              </a:rPr>
              <a:t>Board Confidential  ·  23 September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03366"/>
                </a:solidFill>
                <a:latin typeface="Cambria"/>
              </a:rPr>
              <a:t>Production exists — and it is provably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A8A9B"/>
                </a:solidFill>
                <a:latin typeface="Calibri"/>
              </a:rPr>
              <a:t>Every figure below is from a committed query or run log, not a status report.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5176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1F7A4D"/>
                </a:solidFill>
                <a:latin typeface="Cambria"/>
              </a:rPr>
              <a:t>124/124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03366"/>
                </a:solidFill>
                <a:latin typeface="Calibri"/>
              </a:rPr>
              <a:t>verification suites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C2B3A"/>
                </a:solidFill>
                <a:latin typeface="Calibri"/>
              </a:rPr>
              <a:t>Release candidate rc3, 21 Sept — the first clean sweep of the full suite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783080"/>
            <a:ext cx="265176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11880" y="201168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1F7A4D"/>
                </a:solidFill>
                <a:latin typeface="Cambria"/>
              </a:rPr>
              <a:t>0300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926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03366"/>
                </a:solidFill>
                <a:latin typeface="Calibri"/>
              </a:rPr>
              <a:t>production schema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3832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C2B3A"/>
                </a:solidFill>
                <a:latin typeface="Calibri"/>
              </a:rPr>
              <a:t>321 migrations applied, schema only — the production database is never seeded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65176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1F7A4D"/>
                </a:solidFill>
                <a:latin typeface="Cambria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926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03366"/>
                </a:solidFill>
                <a:latin typeface="Calibri"/>
              </a:rPr>
              <a:t>storage buckets verified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832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C2B3A"/>
                </a:solidFill>
                <a:latin typeface="Calibri"/>
              </a:rPr>
              <a:t>Six private (IDs, home photos, KYC, bank evidence); org logos public by design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83080"/>
            <a:ext cx="2651760" cy="2834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81160" y="201168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003366"/>
                </a:solidFill>
                <a:latin typeface="Cambria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926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03366"/>
                </a:solidFill>
                <a:latin typeface="Calibri"/>
              </a:rPr>
              <a:t>rows of personal data or money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383280"/>
            <a:ext cx="2194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1C2B3A"/>
                </a:solidFill>
                <a:latin typeface="Calibri"/>
              </a:rPr>
              <a:t>No person, payment, lease or ledger entry has reached production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9204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507492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Why empty matters. </a:t>
            </a:r>
            <a:r>
              <a:rPr sz="1300" b="0" i="0">
                <a:solidFill>
                  <a:srgbClr val="1C2B3A"/>
                </a:solidFill>
                <a:latin typeface="Calibri"/>
              </a:rPr>
              <a:t>Every real organisation, person and property will arrive through the real onboarding screens, never through test data. It is also the claim the 13 processor agreements rely on: no personal data has touched production. The audit trail and the ledger are append-only, so a mistake made here cannot be deleted afterwards — which is why it is proven by query now, while it is cheap.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A9B"/>
                </a:solidFill>
                <a:latin typeface="Calibri"/>
              </a:rPr>
              <a:t>Board Confidential  ·  23 September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03366"/>
                </a:solidFill>
                <a:latin typeface="Cambria"/>
              </a:rPr>
              <a:t>Cutover day: ten steps, one sitting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A8A9B"/>
                </a:solidFill>
                <a:latin typeface="Calibri"/>
              </a:rPr>
              <a:t>Stage 5 of the go-live plan. Each step is verified before the next starts — never batched.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901952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856231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Confirm the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167128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Read the production project reference back aloud — every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33472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31520" y="2798064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7523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Deploy the release candidate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63239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The frozen, verified build — never “the tag plus one small fix”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4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31520" y="3694176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4845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Set every variable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959352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Live Flutterwave keys only; the gateway label on screen must read LIVE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25696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1520" y="4590288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54456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Create the first operator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855464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One account, by script; password changed and MFA on before anything else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21808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1520" y="5486400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5440680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Re-point the chat channels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751576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Both WhatsApp numbers and both Telegram bots, to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737360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355080" y="1901952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1856231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Point Flutterwave at 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167128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Webhook address and secret hash set in the Flutterwave dashboard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2633472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55080" y="2798064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7523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Move the three portal domains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063239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tfmlportal.com, oeaportal.com, portal.tfmlconsultant.com — moved, never aliased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3529584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355080" y="3694176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64845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Bind each organisation’s domain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959352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So every invitation, receipt and link carries its own brand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425696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6355080" y="4590288"/>
            <a:ext cx="493776" cy="49377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54456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Prove which build answers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855464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All three hostnames must return the same deployment id — content, not status code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321808"/>
            <a:ext cx="5440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6355080" y="5486400"/>
            <a:ext cx="493776" cy="493776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5440680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Verify production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5751576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Full suite against production, then re-prove it is still empty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23620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3366"/>
                </a:solidFill>
                <a:latin typeface="Calibri"/>
              </a:rPr>
              <a:t>One person driving, one reading the steps aloud. </a:t>
            </a:r>
            <a:r>
              <a:rPr sz="1200" b="0" i="0">
                <a:solidFill>
                  <a:srgbClr val="1C2B3A"/>
                </a:solidFill>
                <a:latin typeface="Calibri"/>
              </a:rPr>
              <a:t>Every step is rehearsed on staging first, and the rehearsal’s real durations become the runbook.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03366"/>
                </a:solidFill>
                <a:latin typeface="Cambria"/>
              </a:rPr>
              <a:t>Payment gateway: Flutterwave replaces Paystack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A8A9B"/>
                </a:solidFill>
                <a:latin typeface="Calibri"/>
              </a:rPr>
              <a:t>Paystack’s verification asks cannot be met yet; Flutterwave’s can, and one account covers both Naira and foreign currency.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2959" y="196596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ALREADY BUILT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32888"/>
            <a:ext cx="128016" cy="128016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68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Flutterwave checkout and server-side payment verification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953512"/>
            <a:ext cx="128016" cy="128016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88950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Signed webhook from Flutterwave, checked before anything posts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74136"/>
            <a:ext cx="128016" cy="128016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1012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Each organisation’s own Flutterwave key, stored encrypted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794760"/>
            <a:ext cx="128016" cy="128016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3075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Separate foreign-currency ledger, proven by 21 checks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15384"/>
            <a:ext cx="128016" cy="128016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15137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Payout by recorded bank transfer — needs no gateway at 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783080"/>
            <a:ext cx="544068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446520" y="196596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 BUILD BEFORE THE TWO DAYS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532888"/>
            <a:ext cx="128016" cy="128016"/>
          </a:xfrm>
          <a:prstGeom prst="ellipse">
            <a:avLst/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468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Route Naira to Flutterwave — today Naira always goes to Paystack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2953512"/>
            <a:ext cx="128016" cy="128016"/>
          </a:xfrm>
          <a:prstGeom prst="ellipse">
            <a:avLst/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88950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Automated payouts through Flutterwave — today it only collects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374136"/>
            <a:ext cx="128016" cy="128016"/>
          </a:xfrm>
          <a:prstGeom prst="ellipse">
            <a:avLst/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31012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Bank list and account-name check through Flutterwave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794760"/>
            <a:ext cx="128016" cy="128016"/>
          </a:xfrm>
          <a:prstGeom prst="ellipse">
            <a:avLst/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73075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Money suites re-run on Flutterwave test keys, then a new candidate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215384"/>
            <a:ext cx="128016" cy="128016"/>
          </a:xfrm>
          <a:prstGeom prst="ellipse">
            <a:avLst/>
          </a:prstGeom>
          <a:solidFill>
            <a:srgbClr val="B56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15137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Paystack code kept but switched off — no key, no traffic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46320"/>
            <a:ext cx="5440680" cy="1481328"/>
          </a:xfrm>
          <a:prstGeom prst="roundRect">
            <a:avLst>
              <a:gd name="adj" fmla="val 6000"/>
            </a:avLst>
          </a:prstGeom>
          <a:solidFill>
            <a:srgbClr val="EAF1F9"/>
          </a:solidFill>
          <a:ln w="9525">
            <a:solidFill>
              <a:srgbClr val="00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59" y="49560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C08A1E"/>
                </a:solidFill>
                <a:latin typeface="Calibri"/>
              </a:rPr>
              <a:t>A  ·  RECOMMENDED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" y="51937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03366"/>
                </a:solidFill>
                <a:latin typeface="Calibri"/>
              </a:rPr>
              <a:t>Collections on Flutterwave; payouts by bank transfer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" y="5486400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  <a:latin typeface="Calibri"/>
              </a:rPr>
              <a:t>Naira and FX collections go live on Flutterwave. Vendors and landlords are paid by recorded bank transfer through the same three-desk approval; automated Flutterwave payouts follow as the first post-go-live item.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6053328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B5680A"/>
                </a:solidFill>
                <a:latin typeface="Calibri"/>
              </a:rPr>
              <a:t>≈ 1 day build + a full verification run, before Day 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4846320"/>
            <a:ext cx="544068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46520" y="49560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7A8A9B"/>
                </a:solidFill>
                <a:latin typeface="Calibr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937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03366"/>
                </a:solidFill>
                <a:latin typeface="Calibri"/>
              </a:rPr>
              <a:t>Everything on Flutterwave, including automated payouts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486400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B3A"/>
                </a:solidFill>
                <a:latin typeface="Calibri"/>
              </a:rPr>
              <a:t>Adds the payout integration, its status callbacks and the account-name check before go-live, with its own test cycle on the money path.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6053328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B5680A"/>
                </a:solidFill>
                <a:latin typeface="Calibri"/>
              </a:rPr>
              <a:t>≈ 2–3 days build + verification, before Day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03366"/>
                </a:solidFill>
                <a:latin typeface="Cambria"/>
              </a:rPr>
              <a:t>Why verification takes the time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A8A9B"/>
                </a:solidFill>
                <a:latin typeface="Calibri"/>
              </a:rPr>
              <a:t>124 automated suites prove the money, access and privacy rules against a real database. They run one after another.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394960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Minutes per full verification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A8A9B"/>
                </a:solidFill>
                <a:latin typeface="Calibri"/>
              </a:rPr>
              <a:t>From the committed run logs, 19–21 September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31520" y="2560320"/>
          <a:ext cx="50292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73736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Every fix restarts the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39112"/>
            <a:ext cx="5349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A change after the tag retires the candidate. A new one is cut and every gate re-runs: types, lint, build, 124 suites, secrets scan. rc3 is already superseded, and the Flutterwave switch needs its own candidate.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34639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A rehearsal that finds something is repeated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136391"/>
            <a:ext cx="5349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Findings fixed during the staging rehearsal mean a new candidate and a second rehearsal. Shipping an untested fix is not an option on the money 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2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Production is verified again after cutover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33672"/>
            <a:ext cx="5349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The full suite runs against production itself, then the database is re-proven empty.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0292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Some waits are not 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330952"/>
            <a:ext cx="5349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Flutterwave’s business verification, domain moves and webhook registration all complete on a third party’s clock.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B5680A"/>
                </a:solidFill>
                <a:latin typeface="Calibri"/>
              </a:rPr>
              <a:t>rc2 alone needed three full runs — 3.4 hours of verification — before it could be signed 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C08A1E"/>
                </a:solidFill>
                <a:latin typeface="Calibri"/>
              </a:rPr>
              <a:t>THE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Two uninterrupted working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9FB4CC"/>
                </a:solidFill>
                <a:latin typeface="Calibri"/>
              </a:rPr>
              <a:t>Released from regular ICT duties, back to back, to take the platform from verified build to production-ready.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440680" cy="3931920"/>
          </a:xfrm>
          <a:prstGeom prst="roundRect">
            <a:avLst>
              <a:gd name="adj" fmla="val 4000"/>
            </a:avLst>
          </a:prstGeom>
          <a:solidFill>
            <a:srgbClr val="0E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C08A1E"/>
                </a:solidFill>
                <a:latin typeface="Calibri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Rehearse on staging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79" y="248716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346704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3291840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Cut rc4, carrying the Flutterwave switch, and re-run every gate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023359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3968496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Bring staging to rc4; run the whole cutover, timed — the real runbook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00016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4645152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Money path end to end on Flutterwave test keys: collection → ledger → three-desk approval → payout → receipt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376672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19" y="5321808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Rehearse the rollback: revert to the previous deployment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48840"/>
            <a:ext cx="5440680" cy="3931920"/>
          </a:xfrm>
          <a:prstGeom prst="roundRect">
            <a:avLst>
              <a:gd name="adj" fmla="val 4000"/>
            </a:avLst>
          </a:prstGeom>
          <a:solidFill>
            <a:srgbClr val="0E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2377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C08A1E"/>
                </a:solidFill>
                <a:latin typeface="Calibri"/>
              </a:rPr>
              <a:t>DAY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51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Cut over and prove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248716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Stages 5 – 6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3346704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291840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The ten cutover steps on production, verified one at a time</a:t>
            </a:r>
          </a:p>
        </p:txBody>
      </p:sp>
      <p:sp>
        <p:nvSpPr>
          <p:cNvPr id="23" name="Oval 22"/>
          <p:cNvSpPr/>
          <p:nvPr/>
        </p:nvSpPr>
        <p:spPr>
          <a:xfrm>
            <a:off x="6492240" y="4023359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968496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Full suite against production; re-prove it is empty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4700016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645152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Security scan (passive and active), load and rate-limit tests — the one window before client data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5376672"/>
            <a:ext cx="146304" cy="146304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5321808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8E5F5"/>
                </a:solidFill>
                <a:latin typeface="Calibri"/>
              </a:rPr>
              <a:t>Hand over to the board: staff UAT and the go/no-go 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4CC"/>
                </a:solidFill>
                <a:latin typeface="Calibri"/>
              </a:rPr>
              <a:t>Outcome: a production platform ready for the board’s UAT and go/no-go — not yet open to clients until the board’s own items are closed.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03366"/>
                </a:solidFill>
                <a:latin typeface="Cambria"/>
              </a:rPr>
              <a:t>Why two days — and why uninterrupted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A8A9B"/>
                </a:solidFill>
                <a:latin typeface="Calibri"/>
              </a:rPr>
              <a:t>Estimated time budget, once the Flutterwave build has landed. The staging rehearsal replaces these estimates with measured durations.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8521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8A9B"/>
                </a:solidFill>
                <a:latin typeface="Calibri"/>
              </a:rP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87451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7A8A9B"/>
                </a:solidFill>
                <a:latin typeface="Calibri"/>
              </a:rPr>
              <a:t>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12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Cut rc4; types, lint, production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21284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1C2B3A"/>
                </a:solidFill>
                <a:latin typeface="Calibri"/>
              </a:rPr>
              <a:t>0.5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606040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66090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B3A"/>
                </a:solidFill>
                <a:latin typeface="Calibri"/>
              </a:rPr>
              <a:t>Full verification run on rc4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66090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B5680A"/>
                </a:solidFill>
                <a:latin typeface="Calibri"/>
              </a:rPr>
              <a:t>1 – 1.5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054096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3108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Staging on rc4; timed cutover rehearsal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10896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1C2B3A"/>
                </a:solidFill>
                <a:latin typeface="Calibr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502152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355701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Money path on Flutterwave, and rollback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55701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1C2B3A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50208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400507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Production cutover — ten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0050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1C2B3A"/>
                </a:solidFill>
                <a:latin typeface="Calibri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398264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44531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B3A"/>
                </a:solidFill>
                <a:latin typeface="Calibri"/>
              </a:rPr>
              <a:t>Full verification against 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4531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B5680A"/>
                </a:solidFill>
                <a:latin typeface="Calibri"/>
              </a:rPr>
              <a:t>1 – 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846320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2960" y="490118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C2B3A"/>
                </a:solidFill>
                <a:latin typeface="Calibri"/>
              </a:rPr>
              <a:t>Security scan, load and rate-limit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9011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1C2B3A"/>
                </a:solidFill>
                <a:latin typeface="Calibri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5294376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" y="5349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B3A"/>
                </a:solidFill>
                <a:latin typeface="Calibri"/>
              </a:rPr>
              <a:t>Contingency: one fix → new candidate → re-verify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3492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B5680A"/>
                </a:solidFill>
                <a:latin typeface="Calibri"/>
              </a:rPr>
              <a:t>1.5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742432"/>
            <a:ext cx="5303520" cy="10972"/>
          </a:xfrm>
          <a:prstGeom prst="rect">
            <a:avLst/>
          </a:prstGeom>
          <a:solidFill>
            <a:srgbClr val="D8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mbria"/>
              </a:rPr>
              <a:t>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87044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003366"/>
                </a:solidFill>
                <a:latin typeface="Cambria"/>
              </a:rPr>
              <a:t>≈ 14 – 15 h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1783080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173736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Up to a third of it is waiting on verification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084831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Roughly 3.5–4.5 of those hours are suite runs that cannot be shortened or run in parallel against one database without producing false failures.</a:t>
            </a:r>
          </a:p>
        </p:txBody>
      </p:sp>
      <p:sp>
        <p:nvSpPr>
          <p:cNvPr id="36" name="Oval 35"/>
          <p:cNvSpPr/>
          <p:nvPr/>
        </p:nvSpPr>
        <p:spPr>
          <a:xfrm>
            <a:off x="6720840" y="3291839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24612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Interruptions are how the incidents happened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3593591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Two incidents in seven days came from a tool left pointing at the wrong environment. Switching to support work mid-cutover is exactly that risk.</a:t>
            </a:r>
          </a:p>
        </p:txBody>
      </p:sp>
      <p:sp>
        <p:nvSpPr>
          <p:cNvPr id="39" name="Oval 38"/>
          <p:cNvSpPr/>
          <p:nvPr/>
        </p:nvSpPr>
        <p:spPr>
          <a:xfrm>
            <a:off x="6720840" y="4800599"/>
            <a:ext cx="502920" cy="502920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754879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A half-finished cutover is worse than none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102351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C2B3A"/>
                </a:solidFill>
                <a:latin typeface="Calibri"/>
              </a:rPr>
              <a:t>Domains, webhooks and databases would point at different environments, and the active security scan has a single window — before any client data exists.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A9B"/>
                </a:solidFill>
                <a:latin typeface="Calibri"/>
              </a:rPr>
              <a:t>Board Confidential  ·  23 September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03366"/>
                </a:solidFill>
                <a:latin typeface="Cambria"/>
              </a:rPr>
              <a:t>What two days cannot do — the board’s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7A8A9B"/>
                </a:solidFill>
                <a:latin typeface="Calibri"/>
              </a:rPr>
              <a:t>The two days make the platform ready. These make it lawful and safe to use. They run in parallel, and several have external lead times.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13 processor agreements signed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1965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LEGAL + DPO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2E"/>
                </a:solidFill>
                <a:latin typeface="Calibri"/>
              </a:rPr>
              <a:t>Hard gate: no real personal data 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6279" y="1947672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Privacy notice reviewed and published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0840" y="1965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LEGAL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56032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Must carry the automated document-check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8308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19" y="1947672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NDPC threshold; DPO registered and published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9880" y="1965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LEGAL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56032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1–3 weeks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4612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3410712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Flutterwave verification and live keys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1800" y="342900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2335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2E"/>
                </a:solidFill>
                <a:latin typeface="Calibri"/>
              </a:rPr>
              <a:t>Hard gate: no real money before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24612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26279" y="3410712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Segregated client-funds bank account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42900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402335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Needed for daily bank reconciliation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24612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75319" y="3410712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Minute the switch to Flutterwave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9880" y="342900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02335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Amends locked decision 4 (Paystack + Flutterwave)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59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4873751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Collect special-category data at all?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71800" y="48920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48639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Cleanest NDPA position is not to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79" y="4709159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26279" y="4873751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External penetration test booked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8920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79" y="548639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Only window: after cutover, before clients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4709159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75319" y="4873751"/>
            <a:ext cx="2148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3366"/>
                </a:solidFill>
                <a:latin typeface="Calibri"/>
              </a:rPr>
              <a:t>Go-live date and go/no-go slot set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69880" y="48920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548639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C2B3A"/>
                </a:solidFill>
                <a:latin typeface="Calibri"/>
              </a:rPr>
              <a:t>Everything else is scheduled from this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A9B"/>
                </a:solidFill>
                <a:latin typeface="Calibri"/>
              </a:rPr>
              <a:t>Board Confidential  ·  23 September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78240" y="0"/>
            <a:ext cx="3410712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Decisions requested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FB4CC"/>
                </a:solidFill>
                <a:latin typeface="Calibri"/>
              </a:rPr>
              <a:t>Where we are: built, verified, and provisioned. What is left is sequenced work — and time to do it properly.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01368"/>
            <a:ext cx="548640" cy="54864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0A1B2E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830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Approve Flutterwave as the single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48840"/>
            <a:ext cx="7132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for Naira and foreign-currency collections; payouts by recorded bank transfer until Flutterwave payouts are built.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548640" cy="54864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0A1B2E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679191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Approve two consecutive working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044951"/>
            <a:ext cx="7132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released from regular ICT duties for the staging rehearsal and production cutover — dates fixed at this meeting.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93591"/>
            <a:ext cx="548640" cy="54864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0A1B2E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575303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Treat verification time as scheduled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41063"/>
            <a:ext cx="7132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about an hour per full run, repeated after every fix. It is the evidence the board’s controls hold, not a delay.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489703"/>
            <a:ext cx="548640" cy="54864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0A1B2E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the go-live date and go/no-go slot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7132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so the external items can be scheduled back from a fixed point.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85815"/>
            <a:ext cx="548640" cy="54864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0A1B2E"/>
                </a:solidFill>
                <a:latin typeface="Cambr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367527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Name owners and dates for the external items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733288"/>
            <a:ext cx="7132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processor agreements, privacy notice, Flutterwave verification and the client-funds account.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09728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C08A1E"/>
                </a:solidFill>
                <a:latin typeface="Cambria"/>
              </a:rPr>
              <a:t>124/124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8105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suites passing on rc3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7432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C08A1E"/>
                </a:solidFill>
                <a:latin typeface="Cambria"/>
              </a:rPr>
              <a:t>0300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45643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production schema, empty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C08A1E"/>
                </a:solidFill>
                <a:latin typeface="Cambria"/>
              </a:rPr>
              <a:t>2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510235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8E5F5"/>
                </a:solidFill>
                <a:latin typeface="Calibri"/>
              </a:rPr>
              <a:t>to production-ready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A2"/>
                </a:solidFill>
                <a:latin typeface="Calibri"/>
              </a:rPr>
              <a:t>Board Confidential  ·  23 September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