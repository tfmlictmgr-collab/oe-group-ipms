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v>
                </c:pt>
              </c:strCache>
            </c:strRef>
          </c:tx>
          <c:dPt>
            <c:idx val="0"/>
            <c:spPr>
              <a:solidFill>
                <a:srgbClr val="0B2545"/>
              </a:solidFill>
            </c:spPr>
          </c:dPt>
          <c:dPt>
            <c:idx val="1"/>
            <c:spPr>
              <a:solidFill>
                <a:srgbClr val="0B2545"/>
              </a:solidFill>
            </c:spPr>
          </c:dPt>
          <c:dPt>
            <c:idx val="2"/>
            <c:spPr>
              <a:solidFill>
                <a:srgbClr val="0B2545"/>
              </a:solidFill>
            </c:spPr>
          </c:dPt>
          <c:dPt>
            <c:idx val="3"/>
            <c:spPr>
              <a:solidFill>
                <a:srgbClr val="0B2545"/>
              </a:solidFill>
            </c:spPr>
          </c:dPt>
          <c:dPt>
            <c:idx val="4"/>
            <c:spPr>
              <a:solidFill>
                <a:srgbClr val="0B2545"/>
              </a:solidFill>
            </c:spPr>
          </c:dPt>
          <c:cat>
            <c:strRef>
              <c:f>Sheet1!$A$2:$A$6</c:f>
              <c:strCache>
                <c:ptCount val="5"/>
                <c:pt idx="0">
                  <c:v>Website hosting (Vercel)</c:v>
                </c:pt>
                <c:pt idx="1">
                  <c:v>AI backup service (Google)</c:v>
                </c:pt>
                <c:pt idx="2">
                  <c:v>New live database</c:v>
                </c:pt>
                <c:pt idx="3">
                  <c:v>WhatsApp business line (360dialog)</c:v>
                </c:pt>
                <c:pt idx="4">
                  <c:v>Security and heavy-load testing</c:v>
                </c:pt>
              </c:strCache>
            </c:strRef>
          </c:cat>
          <c:val>
            <c:numRef>
              <c:f>Sheet1!$B$2:$B$6</c:f>
              <c:numCache>
                <c:formatCode>General</c:formatCode>
                <c:ptCount val="5"/>
                <c:pt idx="0">
                  <c:v>28000</c:v>
                </c:pt>
                <c:pt idx="1">
                  <c:v>43000</c:v>
                </c:pt>
                <c:pt idx="2">
                  <c:v>64358</c:v>
                </c:pt>
                <c:pt idx="3">
                  <c:v>156800</c:v>
                </c:pt>
                <c:pt idx="4">
                  <c:v>247000</c:v>
                </c:pt>
              </c:numCache>
            </c:numRef>
          </c:val>
        </c:ser>
        <c:dLbls>
          <c:numFmt formatCode="&quot;₦&quot;#,##0" sourceLinked="0"/>
          <c:txPr>
            <a:bodyPr/>
            <a:lstStyle/>
            <a:p>
              <a:pPr>
                <a:defRPr sz="1500" b="1">
                  <a:solidFill>
                    <a:srgbClr val="0B2545"/>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C9D4E2"/>
            </a:solidFill>
          </a:ln>
        </c:spPr>
        <c:txPr>
          <a:bodyPr/>
          <a:lstStyle/>
          <a:p>
            <a:pPr>
              <a:defRPr sz="1400">
                <a:solidFill>
                  <a:srgbClr val="13202E"/>
                </a:solidFill>
              </a:defRPr>
            </a:pPr>
          </a:p>
        </c:txPr>
        <c:crossAx val="-2113994440"/>
        <c:crosses val="autoZero"/>
        <c:auto val="1"/>
        <c:lblAlgn val="ctr"/>
        <c:lblOffset val="100"/>
        <c:noMultiLvlLbl val="0"/>
      </c:catAx>
      <c:valAx>
        <c:axId val="-2113994440"/>
        <c:scaling>
          <c:max val="32000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edition replaces the 29 Sept one. It is written for the board in plain language. Sources: the go-live tracker, the Memorandum to the Chairman of 6 Oct 2026, and the project lead's update of 7 Oct (gateway approvals, training, Executive role).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since 28 Sept (board GO). Gateway approvals and training: project lead's update, 7 Oct. Executive role: built 2-3 Oct (migrations 0306-0312), merged and deployed 3 Oct; not yet tested with the person who will hold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Tracker dates: production deployed 24 Sept (5.2); self-assessment and load tests 26-27 Sept (6.1); board GO 28 Sept (6.4); Executive role and two-step sign-in merged 3 Oct. The date of the gateway approvals is per the project lead's report; 'Next' is tracker item 6.6, not yet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approvals are per the project lead's update of 7 Oct. How the system uses them, as built (decision 4 amendment, PR #53): Flutterwave is preferred for collecting Naira and foreign-currency payments; payouts use Paystack only. With both keys connected, collections go through Flutterwave and automatic payouts through Paystack. The board minute drafted on 23 Sept (Flutterwave replacing Paystack) should now record both. Connecting keys is tracker 3.5 and 5.5a; the first real payment is 6.6.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the project lead, 7 Oct: the three-day programme began yesterday (6 Oct) for property managers (staff on ground); the other sessions are today and tomorrow. Which groups attend days 2 and 3 should be named on the slide if known. The ₦250,000 is from section 2 of the Memorandum to the Chairman (6 Oct).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59 (operations_executive, migrations 0306-0312): OEA only; rank above the regional manager, below the MP. Organisation-wide operations (0309); may approve stage 2 of an ops requisition at or below the operator-set limit, ₦500,000 by default, never one she raised; no money release, ledger, export or audit. Several powers are operator switches (0310-0312). Untested with the real account; a demo login exists on staging (oea.opsexec@oegroup.test).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 section 2: approved Phase 1 ₦5,257,421.88; released before Stage 2 ₦4,191,062.50; Stage 2 ₦1,066,359.38, part released ₦533,000, balance ₦533,359.38. The total released (₦4,724,062.50 = 4,191,062.50 + 533,000; 89.9%) is derived here, not stated in the memo.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 section 2 expenditure, as stated: new blank database 64,358; deployment manager 28,000; penetration and load test 247,000; 360dialog WABA 156,800; AI fallback (Google API) 43,000; total stated 541,800; balance -8,800. CHECK BEFORE PRESENTING: the five lines add to ₦539,158, not ₦541,800 (a ₦2,642 difference). Section 3: the WABA subscription expired 1 Oct and was cancelled; confirm whether WhatsApp is back on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 section 2 'Still owed': staff training 250,000; contingency reserve (15%) 406,359.38; total owed 665,159.38 (= 656,359.38 + the 8,800 overspend). Section 3: ₦193,158 of the contingency already spent on platform subscriptions. CHECK: the two starred subscription lines (database 64,358 + WABA 156,800) add to ₦221,158, not ₦193,158.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 section 4, figures exactly as stated. CHECK BEFORE PRESENTING: two rows do not follow month x 12. AI shows ₦170,000 a month and ₦170,000 a year; Monitoring shows ₦48,450 a month (x12 = ₦581,400) and ₦588,000 a year. ₦422,083.50 a month x 12 would be ₦5,065,002 a year, against the ₦3,201,602 stated. Replaces the 3 Sept table (₦516,375 a month).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Tracker: 3.5/5.5a and 6.6 (keys and first real payment); decision 59 (Executive role); 1.1 processor agreements (none signed as of 28 Sept); 1.2 privacy notice (published 24 Sept, legal review owed); 1.5 NDPC registration. Special-category data (1.6) is also still undecided.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are the memo's recommendation (section 5). 3 replaces the 23 Sept draft minute (Flutterwave instead of Paystack): with both approved, the minute should record both, as the system already uses them. 4 per the project lead's update.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8.png"/><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1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png"/><Relationship Id="rId9" Type="http://schemas.openxmlformats.org/officeDocument/2006/relationships/image" Target="../media/image5.png"/><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3.png"/><Relationship Id="rId6" Type="http://schemas.openxmlformats.org/officeDocument/2006/relationships/image" Target="../media/image5.png"/><Relationship Id="rId7" Type="http://schemas.openxmlformats.org/officeDocument/2006/relationships/image" Target="../media/image15.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82B"/>
        </a:solidFill>
        <a:effectLst/>
      </p:bgPr>
    </p:bg>
    <p:spTree>
      <p:nvGrpSpPr>
        <p:cNvPr id="1" name=""/>
        <p:cNvGrpSpPr/>
        <p:nvPr/>
      </p:nvGrpSpPr>
      <p:grpSpPr/>
      <p:sp>
        <p:nvSpPr>
          <p:cNvPr id="2" name="Rectangle 1"/>
          <p:cNvSpPr/>
          <p:nvPr/>
        </p:nvSpPr>
        <p:spPr>
          <a:xfrm>
            <a:off x="8138160" y="0"/>
            <a:ext cx="4050791"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006840" y="1828800"/>
            <a:ext cx="2286000" cy="2286000"/>
          </a:xfrm>
          <a:prstGeom prst="ellipse">
            <a:avLst/>
          </a:prstGeom>
          <a:solidFill>
            <a:srgbClr val="D49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4" name="Picture 3" descr="Rocket.png"/>
          <p:cNvPicPr>
            <a:picLocks noChangeAspect="1"/>
          </p:cNvPicPr>
          <p:nvPr/>
        </p:nvPicPr>
        <p:blipFill>
          <a:blip r:embed="rId2"/>
          <a:stretch>
            <a:fillRect/>
          </a:stretch>
        </p:blipFill>
        <p:spPr>
          <a:xfrm>
            <a:off x="9509760" y="2331720"/>
            <a:ext cx="1280160" cy="1280160"/>
          </a:xfrm>
          <a:prstGeom prst="rect">
            <a:avLst/>
          </a:prstGeom>
        </p:spPr>
      </p:pic>
      <p:sp>
        <p:nvSpPr>
          <p:cNvPr id="5" name="TextBox 4"/>
          <p:cNvSpPr txBox="1"/>
          <p:nvPr/>
        </p:nvSpPr>
        <p:spPr>
          <a:xfrm>
            <a:off x="822960" y="822960"/>
            <a:ext cx="6400800" cy="365760"/>
          </a:xfrm>
          <a:prstGeom prst="rect">
            <a:avLst/>
          </a:prstGeom>
          <a:noFill/>
        </p:spPr>
        <p:txBody>
          <a:bodyPr wrap="square" lIns="0" rIns="0" tIns="0" bIns="0" anchor="t">
            <a:spAutoFit/>
          </a:bodyPr>
          <a:lstStyle/>
          <a:p>
            <a:pPr algn="l"/>
            <a:r>
              <a:rPr sz="1200" b="1" i="0" spc="300">
                <a:solidFill>
                  <a:srgbClr val="D49A1A"/>
                </a:solidFill>
                <a:latin typeface="Calibri"/>
              </a:rPr>
              <a:t>BOARD CONFIDENTIAL</a:t>
            </a:r>
          </a:p>
        </p:txBody>
      </p:sp>
      <p:sp>
        <p:nvSpPr>
          <p:cNvPr id="6" name="TextBox 5"/>
          <p:cNvSpPr txBox="1"/>
          <p:nvPr/>
        </p:nvSpPr>
        <p:spPr>
          <a:xfrm>
            <a:off x="822960" y="1828800"/>
            <a:ext cx="7132320" cy="914400"/>
          </a:xfrm>
          <a:prstGeom prst="rect">
            <a:avLst/>
          </a:prstGeom>
          <a:noFill/>
        </p:spPr>
        <p:txBody>
          <a:bodyPr wrap="square" lIns="0" rIns="0" tIns="0" bIns="0" anchor="t">
            <a:spAutoFit/>
          </a:bodyPr>
          <a:lstStyle/>
          <a:p>
            <a:pPr algn="l"/>
            <a:r>
              <a:rPr sz="5400" b="1" i="0">
                <a:solidFill>
                  <a:srgbClr val="FFFFFF"/>
                </a:solidFill>
                <a:latin typeface="Cambria"/>
              </a:rPr>
              <a:t>TENTai is live</a:t>
            </a:r>
          </a:p>
        </p:txBody>
      </p:sp>
      <p:sp>
        <p:nvSpPr>
          <p:cNvPr id="7" name="TextBox 6"/>
          <p:cNvSpPr txBox="1"/>
          <p:nvPr/>
        </p:nvSpPr>
        <p:spPr>
          <a:xfrm>
            <a:off x="822960" y="2880360"/>
            <a:ext cx="7132320" cy="640080"/>
          </a:xfrm>
          <a:prstGeom prst="rect">
            <a:avLst/>
          </a:prstGeom>
          <a:noFill/>
        </p:spPr>
        <p:txBody>
          <a:bodyPr wrap="square" lIns="0" rIns="0" tIns="0" bIns="0" anchor="t">
            <a:spAutoFit/>
          </a:bodyPr>
          <a:lstStyle/>
          <a:p>
            <a:pPr algn="l"/>
            <a:r>
              <a:rPr sz="3000" b="0" i="0">
                <a:solidFill>
                  <a:srgbClr val="CFE0F5"/>
                </a:solidFill>
                <a:latin typeface="Cambria"/>
              </a:rPr>
              <a:t>Going live: where we are</a:t>
            </a:r>
          </a:p>
        </p:txBody>
      </p:sp>
      <p:sp>
        <p:nvSpPr>
          <p:cNvPr id="8" name="TextBox 7"/>
          <p:cNvSpPr txBox="1"/>
          <p:nvPr/>
        </p:nvSpPr>
        <p:spPr>
          <a:xfrm>
            <a:off x="822960" y="3886200"/>
            <a:ext cx="6949440" cy="1097280"/>
          </a:xfrm>
          <a:prstGeom prst="rect">
            <a:avLst/>
          </a:prstGeom>
          <a:noFill/>
        </p:spPr>
        <p:txBody>
          <a:bodyPr wrap="square" lIns="0" rIns="0" tIns="0" bIns="0" anchor="t">
            <a:spAutoFit/>
          </a:bodyPr>
          <a:lstStyle/>
          <a:p>
            <a:pPr algn="l"/>
            <a:r>
              <a:rPr sz="2000" b="0" i="0">
                <a:solidFill>
                  <a:srgbClr val="FFFFFF"/>
                </a:solidFill>
                <a:latin typeface="Calibri"/>
              </a:rPr>
              <a:t>Both payment providers have approved OEA. Staff training is under way. A new Executive role is ready for Engr Ola.</a:t>
            </a:r>
          </a:p>
        </p:txBody>
      </p:sp>
      <p:sp>
        <p:nvSpPr>
          <p:cNvPr id="9" name="TextBox 8"/>
          <p:cNvSpPr txBox="1"/>
          <p:nvPr/>
        </p:nvSpPr>
        <p:spPr>
          <a:xfrm>
            <a:off x="822960" y="5669280"/>
            <a:ext cx="6400800" cy="365760"/>
          </a:xfrm>
          <a:prstGeom prst="rect">
            <a:avLst/>
          </a:prstGeom>
          <a:noFill/>
        </p:spPr>
        <p:txBody>
          <a:bodyPr wrap="square" lIns="0" rIns="0" tIns="0" bIns="0" anchor="t">
            <a:spAutoFit/>
          </a:bodyPr>
          <a:lstStyle/>
          <a:p>
            <a:pPr algn="l"/>
            <a:r>
              <a:rPr sz="1800" b="1" i="0">
                <a:solidFill>
                  <a:srgbClr val="D49A1A"/>
                </a:solidFill>
                <a:latin typeface="Calibri"/>
              </a:rPr>
              <a:t>7 October 2026</a:t>
            </a:r>
          </a:p>
        </p:txBody>
      </p:sp>
      <p:sp>
        <p:nvSpPr>
          <p:cNvPr id="10" name="TextBox 9"/>
          <p:cNvSpPr txBox="1"/>
          <p:nvPr/>
        </p:nvSpPr>
        <p:spPr>
          <a:xfrm>
            <a:off x="822960" y="6080760"/>
            <a:ext cx="7132320" cy="365760"/>
          </a:xfrm>
          <a:prstGeom prst="rect">
            <a:avLst/>
          </a:prstGeom>
          <a:noFill/>
        </p:spPr>
        <p:txBody>
          <a:bodyPr wrap="square" lIns="0" rIns="0" tIns="0" bIns="0" anchor="t">
            <a:spAutoFit/>
          </a:bodyPr>
          <a:lstStyle/>
          <a:p>
            <a:pPr algn="l"/>
            <a:r>
              <a:rPr sz="1300" b="0" i="0">
                <a:solidFill>
                  <a:srgbClr val="CFE0F5"/>
                </a:solidFill>
                <a:latin typeface="Calibri"/>
              </a:rPr>
              <a:t>Prepared for the Board · OE Group of Companies (TFML · OEA)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t">
            <a:spAutoFit/>
          </a:bodyPr>
          <a:lstStyle/>
          <a:p>
            <a:pPr algn="l"/>
            <a:r>
              <a:rPr sz="3600" b="1" i="0">
                <a:solidFill>
                  <a:srgbClr val="0B2545"/>
                </a:solidFill>
                <a:latin typeface="Cambria"/>
              </a:rPr>
              <a:t>Where we are today</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800" b="0" i="0">
                <a:solidFill>
                  <a:srgbClr val="33475B"/>
                </a:solidFill>
                <a:latin typeface="Calibri"/>
              </a:rPr>
              <a:t>Four things to know this morning.</a:t>
            </a:r>
          </a:p>
        </p:txBody>
      </p:sp>
      <p:sp>
        <p:nvSpPr>
          <p:cNvPr id="4" name="Rounded Rectangle 3"/>
          <p:cNvSpPr/>
          <p:nvPr/>
        </p:nvSpPr>
        <p:spPr>
          <a:xfrm>
            <a:off x="548640" y="1783080"/>
            <a:ext cx="5440680" cy="210312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2194560"/>
            <a:ext cx="1234440" cy="123444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6" name="Picture 5" descr="Rocket.png"/>
          <p:cNvPicPr>
            <a:picLocks noChangeAspect="1"/>
          </p:cNvPicPr>
          <p:nvPr/>
        </p:nvPicPr>
        <p:blipFill>
          <a:blip r:embed="rId2"/>
          <a:stretch>
            <a:fillRect/>
          </a:stretch>
        </p:blipFill>
        <p:spPr>
          <a:xfrm>
            <a:off x="1140256" y="2466136"/>
            <a:ext cx="691286" cy="691286"/>
          </a:xfrm>
          <a:prstGeom prst="rect">
            <a:avLst/>
          </a:prstGeom>
        </p:spPr>
      </p:pic>
      <p:sp>
        <p:nvSpPr>
          <p:cNvPr id="7" name="TextBox 6"/>
          <p:cNvSpPr txBox="1"/>
          <p:nvPr/>
        </p:nvSpPr>
        <p:spPr>
          <a:xfrm>
            <a:off x="2331720" y="2148840"/>
            <a:ext cx="3474720" cy="548640"/>
          </a:xfrm>
          <a:prstGeom prst="rect">
            <a:avLst/>
          </a:prstGeom>
          <a:noFill/>
        </p:spPr>
        <p:txBody>
          <a:bodyPr wrap="square" lIns="0" rIns="0" tIns="0" bIns="0" anchor="t">
            <a:spAutoFit/>
          </a:bodyPr>
          <a:lstStyle/>
          <a:p>
            <a:pPr algn="l"/>
            <a:r>
              <a:rPr sz="2400" b="1" i="0">
                <a:solidFill>
                  <a:srgbClr val="0B2545"/>
                </a:solidFill>
                <a:latin typeface="Cambria"/>
              </a:rPr>
              <a:t>Live and in use</a:t>
            </a:r>
          </a:p>
        </p:txBody>
      </p:sp>
      <p:sp>
        <p:nvSpPr>
          <p:cNvPr id="8" name="TextBox 7"/>
          <p:cNvSpPr txBox="1"/>
          <p:nvPr/>
        </p:nvSpPr>
        <p:spPr>
          <a:xfrm>
            <a:off x="2331720" y="2743200"/>
            <a:ext cx="3474720" cy="1005840"/>
          </a:xfrm>
          <a:prstGeom prst="rect">
            <a:avLst/>
          </a:prstGeom>
          <a:noFill/>
        </p:spPr>
        <p:txBody>
          <a:bodyPr wrap="square" lIns="0" rIns="0" tIns="0" bIns="0" anchor="t">
            <a:spAutoFit/>
          </a:bodyPr>
          <a:lstStyle/>
          <a:p>
            <a:pPr algn="l"/>
            <a:r>
              <a:rPr sz="1600" b="0" i="0">
                <a:solidFill>
                  <a:srgbClr val="13202E"/>
                </a:solidFill>
                <a:latin typeface="Calibri"/>
              </a:rPr>
              <a:t>The system went live on 28 September. OEA is loading its properties and its staff.</a:t>
            </a:r>
          </a:p>
        </p:txBody>
      </p:sp>
      <p:sp>
        <p:nvSpPr>
          <p:cNvPr id="9" name="Rounded Rectangle 8"/>
          <p:cNvSpPr/>
          <p:nvPr/>
        </p:nvSpPr>
        <p:spPr>
          <a:xfrm>
            <a:off x="6172200" y="1783080"/>
            <a:ext cx="5440680" cy="210312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92240" y="2194560"/>
            <a:ext cx="1234440" cy="123444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1" name="Picture 10" descr="CreditCard.png"/>
          <p:cNvPicPr>
            <a:picLocks noChangeAspect="1"/>
          </p:cNvPicPr>
          <p:nvPr/>
        </p:nvPicPr>
        <p:blipFill>
          <a:blip r:embed="rId3"/>
          <a:stretch>
            <a:fillRect/>
          </a:stretch>
        </p:blipFill>
        <p:spPr>
          <a:xfrm>
            <a:off x="6763816" y="2466136"/>
            <a:ext cx="691286" cy="691286"/>
          </a:xfrm>
          <a:prstGeom prst="rect">
            <a:avLst/>
          </a:prstGeom>
        </p:spPr>
      </p:pic>
      <p:sp>
        <p:nvSpPr>
          <p:cNvPr id="12" name="TextBox 11"/>
          <p:cNvSpPr txBox="1"/>
          <p:nvPr/>
        </p:nvSpPr>
        <p:spPr>
          <a:xfrm>
            <a:off x="7955279" y="2148840"/>
            <a:ext cx="3474720" cy="548640"/>
          </a:xfrm>
          <a:prstGeom prst="rect">
            <a:avLst/>
          </a:prstGeom>
          <a:noFill/>
        </p:spPr>
        <p:txBody>
          <a:bodyPr wrap="square" lIns="0" rIns="0" tIns="0" bIns="0" anchor="t">
            <a:spAutoFit/>
          </a:bodyPr>
          <a:lstStyle/>
          <a:p>
            <a:pPr algn="l"/>
            <a:r>
              <a:rPr sz="2400" b="1" i="0">
                <a:solidFill>
                  <a:srgbClr val="0B2545"/>
                </a:solidFill>
                <a:latin typeface="Cambria"/>
              </a:rPr>
              <a:t>Payments approved</a:t>
            </a:r>
          </a:p>
        </p:txBody>
      </p:sp>
      <p:sp>
        <p:nvSpPr>
          <p:cNvPr id="13" name="TextBox 12"/>
          <p:cNvSpPr txBox="1"/>
          <p:nvPr/>
        </p:nvSpPr>
        <p:spPr>
          <a:xfrm>
            <a:off x="7955279" y="2743200"/>
            <a:ext cx="3474720" cy="1005840"/>
          </a:xfrm>
          <a:prstGeom prst="rect">
            <a:avLst/>
          </a:prstGeom>
          <a:noFill/>
        </p:spPr>
        <p:txBody>
          <a:bodyPr wrap="square" lIns="0" rIns="0" tIns="0" bIns="0" anchor="t">
            <a:spAutoFit/>
          </a:bodyPr>
          <a:lstStyle/>
          <a:p>
            <a:pPr algn="l"/>
            <a:r>
              <a:rPr sz="1600" b="0" i="0">
                <a:solidFill>
                  <a:srgbClr val="13202E"/>
                </a:solidFill>
                <a:latin typeface="Calibri"/>
              </a:rPr>
              <a:t>Paystack and Flutterwave have both approved OEA's business verification.</a:t>
            </a:r>
          </a:p>
        </p:txBody>
      </p:sp>
      <p:sp>
        <p:nvSpPr>
          <p:cNvPr id="14" name="Rounded Rectangle 13"/>
          <p:cNvSpPr/>
          <p:nvPr/>
        </p:nvSpPr>
        <p:spPr>
          <a:xfrm>
            <a:off x="548640" y="4069080"/>
            <a:ext cx="5440680" cy="210312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68680" y="4480560"/>
            <a:ext cx="1234440" cy="123444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6" name="Picture 15" descr="GraduationCap.png"/>
          <p:cNvPicPr>
            <a:picLocks noChangeAspect="1"/>
          </p:cNvPicPr>
          <p:nvPr/>
        </p:nvPicPr>
        <p:blipFill>
          <a:blip r:embed="rId4"/>
          <a:stretch>
            <a:fillRect/>
          </a:stretch>
        </p:blipFill>
        <p:spPr>
          <a:xfrm>
            <a:off x="1140256" y="4752136"/>
            <a:ext cx="691286" cy="691286"/>
          </a:xfrm>
          <a:prstGeom prst="rect">
            <a:avLst/>
          </a:prstGeom>
        </p:spPr>
      </p:pic>
      <p:sp>
        <p:nvSpPr>
          <p:cNvPr id="17" name="TextBox 16"/>
          <p:cNvSpPr txBox="1"/>
          <p:nvPr/>
        </p:nvSpPr>
        <p:spPr>
          <a:xfrm>
            <a:off x="2331720" y="4434840"/>
            <a:ext cx="3474720" cy="548640"/>
          </a:xfrm>
          <a:prstGeom prst="rect">
            <a:avLst/>
          </a:prstGeom>
          <a:noFill/>
        </p:spPr>
        <p:txBody>
          <a:bodyPr wrap="square" lIns="0" rIns="0" tIns="0" bIns="0" anchor="t">
            <a:spAutoFit/>
          </a:bodyPr>
          <a:lstStyle/>
          <a:p>
            <a:pPr algn="l"/>
            <a:r>
              <a:rPr sz="2400" b="1" i="0">
                <a:solidFill>
                  <a:srgbClr val="0B2545"/>
                </a:solidFill>
                <a:latin typeface="Cambria"/>
              </a:rPr>
              <a:t>Training under way</a:t>
            </a:r>
          </a:p>
        </p:txBody>
      </p:sp>
      <p:sp>
        <p:nvSpPr>
          <p:cNvPr id="18" name="TextBox 17"/>
          <p:cNvSpPr txBox="1"/>
          <p:nvPr/>
        </p:nvSpPr>
        <p:spPr>
          <a:xfrm>
            <a:off x="2331720" y="5029200"/>
            <a:ext cx="3474720" cy="1005840"/>
          </a:xfrm>
          <a:prstGeom prst="rect">
            <a:avLst/>
          </a:prstGeom>
          <a:noFill/>
        </p:spPr>
        <p:txBody>
          <a:bodyPr wrap="square" lIns="0" rIns="0" tIns="0" bIns="0" anchor="t">
            <a:spAutoFit/>
          </a:bodyPr>
          <a:lstStyle/>
          <a:p>
            <a:pPr algn="l"/>
            <a:r>
              <a:rPr sz="1600" b="0" i="0">
                <a:solidFill>
                  <a:srgbClr val="13202E"/>
                </a:solidFill>
                <a:latin typeface="Calibri"/>
              </a:rPr>
              <a:t>A three-day staff programme began yesterday, starting with the property managers.</a:t>
            </a:r>
          </a:p>
        </p:txBody>
      </p:sp>
      <p:sp>
        <p:nvSpPr>
          <p:cNvPr id="19" name="Rounded Rectangle 18"/>
          <p:cNvSpPr/>
          <p:nvPr/>
        </p:nvSpPr>
        <p:spPr>
          <a:xfrm>
            <a:off x="6172200" y="4069080"/>
            <a:ext cx="5440680" cy="210312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92240" y="4480560"/>
            <a:ext cx="1234440" cy="1234440"/>
          </a:xfrm>
          <a:prstGeom prst="ellipse">
            <a:avLst/>
          </a:prstGeom>
          <a:solidFill>
            <a:srgbClr val="A3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21" name="Picture 20" descr="UserCheck.png"/>
          <p:cNvPicPr>
            <a:picLocks noChangeAspect="1"/>
          </p:cNvPicPr>
          <p:nvPr/>
        </p:nvPicPr>
        <p:blipFill>
          <a:blip r:embed="rId5"/>
          <a:stretch>
            <a:fillRect/>
          </a:stretch>
        </p:blipFill>
        <p:spPr>
          <a:xfrm>
            <a:off x="6763816" y="4752136"/>
            <a:ext cx="691286" cy="691286"/>
          </a:xfrm>
          <a:prstGeom prst="rect">
            <a:avLst/>
          </a:prstGeom>
        </p:spPr>
      </p:pic>
      <p:sp>
        <p:nvSpPr>
          <p:cNvPr id="22" name="TextBox 21"/>
          <p:cNvSpPr txBox="1"/>
          <p:nvPr/>
        </p:nvSpPr>
        <p:spPr>
          <a:xfrm>
            <a:off x="7955279" y="4434840"/>
            <a:ext cx="3474720" cy="548640"/>
          </a:xfrm>
          <a:prstGeom prst="rect">
            <a:avLst/>
          </a:prstGeom>
          <a:noFill/>
        </p:spPr>
        <p:txBody>
          <a:bodyPr wrap="square" lIns="0" rIns="0" tIns="0" bIns="0" anchor="t">
            <a:spAutoFit/>
          </a:bodyPr>
          <a:lstStyle/>
          <a:p>
            <a:pPr algn="l"/>
            <a:r>
              <a:rPr sz="2400" b="1" i="0">
                <a:solidFill>
                  <a:srgbClr val="0B2545"/>
                </a:solidFill>
                <a:latin typeface="Cambria"/>
              </a:rPr>
              <a:t>Executive role ready</a:t>
            </a:r>
          </a:p>
        </p:txBody>
      </p:sp>
      <p:sp>
        <p:nvSpPr>
          <p:cNvPr id="23" name="TextBox 22"/>
          <p:cNvSpPr txBox="1"/>
          <p:nvPr/>
        </p:nvSpPr>
        <p:spPr>
          <a:xfrm>
            <a:off x="7955279" y="5029200"/>
            <a:ext cx="3474720" cy="1005840"/>
          </a:xfrm>
          <a:prstGeom prst="rect">
            <a:avLst/>
          </a:prstGeom>
          <a:noFill/>
        </p:spPr>
        <p:txBody>
          <a:bodyPr wrap="square" lIns="0" rIns="0" tIns="0" bIns="0" anchor="t">
            <a:spAutoFit/>
          </a:bodyPr>
          <a:lstStyle/>
          <a:p>
            <a:pPr algn="l"/>
            <a:r>
              <a:rPr sz="1600" b="0" i="0">
                <a:solidFill>
                  <a:srgbClr val="13202E"/>
                </a:solidFill>
                <a:latin typeface="Calibri"/>
              </a:rPr>
              <a:t>Engr Ola's new role is built into the system. It has not been tested yet.</a:t>
            </a:r>
          </a:p>
        </p:txBody>
      </p:sp>
      <p:sp>
        <p:nvSpPr>
          <p:cNvPr id="24" name="TextBox 23"/>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33475B"/>
                </a:solidFill>
                <a:latin typeface="Calibri"/>
              </a:rPr>
              <a:t>OE Group · TENTai · Board Confidential · 7 October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t">
            <a:spAutoFit/>
          </a:bodyPr>
          <a:lstStyle/>
          <a:p>
            <a:pPr algn="l"/>
            <a:r>
              <a:rPr sz="3600" b="1" i="0">
                <a:solidFill>
                  <a:srgbClr val="0B2545"/>
                </a:solidFill>
                <a:latin typeface="Cambria"/>
              </a:rPr>
              <a:t>The road so far</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800" b="0" i="0">
                <a:solidFill>
                  <a:srgbClr val="33475B"/>
                </a:solidFill>
                <a:latin typeface="Calibri"/>
              </a:rPr>
              <a:t>From switching on to everyday use, in seven steps.</a:t>
            </a:r>
          </a:p>
        </p:txBody>
      </p:sp>
      <p:cxnSp>
        <p:nvCxnSpPr>
          <p:cNvPr id="4" name="Connector 3"/>
          <p:cNvCxnSpPr/>
          <p:nvPr/>
        </p:nvCxnSpPr>
        <p:spPr>
          <a:xfrm>
            <a:off x="1289304" y="2395728"/>
            <a:ext cx="9601200" cy="0"/>
          </a:xfrm>
          <a:prstGeom prst="line">
            <a:avLst/>
          </a:prstGeom>
          <a:ln w="50800">
            <a:solidFill>
              <a:srgbClr val="C9D4E2"/>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832104" y="1938528"/>
            <a:ext cx="914400" cy="91440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6" name="Picture 5" descr="Rocket.png"/>
          <p:cNvPicPr>
            <a:picLocks noChangeAspect="1"/>
          </p:cNvPicPr>
          <p:nvPr/>
        </p:nvPicPr>
        <p:blipFill>
          <a:blip r:embed="rId2"/>
          <a:stretch>
            <a:fillRect/>
          </a:stretch>
        </p:blipFill>
        <p:spPr>
          <a:xfrm>
            <a:off x="1033272" y="2139696"/>
            <a:ext cx="512064" cy="512064"/>
          </a:xfrm>
          <a:prstGeom prst="rect">
            <a:avLst/>
          </a:prstGeom>
        </p:spPr>
      </p:pic>
      <p:sp>
        <p:nvSpPr>
          <p:cNvPr id="7" name="TextBox 6"/>
          <p:cNvSpPr txBox="1"/>
          <p:nvPr/>
        </p:nvSpPr>
        <p:spPr>
          <a:xfrm>
            <a:off x="548640" y="2971800"/>
            <a:ext cx="1481328" cy="365760"/>
          </a:xfrm>
          <a:prstGeom prst="rect">
            <a:avLst/>
          </a:prstGeom>
          <a:noFill/>
        </p:spPr>
        <p:txBody>
          <a:bodyPr wrap="square" lIns="0" rIns="0" tIns="0" bIns="0" anchor="t">
            <a:spAutoFit/>
          </a:bodyPr>
          <a:lstStyle/>
          <a:p>
            <a:pPr algn="ctr"/>
            <a:r>
              <a:rPr sz="1400" b="1" i="0">
                <a:solidFill>
                  <a:srgbClr val="16723F"/>
                </a:solidFill>
                <a:latin typeface="Calibri"/>
              </a:rPr>
              <a:t>24 Sep</a:t>
            </a:r>
          </a:p>
        </p:txBody>
      </p:sp>
      <p:sp>
        <p:nvSpPr>
          <p:cNvPr id="8" name="Rounded Rectangle 7"/>
          <p:cNvSpPr/>
          <p:nvPr/>
        </p:nvSpPr>
        <p:spPr>
          <a:xfrm>
            <a:off x="548640" y="3429000"/>
            <a:ext cx="1481328" cy="224028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3566160"/>
            <a:ext cx="1261872" cy="731520"/>
          </a:xfrm>
          <a:prstGeom prst="rect">
            <a:avLst/>
          </a:prstGeom>
          <a:noFill/>
        </p:spPr>
        <p:txBody>
          <a:bodyPr wrap="square" lIns="0" rIns="0" tIns="0" bIns="0" anchor="t">
            <a:spAutoFit/>
          </a:bodyPr>
          <a:lstStyle/>
          <a:p>
            <a:pPr algn="ctr"/>
            <a:r>
              <a:rPr sz="1700" b="1" i="0">
                <a:solidFill>
                  <a:srgbClr val="0B2545"/>
                </a:solidFill>
                <a:latin typeface="Cambria"/>
              </a:rPr>
              <a:t>Switched on</a:t>
            </a:r>
          </a:p>
        </p:txBody>
      </p:sp>
      <p:sp>
        <p:nvSpPr>
          <p:cNvPr id="10" name="TextBox 9"/>
          <p:cNvSpPr txBox="1"/>
          <p:nvPr/>
        </p:nvSpPr>
        <p:spPr>
          <a:xfrm>
            <a:off x="658368" y="4343400"/>
            <a:ext cx="1261872" cy="1645920"/>
          </a:xfrm>
          <a:prstGeom prst="rect">
            <a:avLst/>
          </a:prstGeom>
          <a:noFill/>
        </p:spPr>
        <p:txBody>
          <a:bodyPr wrap="square" lIns="0" rIns="0" tIns="0" bIns="0" anchor="t">
            <a:spAutoFit/>
          </a:bodyPr>
          <a:lstStyle/>
          <a:p>
            <a:pPr algn="ctr"/>
            <a:r>
              <a:rPr sz="1400" b="0" i="0">
                <a:solidFill>
                  <a:srgbClr val="13202E"/>
                </a:solidFill>
                <a:latin typeface="Calibri"/>
              </a:rPr>
              <a:t>The live system was set up, empty and secure</a:t>
            </a:r>
          </a:p>
        </p:txBody>
      </p:sp>
      <p:sp>
        <p:nvSpPr>
          <p:cNvPr id="11" name="Oval 10"/>
          <p:cNvSpPr/>
          <p:nvPr/>
        </p:nvSpPr>
        <p:spPr>
          <a:xfrm>
            <a:off x="2432304" y="1938528"/>
            <a:ext cx="914400" cy="91440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2" name="Picture 11" descr="ShieldCheck.png"/>
          <p:cNvPicPr>
            <a:picLocks noChangeAspect="1"/>
          </p:cNvPicPr>
          <p:nvPr/>
        </p:nvPicPr>
        <p:blipFill>
          <a:blip r:embed="rId3"/>
          <a:stretch>
            <a:fillRect/>
          </a:stretch>
        </p:blipFill>
        <p:spPr>
          <a:xfrm>
            <a:off x="2633472" y="2139696"/>
            <a:ext cx="512064" cy="512064"/>
          </a:xfrm>
          <a:prstGeom prst="rect">
            <a:avLst/>
          </a:prstGeom>
        </p:spPr>
      </p:pic>
      <p:sp>
        <p:nvSpPr>
          <p:cNvPr id="13" name="TextBox 12"/>
          <p:cNvSpPr txBox="1"/>
          <p:nvPr/>
        </p:nvSpPr>
        <p:spPr>
          <a:xfrm>
            <a:off x="2148840" y="2971800"/>
            <a:ext cx="1481328" cy="365760"/>
          </a:xfrm>
          <a:prstGeom prst="rect">
            <a:avLst/>
          </a:prstGeom>
          <a:noFill/>
        </p:spPr>
        <p:txBody>
          <a:bodyPr wrap="square" lIns="0" rIns="0" tIns="0" bIns="0" anchor="t">
            <a:spAutoFit/>
          </a:bodyPr>
          <a:lstStyle/>
          <a:p>
            <a:pPr algn="ctr"/>
            <a:r>
              <a:rPr sz="1400" b="1" i="0">
                <a:solidFill>
                  <a:srgbClr val="16723F"/>
                </a:solidFill>
                <a:latin typeface="Calibri"/>
              </a:rPr>
              <a:t>26–27 Sep</a:t>
            </a:r>
          </a:p>
        </p:txBody>
      </p:sp>
      <p:sp>
        <p:nvSpPr>
          <p:cNvPr id="14" name="Rounded Rectangle 13"/>
          <p:cNvSpPr/>
          <p:nvPr/>
        </p:nvSpPr>
        <p:spPr>
          <a:xfrm>
            <a:off x="2148840" y="3429000"/>
            <a:ext cx="1481328" cy="224028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258568" y="3566160"/>
            <a:ext cx="1261872" cy="731520"/>
          </a:xfrm>
          <a:prstGeom prst="rect">
            <a:avLst/>
          </a:prstGeom>
          <a:noFill/>
        </p:spPr>
        <p:txBody>
          <a:bodyPr wrap="square" lIns="0" rIns="0" tIns="0" bIns="0" anchor="t">
            <a:spAutoFit/>
          </a:bodyPr>
          <a:lstStyle/>
          <a:p>
            <a:pPr algn="ctr"/>
            <a:r>
              <a:rPr sz="1700" b="1" i="0">
                <a:solidFill>
                  <a:srgbClr val="0B2545"/>
                </a:solidFill>
                <a:latin typeface="Cambria"/>
              </a:rPr>
              <a:t>Safety-tested</a:t>
            </a:r>
          </a:p>
        </p:txBody>
      </p:sp>
      <p:sp>
        <p:nvSpPr>
          <p:cNvPr id="16" name="TextBox 15"/>
          <p:cNvSpPr txBox="1"/>
          <p:nvPr/>
        </p:nvSpPr>
        <p:spPr>
          <a:xfrm>
            <a:off x="2258568" y="4343400"/>
            <a:ext cx="1261872" cy="1645920"/>
          </a:xfrm>
          <a:prstGeom prst="rect">
            <a:avLst/>
          </a:prstGeom>
          <a:noFill/>
        </p:spPr>
        <p:txBody>
          <a:bodyPr wrap="square" lIns="0" rIns="0" tIns="0" bIns="0" anchor="t">
            <a:spAutoFit/>
          </a:bodyPr>
          <a:lstStyle/>
          <a:p>
            <a:pPr algn="ctr"/>
            <a:r>
              <a:rPr sz="1400" b="0" i="0">
                <a:solidFill>
                  <a:srgbClr val="13202E"/>
                </a:solidFill>
                <a:latin typeface="Calibri"/>
              </a:rPr>
              <a:t>Security, heavy-load and backup tests all passed</a:t>
            </a:r>
          </a:p>
        </p:txBody>
      </p:sp>
      <p:sp>
        <p:nvSpPr>
          <p:cNvPr id="17" name="Oval 16"/>
          <p:cNvSpPr/>
          <p:nvPr/>
        </p:nvSpPr>
        <p:spPr>
          <a:xfrm>
            <a:off x="4032504" y="1938528"/>
            <a:ext cx="914400" cy="91440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8" name="Picture 17" descr="Flag.png"/>
          <p:cNvPicPr>
            <a:picLocks noChangeAspect="1"/>
          </p:cNvPicPr>
          <p:nvPr/>
        </p:nvPicPr>
        <p:blipFill>
          <a:blip r:embed="rId4"/>
          <a:stretch>
            <a:fillRect/>
          </a:stretch>
        </p:blipFill>
        <p:spPr>
          <a:xfrm>
            <a:off x="4233672" y="2139696"/>
            <a:ext cx="512064" cy="512064"/>
          </a:xfrm>
          <a:prstGeom prst="rect">
            <a:avLst/>
          </a:prstGeom>
        </p:spPr>
      </p:pic>
      <p:sp>
        <p:nvSpPr>
          <p:cNvPr id="19" name="TextBox 18"/>
          <p:cNvSpPr txBox="1"/>
          <p:nvPr/>
        </p:nvSpPr>
        <p:spPr>
          <a:xfrm>
            <a:off x="3749039" y="2971800"/>
            <a:ext cx="1481328" cy="365760"/>
          </a:xfrm>
          <a:prstGeom prst="rect">
            <a:avLst/>
          </a:prstGeom>
          <a:noFill/>
        </p:spPr>
        <p:txBody>
          <a:bodyPr wrap="square" lIns="0" rIns="0" tIns="0" bIns="0" anchor="t">
            <a:spAutoFit/>
          </a:bodyPr>
          <a:lstStyle/>
          <a:p>
            <a:pPr algn="ctr"/>
            <a:r>
              <a:rPr sz="1400" b="1" i="0">
                <a:solidFill>
                  <a:srgbClr val="16723F"/>
                </a:solidFill>
                <a:latin typeface="Calibri"/>
              </a:rPr>
              <a:t>28 Sep</a:t>
            </a:r>
          </a:p>
        </p:txBody>
      </p:sp>
      <p:sp>
        <p:nvSpPr>
          <p:cNvPr id="20" name="Rounded Rectangle 19"/>
          <p:cNvSpPr/>
          <p:nvPr/>
        </p:nvSpPr>
        <p:spPr>
          <a:xfrm>
            <a:off x="3749039" y="3429000"/>
            <a:ext cx="1481328" cy="224028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858768" y="3566160"/>
            <a:ext cx="1261872" cy="731520"/>
          </a:xfrm>
          <a:prstGeom prst="rect">
            <a:avLst/>
          </a:prstGeom>
          <a:noFill/>
        </p:spPr>
        <p:txBody>
          <a:bodyPr wrap="square" lIns="0" rIns="0" tIns="0" bIns="0" anchor="t">
            <a:spAutoFit/>
          </a:bodyPr>
          <a:lstStyle/>
          <a:p>
            <a:pPr algn="ctr"/>
            <a:r>
              <a:rPr sz="1700" b="1" i="0">
                <a:solidFill>
                  <a:srgbClr val="0B2545"/>
                </a:solidFill>
                <a:latin typeface="Cambria"/>
              </a:rPr>
              <a:t>Board said GO</a:t>
            </a:r>
          </a:p>
        </p:txBody>
      </p:sp>
      <p:sp>
        <p:nvSpPr>
          <p:cNvPr id="22" name="TextBox 21"/>
          <p:cNvSpPr txBox="1"/>
          <p:nvPr/>
        </p:nvSpPr>
        <p:spPr>
          <a:xfrm>
            <a:off x="3858768" y="4343400"/>
            <a:ext cx="1261872" cy="1645920"/>
          </a:xfrm>
          <a:prstGeom prst="rect">
            <a:avLst/>
          </a:prstGeom>
          <a:noFill/>
        </p:spPr>
        <p:txBody>
          <a:bodyPr wrap="square" lIns="0" rIns="0" tIns="0" bIns="0" anchor="t">
            <a:spAutoFit/>
          </a:bodyPr>
          <a:lstStyle/>
          <a:p>
            <a:pPr algn="ctr"/>
            <a:r>
              <a:rPr sz="1400" b="0" i="0">
                <a:solidFill>
                  <a:srgbClr val="13202E"/>
                </a:solidFill>
                <a:latin typeface="Calibri"/>
              </a:rPr>
              <a:t>OEA began loading its properties and staff</a:t>
            </a:r>
          </a:p>
        </p:txBody>
      </p:sp>
      <p:sp>
        <p:nvSpPr>
          <p:cNvPr id="23" name="Oval 22"/>
          <p:cNvSpPr/>
          <p:nvPr/>
        </p:nvSpPr>
        <p:spPr>
          <a:xfrm>
            <a:off x="5632704" y="1938528"/>
            <a:ext cx="914400" cy="91440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24" name="Picture 23" descr="Sparkles.png"/>
          <p:cNvPicPr>
            <a:picLocks noChangeAspect="1"/>
          </p:cNvPicPr>
          <p:nvPr/>
        </p:nvPicPr>
        <p:blipFill>
          <a:blip r:embed="rId5"/>
          <a:stretch>
            <a:fillRect/>
          </a:stretch>
        </p:blipFill>
        <p:spPr>
          <a:xfrm>
            <a:off x="5833872" y="2139696"/>
            <a:ext cx="512064" cy="512064"/>
          </a:xfrm>
          <a:prstGeom prst="rect">
            <a:avLst/>
          </a:prstGeom>
        </p:spPr>
      </p:pic>
      <p:sp>
        <p:nvSpPr>
          <p:cNvPr id="25" name="TextBox 24"/>
          <p:cNvSpPr txBox="1"/>
          <p:nvPr/>
        </p:nvSpPr>
        <p:spPr>
          <a:xfrm>
            <a:off x="5349240" y="2971800"/>
            <a:ext cx="1481328" cy="365760"/>
          </a:xfrm>
          <a:prstGeom prst="rect">
            <a:avLst/>
          </a:prstGeom>
          <a:noFill/>
        </p:spPr>
        <p:txBody>
          <a:bodyPr wrap="square" lIns="0" rIns="0" tIns="0" bIns="0" anchor="t">
            <a:spAutoFit/>
          </a:bodyPr>
          <a:lstStyle/>
          <a:p>
            <a:pPr algn="ctr"/>
            <a:r>
              <a:rPr sz="1400" b="1" i="0">
                <a:solidFill>
                  <a:srgbClr val="16723F"/>
                </a:solidFill>
                <a:latin typeface="Calibri"/>
              </a:rPr>
              <a:t>2–3 Oct</a:t>
            </a:r>
          </a:p>
        </p:txBody>
      </p:sp>
      <p:sp>
        <p:nvSpPr>
          <p:cNvPr id="26" name="Rounded Rectangle 25"/>
          <p:cNvSpPr/>
          <p:nvPr/>
        </p:nvSpPr>
        <p:spPr>
          <a:xfrm>
            <a:off x="5349240" y="3429000"/>
            <a:ext cx="1481328" cy="224028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58968" y="3566160"/>
            <a:ext cx="1261872" cy="731520"/>
          </a:xfrm>
          <a:prstGeom prst="rect">
            <a:avLst/>
          </a:prstGeom>
          <a:noFill/>
        </p:spPr>
        <p:txBody>
          <a:bodyPr wrap="square" lIns="0" rIns="0" tIns="0" bIns="0" anchor="t">
            <a:spAutoFit/>
          </a:bodyPr>
          <a:lstStyle/>
          <a:p>
            <a:pPr algn="ctr"/>
            <a:r>
              <a:rPr sz="1700" b="1" i="0">
                <a:solidFill>
                  <a:srgbClr val="0B2545"/>
                </a:solidFill>
                <a:latin typeface="Cambria"/>
              </a:rPr>
              <a:t>New features</a:t>
            </a:r>
          </a:p>
        </p:txBody>
      </p:sp>
      <p:sp>
        <p:nvSpPr>
          <p:cNvPr id="28" name="TextBox 27"/>
          <p:cNvSpPr txBox="1"/>
          <p:nvPr/>
        </p:nvSpPr>
        <p:spPr>
          <a:xfrm>
            <a:off x="5458968" y="4343400"/>
            <a:ext cx="1261872" cy="1645920"/>
          </a:xfrm>
          <a:prstGeom prst="rect">
            <a:avLst/>
          </a:prstGeom>
          <a:noFill/>
        </p:spPr>
        <p:txBody>
          <a:bodyPr wrap="square" lIns="0" rIns="0" tIns="0" bIns="0" anchor="t">
            <a:spAutoFit/>
          </a:bodyPr>
          <a:lstStyle/>
          <a:p>
            <a:pPr algn="ctr"/>
            <a:r>
              <a:rPr sz="1400" b="0" i="0">
                <a:solidFill>
                  <a:srgbClr val="13202E"/>
                </a:solidFill>
                <a:latin typeface="Calibri"/>
              </a:rPr>
              <a:t>Executive role and two-step sign-in added</a:t>
            </a:r>
          </a:p>
        </p:txBody>
      </p:sp>
      <p:sp>
        <p:nvSpPr>
          <p:cNvPr id="29" name="Oval 28"/>
          <p:cNvSpPr/>
          <p:nvPr/>
        </p:nvSpPr>
        <p:spPr>
          <a:xfrm>
            <a:off x="7232904" y="1938528"/>
            <a:ext cx="914400" cy="91440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30" name="Picture 29" descr="CreditCard.png"/>
          <p:cNvPicPr>
            <a:picLocks noChangeAspect="1"/>
          </p:cNvPicPr>
          <p:nvPr/>
        </p:nvPicPr>
        <p:blipFill>
          <a:blip r:embed="rId6"/>
          <a:stretch>
            <a:fillRect/>
          </a:stretch>
        </p:blipFill>
        <p:spPr>
          <a:xfrm>
            <a:off x="7434072" y="2139696"/>
            <a:ext cx="512064" cy="512064"/>
          </a:xfrm>
          <a:prstGeom prst="rect">
            <a:avLst/>
          </a:prstGeom>
        </p:spPr>
      </p:pic>
      <p:sp>
        <p:nvSpPr>
          <p:cNvPr id="31" name="TextBox 30"/>
          <p:cNvSpPr txBox="1"/>
          <p:nvPr/>
        </p:nvSpPr>
        <p:spPr>
          <a:xfrm>
            <a:off x="6949440" y="2971800"/>
            <a:ext cx="1481328" cy="365760"/>
          </a:xfrm>
          <a:prstGeom prst="rect">
            <a:avLst/>
          </a:prstGeom>
          <a:noFill/>
        </p:spPr>
        <p:txBody>
          <a:bodyPr wrap="square" lIns="0" rIns="0" tIns="0" bIns="0" anchor="t">
            <a:spAutoFit/>
          </a:bodyPr>
          <a:lstStyle/>
          <a:p>
            <a:pPr algn="ctr"/>
            <a:r>
              <a:rPr sz="1400" b="1" i="0">
                <a:solidFill>
                  <a:srgbClr val="16723F"/>
                </a:solidFill>
                <a:latin typeface="Calibri"/>
              </a:rPr>
              <a:t>Early Oct</a:t>
            </a:r>
          </a:p>
        </p:txBody>
      </p:sp>
      <p:sp>
        <p:nvSpPr>
          <p:cNvPr id="32" name="Rounded Rectangle 31"/>
          <p:cNvSpPr/>
          <p:nvPr/>
        </p:nvSpPr>
        <p:spPr>
          <a:xfrm>
            <a:off x="6949440" y="3429000"/>
            <a:ext cx="1481328" cy="224028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059168" y="3566160"/>
            <a:ext cx="1261872" cy="731520"/>
          </a:xfrm>
          <a:prstGeom prst="rect">
            <a:avLst/>
          </a:prstGeom>
          <a:noFill/>
        </p:spPr>
        <p:txBody>
          <a:bodyPr wrap="square" lIns="0" rIns="0" tIns="0" bIns="0" anchor="t">
            <a:spAutoFit/>
          </a:bodyPr>
          <a:lstStyle/>
          <a:p>
            <a:pPr algn="ctr"/>
            <a:r>
              <a:rPr sz="1700" b="1" i="0">
                <a:solidFill>
                  <a:srgbClr val="0B2545"/>
                </a:solidFill>
                <a:latin typeface="Cambria"/>
              </a:rPr>
              <a:t>Payments approved</a:t>
            </a:r>
          </a:p>
        </p:txBody>
      </p:sp>
      <p:sp>
        <p:nvSpPr>
          <p:cNvPr id="34" name="TextBox 33"/>
          <p:cNvSpPr txBox="1"/>
          <p:nvPr/>
        </p:nvSpPr>
        <p:spPr>
          <a:xfrm>
            <a:off x="7059168" y="4343400"/>
            <a:ext cx="1261872" cy="1645920"/>
          </a:xfrm>
          <a:prstGeom prst="rect">
            <a:avLst/>
          </a:prstGeom>
          <a:noFill/>
        </p:spPr>
        <p:txBody>
          <a:bodyPr wrap="square" lIns="0" rIns="0" tIns="0" bIns="0" anchor="t">
            <a:spAutoFit/>
          </a:bodyPr>
          <a:lstStyle/>
          <a:p>
            <a:pPr algn="ctr"/>
            <a:r>
              <a:rPr sz="1400" b="0" i="0">
                <a:solidFill>
                  <a:srgbClr val="13202E"/>
                </a:solidFill>
                <a:latin typeface="Calibri"/>
              </a:rPr>
              <a:t>Paystack and Flutterwave approved OEA</a:t>
            </a:r>
          </a:p>
        </p:txBody>
      </p:sp>
      <p:sp>
        <p:nvSpPr>
          <p:cNvPr id="35" name="Oval 34"/>
          <p:cNvSpPr/>
          <p:nvPr/>
        </p:nvSpPr>
        <p:spPr>
          <a:xfrm>
            <a:off x="8833104" y="1938528"/>
            <a:ext cx="914400" cy="91440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36" name="Picture 35" descr="GraduationCap.png"/>
          <p:cNvPicPr>
            <a:picLocks noChangeAspect="1"/>
          </p:cNvPicPr>
          <p:nvPr/>
        </p:nvPicPr>
        <p:blipFill>
          <a:blip r:embed="rId7"/>
          <a:stretch>
            <a:fillRect/>
          </a:stretch>
        </p:blipFill>
        <p:spPr>
          <a:xfrm>
            <a:off x="9034272" y="2139696"/>
            <a:ext cx="512064" cy="512064"/>
          </a:xfrm>
          <a:prstGeom prst="rect">
            <a:avLst/>
          </a:prstGeom>
        </p:spPr>
      </p:pic>
      <p:sp>
        <p:nvSpPr>
          <p:cNvPr id="37" name="TextBox 36"/>
          <p:cNvSpPr txBox="1"/>
          <p:nvPr/>
        </p:nvSpPr>
        <p:spPr>
          <a:xfrm>
            <a:off x="8549640" y="2971800"/>
            <a:ext cx="1481328" cy="365760"/>
          </a:xfrm>
          <a:prstGeom prst="rect">
            <a:avLst/>
          </a:prstGeom>
          <a:noFill/>
        </p:spPr>
        <p:txBody>
          <a:bodyPr wrap="square" lIns="0" rIns="0" tIns="0" bIns="0" anchor="t">
            <a:spAutoFit/>
          </a:bodyPr>
          <a:lstStyle/>
          <a:p>
            <a:pPr algn="ctr"/>
            <a:r>
              <a:rPr sz="1400" b="1" i="0">
                <a:solidFill>
                  <a:srgbClr val="0B2545"/>
                </a:solidFill>
                <a:latin typeface="Calibri"/>
              </a:rPr>
              <a:t>6–8 Oct</a:t>
            </a:r>
          </a:p>
        </p:txBody>
      </p:sp>
      <p:sp>
        <p:nvSpPr>
          <p:cNvPr id="38" name="Rounded Rectangle 37"/>
          <p:cNvSpPr/>
          <p:nvPr/>
        </p:nvSpPr>
        <p:spPr>
          <a:xfrm>
            <a:off x="8549640" y="3429000"/>
            <a:ext cx="1481328" cy="2240280"/>
          </a:xfrm>
          <a:prstGeom prst="roundRect">
            <a:avLst>
              <a:gd name="adj" fmla="val 6000"/>
            </a:avLst>
          </a:prstGeom>
          <a:solidFill>
            <a:srgbClr val="FFFFFF"/>
          </a:solidFill>
          <a:ln w="9525">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659367" y="3566160"/>
            <a:ext cx="1261872" cy="731520"/>
          </a:xfrm>
          <a:prstGeom prst="rect">
            <a:avLst/>
          </a:prstGeom>
          <a:noFill/>
        </p:spPr>
        <p:txBody>
          <a:bodyPr wrap="square" lIns="0" rIns="0" tIns="0" bIns="0" anchor="t">
            <a:spAutoFit/>
          </a:bodyPr>
          <a:lstStyle/>
          <a:p>
            <a:pPr algn="ctr"/>
            <a:r>
              <a:rPr sz="1700" b="1" i="0">
                <a:solidFill>
                  <a:srgbClr val="0B2545"/>
                </a:solidFill>
                <a:latin typeface="Cambria"/>
              </a:rPr>
              <a:t>Staff training</a:t>
            </a:r>
          </a:p>
        </p:txBody>
      </p:sp>
      <p:sp>
        <p:nvSpPr>
          <p:cNvPr id="40" name="TextBox 39"/>
          <p:cNvSpPr txBox="1"/>
          <p:nvPr/>
        </p:nvSpPr>
        <p:spPr>
          <a:xfrm>
            <a:off x="8659367" y="4343400"/>
            <a:ext cx="1261872" cy="1645920"/>
          </a:xfrm>
          <a:prstGeom prst="rect">
            <a:avLst/>
          </a:prstGeom>
          <a:noFill/>
        </p:spPr>
        <p:txBody>
          <a:bodyPr wrap="square" lIns="0" rIns="0" tIns="0" bIns="0" anchor="t">
            <a:spAutoFit/>
          </a:bodyPr>
          <a:lstStyle/>
          <a:p>
            <a:pPr algn="ctr"/>
            <a:r>
              <a:rPr sz="1400" b="0" i="0">
                <a:solidFill>
                  <a:srgbClr val="13202E"/>
                </a:solidFill>
                <a:latin typeface="Calibri"/>
              </a:rPr>
              <a:t>Three days of hands-on training</a:t>
            </a:r>
          </a:p>
        </p:txBody>
      </p:sp>
      <p:sp>
        <p:nvSpPr>
          <p:cNvPr id="41" name="Oval 40"/>
          <p:cNvSpPr/>
          <p:nvPr/>
        </p:nvSpPr>
        <p:spPr>
          <a:xfrm>
            <a:off x="10433304" y="1938528"/>
            <a:ext cx="914400" cy="914400"/>
          </a:xfrm>
          <a:prstGeom prst="ellipse">
            <a:avLst/>
          </a:prstGeom>
          <a:solidFill>
            <a:srgbClr val="A3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42" name="Picture 41" descr="HandCoins.png"/>
          <p:cNvPicPr>
            <a:picLocks noChangeAspect="1"/>
          </p:cNvPicPr>
          <p:nvPr/>
        </p:nvPicPr>
        <p:blipFill>
          <a:blip r:embed="rId8"/>
          <a:stretch>
            <a:fillRect/>
          </a:stretch>
        </p:blipFill>
        <p:spPr>
          <a:xfrm>
            <a:off x="10634472" y="2139696"/>
            <a:ext cx="512064" cy="512064"/>
          </a:xfrm>
          <a:prstGeom prst="rect">
            <a:avLst/>
          </a:prstGeom>
        </p:spPr>
      </p:pic>
      <p:sp>
        <p:nvSpPr>
          <p:cNvPr id="43" name="TextBox 42"/>
          <p:cNvSpPr txBox="1"/>
          <p:nvPr/>
        </p:nvSpPr>
        <p:spPr>
          <a:xfrm>
            <a:off x="10149840" y="2971800"/>
            <a:ext cx="1481328" cy="365760"/>
          </a:xfrm>
          <a:prstGeom prst="rect">
            <a:avLst/>
          </a:prstGeom>
          <a:noFill/>
        </p:spPr>
        <p:txBody>
          <a:bodyPr wrap="square" lIns="0" rIns="0" tIns="0" bIns="0" anchor="t">
            <a:spAutoFit/>
          </a:bodyPr>
          <a:lstStyle/>
          <a:p>
            <a:pPr algn="ctr"/>
            <a:r>
              <a:rPr sz="1400" b="1" i="0">
                <a:solidFill>
                  <a:srgbClr val="A35A00"/>
                </a:solidFill>
                <a:latin typeface="Calibri"/>
              </a:rPr>
              <a:t>Next</a:t>
            </a:r>
          </a:p>
        </p:txBody>
      </p:sp>
      <p:sp>
        <p:nvSpPr>
          <p:cNvPr id="44" name="Rounded Rectangle 43"/>
          <p:cNvSpPr/>
          <p:nvPr/>
        </p:nvSpPr>
        <p:spPr>
          <a:xfrm>
            <a:off x="10149840" y="3429000"/>
            <a:ext cx="1481328" cy="2240280"/>
          </a:xfrm>
          <a:prstGeom prst="roundRect">
            <a:avLst>
              <a:gd name="adj" fmla="val 6000"/>
            </a:avLst>
          </a:prstGeom>
          <a:solidFill>
            <a:srgbClr val="FFFFFF"/>
          </a:solidFill>
          <a:ln w="9525">
            <a:solidFill>
              <a:srgbClr val="A35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259567" y="3566160"/>
            <a:ext cx="1261872" cy="731520"/>
          </a:xfrm>
          <a:prstGeom prst="rect">
            <a:avLst/>
          </a:prstGeom>
          <a:noFill/>
        </p:spPr>
        <p:txBody>
          <a:bodyPr wrap="square" lIns="0" rIns="0" tIns="0" bIns="0" anchor="t">
            <a:spAutoFit/>
          </a:bodyPr>
          <a:lstStyle/>
          <a:p>
            <a:pPr algn="ctr"/>
            <a:r>
              <a:rPr sz="1700" b="1" i="0">
                <a:solidFill>
                  <a:srgbClr val="0B2545"/>
                </a:solidFill>
                <a:latin typeface="Cambria"/>
              </a:rPr>
              <a:t>First real payment</a:t>
            </a:r>
          </a:p>
        </p:txBody>
      </p:sp>
      <p:sp>
        <p:nvSpPr>
          <p:cNvPr id="46" name="TextBox 45"/>
          <p:cNvSpPr txBox="1"/>
          <p:nvPr/>
        </p:nvSpPr>
        <p:spPr>
          <a:xfrm>
            <a:off x="10259567" y="4343400"/>
            <a:ext cx="1261872" cy="1645920"/>
          </a:xfrm>
          <a:prstGeom prst="rect">
            <a:avLst/>
          </a:prstGeom>
          <a:noFill/>
        </p:spPr>
        <p:txBody>
          <a:bodyPr wrap="square" lIns="0" rIns="0" tIns="0" bIns="0" anchor="t">
            <a:spAutoFit/>
          </a:bodyPr>
          <a:lstStyle/>
          <a:p>
            <a:pPr algn="ctr"/>
            <a:r>
              <a:rPr sz="1400" b="0" i="0">
                <a:solidFill>
                  <a:srgbClr val="13202E"/>
                </a:solidFill>
                <a:latin typeface="Calibri"/>
              </a:rPr>
              <a:t>Checked by hand, end to end</a:t>
            </a:r>
          </a:p>
        </p:txBody>
      </p:sp>
      <p:sp>
        <p:nvSpPr>
          <p:cNvPr id="47" name="TextBox 46"/>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33475B"/>
                </a:solidFill>
                <a:latin typeface="Calibri"/>
              </a:rPr>
              <a:t>OE Group · TENTai · Board Confidential · 7 October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t">
            <a:spAutoFit/>
          </a:bodyPr>
          <a:lstStyle/>
          <a:p>
            <a:pPr algn="l"/>
            <a:r>
              <a:rPr sz="3600" b="1" i="0">
                <a:solidFill>
                  <a:srgbClr val="0B2545"/>
                </a:solidFill>
                <a:latin typeface="Cambria"/>
              </a:rPr>
              <a:t>Payments: both providers have said yes</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800" b="0" i="0">
                <a:solidFill>
                  <a:srgbClr val="33475B"/>
                </a:solidFill>
                <a:latin typeface="Calibri"/>
              </a:rPr>
              <a:t>OEA's business verification is approved by Paystack and by Flutterwave.</a:t>
            </a:r>
          </a:p>
        </p:txBody>
      </p:sp>
      <p:sp>
        <p:nvSpPr>
          <p:cNvPr id="4" name="Rounded Rectangle 3"/>
          <p:cNvSpPr/>
          <p:nvPr/>
        </p:nvSpPr>
        <p:spPr>
          <a:xfrm>
            <a:off x="548640" y="1783080"/>
            <a:ext cx="5212080" cy="1417320"/>
          </a:xfrm>
          <a:prstGeom prst="roundRect">
            <a:avLst>
              <a:gd name="adj" fmla="val 8000"/>
            </a:avLst>
          </a:prstGeom>
          <a:solidFill>
            <a:srgbClr val="FFFFFF"/>
          </a:solidFill>
          <a:ln w="9525">
            <a:solidFill>
              <a:srgbClr val="16723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2011680"/>
            <a:ext cx="960120" cy="96012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6" name="Picture 5" descr="BadgeCheck.png"/>
          <p:cNvPicPr>
            <a:picLocks noChangeAspect="1"/>
          </p:cNvPicPr>
          <p:nvPr/>
        </p:nvPicPr>
        <p:blipFill>
          <a:blip r:embed="rId2"/>
          <a:stretch>
            <a:fillRect/>
          </a:stretch>
        </p:blipFill>
        <p:spPr>
          <a:xfrm>
            <a:off x="988466" y="2222906"/>
            <a:ext cx="537667" cy="537667"/>
          </a:xfrm>
          <a:prstGeom prst="rect">
            <a:avLst/>
          </a:prstGeom>
        </p:spPr>
      </p:pic>
      <p:sp>
        <p:nvSpPr>
          <p:cNvPr id="7" name="TextBox 6"/>
          <p:cNvSpPr txBox="1"/>
          <p:nvPr/>
        </p:nvSpPr>
        <p:spPr>
          <a:xfrm>
            <a:off x="1920240" y="1965960"/>
            <a:ext cx="2560320" cy="457200"/>
          </a:xfrm>
          <a:prstGeom prst="rect">
            <a:avLst/>
          </a:prstGeom>
          <a:noFill/>
        </p:spPr>
        <p:txBody>
          <a:bodyPr wrap="square" lIns="0" rIns="0" tIns="0" bIns="0" anchor="t">
            <a:spAutoFit/>
          </a:bodyPr>
          <a:lstStyle/>
          <a:p>
            <a:pPr algn="l"/>
            <a:r>
              <a:rPr sz="2400" b="1" i="0">
                <a:solidFill>
                  <a:srgbClr val="0B2545"/>
                </a:solidFill>
                <a:latin typeface="Cambria"/>
              </a:rPr>
              <a:t>Paystack</a:t>
            </a:r>
          </a:p>
        </p:txBody>
      </p:sp>
      <p:sp>
        <p:nvSpPr>
          <p:cNvPr id="8" name="Rounded Rectangle 7"/>
          <p:cNvSpPr/>
          <p:nvPr/>
        </p:nvSpPr>
        <p:spPr>
          <a:xfrm>
            <a:off x="4206240" y="2029967"/>
            <a:ext cx="1371600" cy="365760"/>
          </a:xfrm>
          <a:prstGeom prst="roundRect">
            <a:avLst>
              <a:gd name="adj" fmla="val 50000"/>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APPROVED</a:t>
            </a:r>
          </a:p>
        </p:txBody>
      </p:sp>
      <p:sp>
        <p:nvSpPr>
          <p:cNvPr id="9" name="TextBox 8"/>
          <p:cNvSpPr txBox="1"/>
          <p:nvPr/>
        </p:nvSpPr>
        <p:spPr>
          <a:xfrm>
            <a:off x="1920240" y="2514600"/>
            <a:ext cx="3657600" cy="640080"/>
          </a:xfrm>
          <a:prstGeom prst="rect">
            <a:avLst/>
          </a:prstGeom>
          <a:noFill/>
        </p:spPr>
        <p:txBody>
          <a:bodyPr wrap="square" lIns="0" rIns="0" tIns="0" bIns="0" anchor="t">
            <a:spAutoFit/>
          </a:bodyPr>
          <a:lstStyle/>
          <a:p>
            <a:pPr algn="l"/>
            <a:r>
              <a:rPr sz="1500" b="0" i="0">
                <a:solidFill>
                  <a:srgbClr val="13202E"/>
                </a:solidFill>
                <a:latin typeface="Calibri"/>
              </a:rPr>
              <a:t>Can send automatic payouts to vendors and landlords</a:t>
            </a:r>
          </a:p>
        </p:txBody>
      </p:sp>
      <p:sp>
        <p:nvSpPr>
          <p:cNvPr id="10" name="Rounded Rectangle 9"/>
          <p:cNvSpPr/>
          <p:nvPr/>
        </p:nvSpPr>
        <p:spPr>
          <a:xfrm>
            <a:off x="548640" y="3383280"/>
            <a:ext cx="5212080" cy="1417320"/>
          </a:xfrm>
          <a:prstGeom prst="roundRect">
            <a:avLst>
              <a:gd name="adj" fmla="val 8000"/>
            </a:avLst>
          </a:prstGeom>
          <a:solidFill>
            <a:srgbClr val="FFFFFF"/>
          </a:solidFill>
          <a:ln w="9525">
            <a:solidFill>
              <a:srgbClr val="16723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777240" y="3611880"/>
            <a:ext cx="960120" cy="96012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2" name="Picture 11" descr="BadgeCheck.png"/>
          <p:cNvPicPr>
            <a:picLocks noChangeAspect="1"/>
          </p:cNvPicPr>
          <p:nvPr/>
        </p:nvPicPr>
        <p:blipFill>
          <a:blip r:embed="rId2"/>
          <a:stretch>
            <a:fillRect/>
          </a:stretch>
        </p:blipFill>
        <p:spPr>
          <a:xfrm>
            <a:off x="988466" y="3823106"/>
            <a:ext cx="537667" cy="537667"/>
          </a:xfrm>
          <a:prstGeom prst="rect">
            <a:avLst/>
          </a:prstGeom>
        </p:spPr>
      </p:pic>
      <p:sp>
        <p:nvSpPr>
          <p:cNvPr id="13" name="TextBox 12"/>
          <p:cNvSpPr txBox="1"/>
          <p:nvPr/>
        </p:nvSpPr>
        <p:spPr>
          <a:xfrm>
            <a:off x="1920240" y="3566160"/>
            <a:ext cx="2560320" cy="457200"/>
          </a:xfrm>
          <a:prstGeom prst="rect">
            <a:avLst/>
          </a:prstGeom>
          <a:noFill/>
        </p:spPr>
        <p:txBody>
          <a:bodyPr wrap="square" lIns="0" rIns="0" tIns="0" bIns="0" anchor="t">
            <a:spAutoFit/>
          </a:bodyPr>
          <a:lstStyle/>
          <a:p>
            <a:pPr algn="l"/>
            <a:r>
              <a:rPr sz="2400" b="1" i="0">
                <a:solidFill>
                  <a:srgbClr val="0B2545"/>
                </a:solidFill>
                <a:latin typeface="Cambria"/>
              </a:rPr>
              <a:t>Flutterwave</a:t>
            </a:r>
          </a:p>
        </p:txBody>
      </p:sp>
      <p:sp>
        <p:nvSpPr>
          <p:cNvPr id="14" name="Rounded Rectangle 13"/>
          <p:cNvSpPr/>
          <p:nvPr/>
        </p:nvSpPr>
        <p:spPr>
          <a:xfrm>
            <a:off x="4206240" y="3630168"/>
            <a:ext cx="1371600" cy="365760"/>
          </a:xfrm>
          <a:prstGeom prst="roundRect">
            <a:avLst>
              <a:gd name="adj" fmla="val 50000"/>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APPROVED</a:t>
            </a:r>
          </a:p>
        </p:txBody>
      </p:sp>
      <p:sp>
        <p:nvSpPr>
          <p:cNvPr id="15" name="TextBox 14"/>
          <p:cNvSpPr txBox="1"/>
          <p:nvPr/>
        </p:nvSpPr>
        <p:spPr>
          <a:xfrm>
            <a:off x="1920240" y="4114800"/>
            <a:ext cx="3657600" cy="640080"/>
          </a:xfrm>
          <a:prstGeom prst="rect">
            <a:avLst/>
          </a:prstGeom>
          <a:noFill/>
        </p:spPr>
        <p:txBody>
          <a:bodyPr wrap="square" lIns="0" rIns="0" tIns="0" bIns="0" anchor="t">
            <a:spAutoFit/>
          </a:bodyPr>
          <a:lstStyle/>
          <a:p>
            <a:pPr algn="l"/>
            <a:r>
              <a:rPr sz="1500" b="0" i="0">
                <a:solidFill>
                  <a:srgbClr val="13202E"/>
                </a:solidFill>
                <a:latin typeface="Calibri"/>
              </a:rPr>
              <a:t>Collects tenant payments, in Naira and foreign currency</a:t>
            </a:r>
          </a:p>
        </p:txBody>
      </p:sp>
      <p:sp>
        <p:nvSpPr>
          <p:cNvPr id="16" name="TextBox 15"/>
          <p:cNvSpPr txBox="1"/>
          <p:nvPr/>
        </p:nvSpPr>
        <p:spPr>
          <a:xfrm>
            <a:off x="6172200" y="1737360"/>
            <a:ext cx="5486400" cy="457200"/>
          </a:xfrm>
          <a:prstGeom prst="rect">
            <a:avLst/>
          </a:prstGeom>
          <a:noFill/>
        </p:spPr>
        <p:txBody>
          <a:bodyPr wrap="square" lIns="0" rIns="0" tIns="0" bIns="0" anchor="t">
            <a:spAutoFit/>
          </a:bodyPr>
          <a:lstStyle/>
          <a:p>
            <a:pPr algn="l"/>
            <a:r>
              <a:rPr sz="2200" b="1" i="0">
                <a:solidFill>
                  <a:srgbClr val="0B2545"/>
                </a:solidFill>
                <a:latin typeface="Cambria"/>
              </a:rPr>
              <a:t>What happens next</a:t>
            </a:r>
          </a:p>
        </p:txBody>
      </p:sp>
      <p:sp>
        <p:nvSpPr>
          <p:cNvPr id="17" name="Oval 16"/>
          <p:cNvSpPr/>
          <p:nvPr/>
        </p:nvSpPr>
        <p:spPr>
          <a:xfrm>
            <a:off x="6172200" y="2286000"/>
            <a:ext cx="566928" cy="566928"/>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1</a:t>
            </a:r>
          </a:p>
        </p:txBody>
      </p:sp>
      <p:sp>
        <p:nvSpPr>
          <p:cNvPr id="18" name="TextBox 17"/>
          <p:cNvSpPr txBox="1"/>
          <p:nvPr/>
        </p:nvSpPr>
        <p:spPr>
          <a:xfrm>
            <a:off x="6949440" y="2240280"/>
            <a:ext cx="4663440" cy="411480"/>
          </a:xfrm>
          <a:prstGeom prst="rect">
            <a:avLst/>
          </a:prstGeom>
          <a:noFill/>
        </p:spPr>
        <p:txBody>
          <a:bodyPr wrap="square" lIns="0" rIns="0" tIns="0" bIns="0" anchor="t">
            <a:spAutoFit/>
          </a:bodyPr>
          <a:lstStyle/>
          <a:p>
            <a:pPr algn="l"/>
            <a:r>
              <a:rPr sz="1800" b="1" i="0">
                <a:solidFill>
                  <a:srgbClr val="0B2545"/>
                </a:solidFill>
                <a:latin typeface="Calibri"/>
              </a:rPr>
              <a:t>Connect the live keys</a:t>
            </a:r>
          </a:p>
        </p:txBody>
      </p:sp>
      <p:sp>
        <p:nvSpPr>
          <p:cNvPr id="19" name="TextBox 18"/>
          <p:cNvSpPr txBox="1"/>
          <p:nvPr/>
        </p:nvSpPr>
        <p:spPr>
          <a:xfrm>
            <a:off x="6949440" y="2651760"/>
            <a:ext cx="4663440" cy="640080"/>
          </a:xfrm>
          <a:prstGeom prst="rect">
            <a:avLst/>
          </a:prstGeom>
          <a:noFill/>
        </p:spPr>
        <p:txBody>
          <a:bodyPr wrap="square" lIns="0" rIns="0" tIns="0" bIns="0" anchor="t">
            <a:spAutoFit/>
          </a:bodyPr>
          <a:lstStyle/>
          <a:p>
            <a:pPr algn="l"/>
            <a:r>
              <a:rPr sz="1500" b="0" i="0">
                <a:solidFill>
                  <a:srgbClr val="13202E"/>
                </a:solidFill>
                <a:latin typeface="Calibri"/>
              </a:rPr>
              <a:t>An administrator adds OEA's live keys for both providers in the system's banking settings.</a:t>
            </a:r>
          </a:p>
        </p:txBody>
      </p:sp>
      <p:sp>
        <p:nvSpPr>
          <p:cNvPr id="20" name="Oval 19"/>
          <p:cNvSpPr/>
          <p:nvPr/>
        </p:nvSpPr>
        <p:spPr>
          <a:xfrm>
            <a:off x="6172200" y="3273552"/>
            <a:ext cx="566928" cy="566928"/>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2</a:t>
            </a:r>
          </a:p>
        </p:txBody>
      </p:sp>
      <p:sp>
        <p:nvSpPr>
          <p:cNvPr id="21" name="TextBox 20"/>
          <p:cNvSpPr txBox="1"/>
          <p:nvPr/>
        </p:nvSpPr>
        <p:spPr>
          <a:xfrm>
            <a:off x="6949440" y="3227832"/>
            <a:ext cx="4663440" cy="411480"/>
          </a:xfrm>
          <a:prstGeom prst="rect">
            <a:avLst/>
          </a:prstGeom>
          <a:noFill/>
        </p:spPr>
        <p:txBody>
          <a:bodyPr wrap="square" lIns="0" rIns="0" tIns="0" bIns="0" anchor="t">
            <a:spAutoFit/>
          </a:bodyPr>
          <a:lstStyle/>
          <a:p>
            <a:pPr algn="l"/>
            <a:r>
              <a:rPr sz="1800" b="1" i="0">
                <a:solidFill>
                  <a:srgbClr val="0B2545"/>
                </a:solidFill>
                <a:latin typeface="Calibri"/>
              </a:rPr>
              <a:t>Make one small real payment</a:t>
            </a:r>
          </a:p>
        </p:txBody>
      </p:sp>
      <p:sp>
        <p:nvSpPr>
          <p:cNvPr id="22" name="TextBox 21"/>
          <p:cNvSpPr txBox="1"/>
          <p:nvPr/>
        </p:nvSpPr>
        <p:spPr>
          <a:xfrm>
            <a:off x="6949440" y="3639312"/>
            <a:ext cx="4663440" cy="640080"/>
          </a:xfrm>
          <a:prstGeom prst="rect">
            <a:avLst/>
          </a:prstGeom>
          <a:noFill/>
        </p:spPr>
        <p:txBody>
          <a:bodyPr wrap="square" lIns="0" rIns="0" tIns="0" bIns="0" anchor="t">
            <a:spAutoFit/>
          </a:bodyPr>
          <a:lstStyle/>
          <a:p>
            <a:pPr algn="l"/>
            <a:r>
              <a:rPr sz="1500" b="0" i="0">
                <a:solidFill>
                  <a:srgbClr val="13202E"/>
                </a:solidFill>
                <a:latin typeface="Calibri"/>
              </a:rPr>
              <a:t>Check by hand that it lands in OEA's own account and shows correctly.</a:t>
            </a:r>
          </a:p>
        </p:txBody>
      </p:sp>
      <p:sp>
        <p:nvSpPr>
          <p:cNvPr id="23" name="Oval 22"/>
          <p:cNvSpPr/>
          <p:nvPr/>
        </p:nvSpPr>
        <p:spPr>
          <a:xfrm>
            <a:off x="6172200" y="4261104"/>
            <a:ext cx="566928" cy="566928"/>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3</a:t>
            </a:r>
          </a:p>
        </p:txBody>
      </p:sp>
      <p:sp>
        <p:nvSpPr>
          <p:cNvPr id="24" name="TextBox 23"/>
          <p:cNvSpPr txBox="1"/>
          <p:nvPr/>
        </p:nvSpPr>
        <p:spPr>
          <a:xfrm>
            <a:off x="6949440" y="4215384"/>
            <a:ext cx="4663440" cy="411480"/>
          </a:xfrm>
          <a:prstGeom prst="rect">
            <a:avLst/>
          </a:prstGeom>
          <a:noFill/>
        </p:spPr>
        <p:txBody>
          <a:bodyPr wrap="square" lIns="0" rIns="0" tIns="0" bIns="0" anchor="t">
            <a:spAutoFit/>
          </a:bodyPr>
          <a:lstStyle/>
          <a:p>
            <a:pPr algn="l"/>
            <a:r>
              <a:rPr sz="1800" b="1" i="0">
                <a:solidFill>
                  <a:srgbClr val="0B2545"/>
                </a:solidFill>
                <a:latin typeface="Calibri"/>
              </a:rPr>
              <a:t>Open online payment to tenants</a:t>
            </a:r>
          </a:p>
        </p:txBody>
      </p:sp>
      <p:sp>
        <p:nvSpPr>
          <p:cNvPr id="25" name="TextBox 24"/>
          <p:cNvSpPr txBox="1"/>
          <p:nvPr/>
        </p:nvSpPr>
        <p:spPr>
          <a:xfrm>
            <a:off x="6949440" y="4626864"/>
            <a:ext cx="4663440" cy="640080"/>
          </a:xfrm>
          <a:prstGeom prst="rect">
            <a:avLst/>
          </a:prstGeom>
          <a:noFill/>
        </p:spPr>
        <p:txBody>
          <a:bodyPr wrap="square" lIns="0" rIns="0" tIns="0" bIns="0" anchor="t">
            <a:spAutoFit/>
          </a:bodyPr>
          <a:lstStyle/>
          <a:p>
            <a:pPr algn="l"/>
            <a:r>
              <a:rPr sz="1500" b="0" i="0">
                <a:solidFill>
                  <a:srgbClr val="13202E"/>
                </a:solidFill>
                <a:latin typeface="Calibri"/>
              </a:rPr>
              <a:t>Tenants can then pay by card or bank online, and get a receipt at once.</a:t>
            </a:r>
          </a:p>
        </p:txBody>
      </p:sp>
      <p:sp>
        <p:nvSpPr>
          <p:cNvPr id="26" name="Rounded Rectangle 25"/>
          <p:cNvSpPr/>
          <p:nvPr/>
        </p:nvSpPr>
        <p:spPr>
          <a:xfrm>
            <a:off x="548640" y="5349240"/>
            <a:ext cx="11064240" cy="960120"/>
          </a:xfrm>
          <a:prstGeom prst="roundRect">
            <a:avLst>
              <a:gd name="adj" fmla="val 6000"/>
            </a:avLst>
          </a:prstGeom>
          <a:solidFill>
            <a:srgbClr val="E6F2EA"/>
          </a:solidFill>
          <a:ln w="9525">
            <a:solidFill>
              <a:srgbClr val="16723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5458968"/>
            <a:ext cx="10607040" cy="777240"/>
          </a:xfrm>
          <a:prstGeom prst="rect">
            <a:avLst/>
          </a:prstGeom>
          <a:noFill/>
        </p:spPr>
        <p:txBody>
          <a:bodyPr wrap="square" lIns="0" rIns="0" tIns="0" bIns="0" anchor="t">
            <a:spAutoFit/>
          </a:bodyPr>
          <a:lstStyle/>
          <a:p>
            <a:pPr algn="l"/>
            <a:r>
              <a:rPr sz="1600" b="1" i="0">
                <a:solidFill>
                  <a:srgbClr val="0B2545"/>
                </a:solidFill>
                <a:latin typeface="Calibri"/>
              </a:rPr>
              <a:t>Until the keys are connected, </a:t>
            </a:r>
            <a:r>
              <a:rPr sz="1600" b="0" i="0">
                <a:solidFill>
                  <a:srgbClr val="1C2B3A"/>
                </a:solidFill>
                <a:latin typeface="Calibri"/>
              </a:rPr>
              <a:t>tenants pay by bank transfer and upload proof. Three people check each one before it counts, and vendors are paid by recorded bank transfer.</a:t>
            </a:r>
          </a:p>
        </p:txBody>
      </p:sp>
      <p:sp>
        <p:nvSpPr>
          <p:cNvPr id="28" name="TextBox 27"/>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33475B"/>
                </a:solidFill>
                <a:latin typeface="Calibri"/>
              </a:rPr>
              <a:t>OE Group · TENTai · Board Confidential · 7 October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t">
            <a:spAutoFit/>
          </a:bodyPr>
          <a:lstStyle/>
          <a:p>
            <a:pPr algn="l"/>
            <a:r>
              <a:rPr sz="3600" b="1" i="0">
                <a:solidFill>
                  <a:srgbClr val="0B2545"/>
                </a:solidFill>
                <a:latin typeface="Cambria"/>
              </a:rPr>
              <a:t>Staff training: three days, under way</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800" b="0" i="0">
                <a:solidFill>
                  <a:srgbClr val="33475B"/>
                </a:solidFill>
                <a:latin typeface="Calibri"/>
              </a:rPr>
              <a:t>Hands-on sessions so every desk can use the system from day one.</a:t>
            </a:r>
          </a:p>
        </p:txBody>
      </p:sp>
      <p:sp>
        <p:nvSpPr>
          <p:cNvPr id="4" name="Rounded Rectangle 3"/>
          <p:cNvSpPr/>
          <p:nvPr/>
        </p:nvSpPr>
        <p:spPr>
          <a:xfrm>
            <a:off x="548640" y="1783080"/>
            <a:ext cx="3566160" cy="3657600"/>
          </a:xfrm>
          <a:prstGeom prst="roundRect">
            <a:avLst>
              <a:gd name="adj" fmla="val 6000"/>
            </a:avLst>
          </a:prstGeom>
          <a:solidFill>
            <a:srgbClr val="FFFFFF"/>
          </a:solidFill>
          <a:ln w="9525">
            <a:solidFill>
              <a:srgbClr val="16723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59" y="2057400"/>
            <a:ext cx="1097280" cy="109728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6" name="Picture 5" descr="CalendarDays.png"/>
          <p:cNvPicPr>
            <a:picLocks noChangeAspect="1"/>
          </p:cNvPicPr>
          <p:nvPr/>
        </p:nvPicPr>
        <p:blipFill>
          <a:blip r:embed="rId2"/>
          <a:stretch>
            <a:fillRect/>
          </a:stretch>
        </p:blipFill>
        <p:spPr>
          <a:xfrm>
            <a:off x="1064361" y="2298801"/>
            <a:ext cx="614476" cy="614476"/>
          </a:xfrm>
          <a:prstGeom prst="rect">
            <a:avLst/>
          </a:prstGeom>
        </p:spPr>
      </p:pic>
      <p:sp>
        <p:nvSpPr>
          <p:cNvPr id="7" name="TextBox 6"/>
          <p:cNvSpPr txBox="1"/>
          <p:nvPr/>
        </p:nvSpPr>
        <p:spPr>
          <a:xfrm>
            <a:off x="2103120" y="2103120"/>
            <a:ext cx="1920240" cy="411480"/>
          </a:xfrm>
          <a:prstGeom prst="rect">
            <a:avLst/>
          </a:prstGeom>
          <a:noFill/>
        </p:spPr>
        <p:txBody>
          <a:bodyPr wrap="square" lIns="0" rIns="0" tIns="0" bIns="0" anchor="t">
            <a:spAutoFit/>
          </a:bodyPr>
          <a:lstStyle/>
          <a:p>
            <a:pPr algn="l"/>
            <a:r>
              <a:rPr sz="1400" b="1" i="0" spc="150">
                <a:solidFill>
                  <a:srgbClr val="16723F"/>
                </a:solidFill>
                <a:latin typeface="Calibri"/>
              </a:rPr>
              <a:t>DAY 1</a:t>
            </a:r>
          </a:p>
        </p:txBody>
      </p:sp>
      <p:sp>
        <p:nvSpPr>
          <p:cNvPr id="8" name="TextBox 7"/>
          <p:cNvSpPr txBox="1"/>
          <p:nvPr/>
        </p:nvSpPr>
        <p:spPr>
          <a:xfrm>
            <a:off x="2103120" y="2514600"/>
            <a:ext cx="1920240" cy="457200"/>
          </a:xfrm>
          <a:prstGeom prst="rect">
            <a:avLst/>
          </a:prstGeom>
          <a:noFill/>
        </p:spPr>
        <p:txBody>
          <a:bodyPr wrap="square" lIns="0" rIns="0" tIns="0" bIns="0" anchor="t">
            <a:spAutoFit/>
          </a:bodyPr>
          <a:lstStyle/>
          <a:p>
            <a:pPr algn="l"/>
            <a:r>
              <a:rPr sz="2200" b="1" i="0">
                <a:solidFill>
                  <a:srgbClr val="0B2545"/>
                </a:solidFill>
                <a:latin typeface="Cambria"/>
              </a:rPr>
              <a:t>Tue 6 Oct</a:t>
            </a:r>
          </a:p>
        </p:txBody>
      </p:sp>
      <p:sp>
        <p:nvSpPr>
          <p:cNvPr id="9" name="Rounded Rectangle 8"/>
          <p:cNvSpPr/>
          <p:nvPr/>
        </p:nvSpPr>
        <p:spPr>
          <a:xfrm>
            <a:off x="822959" y="3383280"/>
            <a:ext cx="1645920" cy="384048"/>
          </a:xfrm>
          <a:prstGeom prst="roundRect">
            <a:avLst>
              <a:gd name="adj" fmla="val 50000"/>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HELD</a:t>
            </a:r>
          </a:p>
        </p:txBody>
      </p:sp>
      <p:sp>
        <p:nvSpPr>
          <p:cNvPr id="10" name="TextBox 9"/>
          <p:cNvSpPr txBox="1"/>
          <p:nvPr/>
        </p:nvSpPr>
        <p:spPr>
          <a:xfrm>
            <a:off x="822959" y="3977639"/>
            <a:ext cx="3063240" cy="457200"/>
          </a:xfrm>
          <a:prstGeom prst="rect">
            <a:avLst/>
          </a:prstGeom>
          <a:noFill/>
        </p:spPr>
        <p:txBody>
          <a:bodyPr wrap="square" lIns="0" rIns="0" tIns="0" bIns="0" anchor="t">
            <a:spAutoFit/>
          </a:bodyPr>
          <a:lstStyle/>
          <a:p>
            <a:pPr algn="l"/>
            <a:r>
              <a:rPr sz="2000" b="1" i="0">
                <a:solidFill>
                  <a:srgbClr val="0B2545"/>
                </a:solidFill>
                <a:latin typeface="Calibri"/>
              </a:rPr>
              <a:t>Property managers</a:t>
            </a:r>
          </a:p>
        </p:txBody>
      </p:sp>
      <p:sp>
        <p:nvSpPr>
          <p:cNvPr id="11" name="TextBox 10"/>
          <p:cNvSpPr txBox="1"/>
          <p:nvPr/>
        </p:nvSpPr>
        <p:spPr>
          <a:xfrm>
            <a:off x="822959" y="4480560"/>
            <a:ext cx="3063240" cy="868680"/>
          </a:xfrm>
          <a:prstGeom prst="rect">
            <a:avLst/>
          </a:prstGeom>
          <a:noFill/>
        </p:spPr>
        <p:txBody>
          <a:bodyPr wrap="square" lIns="0" rIns="0" tIns="0" bIns="0" anchor="t">
            <a:spAutoFit/>
          </a:bodyPr>
          <a:lstStyle/>
          <a:p>
            <a:pPr algn="l"/>
            <a:r>
              <a:rPr sz="1500" b="0" i="0">
                <a:solidFill>
                  <a:srgbClr val="13202E"/>
                </a:solidFill>
                <a:latin typeface="Calibri"/>
              </a:rPr>
              <a:t>The staff on the ground, who log and follow up every request</a:t>
            </a:r>
          </a:p>
        </p:txBody>
      </p:sp>
      <p:sp>
        <p:nvSpPr>
          <p:cNvPr id="12" name="Rounded Rectangle 11"/>
          <p:cNvSpPr/>
          <p:nvPr/>
        </p:nvSpPr>
        <p:spPr>
          <a:xfrm>
            <a:off x="4297679" y="1783080"/>
            <a:ext cx="3566160" cy="3657600"/>
          </a:xfrm>
          <a:prstGeom prst="roundRect">
            <a:avLst>
              <a:gd name="adj" fmla="val 6000"/>
            </a:avLst>
          </a:prstGeom>
          <a:solidFill>
            <a:srgbClr val="FFFFFF"/>
          </a:solidFill>
          <a:ln w="9525">
            <a:solidFill>
              <a:srgbClr val="0B254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71999" y="2057400"/>
            <a:ext cx="1097280" cy="109728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4" name="Picture 13" descr="CalendarDays.png"/>
          <p:cNvPicPr>
            <a:picLocks noChangeAspect="1"/>
          </p:cNvPicPr>
          <p:nvPr/>
        </p:nvPicPr>
        <p:blipFill>
          <a:blip r:embed="rId2"/>
          <a:stretch>
            <a:fillRect/>
          </a:stretch>
        </p:blipFill>
        <p:spPr>
          <a:xfrm>
            <a:off x="4813401" y="2298801"/>
            <a:ext cx="614476" cy="614476"/>
          </a:xfrm>
          <a:prstGeom prst="rect">
            <a:avLst/>
          </a:prstGeom>
        </p:spPr>
      </p:pic>
      <p:sp>
        <p:nvSpPr>
          <p:cNvPr id="15" name="TextBox 14"/>
          <p:cNvSpPr txBox="1"/>
          <p:nvPr/>
        </p:nvSpPr>
        <p:spPr>
          <a:xfrm>
            <a:off x="5852159" y="2103120"/>
            <a:ext cx="1920240" cy="411480"/>
          </a:xfrm>
          <a:prstGeom prst="rect">
            <a:avLst/>
          </a:prstGeom>
          <a:noFill/>
        </p:spPr>
        <p:txBody>
          <a:bodyPr wrap="square" lIns="0" rIns="0" tIns="0" bIns="0" anchor="t">
            <a:spAutoFit/>
          </a:bodyPr>
          <a:lstStyle/>
          <a:p>
            <a:pPr algn="l"/>
            <a:r>
              <a:rPr sz="1400" b="1" i="0" spc="150">
                <a:solidFill>
                  <a:srgbClr val="0B2545"/>
                </a:solidFill>
                <a:latin typeface="Calibri"/>
              </a:rPr>
              <a:t>DAY 2</a:t>
            </a:r>
          </a:p>
        </p:txBody>
      </p:sp>
      <p:sp>
        <p:nvSpPr>
          <p:cNvPr id="16" name="TextBox 15"/>
          <p:cNvSpPr txBox="1"/>
          <p:nvPr/>
        </p:nvSpPr>
        <p:spPr>
          <a:xfrm>
            <a:off x="5852159" y="2514600"/>
            <a:ext cx="1920240" cy="457200"/>
          </a:xfrm>
          <a:prstGeom prst="rect">
            <a:avLst/>
          </a:prstGeom>
          <a:noFill/>
        </p:spPr>
        <p:txBody>
          <a:bodyPr wrap="square" lIns="0" rIns="0" tIns="0" bIns="0" anchor="t">
            <a:spAutoFit/>
          </a:bodyPr>
          <a:lstStyle/>
          <a:p>
            <a:pPr algn="l"/>
            <a:r>
              <a:rPr sz="2200" b="1" i="0">
                <a:solidFill>
                  <a:srgbClr val="0B2545"/>
                </a:solidFill>
                <a:latin typeface="Cambria"/>
              </a:rPr>
              <a:t>Wed 7 Oct</a:t>
            </a:r>
          </a:p>
        </p:txBody>
      </p:sp>
      <p:sp>
        <p:nvSpPr>
          <p:cNvPr id="17" name="Rounded Rectangle 16"/>
          <p:cNvSpPr/>
          <p:nvPr/>
        </p:nvSpPr>
        <p:spPr>
          <a:xfrm>
            <a:off x="4571999" y="3383280"/>
            <a:ext cx="1645920" cy="384048"/>
          </a:xfrm>
          <a:prstGeom prst="roundRect">
            <a:avLst>
              <a:gd name="adj" fmla="val 50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TODAY</a:t>
            </a:r>
          </a:p>
        </p:txBody>
      </p:sp>
      <p:sp>
        <p:nvSpPr>
          <p:cNvPr id="18" name="TextBox 17"/>
          <p:cNvSpPr txBox="1"/>
          <p:nvPr/>
        </p:nvSpPr>
        <p:spPr>
          <a:xfrm>
            <a:off x="4571999" y="3977639"/>
            <a:ext cx="3063240" cy="457200"/>
          </a:xfrm>
          <a:prstGeom prst="rect">
            <a:avLst/>
          </a:prstGeom>
          <a:noFill/>
        </p:spPr>
        <p:txBody>
          <a:bodyPr wrap="square" lIns="0" rIns="0" tIns="0" bIns="0" anchor="t">
            <a:spAutoFit/>
          </a:bodyPr>
          <a:lstStyle/>
          <a:p>
            <a:pPr algn="l"/>
            <a:r>
              <a:rPr sz="2000" b="1" i="0">
                <a:solidFill>
                  <a:srgbClr val="0B2545"/>
                </a:solidFill>
                <a:latin typeface="Calibri"/>
              </a:rPr>
              <a:t>Other staff groups</a:t>
            </a:r>
          </a:p>
        </p:txBody>
      </p:sp>
      <p:sp>
        <p:nvSpPr>
          <p:cNvPr id="19" name="TextBox 18"/>
          <p:cNvSpPr txBox="1"/>
          <p:nvPr/>
        </p:nvSpPr>
        <p:spPr>
          <a:xfrm>
            <a:off x="4571999" y="4480560"/>
            <a:ext cx="3063240" cy="868680"/>
          </a:xfrm>
          <a:prstGeom prst="rect">
            <a:avLst/>
          </a:prstGeom>
          <a:noFill/>
        </p:spPr>
        <p:txBody>
          <a:bodyPr wrap="square" lIns="0" rIns="0" tIns="0" bIns="0" anchor="t">
            <a:spAutoFit/>
          </a:bodyPr>
          <a:lstStyle/>
          <a:p>
            <a:pPr algn="l"/>
            <a:r>
              <a:rPr sz="1500" b="0" i="0">
                <a:solidFill>
                  <a:srgbClr val="13202E"/>
                </a:solidFill>
                <a:latin typeface="Calibri"/>
              </a:rPr>
              <a:t>Scheduled for today</a:t>
            </a:r>
          </a:p>
        </p:txBody>
      </p:sp>
      <p:sp>
        <p:nvSpPr>
          <p:cNvPr id="20" name="Rounded Rectangle 19"/>
          <p:cNvSpPr/>
          <p:nvPr/>
        </p:nvSpPr>
        <p:spPr>
          <a:xfrm>
            <a:off x="8046719" y="1783080"/>
            <a:ext cx="3566160" cy="3657600"/>
          </a:xfrm>
          <a:prstGeom prst="roundRect">
            <a:avLst>
              <a:gd name="adj" fmla="val 6000"/>
            </a:avLst>
          </a:prstGeom>
          <a:solidFill>
            <a:srgbClr val="FFFFFF"/>
          </a:solidFill>
          <a:ln w="9525">
            <a:solidFill>
              <a:srgbClr val="A35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321040" y="2057400"/>
            <a:ext cx="1097280" cy="1097280"/>
          </a:xfrm>
          <a:prstGeom prst="ellipse">
            <a:avLst/>
          </a:prstGeom>
          <a:solidFill>
            <a:srgbClr val="A3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22" name="Picture 21" descr="CalendarDays.png"/>
          <p:cNvPicPr>
            <a:picLocks noChangeAspect="1"/>
          </p:cNvPicPr>
          <p:nvPr/>
        </p:nvPicPr>
        <p:blipFill>
          <a:blip r:embed="rId2"/>
          <a:stretch>
            <a:fillRect/>
          </a:stretch>
        </p:blipFill>
        <p:spPr>
          <a:xfrm>
            <a:off x="8562441" y="2298801"/>
            <a:ext cx="614476" cy="614476"/>
          </a:xfrm>
          <a:prstGeom prst="rect">
            <a:avLst/>
          </a:prstGeom>
        </p:spPr>
      </p:pic>
      <p:sp>
        <p:nvSpPr>
          <p:cNvPr id="23" name="TextBox 22"/>
          <p:cNvSpPr txBox="1"/>
          <p:nvPr/>
        </p:nvSpPr>
        <p:spPr>
          <a:xfrm>
            <a:off x="9601199" y="2103120"/>
            <a:ext cx="1920240" cy="411480"/>
          </a:xfrm>
          <a:prstGeom prst="rect">
            <a:avLst/>
          </a:prstGeom>
          <a:noFill/>
        </p:spPr>
        <p:txBody>
          <a:bodyPr wrap="square" lIns="0" rIns="0" tIns="0" bIns="0" anchor="t">
            <a:spAutoFit/>
          </a:bodyPr>
          <a:lstStyle/>
          <a:p>
            <a:pPr algn="l"/>
            <a:r>
              <a:rPr sz="1400" b="1" i="0" spc="150">
                <a:solidFill>
                  <a:srgbClr val="A35A00"/>
                </a:solidFill>
                <a:latin typeface="Calibri"/>
              </a:rPr>
              <a:t>DAY 3</a:t>
            </a:r>
          </a:p>
        </p:txBody>
      </p:sp>
      <p:sp>
        <p:nvSpPr>
          <p:cNvPr id="24" name="TextBox 23"/>
          <p:cNvSpPr txBox="1"/>
          <p:nvPr/>
        </p:nvSpPr>
        <p:spPr>
          <a:xfrm>
            <a:off x="9601199" y="2514600"/>
            <a:ext cx="1920240" cy="457200"/>
          </a:xfrm>
          <a:prstGeom prst="rect">
            <a:avLst/>
          </a:prstGeom>
          <a:noFill/>
        </p:spPr>
        <p:txBody>
          <a:bodyPr wrap="square" lIns="0" rIns="0" tIns="0" bIns="0" anchor="t">
            <a:spAutoFit/>
          </a:bodyPr>
          <a:lstStyle/>
          <a:p>
            <a:pPr algn="l"/>
            <a:r>
              <a:rPr sz="2200" b="1" i="0">
                <a:solidFill>
                  <a:srgbClr val="0B2545"/>
                </a:solidFill>
                <a:latin typeface="Cambria"/>
              </a:rPr>
              <a:t>Thu 8 Oct</a:t>
            </a:r>
          </a:p>
        </p:txBody>
      </p:sp>
      <p:sp>
        <p:nvSpPr>
          <p:cNvPr id="25" name="Rounded Rectangle 24"/>
          <p:cNvSpPr/>
          <p:nvPr/>
        </p:nvSpPr>
        <p:spPr>
          <a:xfrm>
            <a:off x="8321040" y="3383280"/>
            <a:ext cx="1645920" cy="384048"/>
          </a:xfrm>
          <a:prstGeom prst="roundRect">
            <a:avLst>
              <a:gd name="adj" fmla="val 50000"/>
            </a:avLst>
          </a:prstGeom>
          <a:solidFill>
            <a:srgbClr val="A3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TOMORROW</a:t>
            </a:r>
          </a:p>
        </p:txBody>
      </p:sp>
      <p:sp>
        <p:nvSpPr>
          <p:cNvPr id="26" name="TextBox 25"/>
          <p:cNvSpPr txBox="1"/>
          <p:nvPr/>
        </p:nvSpPr>
        <p:spPr>
          <a:xfrm>
            <a:off x="8321040" y="3977639"/>
            <a:ext cx="3063240" cy="457200"/>
          </a:xfrm>
          <a:prstGeom prst="rect">
            <a:avLst/>
          </a:prstGeom>
          <a:noFill/>
        </p:spPr>
        <p:txBody>
          <a:bodyPr wrap="square" lIns="0" rIns="0" tIns="0" bIns="0" anchor="t">
            <a:spAutoFit/>
          </a:bodyPr>
          <a:lstStyle/>
          <a:p>
            <a:pPr algn="l"/>
            <a:r>
              <a:rPr sz="2000" b="1" i="0">
                <a:solidFill>
                  <a:srgbClr val="0B2545"/>
                </a:solidFill>
                <a:latin typeface="Calibri"/>
              </a:rPr>
              <a:t>Other staff groups</a:t>
            </a:r>
          </a:p>
        </p:txBody>
      </p:sp>
      <p:sp>
        <p:nvSpPr>
          <p:cNvPr id="27" name="TextBox 26"/>
          <p:cNvSpPr txBox="1"/>
          <p:nvPr/>
        </p:nvSpPr>
        <p:spPr>
          <a:xfrm>
            <a:off x="8321040" y="4480560"/>
            <a:ext cx="3063240" cy="868680"/>
          </a:xfrm>
          <a:prstGeom prst="rect">
            <a:avLst/>
          </a:prstGeom>
          <a:noFill/>
        </p:spPr>
        <p:txBody>
          <a:bodyPr wrap="square" lIns="0" rIns="0" tIns="0" bIns="0" anchor="t">
            <a:spAutoFit/>
          </a:bodyPr>
          <a:lstStyle/>
          <a:p>
            <a:pPr algn="l"/>
            <a:r>
              <a:rPr sz="1500" b="0" i="0">
                <a:solidFill>
                  <a:srgbClr val="13202E"/>
                </a:solidFill>
                <a:latin typeface="Calibri"/>
              </a:rPr>
              <a:t>Scheduled for tomorrow</a:t>
            </a:r>
          </a:p>
        </p:txBody>
      </p:sp>
      <p:sp>
        <p:nvSpPr>
          <p:cNvPr id="28" name="Rounded Rectangle 27"/>
          <p:cNvSpPr/>
          <p:nvPr/>
        </p:nvSpPr>
        <p:spPr>
          <a:xfrm>
            <a:off x="548640" y="5623560"/>
            <a:ext cx="11064240" cy="685800"/>
          </a:xfrm>
          <a:prstGeom prst="roundRect">
            <a:avLst>
              <a:gd name="adj" fmla="val 8000"/>
            </a:avLst>
          </a:prstGeom>
          <a:solidFill>
            <a:srgbClr val="FFF4E0"/>
          </a:solidFill>
          <a:ln w="9525">
            <a:solidFill>
              <a:srgbClr val="A35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2960" y="5733288"/>
            <a:ext cx="10607040" cy="457200"/>
          </a:xfrm>
          <a:prstGeom prst="rect">
            <a:avLst/>
          </a:prstGeom>
          <a:noFill/>
        </p:spPr>
        <p:txBody>
          <a:bodyPr wrap="square" lIns="0" rIns="0" tIns="0" bIns="0" anchor="t">
            <a:spAutoFit/>
          </a:bodyPr>
          <a:lstStyle/>
          <a:p>
            <a:pPr algn="l"/>
            <a:r>
              <a:rPr sz="1600" b="1" i="0">
                <a:solidFill>
                  <a:srgbClr val="0B2545"/>
                </a:solidFill>
                <a:latin typeface="Calibri"/>
              </a:rPr>
              <a:t>Cost: </a:t>
            </a:r>
            <a:r>
              <a:rPr sz="1600" b="0" i="0">
                <a:solidFill>
                  <a:srgbClr val="1C2B3A"/>
                </a:solidFill>
                <a:latin typeface="Calibri"/>
              </a:rPr>
              <a:t>staff training (₦250,000) is one of the items still owed in the Stage 2 funding.</a:t>
            </a:r>
          </a:p>
        </p:txBody>
      </p:sp>
      <p:sp>
        <p:nvSpPr>
          <p:cNvPr id="30" name="TextBox 29"/>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33475B"/>
                </a:solidFill>
                <a:latin typeface="Calibri"/>
              </a:rPr>
              <a:t>OE Group · TENTai · Board Confidential · 7 October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t">
            <a:spAutoFit/>
          </a:bodyPr>
          <a:lstStyle/>
          <a:p>
            <a:pPr algn="l"/>
            <a:r>
              <a:rPr sz="3600" b="1" i="0">
                <a:solidFill>
                  <a:srgbClr val="0B2545"/>
                </a:solidFill>
                <a:latin typeface="Cambria"/>
              </a:rPr>
              <a:t>A new role for Engr Ola: Executive</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800" b="0" i="0">
                <a:solidFill>
                  <a:srgbClr val="33475B"/>
                </a:solidFill>
                <a:latin typeface="Calibri"/>
              </a:rPr>
              <a:t>Built into the system for OEA, one level below the Managing Partner.</a:t>
            </a:r>
          </a:p>
        </p:txBody>
      </p:sp>
      <p:sp>
        <p:nvSpPr>
          <p:cNvPr id="4" name="Rounded Rectangle 3"/>
          <p:cNvSpPr/>
          <p:nvPr/>
        </p:nvSpPr>
        <p:spPr>
          <a:xfrm>
            <a:off x="548640" y="1783080"/>
            <a:ext cx="4754880" cy="1325880"/>
          </a:xfrm>
          <a:prstGeom prst="roundRect">
            <a:avLst>
              <a:gd name="adj" fmla="val 8000"/>
            </a:avLst>
          </a:prstGeom>
          <a:solidFill>
            <a:srgbClr val="FFFFFF"/>
          </a:solidFill>
          <a:ln w="9525">
            <a:solidFill>
              <a:srgbClr val="16723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1984248"/>
            <a:ext cx="914400" cy="91440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6" name="Picture 5" descr="CircleCheck.png"/>
          <p:cNvPicPr>
            <a:picLocks noChangeAspect="1"/>
          </p:cNvPicPr>
          <p:nvPr/>
        </p:nvPicPr>
        <p:blipFill>
          <a:blip r:embed="rId2"/>
          <a:stretch>
            <a:fillRect/>
          </a:stretch>
        </p:blipFill>
        <p:spPr>
          <a:xfrm>
            <a:off x="978408" y="2185416"/>
            <a:ext cx="512064" cy="512064"/>
          </a:xfrm>
          <a:prstGeom prst="rect">
            <a:avLst/>
          </a:prstGeom>
        </p:spPr>
      </p:pic>
      <p:sp>
        <p:nvSpPr>
          <p:cNvPr id="7" name="TextBox 6"/>
          <p:cNvSpPr txBox="1"/>
          <p:nvPr/>
        </p:nvSpPr>
        <p:spPr>
          <a:xfrm>
            <a:off x="1874519" y="1965960"/>
            <a:ext cx="3291840" cy="457200"/>
          </a:xfrm>
          <a:prstGeom prst="rect">
            <a:avLst/>
          </a:prstGeom>
          <a:noFill/>
        </p:spPr>
        <p:txBody>
          <a:bodyPr wrap="square" lIns="0" rIns="0" tIns="0" bIns="0" anchor="t">
            <a:spAutoFit/>
          </a:bodyPr>
          <a:lstStyle/>
          <a:p>
            <a:pPr algn="l"/>
            <a:r>
              <a:rPr sz="2100" b="1" i="0">
                <a:solidFill>
                  <a:srgbClr val="0B2545"/>
                </a:solidFill>
                <a:latin typeface="Cambria"/>
              </a:rPr>
              <a:t>Built</a:t>
            </a:r>
          </a:p>
        </p:txBody>
      </p:sp>
      <p:sp>
        <p:nvSpPr>
          <p:cNvPr id="8" name="TextBox 7"/>
          <p:cNvSpPr txBox="1"/>
          <p:nvPr/>
        </p:nvSpPr>
        <p:spPr>
          <a:xfrm>
            <a:off x="1874519" y="2441448"/>
            <a:ext cx="3291840" cy="594360"/>
          </a:xfrm>
          <a:prstGeom prst="rect">
            <a:avLst/>
          </a:prstGeom>
          <a:noFill/>
        </p:spPr>
        <p:txBody>
          <a:bodyPr wrap="square" lIns="0" rIns="0" tIns="0" bIns="0" anchor="t">
            <a:spAutoFit/>
          </a:bodyPr>
          <a:lstStyle/>
          <a:p>
            <a:pPr algn="l"/>
            <a:r>
              <a:rPr sz="1450" b="0" i="0">
                <a:solidFill>
                  <a:srgbClr val="13202E"/>
                </a:solidFill>
                <a:latin typeface="Calibri"/>
              </a:rPr>
              <a:t>Added to the system on 2–3 October</a:t>
            </a:r>
          </a:p>
        </p:txBody>
      </p:sp>
      <p:sp>
        <p:nvSpPr>
          <p:cNvPr id="9" name="Rounded Rectangle 8"/>
          <p:cNvSpPr/>
          <p:nvPr/>
        </p:nvSpPr>
        <p:spPr>
          <a:xfrm>
            <a:off x="548640" y="3246120"/>
            <a:ext cx="4754880" cy="1325880"/>
          </a:xfrm>
          <a:prstGeom prst="roundRect">
            <a:avLst>
              <a:gd name="adj" fmla="val 8000"/>
            </a:avLst>
          </a:prstGeom>
          <a:solidFill>
            <a:srgbClr val="FFFFFF"/>
          </a:solidFill>
          <a:ln w="9525">
            <a:solidFill>
              <a:srgbClr val="A35A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77240" y="3447288"/>
            <a:ext cx="914400" cy="914400"/>
          </a:xfrm>
          <a:prstGeom prst="ellipse">
            <a:avLst/>
          </a:prstGeom>
          <a:solidFill>
            <a:srgbClr val="A3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1" name="Picture 10" descr="Hourglass.png"/>
          <p:cNvPicPr>
            <a:picLocks noChangeAspect="1"/>
          </p:cNvPicPr>
          <p:nvPr/>
        </p:nvPicPr>
        <p:blipFill>
          <a:blip r:embed="rId3"/>
          <a:stretch>
            <a:fillRect/>
          </a:stretch>
        </p:blipFill>
        <p:spPr>
          <a:xfrm>
            <a:off x="978408" y="3648456"/>
            <a:ext cx="512064" cy="512064"/>
          </a:xfrm>
          <a:prstGeom prst="rect">
            <a:avLst/>
          </a:prstGeom>
        </p:spPr>
      </p:pic>
      <p:sp>
        <p:nvSpPr>
          <p:cNvPr id="12" name="TextBox 11"/>
          <p:cNvSpPr txBox="1"/>
          <p:nvPr/>
        </p:nvSpPr>
        <p:spPr>
          <a:xfrm>
            <a:off x="1874519" y="3429000"/>
            <a:ext cx="3291840" cy="457200"/>
          </a:xfrm>
          <a:prstGeom prst="rect">
            <a:avLst/>
          </a:prstGeom>
          <a:noFill/>
        </p:spPr>
        <p:txBody>
          <a:bodyPr wrap="square" lIns="0" rIns="0" tIns="0" bIns="0" anchor="t">
            <a:spAutoFit/>
          </a:bodyPr>
          <a:lstStyle/>
          <a:p>
            <a:pPr algn="l"/>
            <a:r>
              <a:rPr sz="2100" b="1" i="0">
                <a:solidFill>
                  <a:srgbClr val="0B2545"/>
                </a:solidFill>
                <a:latin typeface="Cambria"/>
              </a:rPr>
              <a:t>Onboarding</a:t>
            </a:r>
          </a:p>
        </p:txBody>
      </p:sp>
      <p:sp>
        <p:nvSpPr>
          <p:cNvPr id="13" name="TextBox 12"/>
          <p:cNvSpPr txBox="1"/>
          <p:nvPr/>
        </p:nvSpPr>
        <p:spPr>
          <a:xfrm>
            <a:off x="1874519" y="3904487"/>
            <a:ext cx="3291840" cy="594360"/>
          </a:xfrm>
          <a:prstGeom prst="rect">
            <a:avLst/>
          </a:prstGeom>
          <a:noFill/>
        </p:spPr>
        <p:txBody>
          <a:bodyPr wrap="square" lIns="0" rIns="0" tIns="0" bIns="0" anchor="t">
            <a:spAutoFit/>
          </a:bodyPr>
          <a:lstStyle/>
          <a:p>
            <a:pPr algn="l"/>
            <a:r>
              <a:rPr sz="1450" b="0" i="0">
                <a:solidFill>
                  <a:srgbClr val="13202E"/>
                </a:solidFill>
                <a:latin typeface="Calibri"/>
              </a:rPr>
              <a:t>Instruction given to bring her onto the system</a:t>
            </a:r>
          </a:p>
        </p:txBody>
      </p:sp>
      <p:sp>
        <p:nvSpPr>
          <p:cNvPr id="14" name="Rounded Rectangle 13"/>
          <p:cNvSpPr/>
          <p:nvPr/>
        </p:nvSpPr>
        <p:spPr>
          <a:xfrm>
            <a:off x="548640" y="4709160"/>
            <a:ext cx="4754880" cy="1325880"/>
          </a:xfrm>
          <a:prstGeom prst="roundRect">
            <a:avLst>
              <a:gd name="adj" fmla="val 8000"/>
            </a:avLst>
          </a:prstGeom>
          <a:solidFill>
            <a:srgbClr val="FFFFFF"/>
          </a:solidFill>
          <a:ln w="9525">
            <a:solidFill>
              <a:srgbClr val="A82A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910328"/>
            <a:ext cx="914400" cy="914400"/>
          </a:xfrm>
          <a:prstGeom prst="ellipse">
            <a:avLst/>
          </a:prstGeom>
          <a:solidFill>
            <a:srgbClr val="A82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6" name="Picture 15" descr="TriangleAlert.png"/>
          <p:cNvPicPr>
            <a:picLocks noChangeAspect="1"/>
          </p:cNvPicPr>
          <p:nvPr/>
        </p:nvPicPr>
        <p:blipFill>
          <a:blip r:embed="rId4"/>
          <a:stretch>
            <a:fillRect/>
          </a:stretch>
        </p:blipFill>
        <p:spPr>
          <a:xfrm>
            <a:off x="978408" y="5111496"/>
            <a:ext cx="512064" cy="512064"/>
          </a:xfrm>
          <a:prstGeom prst="rect">
            <a:avLst/>
          </a:prstGeom>
        </p:spPr>
      </p:pic>
      <p:sp>
        <p:nvSpPr>
          <p:cNvPr id="17" name="TextBox 16"/>
          <p:cNvSpPr txBox="1"/>
          <p:nvPr/>
        </p:nvSpPr>
        <p:spPr>
          <a:xfrm>
            <a:off x="1874519" y="4892040"/>
            <a:ext cx="3291840" cy="457200"/>
          </a:xfrm>
          <a:prstGeom prst="rect">
            <a:avLst/>
          </a:prstGeom>
          <a:noFill/>
        </p:spPr>
        <p:txBody>
          <a:bodyPr wrap="square" lIns="0" rIns="0" tIns="0" bIns="0" anchor="t">
            <a:spAutoFit/>
          </a:bodyPr>
          <a:lstStyle/>
          <a:p>
            <a:pPr algn="l"/>
            <a:r>
              <a:rPr sz="2100" b="1" i="0">
                <a:solidFill>
                  <a:srgbClr val="0B2545"/>
                </a:solidFill>
                <a:latin typeface="Cambria"/>
              </a:rPr>
              <a:t>Testing</a:t>
            </a:r>
          </a:p>
        </p:txBody>
      </p:sp>
      <p:sp>
        <p:nvSpPr>
          <p:cNvPr id="18" name="TextBox 17"/>
          <p:cNvSpPr txBox="1"/>
          <p:nvPr/>
        </p:nvSpPr>
        <p:spPr>
          <a:xfrm>
            <a:off x="1874519" y="5367528"/>
            <a:ext cx="3291840" cy="594360"/>
          </a:xfrm>
          <a:prstGeom prst="rect">
            <a:avLst/>
          </a:prstGeom>
          <a:noFill/>
        </p:spPr>
        <p:txBody>
          <a:bodyPr wrap="square" lIns="0" rIns="0" tIns="0" bIns="0" anchor="t">
            <a:spAutoFit/>
          </a:bodyPr>
          <a:lstStyle/>
          <a:p>
            <a:pPr algn="l"/>
            <a:r>
              <a:rPr sz="1450" b="0" i="0">
                <a:solidFill>
                  <a:srgbClr val="13202E"/>
                </a:solidFill>
                <a:latin typeface="Calibri"/>
              </a:rPr>
              <a:t>Not yet tested with her. Next, once she is set up</a:t>
            </a:r>
          </a:p>
        </p:txBody>
      </p:sp>
      <p:sp>
        <p:nvSpPr>
          <p:cNvPr id="19" name="Rounded Rectangle 18"/>
          <p:cNvSpPr/>
          <p:nvPr/>
        </p:nvSpPr>
        <p:spPr>
          <a:xfrm>
            <a:off x="5669280" y="1783080"/>
            <a:ext cx="5943600" cy="4251960"/>
          </a:xfrm>
          <a:prstGeom prst="roundRect">
            <a:avLst>
              <a:gd name="adj" fmla="val 4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943600" y="1920240"/>
            <a:ext cx="5486400" cy="457200"/>
          </a:xfrm>
          <a:prstGeom prst="rect">
            <a:avLst/>
          </a:prstGeom>
          <a:noFill/>
        </p:spPr>
        <p:txBody>
          <a:bodyPr wrap="square" lIns="0" rIns="0" tIns="0" bIns="0" anchor="t">
            <a:spAutoFit/>
          </a:bodyPr>
          <a:lstStyle/>
          <a:p>
            <a:pPr algn="l"/>
            <a:r>
              <a:rPr sz="2100" b="1" i="0">
                <a:solidFill>
                  <a:srgbClr val="0B2545"/>
                </a:solidFill>
                <a:latin typeface="Cambria"/>
              </a:rPr>
              <a:t>What she will be able to do</a:t>
            </a:r>
          </a:p>
        </p:txBody>
      </p:sp>
      <p:sp>
        <p:nvSpPr>
          <p:cNvPr id="21" name="Oval 20"/>
          <p:cNvSpPr/>
          <p:nvPr/>
        </p:nvSpPr>
        <p:spPr>
          <a:xfrm>
            <a:off x="5943600" y="2551176"/>
            <a:ext cx="384048" cy="384048"/>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22" name="Picture 21" descr="CircleCheck.png"/>
          <p:cNvPicPr>
            <a:picLocks noChangeAspect="1"/>
          </p:cNvPicPr>
          <p:nvPr/>
        </p:nvPicPr>
        <p:blipFill>
          <a:blip r:embed="rId2"/>
          <a:stretch>
            <a:fillRect/>
          </a:stretch>
        </p:blipFill>
        <p:spPr>
          <a:xfrm>
            <a:off x="6028090" y="2635666"/>
            <a:ext cx="215066" cy="215066"/>
          </a:xfrm>
          <a:prstGeom prst="rect">
            <a:avLst/>
          </a:prstGeom>
        </p:spPr>
      </p:pic>
      <p:sp>
        <p:nvSpPr>
          <p:cNvPr id="23" name="TextBox 22"/>
          <p:cNvSpPr txBox="1"/>
          <p:nvPr/>
        </p:nvSpPr>
        <p:spPr>
          <a:xfrm>
            <a:off x="6492240" y="2514600"/>
            <a:ext cx="4937760" cy="685800"/>
          </a:xfrm>
          <a:prstGeom prst="rect">
            <a:avLst/>
          </a:prstGeom>
          <a:noFill/>
        </p:spPr>
        <p:txBody>
          <a:bodyPr wrap="square" lIns="0" rIns="0" tIns="0" bIns="0" anchor="t">
            <a:spAutoFit/>
          </a:bodyPr>
          <a:lstStyle/>
          <a:p>
            <a:pPr algn="l"/>
            <a:r>
              <a:rPr sz="1600" b="0" i="0">
                <a:solidFill>
                  <a:srgbClr val="13202E"/>
                </a:solidFill>
                <a:latin typeface="Calibri"/>
              </a:rPr>
              <a:t>See all of OEA's day-to-day operations, across every property</a:t>
            </a:r>
          </a:p>
        </p:txBody>
      </p:sp>
      <p:sp>
        <p:nvSpPr>
          <p:cNvPr id="24" name="Oval 23"/>
          <p:cNvSpPr/>
          <p:nvPr/>
        </p:nvSpPr>
        <p:spPr>
          <a:xfrm>
            <a:off x="5943600" y="3282696"/>
            <a:ext cx="384048" cy="384048"/>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25" name="Picture 24" descr="CircleCheck.png"/>
          <p:cNvPicPr>
            <a:picLocks noChangeAspect="1"/>
          </p:cNvPicPr>
          <p:nvPr/>
        </p:nvPicPr>
        <p:blipFill>
          <a:blip r:embed="rId2"/>
          <a:stretch>
            <a:fillRect/>
          </a:stretch>
        </p:blipFill>
        <p:spPr>
          <a:xfrm>
            <a:off x="6028090" y="3367186"/>
            <a:ext cx="215066" cy="215066"/>
          </a:xfrm>
          <a:prstGeom prst="rect">
            <a:avLst/>
          </a:prstGeom>
        </p:spPr>
      </p:pic>
      <p:sp>
        <p:nvSpPr>
          <p:cNvPr id="26" name="TextBox 25"/>
          <p:cNvSpPr txBox="1"/>
          <p:nvPr/>
        </p:nvSpPr>
        <p:spPr>
          <a:xfrm>
            <a:off x="6492240" y="3246120"/>
            <a:ext cx="4937760" cy="685800"/>
          </a:xfrm>
          <a:prstGeom prst="rect">
            <a:avLst/>
          </a:prstGeom>
          <a:noFill/>
        </p:spPr>
        <p:txBody>
          <a:bodyPr wrap="square" lIns="0" rIns="0" tIns="0" bIns="0" anchor="t">
            <a:spAutoFit/>
          </a:bodyPr>
          <a:lstStyle/>
          <a:p>
            <a:pPr algn="l"/>
            <a:r>
              <a:rPr sz="1600" b="0" i="0">
                <a:solidFill>
                  <a:srgbClr val="13202E"/>
                </a:solidFill>
                <a:latin typeface="Calibri"/>
              </a:rPr>
              <a:t>Raise, assign and close work, as a property or facilities manager does</a:t>
            </a:r>
          </a:p>
        </p:txBody>
      </p:sp>
      <p:sp>
        <p:nvSpPr>
          <p:cNvPr id="27" name="Oval 26"/>
          <p:cNvSpPr/>
          <p:nvPr/>
        </p:nvSpPr>
        <p:spPr>
          <a:xfrm>
            <a:off x="5943600" y="4014215"/>
            <a:ext cx="384048" cy="384048"/>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28" name="Picture 27" descr="CircleCheck.png"/>
          <p:cNvPicPr>
            <a:picLocks noChangeAspect="1"/>
          </p:cNvPicPr>
          <p:nvPr/>
        </p:nvPicPr>
        <p:blipFill>
          <a:blip r:embed="rId2"/>
          <a:stretch>
            <a:fillRect/>
          </a:stretch>
        </p:blipFill>
        <p:spPr>
          <a:xfrm>
            <a:off x="6028090" y="4098706"/>
            <a:ext cx="215066" cy="215066"/>
          </a:xfrm>
          <a:prstGeom prst="rect">
            <a:avLst/>
          </a:prstGeom>
        </p:spPr>
      </p:pic>
      <p:sp>
        <p:nvSpPr>
          <p:cNvPr id="29" name="TextBox 28"/>
          <p:cNvSpPr txBox="1"/>
          <p:nvPr/>
        </p:nvSpPr>
        <p:spPr>
          <a:xfrm>
            <a:off x="6492240" y="3977639"/>
            <a:ext cx="4937760" cy="685800"/>
          </a:xfrm>
          <a:prstGeom prst="rect">
            <a:avLst/>
          </a:prstGeom>
          <a:noFill/>
        </p:spPr>
        <p:txBody>
          <a:bodyPr wrap="square" lIns="0" rIns="0" tIns="0" bIns="0" anchor="t">
            <a:spAutoFit/>
          </a:bodyPr>
          <a:lstStyle/>
          <a:p>
            <a:pPr algn="l"/>
            <a:r>
              <a:rPr sz="1600" b="0" i="0">
                <a:solidFill>
                  <a:srgbClr val="13202E"/>
                </a:solidFill>
                <a:latin typeface="Calibri"/>
              </a:rPr>
              <a:t>Invite facilities managers, property managers and operations staff</a:t>
            </a:r>
          </a:p>
        </p:txBody>
      </p:sp>
      <p:sp>
        <p:nvSpPr>
          <p:cNvPr id="30" name="Oval 29"/>
          <p:cNvSpPr/>
          <p:nvPr/>
        </p:nvSpPr>
        <p:spPr>
          <a:xfrm>
            <a:off x="5943600" y="4745736"/>
            <a:ext cx="384048" cy="384048"/>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31" name="Picture 30" descr="CircleCheck.png"/>
          <p:cNvPicPr>
            <a:picLocks noChangeAspect="1"/>
          </p:cNvPicPr>
          <p:nvPr/>
        </p:nvPicPr>
        <p:blipFill>
          <a:blip r:embed="rId2"/>
          <a:stretch>
            <a:fillRect/>
          </a:stretch>
        </p:blipFill>
        <p:spPr>
          <a:xfrm>
            <a:off x="6028090" y="4830226"/>
            <a:ext cx="215066" cy="215066"/>
          </a:xfrm>
          <a:prstGeom prst="rect">
            <a:avLst/>
          </a:prstGeom>
        </p:spPr>
      </p:pic>
      <p:sp>
        <p:nvSpPr>
          <p:cNvPr id="32" name="TextBox 31"/>
          <p:cNvSpPr txBox="1"/>
          <p:nvPr/>
        </p:nvSpPr>
        <p:spPr>
          <a:xfrm>
            <a:off x="6492240" y="4709159"/>
            <a:ext cx="4937760" cy="685800"/>
          </a:xfrm>
          <a:prstGeom prst="rect">
            <a:avLst/>
          </a:prstGeom>
          <a:noFill/>
        </p:spPr>
        <p:txBody>
          <a:bodyPr wrap="square" lIns="0" rIns="0" tIns="0" bIns="0" anchor="t">
            <a:spAutoFit/>
          </a:bodyPr>
          <a:lstStyle/>
          <a:p>
            <a:pPr algn="l"/>
            <a:r>
              <a:rPr sz="1600" b="0" i="0">
                <a:solidFill>
                  <a:srgbClr val="13202E"/>
                </a:solidFill>
                <a:latin typeface="Calibri"/>
              </a:rPr>
              <a:t>Approve operations requests for money up to ₦500,000, never her own</a:t>
            </a:r>
          </a:p>
        </p:txBody>
      </p:sp>
      <p:sp>
        <p:nvSpPr>
          <p:cNvPr id="33" name="Oval 32"/>
          <p:cNvSpPr/>
          <p:nvPr/>
        </p:nvSpPr>
        <p:spPr>
          <a:xfrm>
            <a:off x="5943600" y="5477255"/>
            <a:ext cx="384048" cy="384048"/>
          </a:xfrm>
          <a:prstGeom prst="ellipse">
            <a:avLst/>
          </a:prstGeom>
          <a:solidFill>
            <a:srgbClr val="A82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34" name="Picture 33" descr="Lock.png"/>
          <p:cNvPicPr>
            <a:picLocks noChangeAspect="1"/>
          </p:cNvPicPr>
          <p:nvPr/>
        </p:nvPicPr>
        <p:blipFill>
          <a:blip r:embed="rId5"/>
          <a:stretch>
            <a:fillRect/>
          </a:stretch>
        </p:blipFill>
        <p:spPr>
          <a:xfrm>
            <a:off x="6028090" y="5561746"/>
            <a:ext cx="215066" cy="215066"/>
          </a:xfrm>
          <a:prstGeom prst="rect">
            <a:avLst/>
          </a:prstGeom>
        </p:spPr>
      </p:pic>
      <p:sp>
        <p:nvSpPr>
          <p:cNvPr id="35" name="TextBox 34"/>
          <p:cNvSpPr txBox="1"/>
          <p:nvPr/>
        </p:nvSpPr>
        <p:spPr>
          <a:xfrm>
            <a:off x="6492240" y="5440679"/>
            <a:ext cx="4937760" cy="685800"/>
          </a:xfrm>
          <a:prstGeom prst="rect">
            <a:avLst/>
          </a:prstGeom>
          <a:noFill/>
        </p:spPr>
        <p:txBody>
          <a:bodyPr wrap="square" lIns="0" rIns="0" tIns="0" bIns="0" anchor="t">
            <a:spAutoFit/>
          </a:bodyPr>
          <a:lstStyle/>
          <a:p>
            <a:pPr algn="l"/>
            <a:r>
              <a:rPr sz="1600" b="1" i="0">
                <a:solidFill>
                  <a:srgbClr val="A82A1F"/>
                </a:solidFill>
                <a:latin typeface="Calibri"/>
              </a:rPr>
              <a:t>She does not release money. </a:t>
            </a:r>
            <a:r>
              <a:rPr sz="1600" b="0" i="0">
                <a:solidFill>
                  <a:srgbClr val="13202E"/>
                </a:solidFill>
                <a:latin typeface="Calibri"/>
              </a:rPr>
              <a:t>Paying out stays with the Payment Officer.</a:t>
            </a:r>
          </a:p>
        </p:txBody>
      </p:sp>
      <p:sp>
        <p:nvSpPr>
          <p:cNvPr id="36" name="TextBox 3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33475B"/>
                </a:solidFill>
                <a:latin typeface="Calibri"/>
              </a:rPr>
              <a:t>OE Group · TENTai · Board Confidential · 7 October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t">
            <a:spAutoFit/>
          </a:bodyPr>
          <a:lstStyle/>
          <a:p>
            <a:pPr algn="l"/>
            <a:r>
              <a:rPr sz="3600" b="1" i="0">
                <a:solidFill>
                  <a:srgbClr val="0B2545"/>
                </a:solidFill>
                <a:latin typeface="Cambria"/>
              </a:rPr>
              <a:t>Stage 2 funding: half released</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800" b="0" i="0">
                <a:solidFill>
                  <a:srgbClr val="33475B"/>
                </a:solidFill>
                <a:latin typeface="Calibri"/>
              </a:rPr>
              <a:t>From the Memorandum to the Chairman, 6 October 2026.</a:t>
            </a:r>
          </a:p>
        </p:txBody>
      </p:sp>
      <p:sp>
        <p:nvSpPr>
          <p:cNvPr id="4" name="Rounded Rectangle 3"/>
          <p:cNvSpPr/>
          <p:nvPr/>
        </p:nvSpPr>
        <p:spPr>
          <a:xfrm>
            <a:off x="548640" y="1783080"/>
            <a:ext cx="3566160" cy="182880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965960"/>
            <a:ext cx="3200400" cy="822960"/>
          </a:xfrm>
          <a:prstGeom prst="rect">
            <a:avLst/>
          </a:prstGeom>
          <a:noFill/>
        </p:spPr>
        <p:txBody>
          <a:bodyPr wrap="square" lIns="0" rIns="0" tIns="0" bIns="0" anchor="t">
            <a:spAutoFit/>
          </a:bodyPr>
          <a:lstStyle/>
          <a:p>
            <a:pPr algn="ctr"/>
            <a:r>
              <a:rPr sz="3200" b="1" i="0">
                <a:solidFill>
                  <a:srgbClr val="0B2545"/>
                </a:solidFill>
                <a:latin typeface="Cambria"/>
              </a:rPr>
              <a:t>₦1,066,359.38</a:t>
            </a:r>
          </a:p>
        </p:txBody>
      </p:sp>
      <p:sp>
        <p:nvSpPr>
          <p:cNvPr id="6" name="TextBox 5"/>
          <p:cNvSpPr txBox="1"/>
          <p:nvPr/>
        </p:nvSpPr>
        <p:spPr>
          <a:xfrm>
            <a:off x="731520" y="2880360"/>
            <a:ext cx="3200400" cy="457200"/>
          </a:xfrm>
          <a:prstGeom prst="rect">
            <a:avLst/>
          </a:prstGeom>
          <a:noFill/>
        </p:spPr>
        <p:txBody>
          <a:bodyPr wrap="square" lIns="0" rIns="0" tIns="0" bIns="0" anchor="t">
            <a:spAutoFit/>
          </a:bodyPr>
          <a:lstStyle/>
          <a:p>
            <a:pPr algn="ctr"/>
            <a:r>
              <a:rPr sz="1800" b="1" i="0">
                <a:solidFill>
                  <a:srgbClr val="13202E"/>
                </a:solidFill>
                <a:latin typeface="Calibri"/>
              </a:rPr>
              <a:t>Stage 2 approved</a:t>
            </a:r>
          </a:p>
        </p:txBody>
      </p:sp>
      <p:sp>
        <p:nvSpPr>
          <p:cNvPr id="7" name="Rounded Rectangle 6"/>
          <p:cNvSpPr/>
          <p:nvPr/>
        </p:nvSpPr>
        <p:spPr>
          <a:xfrm>
            <a:off x="4297679" y="1783080"/>
            <a:ext cx="3566160" cy="182880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80559" y="1965960"/>
            <a:ext cx="3200400" cy="822960"/>
          </a:xfrm>
          <a:prstGeom prst="rect">
            <a:avLst/>
          </a:prstGeom>
          <a:noFill/>
        </p:spPr>
        <p:txBody>
          <a:bodyPr wrap="square" lIns="0" rIns="0" tIns="0" bIns="0" anchor="t">
            <a:spAutoFit/>
          </a:bodyPr>
          <a:lstStyle/>
          <a:p>
            <a:pPr algn="ctr"/>
            <a:r>
              <a:rPr sz="3200" b="1" i="0">
                <a:solidFill>
                  <a:srgbClr val="16723F"/>
                </a:solidFill>
                <a:latin typeface="Cambria"/>
              </a:rPr>
              <a:t>₦533,000</a:t>
            </a:r>
          </a:p>
        </p:txBody>
      </p:sp>
      <p:sp>
        <p:nvSpPr>
          <p:cNvPr id="9" name="TextBox 8"/>
          <p:cNvSpPr txBox="1"/>
          <p:nvPr/>
        </p:nvSpPr>
        <p:spPr>
          <a:xfrm>
            <a:off x="4480559" y="2880360"/>
            <a:ext cx="3200400" cy="457200"/>
          </a:xfrm>
          <a:prstGeom prst="rect">
            <a:avLst/>
          </a:prstGeom>
          <a:noFill/>
        </p:spPr>
        <p:txBody>
          <a:bodyPr wrap="square" lIns="0" rIns="0" tIns="0" bIns="0" anchor="t">
            <a:spAutoFit/>
          </a:bodyPr>
          <a:lstStyle/>
          <a:p>
            <a:pPr algn="ctr"/>
            <a:r>
              <a:rPr sz="1800" b="1" i="0">
                <a:solidFill>
                  <a:srgbClr val="13202E"/>
                </a:solidFill>
                <a:latin typeface="Calibri"/>
              </a:rPr>
              <a:t>Released so far</a:t>
            </a:r>
          </a:p>
        </p:txBody>
      </p:sp>
      <p:sp>
        <p:nvSpPr>
          <p:cNvPr id="10" name="Rounded Rectangle 9"/>
          <p:cNvSpPr/>
          <p:nvPr/>
        </p:nvSpPr>
        <p:spPr>
          <a:xfrm>
            <a:off x="8046719" y="1783080"/>
            <a:ext cx="3566160" cy="182880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9" y="1965960"/>
            <a:ext cx="3200400" cy="822960"/>
          </a:xfrm>
          <a:prstGeom prst="rect">
            <a:avLst/>
          </a:prstGeom>
          <a:noFill/>
        </p:spPr>
        <p:txBody>
          <a:bodyPr wrap="square" lIns="0" rIns="0" tIns="0" bIns="0" anchor="t">
            <a:spAutoFit/>
          </a:bodyPr>
          <a:lstStyle/>
          <a:p>
            <a:pPr algn="ctr"/>
            <a:r>
              <a:rPr sz="3200" b="1" i="0">
                <a:solidFill>
                  <a:srgbClr val="A35A00"/>
                </a:solidFill>
                <a:latin typeface="Cambria"/>
              </a:rPr>
              <a:t>₦533,359.38</a:t>
            </a:r>
          </a:p>
        </p:txBody>
      </p:sp>
      <p:sp>
        <p:nvSpPr>
          <p:cNvPr id="12" name="TextBox 11"/>
          <p:cNvSpPr txBox="1"/>
          <p:nvPr/>
        </p:nvSpPr>
        <p:spPr>
          <a:xfrm>
            <a:off x="8229599" y="2880360"/>
            <a:ext cx="3200400" cy="457200"/>
          </a:xfrm>
          <a:prstGeom prst="rect">
            <a:avLst/>
          </a:prstGeom>
          <a:noFill/>
        </p:spPr>
        <p:txBody>
          <a:bodyPr wrap="square" lIns="0" rIns="0" tIns="0" bIns="0" anchor="t">
            <a:spAutoFit/>
          </a:bodyPr>
          <a:lstStyle/>
          <a:p>
            <a:pPr algn="ctr"/>
            <a:r>
              <a:rPr sz="1800" b="1" i="0">
                <a:solidFill>
                  <a:srgbClr val="13202E"/>
                </a:solidFill>
                <a:latin typeface="Calibri"/>
              </a:rPr>
              <a:t>Still to be released</a:t>
            </a:r>
          </a:p>
        </p:txBody>
      </p:sp>
      <p:sp>
        <p:nvSpPr>
          <p:cNvPr id="13" name="TextBox 12"/>
          <p:cNvSpPr txBox="1"/>
          <p:nvPr/>
        </p:nvSpPr>
        <p:spPr>
          <a:xfrm>
            <a:off x="548640" y="3931920"/>
            <a:ext cx="10972800" cy="365760"/>
          </a:xfrm>
          <a:prstGeom prst="rect">
            <a:avLst/>
          </a:prstGeom>
          <a:noFill/>
        </p:spPr>
        <p:txBody>
          <a:bodyPr wrap="square" lIns="0" rIns="0" tIns="0" bIns="0" anchor="t">
            <a:spAutoFit/>
          </a:bodyPr>
          <a:lstStyle/>
          <a:p>
            <a:pPr algn="l"/>
            <a:r>
              <a:rPr sz="1600" b="1" i="0">
                <a:solidFill>
                  <a:srgbClr val="0B2545"/>
                </a:solidFill>
                <a:latin typeface="Calibri"/>
              </a:rPr>
              <a:t>Stage 2 released</a:t>
            </a:r>
          </a:p>
        </p:txBody>
      </p:sp>
      <p:sp>
        <p:nvSpPr>
          <p:cNvPr id="14" name="Rounded Rectangle 13"/>
          <p:cNvSpPr/>
          <p:nvPr/>
        </p:nvSpPr>
        <p:spPr>
          <a:xfrm>
            <a:off x="548640" y="4343400"/>
            <a:ext cx="11064240" cy="502920"/>
          </a:xfrm>
          <a:prstGeom prst="roundRect">
            <a:avLst>
              <a:gd name="adj" fmla="val 50000"/>
            </a:avLst>
          </a:prstGeom>
          <a:solidFill>
            <a:srgbClr val="DDE5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548640" y="4343400"/>
            <a:ext cx="5530255" cy="502920"/>
          </a:xfrm>
          <a:prstGeom prst="roundRect">
            <a:avLst>
              <a:gd name="adj" fmla="val 50000"/>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4389120"/>
            <a:ext cx="4572000" cy="411480"/>
          </a:xfrm>
          <a:prstGeom prst="rect">
            <a:avLst/>
          </a:prstGeom>
          <a:noFill/>
        </p:spPr>
        <p:txBody>
          <a:bodyPr wrap="square" lIns="0" rIns="0" tIns="0" bIns="0" anchor="ctr">
            <a:spAutoFit/>
          </a:bodyPr>
          <a:lstStyle/>
          <a:p>
            <a:pPr algn="l"/>
            <a:r>
              <a:rPr sz="1600" b="1" i="0">
                <a:solidFill>
                  <a:srgbClr val="FFFFFF"/>
                </a:solidFill>
                <a:latin typeface="Calibri"/>
              </a:rPr>
              <a:t>50% released</a:t>
            </a:r>
          </a:p>
        </p:txBody>
      </p:sp>
      <p:sp>
        <p:nvSpPr>
          <p:cNvPr id="17" name="Rounded Rectangle 16"/>
          <p:cNvSpPr/>
          <p:nvPr/>
        </p:nvSpPr>
        <p:spPr>
          <a:xfrm>
            <a:off x="548640" y="5166360"/>
            <a:ext cx="11064240" cy="109728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77240" y="5321808"/>
            <a:ext cx="777240" cy="77724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9" name="Picture 18" descr="Landmark.png"/>
          <p:cNvPicPr>
            <a:picLocks noChangeAspect="1"/>
          </p:cNvPicPr>
          <p:nvPr/>
        </p:nvPicPr>
        <p:blipFill>
          <a:blip r:embed="rId2"/>
          <a:stretch>
            <a:fillRect/>
          </a:stretch>
        </p:blipFill>
        <p:spPr>
          <a:xfrm>
            <a:off x="948232" y="5492800"/>
            <a:ext cx="435254" cy="435254"/>
          </a:xfrm>
          <a:prstGeom prst="rect">
            <a:avLst/>
          </a:prstGeom>
        </p:spPr>
      </p:pic>
      <p:sp>
        <p:nvSpPr>
          <p:cNvPr id="20" name="TextBox 19"/>
          <p:cNvSpPr txBox="1"/>
          <p:nvPr/>
        </p:nvSpPr>
        <p:spPr>
          <a:xfrm>
            <a:off x="1783080" y="5303520"/>
            <a:ext cx="9601200" cy="868680"/>
          </a:xfrm>
          <a:prstGeom prst="rect">
            <a:avLst/>
          </a:prstGeom>
          <a:noFill/>
        </p:spPr>
        <p:txBody>
          <a:bodyPr wrap="square" lIns="0" rIns="0" tIns="0" bIns="0" anchor="t">
            <a:spAutoFit/>
          </a:bodyPr>
          <a:lstStyle/>
          <a:p>
            <a:pPr algn="l"/>
            <a:r>
              <a:rPr sz="1700" b="1" i="0">
                <a:solidFill>
                  <a:srgbClr val="0B2545"/>
                </a:solidFill>
                <a:latin typeface="Calibri"/>
              </a:rPr>
              <a:t>The whole Phase 1 budget is ₦5,257,421.88. </a:t>
            </a:r>
            <a:r>
              <a:rPr sz="1700" b="0" i="0">
                <a:solidFill>
                  <a:srgbClr val="1C2B3A"/>
                </a:solidFill>
                <a:latin typeface="Calibri"/>
              </a:rPr>
              <a:t>With this part release, ₦4,724,062.50 has been released in total, about 90%.</a:t>
            </a:r>
          </a:p>
        </p:txBody>
      </p:sp>
      <p:sp>
        <p:nvSpPr>
          <p:cNvPr id="21" name="TextBox 20"/>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33475B"/>
                </a:solidFill>
                <a:latin typeface="Calibri"/>
              </a:rPr>
              <a:t>OE Group · TENTai · Board Confidential · 7 October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t">
            <a:spAutoFit/>
          </a:bodyPr>
          <a:lstStyle/>
          <a:p>
            <a:pPr algn="l"/>
            <a:r>
              <a:rPr sz="3600" b="1" i="0">
                <a:solidFill>
                  <a:srgbClr val="0B2545"/>
                </a:solidFill>
                <a:latin typeface="Cambria"/>
              </a:rPr>
              <a:t>How the ₦533,000 was spent</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800" b="0" i="0">
                <a:solidFill>
                  <a:srgbClr val="33475B"/>
                </a:solidFill>
                <a:latin typeface="Calibri"/>
              </a:rPr>
              <a:t>Testing, and the subscriptions that keep the system running.</a:t>
            </a:r>
          </a:p>
        </p:txBody>
      </p:sp>
      <p:graphicFrame>
        <p:nvGraphicFramePr>
          <p:cNvPr id="4" name="Chart 3"/>
          <p:cNvGraphicFramePr>
            <a:graphicFrameLocks noGrp="1"/>
          </p:cNvGraphicFramePr>
          <p:nvPr/>
        </p:nvGraphicFramePr>
        <p:xfrm>
          <a:off x="548640" y="1737360"/>
          <a:ext cx="6949440" cy="4023360"/>
        </p:xfrm>
        <a:graphic>
          <a:graphicData uri="http://schemas.openxmlformats.org/drawingml/2006/chart">
            <c:chart xmlns:c="http://schemas.openxmlformats.org/drawingml/2006/chart" r:id="rId2"/>
          </a:graphicData>
        </a:graphic>
      </p:graphicFrame>
      <p:sp>
        <p:nvSpPr>
          <p:cNvPr id="5" name="Rounded Rectangle 4"/>
          <p:cNvSpPr/>
          <p:nvPr/>
        </p:nvSpPr>
        <p:spPr>
          <a:xfrm>
            <a:off x="7772400" y="1783080"/>
            <a:ext cx="3840480" cy="196596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001000" y="1920240"/>
            <a:ext cx="3474720" cy="365760"/>
          </a:xfrm>
          <a:prstGeom prst="rect">
            <a:avLst/>
          </a:prstGeom>
          <a:noFill/>
        </p:spPr>
        <p:txBody>
          <a:bodyPr wrap="square" lIns="0" rIns="0" tIns="0" bIns="0" anchor="t">
            <a:spAutoFit/>
          </a:bodyPr>
          <a:lstStyle/>
          <a:p>
            <a:pPr algn="l"/>
            <a:r>
              <a:rPr sz="1300" b="1" i="0" spc="150">
                <a:solidFill>
                  <a:srgbClr val="33475B"/>
                </a:solidFill>
                <a:latin typeface="Calibri"/>
              </a:rPr>
              <a:t>TOTAL SPENT</a:t>
            </a:r>
          </a:p>
        </p:txBody>
      </p:sp>
      <p:sp>
        <p:nvSpPr>
          <p:cNvPr id="7" name="TextBox 6"/>
          <p:cNvSpPr txBox="1"/>
          <p:nvPr/>
        </p:nvSpPr>
        <p:spPr>
          <a:xfrm>
            <a:off x="8001000" y="2286000"/>
            <a:ext cx="3474720" cy="640080"/>
          </a:xfrm>
          <a:prstGeom prst="rect">
            <a:avLst/>
          </a:prstGeom>
          <a:noFill/>
        </p:spPr>
        <p:txBody>
          <a:bodyPr wrap="square" lIns="0" rIns="0" tIns="0" bIns="0" anchor="t">
            <a:spAutoFit/>
          </a:bodyPr>
          <a:lstStyle/>
          <a:p>
            <a:pPr algn="l"/>
            <a:r>
              <a:rPr sz="3400" b="1" i="0">
                <a:solidFill>
                  <a:srgbClr val="0B2545"/>
                </a:solidFill>
                <a:latin typeface="Cambria"/>
              </a:rPr>
              <a:t>₦541,800</a:t>
            </a:r>
          </a:p>
        </p:txBody>
      </p:sp>
      <p:sp>
        <p:nvSpPr>
          <p:cNvPr id="8" name="TextBox 7"/>
          <p:cNvSpPr txBox="1"/>
          <p:nvPr/>
        </p:nvSpPr>
        <p:spPr>
          <a:xfrm>
            <a:off x="8001000" y="2971800"/>
            <a:ext cx="3474720" cy="731520"/>
          </a:xfrm>
          <a:prstGeom prst="rect">
            <a:avLst/>
          </a:prstGeom>
          <a:noFill/>
        </p:spPr>
        <p:txBody>
          <a:bodyPr wrap="square" lIns="0" rIns="0" tIns="0" bIns="0" anchor="t">
            <a:spAutoFit/>
          </a:bodyPr>
          <a:lstStyle/>
          <a:p>
            <a:pPr algn="l"/>
            <a:r>
              <a:rPr sz="1400" b="0" i="0">
                <a:solidFill>
                  <a:srgbClr val="13202E"/>
                </a:solidFill>
                <a:latin typeface="Calibri"/>
              </a:rPr>
              <a:t>₦8,800 more than released. The extra comes from the contingency reserve.</a:t>
            </a:r>
          </a:p>
        </p:txBody>
      </p:sp>
      <p:sp>
        <p:nvSpPr>
          <p:cNvPr id="9" name="Rounded Rectangle 8"/>
          <p:cNvSpPr/>
          <p:nvPr/>
        </p:nvSpPr>
        <p:spPr>
          <a:xfrm>
            <a:off x="7772400" y="3931920"/>
            <a:ext cx="3840480" cy="2331720"/>
          </a:xfrm>
          <a:prstGeom prst="roundRect">
            <a:avLst>
              <a:gd name="adj" fmla="val 6000"/>
            </a:avLst>
          </a:prstGeom>
          <a:solidFill>
            <a:srgbClr val="FDECEA"/>
          </a:solidFill>
          <a:ln w="9525">
            <a:solidFill>
              <a:srgbClr val="A82A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01000" y="4114800"/>
            <a:ext cx="685800" cy="685800"/>
          </a:xfrm>
          <a:prstGeom prst="ellipse">
            <a:avLst/>
          </a:prstGeom>
          <a:solidFill>
            <a:srgbClr val="A82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1" name="Picture 10" descr="TriangleAlert.png"/>
          <p:cNvPicPr>
            <a:picLocks noChangeAspect="1"/>
          </p:cNvPicPr>
          <p:nvPr/>
        </p:nvPicPr>
        <p:blipFill>
          <a:blip r:embed="rId3"/>
          <a:stretch>
            <a:fillRect/>
          </a:stretch>
        </p:blipFill>
        <p:spPr>
          <a:xfrm>
            <a:off x="8151875" y="4265676"/>
            <a:ext cx="384048" cy="384048"/>
          </a:xfrm>
          <a:prstGeom prst="rect">
            <a:avLst/>
          </a:prstGeom>
        </p:spPr>
      </p:pic>
      <p:sp>
        <p:nvSpPr>
          <p:cNvPr id="12" name="TextBox 11"/>
          <p:cNvSpPr txBox="1"/>
          <p:nvPr/>
        </p:nvSpPr>
        <p:spPr>
          <a:xfrm>
            <a:off x="8823960" y="4160520"/>
            <a:ext cx="2651760" cy="457200"/>
          </a:xfrm>
          <a:prstGeom prst="rect">
            <a:avLst/>
          </a:prstGeom>
          <a:noFill/>
        </p:spPr>
        <p:txBody>
          <a:bodyPr wrap="square" lIns="0" rIns="0" tIns="0" bIns="0" anchor="t">
            <a:spAutoFit/>
          </a:bodyPr>
          <a:lstStyle/>
          <a:p>
            <a:pPr algn="l"/>
            <a:r>
              <a:rPr sz="1900" b="1" i="0">
                <a:solidFill>
                  <a:srgbClr val="A82A1F"/>
                </a:solidFill>
                <a:latin typeface="Calibri"/>
              </a:rPr>
              <a:t>WhatsApp lapsed</a:t>
            </a:r>
          </a:p>
        </p:txBody>
      </p:sp>
      <p:sp>
        <p:nvSpPr>
          <p:cNvPr id="13" name="TextBox 12"/>
          <p:cNvSpPr txBox="1"/>
          <p:nvPr/>
        </p:nvSpPr>
        <p:spPr>
          <a:xfrm>
            <a:off x="8001000" y="4892040"/>
            <a:ext cx="3474720" cy="1325880"/>
          </a:xfrm>
          <a:prstGeom prst="rect">
            <a:avLst/>
          </a:prstGeom>
          <a:noFill/>
        </p:spPr>
        <p:txBody>
          <a:bodyPr wrap="square" lIns="0" rIns="0" tIns="0" bIns="0" anchor="t">
            <a:spAutoFit/>
          </a:bodyPr>
          <a:lstStyle/>
          <a:p>
            <a:pPr algn="l"/>
            <a:r>
              <a:rPr sz="1450" b="0" i="0">
                <a:solidFill>
                  <a:srgbClr val="13202E"/>
                </a:solidFill>
                <a:latin typeface="Calibri"/>
              </a:rPr>
              <a:t>The WhatsApp subscription expired on 1 October and was cancelled. It could not be paid out of pocket.</a:t>
            </a:r>
          </a:p>
        </p:txBody>
      </p:sp>
      <p:sp>
        <p:nvSpPr>
          <p:cNvPr id="14" name="TextBox 13"/>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33475B"/>
                </a:solidFill>
                <a:latin typeface="Calibri"/>
              </a:rPr>
              <a:t>OE Group · TENTai · Board Confidential · 7 October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t">
            <a:spAutoFit/>
          </a:bodyPr>
          <a:lstStyle/>
          <a:p>
            <a:pPr algn="l"/>
            <a:r>
              <a:rPr sz="3600" b="1" i="0">
                <a:solidFill>
                  <a:srgbClr val="0B2545"/>
                </a:solidFill>
                <a:latin typeface="Cambria"/>
              </a:rPr>
              <a:t>What is still owed</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800" b="0" i="0">
                <a:solidFill>
                  <a:srgbClr val="33475B"/>
                </a:solidFill>
                <a:latin typeface="Calibri"/>
              </a:rPr>
              <a:t>Two items remain from the Stage 2 budget.</a:t>
            </a:r>
          </a:p>
        </p:txBody>
      </p:sp>
      <p:sp>
        <p:nvSpPr>
          <p:cNvPr id="4" name="Rounded Rectangle 3"/>
          <p:cNvSpPr/>
          <p:nvPr/>
        </p:nvSpPr>
        <p:spPr>
          <a:xfrm>
            <a:off x="548640" y="1783080"/>
            <a:ext cx="5440680" cy="274320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68680" y="2057400"/>
            <a:ext cx="1097280" cy="109728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6" name="Picture 5" descr="GraduationCap.png"/>
          <p:cNvPicPr>
            <a:picLocks noChangeAspect="1"/>
          </p:cNvPicPr>
          <p:nvPr/>
        </p:nvPicPr>
        <p:blipFill>
          <a:blip r:embed="rId2"/>
          <a:stretch>
            <a:fillRect/>
          </a:stretch>
        </p:blipFill>
        <p:spPr>
          <a:xfrm>
            <a:off x="1110081" y="2298801"/>
            <a:ext cx="614476" cy="614476"/>
          </a:xfrm>
          <a:prstGeom prst="rect">
            <a:avLst/>
          </a:prstGeom>
        </p:spPr>
      </p:pic>
      <p:sp>
        <p:nvSpPr>
          <p:cNvPr id="7" name="TextBox 6"/>
          <p:cNvSpPr txBox="1"/>
          <p:nvPr/>
        </p:nvSpPr>
        <p:spPr>
          <a:xfrm>
            <a:off x="2194560" y="2057400"/>
            <a:ext cx="3566160" cy="640080"/>
          </a:xfrm>
          <a:prstGeom prst="rect">
            <a:avLst/>
          </a:prstGeom>
          <a:noFill/>
        </p:spPr>
        <p:txBody>
          <a:bodyPr wrap="square" lIns="0" rIns="0" tIns="0" bIns="0" anchor="t">
            <a:spAutoFit/>
          </a:bodyPr>
          <a:lstStyle/>
          <a:p>
            <a:pPr algn="l"/>
            <a:r>
              <a:rPr sz="3000" b="1" i="0">
                <a:solidFill>
                  <a:srgbClr val="0B2545"/>
                </a:solidFill>
                <a:latin typeface="Cambria"/>
              </a:rPr>
              <a:t>₦250,000</a:t>
            </a:r>
          </a:p>
        </p:txBody>
      </p:sp>
      <p:sp>
        <p:nvSpPr>
          <p:cNvPr id="8" name="TextBox 7"/>
          <p:cNvSpPr txBox="1"/>
          <p:nvPr/>
        </p:nvSpPr>
        <p:spPr>
          <a:xfrm>
            <a:off x="2194560" y="2697480"/>
            <a:ext cx="3566160" cy="457200"/>
          </a:xfrm>
          <a:prstGeom prst="rect">
            <a:avLst/>
          </a:prstGeom>
          <a:noFill/>
        </p:spPr>
        <p:txBody>
          <a:bodyPr wrap="square" lIns="0" rIns="0" tIns="0" bIns="0" anchor="t">
            <a:spAutoFit/>
          </a:bodyPr>
          <a:lstStyle/>
          <a:p>
            <a:pPr algn="l"/>
            <a:r>
              <a:rPr sz="1900" b="1" i="0">
                <a:solidFill>
                  <a:srgbClr val="0B2545"/>
                </a:solidFill>
                <a:latin typeface="Calibri"/>
              </a:rPr>
              <a:t>Staff training</a:t>
            </a:r>
          </a:p>
        </p:txBody>
      </p:sp>
      <p:sp>
        <p:nvSpPr>
          <p:cNvPr id="9" name="TextBox 8"/>
          <p:cNvSpPr txBox="1"/>
          <p:nvPr/>
        </p:nvSpPr>
        <p:spPr>
          <a:xfrm>
            <a:off x="868680" y="3337560"/>
            <a:ext cx="4846320" cy="1097280"/>
          </a:xfrm>
          <a:prstGeom prst="rect">
            <a:avLst/>
          </a:prstGeom>
          <a:noFill/>
        </p:spPr>
        <p:txBody>
          <a:bodyPr wrap="square" lIns="0" rIns="0" tIns="0" bIns="0" anchor="t">
            <a:spAutoFit/>
          </a:bodyPr>
          <a:lstStyle/>
          <a:p>
            <a:pPr algn="l"/>
            <a:r>
              <a:rPr sz="1600" b="0" i="0">
                <a:solidFill>
                  <a:srgbClr val="13202E"/>
                </a:solidFill>
                <a:latin typeface="Calibri"/>
              </a:rPr>
              <a:t>The three-day programme under way this week.</a:t>
            </a:r>
          </a:p>
        </p:txBody>
      </p:sp>
      <p:sp>
        <p:nvSpPr>
          <p:cNvPr id="10" name="Rounded Rectangle 9"/>
          <p:cNvSpPr/>
          <p:nvPr/>
        </p:nvSpPr>
        <p:spPr>
          <a:xfrm>
            <a:off x="6172200" y="1783080"/>
            <a:ext cx="5440680" cy="2743200"/>
          </a:xfrm>
          <a:prstGeom prst="roundRect">
            <a:avLst>
              <a:gd name="adj" fmla="val 6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92240" y="2057400"/>
            <a:ext cx="1097280" cy="1097280"/>
          </a:xfrm>
          <a:prstGeom prst="ellipse">
            <a:avLst/>
          </a:prstGeom>
          <a:solidFill>
            <a:srgbClr val="A3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2" name="Picture 11" descr="PiggyBank.png"/>
          <p:cNvPicPr>
            <a:picLocks noChangeAspect="1"/>
          </p:cNvPicPr>
          <p:nvPr/>
        </p:nvPicPr>
        <p:blipFill>
          <a:blip r:embed="rId3"/>
          <a:stretch>
            <a:fillRect/>
          </a:stretch>
        </p:blipFill>
        <p:spPr>
          <a:xfrm>
            <a:off x="6733641" y="2298801"/>
            <a:ext cx="614476" cy="614476"/>
          </a:xfrm>
          <a:prstGeom prst="rect">
            <a:avLst/>
          </a:prstGeom>
        </p:spPr>
      </p:pic>
      <p:sp>
        <p:nvSpPr>
          <p:cNvPr id="13" name="TextBox 12"/>
          <p:cNvSpPr txBox="1"/>
          <p:nvPr/>
        </p:nvSpPr>
        <p:spPr>
          <a:xfrm>
            <a:off x="7818120" y="2057400"/>
            <a:ext cx="3566160" cy="640080"/>
          </a:xfrm>
          <a:prstGeom prst="rect">
            <a:avLst/>
          </a:prstGeom>
          <a:noFill/>
        </p:spPr>
        <p:txBody>
          <a:bodyPr wrap="square" lIns="0" rIns="0" tIns="0" bIns="0" anchor="t">
            <a:spAutoFit/>
          </a:bodyPr>
          <a:lstStyle/>
          <a:p>
            <a:pPr algn="l"/>
            <a:r>
              <a:rPr sz="3000" b="1" i="0">
                <a:solidFill>
                  <a:srgbClr val="A35A00"/>
                </a:solidFill>
                <a:latin typeface="Cambria"/>
              </a:rPr>
              <a:t>₦406,359.38</a:t>
            </a:r>
          </a:p>
        </p:txBody>
      </p:sp>
      <p:sp>
        <p:nvSpPr>
          <p:cNvPr id="14" name="TextBox 13"/>
          <p:cNvSpPr txBox="1"/>
          <p:nvPr/>
        </p:nvSpPr>
        <p:spPr>
          <a:xfrm>
            <a:off x="7818120" y="2697480"/>
            <a:ext cx="3566160" cy="457200"/>
          </a:xfrm>
          <a:prstGeom prst="rect">
            <a:avLst/>
          </a:prstGeom>
          <a:noFill/>
        </p:spPr>
        <p:txBody>
          <a:bodyPr wrap="square" lIns="0" rIns="0" tIns="0" bIns="0" anchor="t">
            <a:spAutoFit/>
          </a:bodyPr>
          <a:lstStyle/>
          <a:p>
            <a:pPr algn="l"/>
            <a:r>
              <a:rPr sz="1900" b="1" i="0">
                <a:solidFill>
                  <a:srgbClr val="0B2545"/>
                </a:solidFill>
                <a:latin typeface="Calibri"/>
              </a:rPr>
              <a:t>Contingency reserve (15%)</a:t>
            </a:r>
          </a:p>
        </p:txBody>
      </p:sp>
      <p:sp>
        <p:nvSpPr>
          <p:cNvPr id="15" name="TextBox 14"/>
          <p:cNvSpPr txBox="1"/>
          <p:nvPr/>
        </p:nvSpPr>
        <p:spPr>
          <a:xfrm>
            <a:off x="6492240" y="3337560"/>
            <a:ext cx="4846320" cy="1097280"/>
          </a:xfrm>
          <a:prstGeom prst="rect">
            <a:avLst/>
          </a:prstGeom>
          <a:noFill/>
        </p:spPr>
        <p:txBody>
          <a:bodyPr wrap="square" lIns="0" rIns="0" tIns="0" bIns="0" anchor="t">
            <a:spAutoFit/>
          </a:bodyPr>
          <a:lstStyle/>
          <a:p>
            <a:pPr algn="l"/>
            <a:r>
              <a:rPr sz="1600" b="0" i="0">
                <a:solidFill>
                  <a:srgbClr val="13202E"/>
                </a:solidFill>
                <a:latin typeface="Calibri"/>
              </a:rPr>
              <a:t>₦193,158 of it has already gone on keeping subscriptions running, so work did not stall.</a:t>
            </a:r>
          </a:p>
        </p:txBody>
      </p:sp>
      <p:sp>
        <p:nvSpPr>
          <p:cNvPr id="16" name="Rounded Rectangle 15"/>
          <p:cNvSpPr/>
          <p:nvPr/>
        </p:nvSpPr>
        <p:spPr>
          <a:xfrm>
            <a:off x="548640" y="4754880"/>
            <a:ext cx="11064240" cy="1508760"/>
          </a:xfrm>
          <a:prstGeom prst="roundRect">
            <a:avLst>
              <a:gd name="adj" fmla="val 6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4892040"/>
            <a:ext cx="5669280" cy="411480"/>
          </a:xfrm>
          <a:prstGeom prst="rect">
            <a:avLst/>
          </a:prstGeom>
          <a:noFill/>
        </p:spPr>
        <p:txBody>
          <a:bodyPr wrap="square" lIns="0" rIns="0" tIns="0" bIns="0" anchor="t">
            <a:spAutoFit/>
          </a:bodyPr>
          <a:lstStyle/>
          <a:p>
            <a:pPr algn="l"/>
            <a:r>
              <a:rPr sz="1400" b="1" i="0" spc="150">
                <a:solidFill>
                  <a:srgbClr val="D49A1A"/>
                </a:solidFill>
                <a:latin typeface="Calibri"/>
              </a:rPr>
              <a:t>TOTAL OWED</a:t>
            </a:r>
          </a:p>
        </p:txBody>
      </p:sp>
      <p:sp>
        <p:nvSpPr>
          <p:cNvPr id="18" name="TextBox 17"/>
          <p:cNvSpPr txBox="1"/>
          <p:nvPr/>
        </p:nvSpPr>
        <p:spPr>
          <a:xfrm>
            <a:off x="868680" y="5257800"/>
            <a:ext cx="4572000" cy="731520"/>
          </a:xfrm>
          <a:prstGeom prst="rect">
            <a:avLst/>
          </a:prstGeom>
          <a:noFill/>
        </p:spPr>
        <p:txBody>
          <a:bodyPr wrap="square" lIns="0" rIns="0" tIns="0" bIns="0" anchor="t">
            <a:spAutoFit/>
          </a:bodyPr>
          <a:lstStyle/>
          <a:p>
            <a:pPr algn="l"/>
            <a:r>
              <a:rPr sz="3600" b="1" i="0">
                <a:solidFill>
                  <a:srgbClr val="FFFFFF"/>
                </a:solidFill>
                <a:latin typeface="Cambria"/>
              </a:rPr>
              <a:t>₦665,159.38</a:t>
            </a:r>
          </a:p>
        </p:txBody>
      </p:sp>
      <p:sp>
        <p:nvSpPr>
          <p:cNvPr id="19" name="TextBox 18"/>
          <p:cNvSpPr txBox="1"/>
          <p:nvPr/>
        </p:nvSpPr>
        <p:spPr>
          <a:xfrm>
            <a:off x="5669280" y="4983480"/>
            <a:ext cx="5669280" cy="1188720"/>
          </a:xfrm>
          <a:prstGeom prst="rect">
            <a:avLst/>
          </a:prstGeom>
          <a:noFill/>
        </p:spPr>
        <p:txBody>
          <a:bodyPr wrap="square" lIns="0" rIns="0" tIns="0" bIns="0" anchor="t">
            <a:spAutoFit/>
          </a:bodyPr>
          <a:lstStyle/>
          <a:p>
            <a:pPr algn="l"/>
            <a:r>
              <a:rPr sz="1600" b="0" i="0">
                <a:solidFill>
                  <a:srgbClr val="FFFFFF"/>
                </a:solidFill>
                <a:latin typeface="Calibri"/>
              </a:rPr>
              <a:t>Includes the ₦8,800 overspend. The contingency absorbs it, so the balance to release stays ₦533,359.38.</a:t>
            </a:r>
          </a:p>
        </p:txBody>
      </p:sp>
      <p:sp>
        <p:nvSpPr>
          <p:cNvPr id="20" name="TextBox 19"/>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33475B"/>
                </a:solidFill>
                <a:latin typeface="Calibri"/>
              </a:rPr>
              <a:t>OE Group · TENTai · Board Confidential · 7 October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t">
            <a:spAutoFit/>
          </a:bodyPr>
          <a:lstStyle/>
          <a:p>
            <a:pPr algn="l"/>
            <a:r>
              <a:rPr sz="3600" b="1" i="0">
                <a:solidFill>
                  <a:srgbClr val="0B2545"/>
                </a:solidFill>
                <a:latin typeface="Cambria"/>
              </a:rPr>
              <a:t>What it costs to keep running</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800" b="0" i="0">
                <a:solidFill>
                  <a:srgbClr val="33475B"/>
                </a:solidFill>
                <a:latin typeface="Calibri"/>
              </a:rPr>
              <a:t>Monthly subscriptions after go-live, from the 6 October memo.</a:t>
            </a:r>
          </a:p>
        </p:txBody>
      </p:sp>
      <p:sp>
        <p:nvSpPr>
          <p:cNvPr id="4" name="TextBox 3"/>
          <p:cNvSpPr txBox="1"/>
          <p:nvPr/>
        </p:nvSpPr>
        <p:spPr>
          <a:xfrm>
            <a:off x="1371600" y="1737360"/>
            <a:ext cx="3657600" cy="365760"/>
          </a:xfrm>
          <a:prstGeom prst="rect">
            <a:avLst/>
          </a:prstGeom>
          <a:noFill/>
        </p:spPr>
        <p:txBody>
          <a:bodyPr wrap="square" lIns="0" rIns="0" tIns="0" bIns="0" anchor="t">
            <a:spAutoFit/>
          </a:bodyPr>
          <a:lstStyle/>
          <a:p>
            <a:pPr algn="l"/>
            <a:r>
              <a:rPr sz="1300" b="1" i="0" spc="120">
                <a:solidFill>
                  <a:srgbClr val="33475B"/>
                </a:solidFill>
                <a:latin typeface="Calibri"/>
              </a:rPr>
              <a:t>WHAT</a:t>
            </a:r>
          </a:p>
        </p:txBody>
      </p:sp>
      <p:sp>
        <p:nvSpPr>
          <p:cNvPr id="5" name="TextBox 4"/>
          <p:cNvSpPr txBox="1"/>
          <p:nvPr/>
        </p:nvSpPr>
        <p:spPr>
          <a:xfrm>
            <a:off x="4572000" y="1737360"/>
            <a:ext cx="1554480" cy="365760"/>
          </a:xfrm>
          <a:prstGeom prst="rect">
            <a:avLst/>
          </a:prstGeom>
          <a:noFill/>
        </p:spPr>
        <p:txBody>
          <a:bodyPr wrap="square" lIns="0" rIns="0" tIns="0" bIns="0" anchor="t">
            <a:spAutoFit/>
          </a:bodyPr>
          <a:lstStyle/>
          <a:p>
            <a:pPr algn="r"/>
            <a:r>
              <a:rPr sz="1300" b="1" i="0" spc="120">
                <a:solidFill>
                  <a:srgbClr val="33475B"/>
                </a:solidFill>
                <a:latin typeface="Calibri"/>
              </a:rPr>
              <a:t>PER MONTH</a:t>
            </a:r>
          </a:p>
        </p:txBody>
      </p:sp>
      <p:sp>
        <p:nvSpPr>
          <p:cNvPr id="6" name="TextBox 5"/>
          <p:cNvSpPr txBox="1"/>
          <p:nvPr/>
        </p:nvSpPr>
        <p:spPr>
          <a:xfrm>
            <a:off x="6172200" y="1737360"/>
            <a:ext cx="1463040" cy="365760"/>
          </a:xfrm>
          <a:prstGeom prst="rect">
            <a:avLst/>
          </a:prstGeom>
          <a:noFill/>
        </p:spPr>
        <p:txBody>
          <a:bodyPr wrap="square" lIns="0" rIns="0" tIns="0" bIns="0" anchor="t">
            <a:spAutoFit/>
          </a:bodyPr>
          <a:lstStyle/>
          <a:p>
            <a:pPr algn="r"/>
            <a:r>
              <a:rPr sz="1300" b="1" i="0" spc="120">
                <a:solidFill>
                  <a:srgbClr val="33475B"/>
                </a:solidFill>
                <a:latin typeface="Calibri"/>
              </a:rPr>
              <a:t>PER YEAR</a:t>
            </a:r>
          </a:p>
        </p:txBody>
      </p:sp>
      <p:sp>
        <p:nvSpPr>
          <p:cNvPr id="7" name="Rounded Rectangle 6"/>
          <p:cNvSpPr/>
          <p:nvPr/>
        </p:nvSpPr>
        <p:spPr>
          <a:xfrm>
            <a:off x="548640" y="2103120"/>
            <a:ext cx="7223760" cy="640080"/>
          </a:xfrm>
          <a:prstGeom prst="roundRect">
            <a:avLst>
              <a:gd name="adj" fmla="val 12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58368" y="2185415"/>
            <a:ext cx="475488" cy="475488"/>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9" name="Picture 8" descr="Database.png"/>
          <p:cNvPicPr>
            <a:picLocks noChangeAspect="1"/>
          </p:cNvPicPr>
          <p:nvPr/>
        </p:nvPicPr>
        <p:blipFill>
          <a:blip r:embed="rId2"/>
          <a:stretch>
            <a:fillRect/>
          </a:stretch>
        </p:blipFill>
        <p:spPr>
          <a:xfrm>
            <a:off x="762975" y="2290023"/>
            <a:ext cx="266273" cy="266273"/>
          </a:xfrm>
          <a:prstGeom prst="rect">
            <a:avLst/>
          </a:prstGeom>
        </p:spPr>
      </p:pic>
      <p:sp>
        <p:nvSpPr>
          <p:cNvPr id="10" name="TextBox 9"/>
          <p:cNvSpPr txBox="1"/>
          <p:nvPr/>
        </p:nvSpPr>
        <p:spPr>
          <a:xfrm>
            <a:off x="1371600" y="2130551"/>
            <a:ext cx="3200400" cy="347472"/>
          </a:xfrm>
          <a:prstGeom prst="rect">
            <a:avLst/>
          </a:prstGeom>
          <a:noFill/>
        </p:spPr>
        <p:txBody>
          <a:bodyPr wrap="square" lIns="0" rIns="0" tIns="0" bIns="0" anchor="t">
            <a:spAutoFit/>
          </a:bodyPr>
          <a:lstStyle/>
          <a:p>
            <a:pPr algn="l"/>
            <a:r>
              <a:rPr sz="1700" b="1" i="0">
                <a:solidFill>
                  <a:srgbClr val="0B2545"/>
                </a:solidFill>
                <a:latin typeface="Calibri"/>
              </a:rPr>
              <a:t>Database</a:t>
            </a:r>
          </a:p>
        </p:txBody>
      </p:sp>
      <p:sp>
        <p:nvSpPr>
          <p:cNvPr id="11" name="TextBox 10"/>
          <p:cNvSpPr txBox="1"/>
          <p:nvPr/>
        </p:nvSpPr>
        <p:spPr>
          <a:xfrm>
            <a:off x="1371600" y="2450591"/>
            <a:ext cx="3200400" cy="274320"/>
          </a:xfrm>
          <a:prstGeom prst="rect">
            <a:avLst/>
          </a:prstGeom>
          <a:noFill/>
        </p:spPr>
        <p:txBody>
          <a:bodyPr wrap="square" lIns="0" rIns="0" tIns="0" bIns="0" anchor="t">
            <a:spAutoFit/>
          </a:bodyPr>
          <a:lstStyle/>
          <a:p>
            <a:pPr algn="l"/>
            <a:r>
              <a:rPr sz="1250" b="0" i="0">
                <a:solidFill>
                  <a:srgbClr val="33475B"/>
                </a:solidFill>
                <a:latin typeface="Calibri"/>
              </a:rPr>
              <a:t>Supabase</a:t>
            </a:r>
          </a:p>
        </p:txBody>
      </p:sp>
      <p:sp>
        <p:nvSpPr>
          <p:cNvPr id="12" name="TextBox 11"/>
          <p:cNvSpPr txBox="1"/>
          <p:nvPr/>
        </p:nvSpPr>
        <p:spPr>
          <a:xfrm>
            <a:off x="4572000" y="2249424"/>
            <a:ext cx="1554480" cy="365760"/>
          </a:xfrm>
          <a:prstGeom prst="rect">
            <a:avLst/>
          </a:prstGeom>
          <a:noFill/>
        </p:spPr>
        <p:txBody>
          <a:bodyPr wrap="square" lIns="0" rIns="0" tIns="0" bIns="0" anchor="t">
            <a:spAutoFit/>
          </a:bodyPr>
          <a:lstStyle/>
          <a:p>
            <a:pPr algn="r"/>
            <a:r>
              <a:rPr sz="1700" b="1" i="0">
                <a:solidFill>
                  <a:srgbClr val="13202E"/>
                </a:solidFill>
                <a:latin typeface="Calibri"/>
              </a:rPr>
              <a:t>₦75,124</a:t>
            </a:r>
          </a:p>
        </p:txBody>
      </p:sp>
      <p:sp>
        <p:nvSpPr>
          <p:cNvPr id="13" name="TextBox 12"/>
          <p:cNvSpPr txBox="1"/>
          <p:nvPr/>
        </p:nvSpPr>
        <p:spPr>
          <a:xfrm>
            <a:off x="6172200" y="2249424"/>
            <a:ext cx="1463040" cy="365760"/>
          </a:xfrm>
          <a:prstGeom prst="rect">
            <a:avLst/>
          </a:prstGeom>
          <a:noFill/>
        </p:spPr>
        <p:txBody>
          <a:bodyPr wrap="square" lIns="0" rIns="0" tIns="0" bIns="0" anchor="t">
            <a:spAutoFit/>
          </a:bodyPr>
          <a:lstStyle/>
          <a:p>
            <a:pPr algn="r"/>
            <a:r>
              <a:rPr sz="1700" b="0" i="0">
                <a:solidFill>
                  <a:srgbClr val="13202E"/>
                </a:solidFill>
                <a:latin typeface="Calibri"/>
              </a:rPr>
              <a:t>₦901,488</a:t>
            </a:r>
          </a:p>
        </p:txBody>
      </p:sp>
      <p:sp>
        <p:nvSpPr>
          <p:cNvPr id="14" name="Rounded Rectangle 13"/>
          <p:cNvSpPr/>
          <p:nvPr/>
        </p:nvSpPr>
        <p:spPr>
          <a:xfrm>
            <a:off x="548640" y="2816352"/>
            <a:ext cx="7223760" cy="640080"/>
          </a:xfrm>
          <a:prstGeom prst="roundRect">
            <a:avLst>
              <a:gd name="adj" fmla="val 12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58368" y="2898648"/>
            <a:ext cx="475488" cy="475488"/>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6" name="Picture 15" descr="Server.png"/>
          <p:cNvPicPr>
            <a:picLocks noChangeAspect="1"/>
          </p:cNvPicPr>
          <p:nvPr/>
        </p:nvPicPr>
        <p:blipFill>
          <a:blip r:embed="rId3"/>
          <a:stretch>
            <a:fillRect/>
          </a:stretch>
        </p:blipFill>
        <p:spPr>
          <a:xfrm>
            <a:off x="762975" y="3003255"/>
            <a:ext cx="266273" cy="266273"/>
          </a:xfrm>
          <a:prstGeom prst="rect">
            <a:avLst/>
          </a:prstGeom>
        </p:spPr>
      </p:pic>
      <p:sp>
        <p:nvSpPr>
          <p:cNvPr id="17" name="TextBox 16"/>
          <p:cNvSpPr txBox="1"/>
          <p:nvPr/>
        </p:nvSpPr>
        <p:spPr>
          <a:xfrm>
            <a:off x="1371600" y="2843784"/>
            <a:ext cx="3200400" cy="347472"/>
          </a:xfrm>
          <a:prstGeom prst="rect">
            <a:avLst/>
          </a:prstGeom>
          <a:noFill/>
        </p:spPr>
        <p:txBody>
          <a:bodyPr wrap="square" lIns="0" rIns="0" tIns="0" bIns="0" anchor="t">
            <a:spAutoFit/>
          </a:bodyPr>
          <a:lstStyle/>
          <a:p>
            <a:pPr algn="l"/>
            <a:r>
              <a:rPr sz="1700" b="1" i="0">
                <a:solidFill>
                  <a:srgbClr val="0B2545"/>
                </a:solidFill>
                <a:latin typeface="Calibri"/>
              </a:rPr>
              <a:t>Hosting</a:t>
            </a:r>
          </a:p>
        </p:txBody>
      </p:sp>
      <p:sp>
        <p:nvSpPr>
          <p:cNvPr id="18" name="TextBox 17"/>
          <p:cNvSpPr txBox="1"/>
          <p:nvPr/>
        </p:nvSpPr>
        <p:spPr>
          <a:xfrm>
            <a:off x="1371600" y="3163824"/>
            <a:ext cx="3200400" cy="274320"/>
          </a:xfrm>
          <a:prstGeom prst="rect">
            <a:avLst/>
          </a:prstGeom>
          <a:noFill/>
        </p:spPr>
        <p:txBody>
          <a:bodyPr wrap="square" lIns="0" rIns="0" tIns="0" bIns="0" anchor="t">
            <a:spAutoFit/>
          </a:bodyPr>
          <a:lstStyle/>
          <a:p>
            <a:pPr algn="l"/>
            <a:r>
              <a:rPr sz="1250" b="0" i="0">
                <a:solidFill>
                  <a:srgbClr val="33475B"/>
                </a:solidFill>
                <a:latin typeface="Calibri"/>
              </a:rPr>
              <a:t>Vercel</a:t>
            </a:r>
          </a:p>
        </p:txBody>
      </p:sp>
      <p:sp>
        <p:nvSpPr>
          <p:cNvPr id="19" name="TextBox 18"/>
          <p:cNvSpPr txBox="1"/>
          <p:nvPr/>
        </p:nvSpPr>
        <p:spPr>
          <a:xfrm>
            <a:off x="4572000" y="2962656"/>
            <a:ext cx="1554480" cy="365760"/>
          </a:xfrm>
          <a:prstGeom prst="rect">
            <a:avLst/>
          </a:prstGeom>
          <a:noFill/>
        </p:spPr>
        <p:txBody>
          <a:bodyPr wrap="square" lIns="0" rIns="0" tIns="0" bIns="0" anchor="t">
            <a:spAutoFit/>
          </a:bodyPr>
          <a:lstStyle/>
          <a:p>
            <a:pPr algn="r"/>
            <a:r>
              <a:rPr sz="1700" b="1" i="0">
                <a:solidFill>
                  <a:srgbClr val="13202E"/>
                </a:solidFill>
                <a:latin typeface="Calibri"/>
              </a:rPr>
              <a:t>₦49,322</a:t>
            </a:r>
          </a:p>
        </p:txBody>
      </p:sp>
      <p:sp>
        <p:nvSpPr>
          <p:cNvPr id="20" name="TextBox 19"/>
          <p:cNvSpPr txBox="1"/>
          <p:nvPr/>
        </p:nvSpPr>
        <p:spPr>
          <a:xfrm>
            <a:off x="6172200" y="2962656"/>
            <a:ext cx="1463040" cy="365760"/>
          </a:xfrm>
          <a:prstGeom prst="rect">
            <a:avLst/>
          </a:prstGeom>
          <a:noFill/>
        </p:spPr>
        <p:txBody>
          <a:bodyPr wrap="square" lIns="0" rIns="0" tIns="0" bIns="0" anchor="t">
            <a:spAutoFit/>
          </a:bodyPr>
          <a:lstStyle/>
          <a:p>
            <a:pPr algn="r"/>
            <a:r>
              <a:rPr sz="1700" b="0" i="0">
                <a:solidFill>
                  <a:srgbClr val="13202E"/>
                </a:solidFill>
                <a:latin typeface="Calibri"/>
              </a:rPr>
              <a:t>₦591,864</a:t>
            </a:r>
          </a:p>
        </p:txBody>
      </p:sp>
      <p:sp>
        <p:nvSpPr>
          <p:cNvPr id="21" name="Rounded Rectangle 20"/>
          <p:cNvSpPr/>
          <p:nvPr/>
        </p:nvSpPr>
        <p:spPr>
          <a:xfrm>
            <a:off x="548640" y="3529584"/>
            <a:ext cx="7223760" cy="640080"/>
          </a:xfrm>
          <a:prstGeom prst="roundRect">
            <a:avLst>
              <a:gd name="adj" fmla="val 12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58368" y="3611880"/>
            <a:ext cx="475488" cy="475488"/>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23" name="Picture 22" descr="MessageCircle.png"/>
          <p:cNvPicPr>
            <a:picLocks noChangeAspect="1"/>
          </p:cNvPicPr>
          <p:nvPr/>
        </p:nvPicPr>
        <p:blipFill>
          <a:blip r:embed="rId4"/>
          <a:stretch>
            <a:fillRect/>
          </a:stretch>
        </p:blipFill>
        <p:spPr>
          <a:xfrm>
            <a:off x="762975" y="3716487"/>
            <a:ext cx="266273" cy="266273"/>
          </a:xfrm>
          <a:prstGeom prst="rect">
            <a:avLst/>
          </a:prstGeom>
        </p:spPr>
      </p:pic>
      <p:sp>
        <p:nvSpPr>
          <p:cNvPr id="24" name="TextBox 23"/>
          <p:cNvSpPr txBox="1"/>
          <p:nvPr/>
        </p:nvSpPr>
        <p:spPr>
          <a:xfrm>
            <a:off x="1371600" y="3557016"/>
            <a:ext cx="3200400" cy="347472"/>
          </a:xfrm>
          <a:prstGeom prst="rect">
            <a:avLst/>
          </a:prstGeom>
          <a:noFill/>
        </p:spPr>
        <p:txBody>
          <a:bodyPr wrap="square" lIns="0" rIns="0" tIns="0" bIns="0" anchor="t">
            <a:spAutoFit/>
          </a:bodyPr>
          <a:lstStyle/>
          <a:p>
            <a:pPr algn="l"/>
            <a:r>
              <a:rPr sz="1700" b="1" i="0">
                <a:solidFill>
                  <a:srgbClr val="0B2545"/>
                </a:solidFill>
                <a:latin typeface="Calibri"/>
              </a:rPr>
              <a:t>WhatsApp</a:t>
            </a:r>
          </a:p>
        </p:txBody>
      </p:sp>
      <p:sp>
        <p:nvSpPr>
          <p:cNvPr id="25" name="TextBox 24"/>
          <p:cNvSpPr txBox="1"/>
          <p:nvPr/>
        </p:nvSpPr>
        <p:spPr>
          <a:xfrm>
            <a:off x="1371600" y="3877056"/>
            <a:ext cx="3200400" cy="274320"/>
          </a:xfrm>
          <a:prstGeom prst="rect">
            <a:avLst/>
          </a:prstGeom>
          <a:noFill/>
        </p:spPr>
        <p:txBody>
          <a:bodyPr wrap="square" lIns="0" rIns="0" tIns="0" bIns="0" anchor="t">
            <a:spAutoFit/>
          </a:bodyPr>
          <a:lstStyle/>
          <a:p>
            <a:pPr algn="l"/>
            <a:r>
              <a:rPr sz="1250" b="0" i="0">
                <a:solidFill>
                  <a:srgbClr val="33475B"/>
                </a:solidFill>
                <a:latin typeface="Calibri"/>
              </a:rPr>
              <a:t>WhatsApp Business (OEA)</a:t>
            </a:r>
          </a:p>
        </p:txBody>
      </p:sp>
      <p:sp>
        <p:nvSpPr>
          <p:cNvPr id="26" name="TextBox 25"/>
          <p:cNvSpPr txBox="1"/>
          <p:nvPr/>
        </p:nvSpPr>
        <p:spPr>
          <a:xfrm>
            <a:off x="4572000" y="3675888"/>
            <a:ext cx="1554480" cy="365760"/>
          </a:xfrm>
          <a:prstGeom prst="rect">
            <a:avLst/>
          </a:prstGeom>
          <a:noFill/>
        </p:spPr>
        <p:txBody>
          <a:bodyPr wrap="square" lIns="0" rIns="0" tIns="0" bIns="0" anchor="t">
            <a:spAutoFit/>
          </a:bodyPr>
          <a:lstStyle/>
          <a:p>
            <a:pPr algn="r"/>
            <a:r>
              <a:rPr sz="1700" b="1" i="0">
                <a:solidFill>
                  <a:srgbClr val="13202E"/>
                </a:solidFill>
                <a:latin typeface="Calibri"/>
              </a:rPr>
              <a:t>₦79,187.50</a:t>
            </a:r>
          </a:p>
        </p:txBody>
      </p:sp>
      <p:sp>
        <p:nvSpPr>
          <p:cNvPr id="27" name="TextBox 26"/>
          <p:cNvSpPr txBox="1"/>
          <p:nvPr/>
        </p:nvSpPr>
        <p:spPr>
          <a:xfrm>
            <a:off x="6172200" y="3675888"/>
            <a:ext cx="1463040" cy="365760"/>
          </a:xfrm>
          <a:prstGeom prst="rect">
            <a:avLst/>
          </a:prstGeom>
          <a:noFill/>
        </p:spPr>
        <p:txBody>
          <a:bodyPr wrap="square" lIns="0" rIns="0" tIns="0" bIns="0" anchor="t">
            <a:spAutoFit/>
          </a:bodyPr>
          <a:lstStyle/>
          <a:p>
            <a:pPr algn="r"/>
            <a:r>
              <a:rPr sz="1700" b="0" i="0">
                <a:solidFill>
                  <a:srgbClr val="13202E"/>
                </a:solidFill>
                <a:latin typeface="Calibri"/>
              </a:rPr>
              <a:t>₦950,250</a:t>
            </a:r>
          </a:p>
        </p:txBody>
      </p:sp>
      <p:sp>
        <p:nvSpPr>
          <p:cNvPr id="28" name="Rounded Rectangle 27"/>
          <p:cNvSpPr/>
          <p:nvPr/>
        </p:nvSpPr>
        <p:spPr>
          <a:xfrm>
            <a:off x="548640" y="4242816"/>
            <a:ext cx="7223760" cy="640080"/>
          </a:xfrm>
          <a:prstGeom prst="roundRect">
            <a:avLst>
              <a:gd name="adj" fmla="val 12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58368" y="4325112"/>
            <a:ext cx="475488" cy="475488"/>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30" name="Picture 29" descr="Bot.png"/>
          <p:cNvPicPr>
            <a:picLocks noChangeAspect="1"/>
          </p:cNvPicPr>
          <p:nvPr/>
        </p:nvPicPr>
        <p:blipFill>
          <a:blip r:embed="rId5"/>
          <a:stretch>
            <a:fillRect/>
          </a:stretch>
        </p:blipFill>
        <p:spPr>
          <a:xfrm>
            <a:off x="762975" y="4429719"/>
            <a:ext cx="266273" cy="266273"/>
          </a:xfrm>
          <a:prstGeom prst="rect">
            <a:avLst/>
          </a:prstGeom>
        </p:spPr>
      </p:pic>
      <p:sp>
        <p:nvSpPr>
          <p:cNvPr id="31" name="TextBox 30"/>
          <p:cNvSpPr txBox="1"/>
          <p:nvPr/>
        </p:nvSpPr>
        <p:spPr>
          <a:xfrm>
            <a:off x="1371600" y="4270248"/>
            <a:ext cx="3200400" cy="347472"/>
          </a:xfrm>
          <a:prstGeom prst="rect">
            <a:avLst/>
          </a:prstGeom>
          <a:noFill/>
        </p:spPr>
        <p:txBody>
          <a:bodyPr wrap="square" lIns="0" rIns="0" tIns="0" bIns="0" anchor="t">
            <a:spAutoFit/>
          </a:bodyPr>
          <a:lstStyle/>
          <a:p>
            <a:pPr algn="l"/>
            <a:r>
              <a:rPr sz="1700" b="1" i="0">
                <a:solidFill>
                  <a:srgbClr val="0B2545"/>
                </a:solidFill>
                <a:latin typeface="Calibri"/>
              </a:rPr>
              <a:t>AI</a:t>
            </a:r>
          </a:p>
        </p:txBody>
      </p:sp>
      <p:sp>
        <p:nvSpPr>
          <p:cNvPr id="32" name="TextBox 31"/>
          <p:cNvSpPr txBox="1"/>
          <p:nvPr/>
        </p:nvSpPr>
        <p:spPr>
          <a:xfrm>
            <a:off x="1371600" y="4590288"/>
            <a:ext cx="3200400" cy="274320"/>
          </a:xfrm>
          <a:prstGeom prst="rect">
            <a:avLst/>
          </a:prstGeom>
          <a:noFill/>
        </p:spPr>
        <p:txBody>
          <a:bodyPr wrap="square" lIns="0" rIns="0" tIns="0" bIns="0" anchor="t">
            <a:spAutoFit/>
          </a:bodyPr>
          <a:lstStyle/>
          <a:p>
            <a:pPr algn="l"/>
            <a:r>
              <a:rPr sz="1250" b="0" i="0">
                <a:solidFill>
                  <a:srgbClr val="33475B"/>
                </a:solidFill>
                <a:latin typeface="Calibri"/>
              </a:rPr>
              <a:t>Claude, with Gemini backup</a:t>
            </a:r>
          </a:p>
        </p:txBody>
      </p:sp>
      <p:sp>
        <p:nvSpPr>
          <p:cNvPr id="33" name="TextBox 32"/>
          <p:cNvSpPr txBox="1"/>
          <p:nvPr/>
        </p:nvSpPr>
        <p:spPr>
          <a:xfrm>
            <a:off x="4572000" y="4389120"/>
            <a:ext cx="1554480" cy="365760"/>
          </a:xfrm>
          <a:prstGeom prst="rect">
            <a:avLst/>
          </a:prstGeom>
          <a:noFill/>
        </p:spPr>
        <p:txBody>
          <a:bodyPr wrap="square" lIns="0" rIns="0" tIns="0" bIns="0" anchor="t">
            <a:spAutoFit/>
          </a:bodyPr>
          <a:lstStyle/>
          <a:p>
            <a:pPr algn="r"/>
            <a:r>
              <a:rPr sz="1700" b="1" i="0">
                <a:solidFill>
                  <a:srgbClr val="13202E"/>
                </a:solidFill>
                <a:latin typeface="Calibri"/>
              </a:rPr>
              <a:t>₦170,000</a:t>
            </a:r>
          </a:p>
        </p:txBody>
      </p:sp>
      <p:sp>
        <p:nvSpPr>
          <p:cNvPr id="34" name="TextBox 33"/>
          <p:cNvSpPr txBox="1"/>
          <p:nvPr/>
        </p:nvSpPr>
        <p:spPr>
          <a:xfrm>
            <a:off x="6172200" y="4389120"/>
            <a:ext cx="1463040" cy="365760"/>
          </a:xfrm>
          <a:prstGeom prst="rect">
            <a:avLst/>
          </a:prstGeom>
          <a:noFill/>
        </p:spPr>
        <p:txBody>
          <a:bodyPr wrap="square" lIns="0" rIns="0" tIns="0" bIns="0" anchor="t">
            <a:spAutoFit/>
          </a:bodyPr>
          <a:lstStyle/>
          <a:p>
            <a:pPr algn="r"/>
            <a:r>
              <a:rPr sz="1700" b="0" i="0">
                <a:solidFill>
                  <a:srgbClr val="13202E"/>
                </a:solidFill>
                <a:latin typeface="Calibri"/>
              </a:rPr>
              <a:t>₦170,000</a:t>
            </a:r>
          </a:p>
        </p:txBody>
      </p:sp>
      <p:sp>
        <p:nvSpPr>
          <p:cNvPr id="35" name="Rounded Rectangle 34"/>
          <p:cNvSpPr/>
          <p:nvPr/>
        </p:nvSpPr>
        <p:spPr>
          <a:xfrm>
            <a:off x="548640" y="4956048"/>
            <a:ext cx="7223760" cy="640080"/>
          </a:xfrm>
          <a:prstGeom prst="roundRect">
            <a:avLst>
              <a:gd name="adj" fmla="val 12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658368" y="5038344"/>
            <a:ext cx="475488" cy="475488"/>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37" name="Picture 36" descr="Activity.png"/>
          <p:cNvPicPr>
            <a:picLocks noChangeAspect="1"/>
          </p:cNvPicPr>
          <p:nvPr/>
        </p:nvPicPr>
        <p:blipFill>
          <a:blip r:embed="rId6"/>
          <a:stretch>
            <a:fillRect/>
          </a:stretch>
        </p:blipFill>
        <p:spPr>
          <a:xfrm>
            <a:off x="762975" y="5142951"/>
            <a:ext cx="266273" cy="266273"/>
          </a:xfrm>
          <a:prstGeom prst="rect">
            <a:avLst/>
          </a:prstGeom>
        </p:spPr>
      </p:pic>
      <p:sp>
        <p:nvSpPr>
          <p:cNvPr id="38" name="TextBox 37"/>
          <p:cNvSpPr txBox="1"/>
          <p:nvPr/>
        </p:nvSpPr>
        <p:spPr>
          <a:xfrm>
            <a:off x="1371600" y="4983480"/>
            <a:ext cx="3200400" cy="347472"/>
          </a:xfrm>
          <a:prstGeom prst="rect">
            <a:avLst/>
          </a:prstGeom>
          <a:noFill/>
        </p:spPr>
        <p:txBody>
          <a:bodyPr wrap="square" lIns="0" rIns="0" tIns="0" bIns="0" anchor="t">
            <a:spAutoFit/>
          </a:bodyPr>
          <a:lstStyle/>
          <a:p>
            <a:pPr algn="l"/>
            <a:r>
              <a:rPr sz="1700" b="1" i="0">
                <a:solidFill>
                  <a:srgbClr val="0B2545"/>
                </a:solidFill>
                <a:latin typeface="Calibri"/>
              </a:rPr>
              <a:t>Monitoring</a:t>
            </a:r>
          </a:p>
        </p:txBody>
      </p:sp>
      <p:sp>
        <p:nvSpPr>
          <p:cNvPr id="39" name="TextBox 38"/>
          <p:cNvSpPr txBox="1"/>
          <p:nvPr/>
        </p:nvSpPr>
        <p:spPr>
          <a:xfrm>
            <a:off x="1371600" y="5303520"/>
            <a:ext cx="3200400" cy="274320"/>
          </a:xfrm>
          <a:prstGeom prst="rect">
            <a:avLst/>
          </a:prstGeom>
          <a:noFill/>
        </p:spPr>
        <p:txBody>
          <a:bodyPr wrap="square" lIns="0" rIns="0" tIns="0" bIns="0" anchor="t">
            <a:spAutoFit/>
          </a:bodyPr>
          <a:lstStyle/>
          <a:p>
            <a:pPr algn="l"/>
            <a:r>
              <a:rPr sz="1250" b="0" i="0">
                <a:solidFill>
                  <a:srgbClr val="33475B"/>
                </a:solidFill>
                <a:latin typeface="Calibri"/>
              </a:rPr>
              <a:t>Sentry, Better Uptime (optional)</a:t>
            </a:r>
          </a:p>
        </p:txBody>
      </p:sp>
      <p:sp>
        <p:nvSpPr>
          <p:cNvPr id="40" name="TextBox 39"/>
          <p:cNvSpPr txBox="1"/>
          <p:nvPr/>
        </p:nvSpPr>
        <p:spPr>
          <a:xfrm>
            <a:off x="4572000" y="5102352"/>
            <a:ext cx="1554480" cy="365760"/>
          </a:xfrm>
          <a:prstGeom prst="rect">
            <a:avLst/>
          </a:prstGeom>
          <a:noFill/>
        </p:spPr>
        <p:txBody>
          <a:bodyPr wrap="square" lIns="0" rIns="0" tIns="0" bIns="0" anchor="t">
            <a:spAutoFit/>
          </a:bodyPr>
          <a:lstStyle/>
          <a:p>
            <a:pPr algn="r"/>
            <a:r>
              <a:rPr sz="1700" b="1" i="0">
                <a:solidFill>
                  <a:srgbClr val="13202E"/>
                </a:solidFill>
                <a:latin typeface="Calibri"/>
              </a:rPr>
              <a:t>₦48,450</a:t>
            </a:r>
          </a:p>
        </p:txBody>
      </p:sp>
      <p:sp>
        <p:nvSpPr>
          <p:cNvPr id="41" name="TextBox 40"/>
          <p:cNvSpPr txBox="1"/>
          <p:nvPr/>
        </p:nvSpPr>
        <p:spPr>
          <a:xfrm>
            <a:off x="6172200" y="5102352"/>
            <a:ext cx="1463040" cy="365760"/>
          </a:xfrm>
          <a:prstGeom prst="rect">
            <a:avLst/>
          </a:prstGeom>
          <a:noFill/>
        </p:spPr>
        <p:txBody>
          <a:bodyPr wrap="square" lIns="0" rIns="0" tIns="0" bIns="0" anchor="t">
            <a:spAutoFit/>
          </a:bodyPr>
          <a:lstStyle/>
          <a:p>
            <a:pPr algn="r"/>
            <a:r>
              <a:rPr sz="1700" b="0" i="0">
                <a:solidFill>
                  <a:srgbClr val="13202E"/>
                </a:solidFill>
                <a:latin typeface="Calibri"/>
              </a:rPr>
              <a:t>₦588,000</a:t>
            </a:r>
          </a:p>
        </p:txBody>
      </p:sp>
      <p:sp>
        <p:nvSpPr>
          <p:cNvPr id="42" name="Rounded Rectangle 41"/>
          <p:cNvSpPr/>
          <p:nvPr/>
        </p:nvSpPr>
        <p:spPr>
          <a:xfrm>
            <a:off x="548640" y="5715000"/>
            <a:ext cx="7223760" cy="658368"/>
          </a:xfrm>
          <a:prstGeom prst="roundRect">
            <a:avLst>
              <a:gd name="adj" fmla="val 12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371600" y="5833872"/>
            <a:ext cx="3108960" cy="411480"/>
          </a:xfrm>
          <a:prstGeom prst="rect">
            <a:avLst/>
          </a:prstGeom>
          <a:noFill/>
        </p:spPr>
        <p:txBody>
          <a:bodyPr wrap="square" lIns="0" rIns="0" tIns="0" bIns="0" anchor="t">
            <a:spAutoFit/>
          </a:bodyPr>
          <a:lstStyle/>
          <a:p>
            <a:pPr algn="l"/>
            <a:r>
              <a:rPr sz="1900" b="1" i="0">
                <a:solidFill>
                  <a:srgbClr val="FFFFFF"/>
                </a:solidFill>
                <a:latin typeface="Calibri"/>
              </a:rPr>
              <a:t>Total</a:t>
            </a:r>
          </a:p>
        </p:txBody>
      </p:sp>
      <p:sp>
        <p:nvSpPr>
          <p:cNvPr id="44" name="TextBox 43"/>
          <p:cNvSpPr txBox="1"/>
          <p:nvPr/>
        </p:nvSpPr>
        <p:spPr>
          <a:xfrm>
            <a:off x="4206240" y="5833872"/>
            <a:ext cx="1920240" cy="411480"/>
          </a:xfrm>
          <a:prstGeom prst="rect">
            <a:avLst/>
          </a:prstGeom>
          <a:noFill/>
        </p:spPr>
        <p:txBody>
          <a:bodyPr wrap="square" lIns="0" rIns="0" tIns="0" bIns="0" anchor="t">
            <a:spAutoFit/>
          </a:bodyPr>
          <a:lstStyle/>
          <a:p>
            <a:pPr algn="r"/>
            <a:r>
              <a:rPr sz="1900" b="1" i="0">
                <a:solidFill>
                  <a:srgbClr val="FFFFFF"/>
                </a:solidFill>
                <a:latin typeface="Calibri"/>
              </a:rPr>
              <a:t>₦422,083.50</a:t>
            </a:r>
          </a:p>
        </p:txBody>
      </p:sp>
      <p:sp>
        <p:nvSpPr>
          <p:cNvPr id="45" name="TextBox 44"/>
          <p:cNvSpPr txBox="1"/>
          <p:nvPr/>
        </p:nvSpPr>
        <p:spPr>
          <a:xfrm>
            <a:off x="6035040" y="5833872"/>
            <a:ext cx="1600200" cy="411480"/>
          </a:xfrm>
          <a:prstGeom prst="rect">
            <a:avLst/>
          </a:prstGeom>
          <a:noFill/>
        </p:spPr>
        <p:txBody>
          <a:bodyPr wrap="square" lIns="0" rIns="0" tIns="0" bIns="0" anchor="t">
            <a:spAutoFit/>
          </a:bodyPr>
          <a:lstStyle/>
          <a:p>
            <a:pPr algn="r"/>
            <a:r>
              <a:rPr sz="1900" b="1" i="0">
                <a:solidFill>
                  <a:srgbClr val="FFFFFF"/>
                </a:solidFill>
                <a:latin typeface="Calibri"/>
              </a:rPr>
              <a:t>₦3,201,602</a:t>
            </a:r>
          </a:p>
        </p:txBody>
      </p:sp>
      <p:sp>
        <p:nvSpPr>
          <p:cNvPr id="46" name="Rounded Rectangle 45"/>
          <p:cNvSpPr/>
          <p:nvPr/>
        </p:nvSpPr>
        <p:spPr>
          <a:xfrm>
            <a:off x="8092440" y="1783080"/>
            <a:ext cx="3520440" cy="4480560"/>
          </a:xfrm>
          <a:prstGeom prst="roundRect">
            <a:avLst>
              <a:gd name="adj" fmla="val 5000"/>
            </a:avLst>
          </a:prstGeom>
          <a:solidFill>
            <a:srgbClr val="FFFFFF"/>
          </a:solidFill>
          <a:ln w="9525">
            <a:solidFill>
              <a:srgbClr val="16723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8321040" y="1920240"/>
            <a:ext cx="3108960" cy="411480"/>
          </a:xfrm>
          <a:prstGeom prst="rect">
            <a:avLst/>
          </a:prstGeom>
          <a:noFill/>
        </p:spPr>
        <p:txBody>
          <a:bodyPr wrap="square" lIns="0" rIns="0" tIns="0" bIns="0" anchor="t">
            <a:spAutoFit/>
          </a:bodyPr>
          <a:lstStyle/>
          <a:p>
            <a:pPr algn="l"/>
            <a:r>
              <a:rPr sz="1900" b="1" i="0">
                <a:solidFill>
                  <a:srgbClr val="16723F"/>
                </a:solidFill>
                <a:latin typeface="Cambria"/>
              </a:rPr>
              <a:t>Already covered or free</a:t>
            </a:r>
          </a:p>
        </p:txBody>
      </p:sp>
      <p:sp>
        <p:nvSpPr>
          <p:cNvPr id="48" name="Oval 47"/>
          <p:cNvSpPr/>
          <p:nvPr/>
        </p:nvSpPr>
        <p:spPr>
          <a:xfrm>
            <a:off x="8321040" y="2560320"/>
            <a:ext cx="548640" cy="54864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49" name="Picture 48" descr="Globe.png"/>
          <p:cNvPicPr>
            <a:picLocks noChangeAspect="1"/>
          </p:cNvPicPr>
          <p:nvPr/>
        </p:nvPicPr>
        <p:blipFill>
          <a:blip r:embed="rId7"/>
          <a:stretch>
            <a:fillRect/>
          </a:stretch>
        </p:blipFill>
        <p:spPr>
          <a:xfrm>
            <a:off x="8441740" y="2681020"/>
            <a:ext cx="307238" cy="307238"/>
          </a:xfrm>
          <a:prstGeom prst="rect">
            <a:avLst/>
          </a:prstGeom>
        </p:spPr>
      </p:pic>
      <p:sp>
        <p:nvSpPr>
          <p:cNvPr id="50" name="TextBox 49"/>
          <p:cNvSpPr txBox="1"/>
          <p:nvPr/>
        </p:nvSpPr>
        <p:spPr>
          <a:xfrm>
            <a:off x="9006840" y="2514600"/>
            <a:ext cx="2514600" cy="365760"/>
          </a:xfrm>
          <a:prstGeom prst="rect">
            <a:avLst/>
          </a:prstGeom>
          <a:noFill/>
        </p:spPr>
        <p:txBody>
          <a:bodyPr wrap="square" lIns="0" rIns="0" tIns="0" bIns="0" anchor="t">
            <a:spAutoFit/>
          </a:bodyPr>
          <a:lstStyle/>
          <a:p>
            <a:pPr algn="l"/>
            <a:r>
              <a:rPr sz="1550" b="1" i="0">
                <a:solidFill>
                  <a:srgbClr val="0B2545"/>
                </a:solidFill>
                <a:latin typeface="Calibri"/>
              </a:rPr>
              <a:t>Website names</a:t>
            </a:r>
          </a:p>
        </p:txBody>
      </p:sp>
      <p:sp>
        <p:nvSpPr>
          <p:cNvPr id="51" name="TextBox 50"/>
          <p:cNvSpPr txBox="1"/>
          <p:nvPr/>
        </p:nvSpPr>
        <p:spPr>
          <a:xfrm>
            <a:off x="9006840" y="2880360"/>
            <a:ext cx="2514600" cy="365760"/>
          </a:xfrm>
          <a:prstGeom prst="rect">
            <a:avLst/>
          </a:prstGeom>
          <a:noFill/>
        </p:spPr>
        <p:txBody>
          <a:bodyPr wrap="square" lIns="0" rIns="0" tIns="0" bIns="0" anchor="t">
            <a:spAutoFit/>
          </a:bodyPr>
          <a:lstStyle/>
          <a:p>
            <a:pPr algn="l"/>
            <a:r>
              <a:rPr sz="1350" b="0" i="0">
                <a:solidFill>
                  <a:srgbClr val="13202E"/>
                </a:solidFill>
                <a:latin typeface="Calibri"/>
              </a:rPr>
              <a:t>Paid for two years</a:t>
            </a:r>
          </a:p>
        </p:txBody>
      </p:sp>
      <p:sp>
        <p:nvSpPr>
          <p:cNvPr id="52" name="Oval 51"/>
          <p:cNvSpPr/>
          <p:nvPr/>
        </p:nvSpPr>
        <p:spPr>
          <a:xfrm>
            <a:off x="8321040" y="3474720"/>
            <a:ext cx="548640" cy="54864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53" name="Picture 52" descr="CreditCard.png"/>
          <p:cNvPicPr>
            <a:picLocks noChangeAspect="1"/>
          </p:cNvPicPr>
          <p:nvPr/>
        </p:nvPicPr>
        <p:blipFill>
          <a:blip r:embed="rId8"/>
          <a:stretch>
            <a:fillRect/>
          </a:stretch>
        </p:blipFill>
        <p:spPr>
          <a:xfrm>
            <a:off x="8441740" y="3595420"/>
            <a:ext cx="307238" cy="307238"/>
          </a:xfrm>
          <a:prstGeom prst="rect">
            <a:avLst/>
          </a:prstGeom>
        </p:spPr>
      </p:pic>
      <p:sp>
        <p:nvSpPr>
          <p:cNvPr id="54" name="TextBox 53"/>
          <p:cNvSpPr txBox="1"/>
          <p:nvPr/>
        </p:nvSpPr>
        <p:spPr>
          <a:xfrm>
            <a:off x="9006840" y="3429000"/>
            <a:ext cx="2514600" cy="365760"/>
          </a:xfrm>
          <a:prstGeom prst="rect">
            <a:avLst/>
          </a:prstGeom>
          <a:noFill/>
        </p:spPr>
        <p:txBody>
          <a:bodyPr wrap="square" lIns="0" rIns="0" tIns="0" bIns="0" anchor="t">
            <a:spAutoFit/>
          </a:bodyPr>
          <a:lstStyle/>
          <a:p>
            <a:pPr algn="l"/>
            <a:r>
              <a:rPr sz="1550" b="1" i="0">
                <a:solidFill>
                  <a:srgbClr val="0B2545"/>
                </a:solidFill>
                <a:latin typeface="Calibri"/>
              </a:rPr>
              <a:t>Paystack, Flutterwave</a:t>
            </a:r>
          </a:p>
        </p:txBody>
      </p:sp>
      <p:sp>
        <p:nvSpPr>
          <p:cNvPr id="55" name="TextBox 54"/>
          <p:cNvSpPr txBox="1"/>
          <p:nvPr/>
        </p:nvSpPr>
        <p:spPr>
          <a:xfrm>
            <a:off x="9006840" y="3794760"/>
            <a:ext cx="2514600" cy="365760"/>
          </a:xfrm>
          <a:prstGeom prst="rect">
            <a:avLst/>
          </a:prstGeom>
          <a:noFill/>
        </p:spPr>
        <p:txBody>
          <a:bodyPr wrap="square" lIns="0" rIns="0" tIns="0" bIns="0" anchor="t">
            <a:spAutoFit/>
          </a:bodyPr>
          <a:lstStyle/>
          <a:p>
            <a:pPr algn="l"/>
            <a:r>
              <a:rPr sz="1350" b="0" i="0">
                <a:solidFill>
                  <a:srgbClr val="13202E"/>
                </a:solidFill>
                <a:latin typeface="Calibri"/>
              </a:rPr>
              <a:t>Fees per payment only</a:t>
            </a:r>
          </a:p>
        </p:txBody>
      </p:sp>
      <p:sp>
        <p:nvSpPr>
          <p:cNvPr id="56" name="Oval 55"/>
          <p:cNvSpPr/>
          <p:nvPr/>
        </p:nvSpPr>
        <p:spPr>
          <a:xfrm>
            <a:off x="8321040" y="4389120"/>
            <a:ext cx="548640" cy="54864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57" name="Picture 56" descr="ShieldCheck.png"/>
          <p:cNvPicPr>
            <a:picLocks noChangeAspect="1"/>
          </p:cNvPicPr>
          <p:nvPr/>
        </p:nvPicPr>
        <p:blipFill>
          <a:blip r:embed="rId9"/>
          <a:stretch>
            <a:fillRect/>
          </a:stretch>
        </p:blipFill>
        <p:spPr>
          <a:xfrm>
            <a:off x="8441740" y="4509820"/>
            <a:ext cx="307238" cy="307238"/>
          </a:xfrm>
          <a:prstGeom prst="rect">
            <a:avLst/>
          </a:prstGeom>
        </p:spPr>
      </p:pic>
      <p:sp>
        <p:nvSpPr>
          <p:cNvPr id="58" name="TextBox 57"/>
          <p:cNvSpPr txBox="1"/>
          <p:nvPr/>
        </p:nvSpPr>
        <p:spPr>
          <a:xfrm>
            <a:off x="9006840" y="4343400"/>
            <a:ext cx="2514600" cy="365760"/>
          </a:xfrm>
          <a:prstGeom prst="rect">
            <a:avLst/>
          </a:prstGeom>
          <a:noFill/>
        </p:spPr>
        <p:txBody>
          <a:bodyPr wrap="square" lIns="0" rIns="0" tIns="0" bIns="0" anchor="t">
            <a:spAutoFit/>
          </a:bodyPr>
          <a:lstStyle/>
          <a:p>
            <a:pPr algn="l"/>
            <a:r>
              <a:rPr sz="1550" b="1" i="0">
                <a:solidFill>
                  <a:srgbClr val="0B2545"/>
                </a:solidFill>
                <a:latin typeface="Calibri"/>
              </a:rPr>
              <a:t>Form protection, Telegram</a:t>
            </a:r>
          </a:p>
        </p:txBody>
      </p:sp>
      <p:sp>
        <p:nvSpPr>
          <p:cNvPr id="59" name="TextBox 58"/>
          <p:cNvSpPr txBox="1"/>
          <p:nvPr/>
        </p:nvSpPr>
        <p:spPr>
          <a:xfrm>
            <a:off x="9006840" y="4709160"/>
            <a:ext cx="2514600" cy="365760"/>
          </a:xfrm>
          <a:prstGeom prst="rect">
            <a:avLst/>
          </a:prstGeom>
          <a:noFill/>
        </p:spPr>
        <p:txBody>
          <a:bodyPr wrap="square" lIns="0" rIns="0" tIns="0" bIns="0" anchor="t">
            <a:spAutoFit/>
          </a:bodyPr>
          <a:lstStyle/>
          <a:p>
            <a:pPr algn="l"/>
            <a:r>
              <a:rPr sz="1350" b="0" i="0">
                <a:solidFill>
                  <a:srgbClr val="13202E"/>
                </a:solidFill>
                <a:latin typeface="Calibri"/>
              </a:rPr>
              <a:t>Free for now</a:t>
            </a:r>
          </a:p>
        </p:txBody>
      </p:sp>
      <p:sp>
        <p:nvSpPr>
          <p:cNvPr id="60" name="Oval 59"/>
          <p:cNvSpPr/>
          <p:nvPr/>
        </p:nvSpPr>
        <p:spPr>
          <a:xfrm>
            <a:off x="8321040" y="5303520"/>
            <a:ext cx="548640" cy="548640"/>
          </a:xfrm>
          <a:prstGeom prst="ellipse">
            <a:avLst/>
          </a:prstGeom>
          <a:solidFill>
            <a:srgbClr val="1672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61" name="Picture 60" descr="Database.png"/>
          <p:cNvPicPr>
            <a:picLocks noChangeAspect="1"/>
          </p:cNvPicPr>
          <p:nvPr/>
        </p:nvPicPr>
        <p:blipFill>
          <a:blip r:embed="rId2"/>
          <a:stretch>
            <a:fillRect/>
          </a:stretch>
        </p:blipFill>
        <p:spPr>
          <a:xfrm>
            <a:off x="8441740" y="5424220"/>
            <a:ext cx="307238" cy="307238"/>
          </a:xfrm>
          <a:prstGeom prst="rect">
            <a:avLst/>
          </a:prstGeom>
        </p:spPr>
      </p:pic>
      <p:sp>
        <p:nvSpPr>
          <p:cNvPr id="62" name="TextBox 61"/>
          <p:cNvSpPr txBox="1"/>
          <p:nvPr/>
        </p:nvSpPr>
        <p:spPr>
          <a:xfrm>
            <a:off x="9006840" y="5257800"/>
            <a:ext cx="2514600" cy="365760"/>
          </a:xfrm>
          <a:prstGeom prst="rect">
            <a:avLst/>
          </a:prstGeom>
          <a:noFill/>
        </p:spPr>
        <p:txBody>
          <a:bodyPr wrap="square" lIns="0" rIns="0" tIns="0" bIns="0" anchor="t">
            <a:spAutoFit/>
          </a:bodyPr>
          <a:lstStyle/>
          <a:p>
            <a:pPr algn="l"/>
            <a:r>
              <a:rPr sz="1550" b="1" i="0">
                <a:solidFill>
                  <a:srgbClr val="0B2545"/>
                </a:solidFill>
                <a:latin typeface="Calibri"/>
              </a:rPr>
              <a:t>Data backups</a:t>
            </a:r>
          </a:p>
        </p:txBody>
      </p:sp>
      <p:sp>
        <p:nvSpPr>
          <p:cNvPr id="63" name="TextBox 62"/>
          <p:cNvSpPr txBox="1"/>
          <p:nvPr/>
        </p:nvSpPr>
        <p:spPr>
          <a:xfrm>
            <a:off x="9006840" y="5623560"/>
            <a:ext cx="2514600" cy="365760"/>
          </a:xfrm>
          <a:prstGeom prst="rect">
            <a:avLst/>
          </a:prstGeom>
          <a:noFill/>
        </p:spPr>
        <p:txBody>
          <a:bodyPr wrap="square" lIns="0" rIns="0" tIns="0" bIns="0" anchor="t">
            <a:spAutoFit/>
          </a:bodyPr>
          <a:lstStyle/>
          <a:p>
            <a:pPr algn="l"/>
            <a:r>
              <a:rPr sz="1350" b="0" i="0">
                <a:solidFill>
                  <a:srgbClr val="13202E"/>
                </a:solidFill>
                <a:latin typeface="Calibri"/>
              </a:rPr>
              <a:t>On TFML's Google Workspace</a:t>
            </a:r>
          </a:p>
        </p:txBody>
      </p:sp>
      <p:sp>
        <p:nvSpPr>
          <p:cNvPr id="64" name="TextBox 63"/>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33475B"/>
                </a:solidFill>
                <a:latin typeface="Calibri"/>
              </a:rPr>
              <a:t>OE Group · TENTai · Board Confidential · 7 October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lIns="0" rIns="0" tIns="0" bIns="0" anchor="t">
            <a:spAutoFit/>
          </a:bodyPr>
          <a:lstStyle/>
          <a:p>
            <a:pPr algn="l"/>
            <a:r>
              <a:rPr sz="3600" b="1" i="0">
                <a:solidFill>
                  <a:srgbClr val="0B2545"/>
                </a:solidFill>
                <a:latin typeface="Cambria"/>
              </a:rPr>
              <a:t>Still to finish</a:t>
            </a:r>
          </a:p>
        </p:txBody>
      </p:sp>
      <p:sp>
        <p:nvSpPr>
          <p:cNvPr id="3" name="TextBox 2"/>
          <p:cNvSpPr txBox="1"/>
          <p:nvPr/>
        </p:nvSpPr>
        <p:spPr>
          <a:xfrm>
            <a:off x="548640" y="1097280"/>
            <a:ext cx="11064240" cy="457200"/>
          </a:xfrm>
          <a:prstGeom prst="rect">
            <a:avLst/>
          </a:prstGeom>
          <a:noFill/>
        </p:spPr>
        <p:txBody>
          <a:bodyPr wrap="square" lIns="0" rIns="0" tIns="0" bIns="0" anchor="t">
            <a:spAutoFit/>
          </a:bodyPr>
          <a:lstStyle/>
          <a:p>
            <a:pPr algn="l"/>
            <a:r>
              <a:rPr sz="1800" b="0" i="0">
                <a:solidFill>
                  <a:srgbClr val="33475B"/>
                </a:solidFill>
                <a:latin typeface="Calibri"/>
              </a:rPr>
              <a:t>What remains before the system is complete and fully compliant.</a:t>
            </a:r>
          </a:p>
        </p:txBody>
      </p:sp>
      <p:sp>
        <p:nvSpPr>
          <p:cNvPr id="4" name="Rounded Rectangle 3"/>
          <p:cNvSpPr/>
          <p:nvPr/>
        </p:nvSpPr>
        <p:spPr>
          <a:xfrm>
            <a:off x="548640" y="1783080"/>
            <a:ext cx="5440680" cy="1325880"/>
          </a:xfrm>
          <a:prstGeom prst="roundRect">
            <a:avLst>
              <a:gd name="adj" fmla="val 8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 y="2011680"/>
            <a:ext cx="868680" cy="868680"/>
          </a:xfrm>
          <a:prstGeom prst="ellipse">
            <a:avLst/>
          </a:prstGeom>
          <a:solidFill>
            <a:srgbClr val="A3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6" name="Picture 5" descr="CreditCard.png"/>
          <p:cNvPicPr>
            <a:picLocks noChangeAspect="1"/>
          </p:cNvPicPr>
          <p:nvPr/>
        </p:nvPicPr>
        <p:blipFill>
          <a:blip r:embed="rId2"/>
          <a:stretch>
            <a:fillRect/>
          </a:stretch>
        </p:blipFill>
        <p:spPr>
          <a:xfrm>
            <a:off x="968349" y="2202789"/>
            <a:ext cx="486460" cy="486460"/>
          </a:xfrm>
          <a:prstGeom prst="rect">
            <a:avLst/>
          </a:prstGeom>
        </p:spPr>
      </p:pic>
      <p:sp>
        <p:nvSpPr>
          <p:cNvPr id="7" name="TextBox 6"/>
          <p:cNvSpPr txBox="1"/>
          <p:nvPr/>
        </p:nvSpPr>
        <p:spPr>
          <a:xfrm>
            <a:off x="1828800" y="1947672"/>
            <a:ext cx="2651760" cy="685800"/>
          </a:xfrm>
          <a:prstGeom prst="rect">
            <a:avLst/>
          </a:prstGeom>
          <a:noFill/>
        </p:spPr>
        <p:txBody>
          <a:bodyPr wrap="square" lIns="0" rIns="0" tIns="0" bIns="0" anchor="t">
            <a:spAutoFit/>
          </a:bodyPr>
          <a:lstStyle/>
          <a:p>
            <a:pPr algn="l"/>
            <a:r>
              <a:rPr sz="1650" b="1" i="0">
                <a:solidFill>
                  <a:srgbClr val="0B2545"/>
                </a:solidFill>
                <a:latin typeface="Calibri"/>
              </a:rPr>
              <a:t>Connect live payment keys</a:t>
            </a:r>
          </a:p>
        </p:txBody>
      </p:sp>
      <p:sp>
        <p:nvSpPr>
          <p:cNvPr id="8" name="TextBox 7"/>
          <p:cNvSpPr txBox="1"/>
          <p:nvPr/>
        </p:nvSpPr>
        <p:spPr>
          <a:xfrm>
            <a:off x="1828800" y="2587752"/>
            <a:ext cx="3108960" cy="411480"/>
          </a:xfrm>
          <a:prstGeom prst="rect">
            <a:avLst/>
          </a:prstGeom>
          <a:noFill/>
        </p:spPr>
        <p:txBody>
          <a:bodyPr wrap="square" lIns="0" rIns="0" tIns="0" bIns="0" anchor="t">
            <a:spAutoFit/>
          </a:bodyPr>
          <a:lstStyle/>
          <a:p>
            <a:pPr algn="l"/>
            <a:r>
              <a:rPr sz="1400" b="0" i="0">
                <a:solidFill>
                  <a:srgbClr val="13202E"/>
                </a:solidFill>
                <a:latin typeface="Calibri"/>
              </a:rPr>
              <a:t>Then one real payment, checked by hand</a:t>
            </a:r>
          </a:p>
        </p:txBody>
      </p:sp>
      <p:sp>
        <p:nvSpPr>
          <p:cNvPr id="9" name="Rounded Rectangle 8"/>
          <p:cNvSpPr/>
          <p:nvPr/>
        </p:nvSpPr>
        <p:spPr>
          <a:xfrm>
            <a:off x="4617720" y="2011680"/>
            <a:ext cx="1188720" cy="347472"/>
          </a:xfrm>
          <a:prstGeom prst="roundRect">
            <a:avLst>
              <a:gd name="adj" fmla="val 50000"/>
            </a:avLst>
          </a:prstGeom>
          <a:solidFill>
            <a:srgbClr val="A3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NEXT</a:t>
            </a:r>
          </a:p>
        </p:txBody>
      </p:sp>
      <p:sp>
        <p:nvSpPr>
          <p:cNvPr id="10" name="Rounded Rectangle 9"/>
          <p:cNvSpPr/>
          <p:nvPr/>
        </p:nvSpPr>
        <p:spPr>
          <a:xfrm>
            <a:off x="6172200" y="1783080"/>
            <a:ext cx="5440680" cy="1325880"/>
          </a:xfrm>
          <a:prstGeom prst="roundRect">
            <a:avLst>
              <a:gd name="adj" fmla="val 8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00800" y="2011680"/>
            <a:ext cx="868680" cy="868680"/>
          </a:xfrm>
          <a:prstGeom prst="ellipse">
            <a:avLst/>
          </a:prstGeom>
          <a:solidFill>
            <a:srgbClr val="A3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2" name="Picture 11" descr="UserCheck.png"/>
          <p:cNvPicPr>
            <a:picLocks noChangeAspect="1"/>
          </p:cNvPicPr>
          <p:nvPr/>
        </p:nvPicPr>
        <p:blipFill>
          <a:blip r:embed="rId3"/>
          <a:stretch>
            <a:fillRect/>
          </a:stretch>
        </p:blipFill>
        <p:spPr>
          <a:xfrm>
            <a:off x="6591909" y="2202789"/>
            <a:ext cx="486460" cy="486460"/>
          </a:xfrm>
          <a:prstGeom prst="rect">
            <a:avLst/>
          </a:prstGeom>
        </p:spPr>
      </p:pic>
      <p:sp>
        <p:nvSpPr>
          <p:cNvPr id="13" name="TextBox 12"/>
          <p:cNvSpPr txBox="1"/>
          <p:nvPr/>
        </p:nvSpPr>
        <p:spPr>
          <a:xfrm>
            <a:off x="7452360" y="1947672"/>
            <a:ext cx="2651760" cy="685800"/>
          </a:xfrm>
          <a:prstGeom prst="rect">
            <a:avLst/>
          </a:prstGeom>
          <a:noFill/>
        </p:spPr>
        <p:txBody>
          <a:bodyPr wrap="square" lIns="0" rIns="0" tIns="0" bIns="0" anchor="t">
            <a:spAutoFit/>
          </a:bodyPr>
          <a:lstStyle/>
          <a:p>
            <a:pPr algn="l"/>
            <a:r>
              <a:rPr sz="1650" b="1" i="0">
                <a:solidFill>
                  <a:srgbClr val="0B2545"/>
                </a:solidFill>
                <a:latin typeface="Calibri"/>
              </a:rPr>
              <a:t>Onboard and test Engr Ola's role</a:t>
            </a:r>
          </a:p>
        </p:txBody>
      </p:sp>
      <p:sp>
        <p:nvSpPr>
          <p:cNvPr id="14" name="TextBox 13"/>
          <p:cNvSpPr txBox="1"/>
          <p:nvPr/>
        </p:nvSpPr>
        <p:spPr>
          <a:xfrm>
            <a:off x="7452360" y="2587752"/>
            <a:ext cx="3108960" cy="411480"/>
          </a:xfrm>
          <a:prstGeom prst="rect">
            <a:avLst/>
          </a:prstGeom>
          <a:noFill/>
        </p:spPr>
        <p:txBody>
          <a:bodyPr wrap="square" lIns="0" rIns="0" tIns="0" bIns="0" anchor="t">
            <a:spAutoFit/>
          </a:bodyPr>
          <a:lstStyle/>
          <a:p>
            <a:pPr algn="l"/>
            <a:r>
              <a:rPr sz="1400" b="0" i="0">
                <a:solidFill>
                  <a:srgbClr val="13202E"/>
                </a:solidFill>
                <a:latin typeface="Calibri"/>
              </a:rPr>
              <a:t>Instruction given; testing follows</a:t>
            </a:r>
          </a:p>
        </p:txBody>
      </p:sp>
      <p:sp>
        <p:nvSpPr>
          <p:cNvPr id="15" name="Rounded Rectangle 14"/>
          <p:cNvSpPr/>
          <p:nvPr/>
        </p:nvSpPr>
        <p:spPr>
          <a:xfrm>
            <a:off x="10241280" y="2011680"/>
            <a:ext cx="1188720" cy="347472"/>
          </a:xfrm>
          <a:prstGeom prst="roundRect">
            <a:avLst>
              <a:gd name="adj" fmla="val 50000"/>
            </a:avLst>
          </a:prstGeom>
          <a:solidFill>
            <a:srgbClr val="A35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NEXT</a:t>
            </a:r>
          </a:p>
        </p:txBody>
      </p:sp>
      <p:sp>
        <p:nvSpPr>
          <p:cNvPr id="16" name="Rounded Rectangle 15"/>
          <p:cNvSpPr/>
          <p:nvPr/>
        </p:nvSpPr>
        <p:spPr>
          <a:xfrm>
            <a:off x="548640" y="3264408"/>
            <a:ext cx="5440680" cy="1325880"/>
          </a:xfrm>
          <a:prstGeom prst="roundRect">
            <a:avLst>
              <a:gd name="adj" fmla="val 8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77240" y="3493008"/>
            <a:ext cx="868680" cy="86868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8" name="Picture 17" descr="GraduationCap.png"/>
          <p:cNvPicPr>
            <a:picLocks noChangeAspect="1"/>
          </p:cNvPicPr>
          <p:nvPr/>
        </p:nvPicPr>
        <p:blipFill>
          <a:blip r:embed="rId4"/>
          <a:stretch>
            <a:fillRect/>
          </a:stretch>
        </p:blipFill>
        <p:spPr>
          <a:xfrm>
            <a:off x="968349" y="3684117"/>
            <a:ext cx="486460" cy="486460"/>
          </a:xfrm>
          <a:prstGeom prst="rect">
            <a:avLst/>
          </a:prstGeom>
        </p:spPr>
      </p:pic>
      <p:sp>
        <p:nvSpPr>
          <p:cNvPr id="19" name="TextBox 18"/>
          <p:cNvSpPr txBox="1"/>
          <p:nvPr/>
        </p:nvSpPr>
        <p:spPr>
          <a:xfrm>
            <a:off x="1828800" y="3429000"/>
            <a:ext cx="2651760" cy="685800"/>
          </a:xfrm>
          <a:prstGeom prst="rect">
            <a:avLst/>
          </a:prstGeom>
          <a:noFill/>
        </p:spPr>
        <p:txBody>
          <a:bodyPr wrap="square" lIns="0" rIns="0" tIns="0" bIns="0" anchor="t">
            <a:spAutoFit/>
          </a:bodyPr>
          <a:lstStyle/>
          <a:p>
            <a:pPr algn="l"/>
            <a:r>
              <a:rPr sz="1650" b="1" i="0">
                <a:solidFill>
                  <a:srgbClr val="0B2545"/>
                </a:solidFill>
                <a:latin typeface="Calibri"/>
              </a:rPr>
              <a:t>Finish staff training</a:t>
            </a:r>
          </a:p>
        </p:txBody>
      </p:sp>
      <p:sp>
        <p:nvSpPr>
          <p:cNvPr id="20" name="TextBox 19"/>
          <p:cNvSpPr txBox="1"/>
          <p:nvPr/>
        </p:nvSpPr>
        <p:spPr>
          <a:xfrm>
            <a:off x="1828800" y="4069080"/>
            <a:ext cx="3108960" cy="411480"/>
          </a:xfrm>
          <a:prstGeom prst="rect">
            <a:avLst/>
          </a:prstGeom>
          <a:noFill/>
        </p:spPr>
        <p:txBody>
          <a:bodyPr wrap="square" lIns="0" rIns="0" tIns="0" bIns="0" anchor="t">
            <a:spAutoFit/>
          </a:bodyPr>
          <a:lstStyle/>
          <a:p>
            <a:pPr algn="l"/>
            <a:r>
              <a:rPr sz="1400" b="0" i="0">
                <a:solidFill>
                  <a:srgbClr val="13202E"/>
                </a:solidFill>
                <a:latin typeface="Calibri"/>
              </a:rPr>
              <a:t>Days 2 and 3: today and tomorrow</a:t>
            </a:r>
          </a:p>
        </p:txBody>
      </p:sp>
      <p:sp>
        <p:nvSpPr>
          <p:cNvPr id="21" name="Rounded Rectangle 20"/>
          <p:cNvSpPr/>
          <p:nvPr/>
        </p:nvSpPr>
        <p:spPr>
          <a:xfrm>
            <a:off x="4617720" y="3493008"/>
            <a:ext cx="1188720" cy="347472"/>
          </a:xfrm>
          <a:prstGeom prst="roundRect">
            <a:avLst>
              <a:gd name="adj" fmla="val 50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THIS WEEK</a:t>
            </a:r>
          </a:p>
        </p:txBody>
      </p:sp>
      <p:sp>
        <p:nvSpPr>
          <p:cNvPr id="22" name="Rounded Rectangle 21"/>
          <p:cNvSpPr/>
          <p:nvPr/>
        </p:nvSpPr>
        <p:spPr>
          <a:xfrm>
            <a:off x="6172200" y="3264408"/>
            <a:ext cx="5440680" cy="1325880"/>
          </a:xfrm>
          <a:prstGeom prst="roundRect">
            <a:avLst>
              <a:gd name="adj" fmla="val 8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00800" y="3493008"/>
            <a:ext cx="868680" cy="868680"/>
          </a:xfrm>
          <a:prstGeom prst="ellipse">
            <a:avLst/>
          </a:prstGeom>
          <a:solidFill>
            <a:srgbClr val="A82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24" name="Picture 23" descr="ClipboardCheck.png"/>
          <p:cNvPicPr>
            <a:picLocks noChangeAspect="1"/>
          </p:cNvPicPr>
          <p:nvPr/>
        </p:nvPicPr>
        <p:blipFill>
          <a:blip r:embed="rId5"/>
          <a:stretch>
            <a:fillRect/>
          </a:stretch>
        </p:blipFill>
        <p:spPr>
          <a:xfrm>
            <a:off x="6591909" y="3684117"/>
            <a:ext cx="486460" cy="486460"/>
          </a:xfrm>
          <a:prstGeom prst="rect">
            <a:avLst/>
          </a:prstGeom>
        </p:spPr>
      </p:pic>
      <p:sp>
        <p:nvSpPr>
          <p:cNvPr id="25" name="TextBox 24"/>
          <p:cNvSpPr txBox="1"/>
          <p:nvPr/>
        </p:nvSpPr>
        <p:spPr>
          <a:xfrm>
            <a:off x="7452360" y="3429000"/>
            <a:ext cx="2651760" cy="685800"/>
          </a:xfrm>
          <a:prstGeom prst="rect">
            <a:avLst/>
          </a:prstGeom>
          <a:noFill/>
        </p:spPr>
        <p:txBody>
          <a:bodyPr wrap="square" lIns="0" rIns="0" tIns="0" bIns="0" anchor="t">
            <a:spAutoFit/>
          </a:bodyPr>
          <a:lstStyle/>
          <a:p>
            <a:pPr algn="l"/>
            <a:r>
              <a:rPr sz="1650" b="1" i="0">
                <a:solidFill>
                  <a:srgbClr val="0B2545"/>
                </a:solidFill>
                <a:latin typeface="Calibri"/>
              </a:rPr>
              <a:t>Sign the data agreements</a:t>
            </a:r>
          </a:p>
        </p:txBody>
      </p:sp>
      <p:sp>
        <p:nvSpPr>
          <p:cNvPr id="26" name="TextBox 25"/>
          <p:cNvSpPr txBox="1"/>
          <p:nvPr/>
        </p:nvSpPr>
        <p:spPr>
          <a:xfrm>
            <a:off x="7452360" y="4069080"/>
            <a:ext cx="3108960" cy="411480"/>
          </a:xfrm>
          <a:prstGeom prst="rect">
            <a:avLst/>
          </a:prstGeom>
          <a:noFill/>
        </p:spPr>
        <p:txBody>
          <a:bodyPr wrap="square" lIns="0" rIns="0" tIns="0" bIns="0" anchor="t">
            <a:spAutoFit/>
          </a:bodyPr>
          <a:lstStyle/>
          <a:p>
            <a:pPr algn="l"/>
            <a:r>
              <a:rPr sz="1400" b="0" i="0">
                <a:solidFill>
                  <a:srgbClr val="13202E"/>
                </a:solidFill>
                <a:latin typeface="Calibri"/>
              </a:rPr>
              <a:t>With each outside service provider</a:t>
            </a:r>
          </a:p>
        </p:txBody>
      </p:sp>
      <p:sp>
        <p:nvSpPr>
          <p:cNvPr id="27" name="Rounded Rectangle 26"/>
          <p:cNvSpPr/>
          <p:nvPr/>
        </p:nvSpPr>
        <p:spPr>
          <a:xfrm>
            <a:off x="10241280" y="3493008"/>
            <a:ext cx="1188720" cy="347472"/>
          </a:xfrm>
          <a:prstGeom prst="roundRect">
            <a:avLst>
              <a:gd name="adj" fmla="val 50000"/>
            </a:avLst>
          </a:prstGeom>
          <a:solidFill>
            <a:srgbClr val="A82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OPEN</a:t>
            </a:r>
          </a:p>
        </p:txBody>
      </p:sp>
      <p:sp>
        <p:nvSpPr>
          <p:cNvPr id="28" name="Rounded Rectangle 27"/>
          <p:cNvSpPr/>
          <p:nvPr/>
        </p:nvSpPr>
        <p:spPr>
          <a:xfrm>
            <a:off x="548640" y="4745736"/>
            <a:ext cx="5440680" cy="1325880"/>
          </a:xfrm>
          <a:prstGeom prst="roundRect">
            <a:avLst>
              <a:gd name="adj" fmla="val 8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77240" y="4974336"/>
            <a:ext cx="868680" cy="868680"/>
          </a:xfrm>
          <a:prstGeom prst="ellipse">
            <a:avLst/>
          </a:prstGeom>
          <a:solidFill>
            <a:srgbClr val="A82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30" name="Picture 29" descr="ShieldCheck.png"/>
          <p:cNvPicPr>
            <a:picLocks noChangeAspect="1"/>
          </p:cNvPicPr>
          <p:nvPr/>
        </p:nvPicPr>
        <p:blipFill>
          <a:blip r:embed="rId6"/>
          <a:stretch>
            <a:fillRect/>
          </a:stretch>
        </p:blipFill>
        <p:spPr>
          <a:xfrm>
            <a:off x="968349" y="5165445"/>
            <a:ext cx="486460" cy="486460"/>
          </a:xfrm>
          <a:prstGeom prst="rect">
            <a:avLst/>
          </a:prstGeom>
        </p:spPr>
      </p:pic>
      <p:sp>
        <p:nvSpPr>
          <p:cNvPr id="31" name="TextBox 30"/>
          <p:cNvSpPr txBox="1"/>
          <p:nvPr/>
        </p:nvSpPr>
        <p:spPr>
          <a:xfrm>
            <a:off x="1828800" y="4910328"/>
            <a:ext cx="2651760" cy="685800"/>
          </a:xfrm>
          <a:prstGeom prst="rect">
            <a:avLst/>
          </a:prstGeom>
          <a:noFill/>
        </p:spPr>
        <p:txBody>
          <a:bodyPr wrap="square" lIns="0" rIns="0" tIns="0" bIns="0" anchor="t">
            <a:spAutoFit/>
          </a:bodyPr>
          <a:lstStyle/>
          <a:p>
            <a:pPr algn="l"/>
            <a:r>
              <a:rPr sz="1650" b="1" i="0">
                <a:solidFill>
                  <a:srgbClr val="0B2545"/>
                </a:solidFill>
                <a:latin typeface="Calibri"/>
              </a:rPr>
              <a:t>Legal review of the privacy notice</a:t>
            </a:r>
          </a:p>
        </p:txBody>
      </p:sp>
      <p:sp>
        <p:nvSpPr>
          <p:cNvPr id="32" name="TextBox 31"/>
          <p:cNvSpPr txBox="1"/>
          <p:nvPr/>
        </p:nvSpPr>
        <p:spPr>
          <a:xfrm>
            <a:off x="1828800" y="5550408"/>
            <a:ext cx="3108960" cy="411480"/>
          </a:xfrm>
          <a:prstGeom prst="rect">
            <a:avLst/>
          </a:prstGeom>
          <a:noFill/>
        </p:spPr>
        <p:txBody>
          <a:bodyPr wrap="square" lIns="0" rIns="0" tIns="0" bIns="0" anchor="t">
            <a:spAutoFit/>
          </a:bodyPr>
          <a:lstStyle/>
          <a:p>
            <a:pPr algn="l"/>
            <a:r>
              <a:rPr sz="1400" b="0" i="0">
                <a:solidFill>
                  <a:srgbClr val="13202E"/>
                </a:solidFill>
                <a:latin typeface="Calibri"/>
              </a:rPr>
              <a:t>The notice is published; review owed</a:t>
            </a:r>
          </a:p>
        </p:txBody>
      </p:sp>
      <p:sp>
        <p:nvSpPr>
          <p:cNvPr id="33" name="Rounded Rectangle 32"/>
          <p:cNvSpPr/>
          <p:nvPr/>
        </p:nvSpPr>
        <p:spPr>
          <a:xfrm>
            <a:off x="4617720" y="4974336"/>
            <a:ext cx="1188720" cy="347472"/>
          </a:xfrm>
          <a:prstGeom prst="roundRect">
            <a:avLst>
              <a:gd name="adj" fmla="val 50000"/>
            </a:avLst>
          </a:prstGeom>
          <a:solidFill>
            <a:srgbClr val="A82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OPEN</a:t>
            </a:r>
          </a:p>
        </p:txBody>
      </p:sp>
      <p:sp>
        <p:nvSpPr>
          <p:cNvPr id="34" name="Rounded Rectangle 33"/>
          <p:cNvSpPr/>
          <p:nvPr/>
        </p:nvSpPr>
        <p:spPr>
          <a:xfrm>
            <a:off x="6172200" y="4745736"/>
            <a:ext cx="5440680" cy="1325880"/>
          </a:xfrm>
          <a:prstGeom prst="roundRect">
            <a:avLst>
              <a:gd name="adj" fmla="val 8000"/>
            </a:avLst>
          </a:prstGeom>
          <a:solidFill>
            <a:srgbClr val="FFFFFF"/>
          </a:solidFill>
          <a:ln w="9525">
            <a:solidFill>
              <a:srgbClr val="C9D4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800" y="4974336"/>
            <a:ext cx="868680" cy="868680"/>
          </a:xfrm>
          <a:prstGeom prst="ellipse">
            <a:avLst/>
          </a:prstGeom>
          <a:solidFill>
            <a:srgbClr val="A82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36" name="Picture 35" descr="Landmark.png"/>
          <p:cNvPicPr>
            <a:picLocks noChangeAspect="1"/>
          </p:cNvPicPr>
          <p:nvPr/>
        </p:nvPicPr>
        <p:blipFill>
          <a:blip r:embed="rId7"/>
          <a:stretch>
            <a:fillRect/>
          </a:stretch>
        </p:blipFill>
        <p:spPr>
          <a:xfrm>
            <a:off x="6591909" y="5165445"/>
            <a:ext cx="486460" cy="486460"/>
          </a:xfrm>
          <a:prstGeom prst="rect">
            <a:avLst/>
          </a:prstGeom>
        </p:spPr>
      </p:pic>
      <p:sp>
        <p:nvSpPr>
          <p:cNvPr id="37" name="TextBox 36"/>
          <p:cNvSpPr txBox="1"/>
          <p:nvPr/>
        </p:nvSpPr>
        <p:spPr>
          <a:xfrm>
            <a:off x="7452360" y="4910328"/>
            <a:ext cx="2651760" cy="685800"/>
          </a:xfrm>
          <a:prstGeom prst="rect">
            <a:avLst/>
          </a:prstGeom>
          <a:noFill/>
        </p:spPr>
        <p:txBody>
          <a:bodyPr wrap="square" lIns="0" rIns="0" tIns="0" bIns="0" anchor="t">
            <a:spAutoFit/>
          </a:bodyPr>
          <a:lstStyle/>
          <a:p>
            <a:pPr algn="l"/>
            <a:r>
              <a:rPr sz="1650" b="1" i="0">
                <a:solidFill>
                  <a:srgbClr val="0B2545"/>
                </a:solidFill>
                <a:latin typeface="Calibri"/>
              </a:rPr>
              <a:t>Register with the NDPC</a:t>
            </a:r>
          </a:p>
        </p:txBody>
      </p:sp>
      <p:sp>
        <p:nvSpPr>
          <p:cNvPr id="38" name="TextBox 37"/>
          <p:cNvSpPr txBox="1"/>
          <p:nvPr/>
        </p:nvSpPr>
        <p:spPr>
          <a:xfrm>
            <a:off x="7452360" y="5550408"/>
            <a:ext cx="3108960" cy="411480"/>
          </a:xfrm>
          <a:prstGeom prst="rect">
            <a:avLst/>
          </a:prstGeom>
          <a:noFill/>
        </p:spPr>
        <p:txBody>
          <a:bodyPr wrap="square" lIns="0" rIns="0" tIns="0" bIns="0" anchor="t">
            <a:spAutoFit/>
          </a:bodyPr>
          <a:lstStyle/>
          <a:p>
            <a:pPr algn="l"/>
            <a:r>
              <a:rPr sz="1400" b="0" i="0">
                <a:solidFill>
                  <a:srgbClr val="13202E"/>
                </a:solidFill>
                <a:latin typeface="Calibri"/>
              </a:rPr>
              <a:t>The national data protection regulator</a:t>
            </a:r>
          </a:p>
        </p:txBody>
      </p:sp>
      <p:sp>
        <p:nvSpPr>
          <p:cNvPr id="39" name="Rounded Rectangle 38"/>
          <p:cNvSpPr/>
          <p:nvPr/>
        </p:nvSpPr>
        <p:spPr>
          <a:xfrm>
            <a:off x="10241280" y="4974336"/>
            <a:ext cx="1188720" cy="347472"/>
          </a:xfrm>
          <a:prstGeom prst="roundRect">
            <a:avLst>
              <a:gd name="adj" fmla="val 50000"/>
            </a:avLst>
          </a:prstGeom>
          <a:solidFill>
            <a:srgbClr val="A82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OPEN</a:t>
            </a:r>
          </a:p>
        </p:txBody>
      </p:sp>
      <p:sp>
        <p:nvSpPr>
          <p:cNvPr id="40" name="TextBox 39"/>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33475B"/>
                </a:solidFill>
                <a:latin typeface="Calibri"/>
              </a:rPr>
              <a:t>OE Group · TENTai · Board Confidential · 7 October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82B"/>
        </a:solidFill>
        <a:effectLst/>
      </p:bgPr>
    </p:bg>
    <p:spTree>
      <p:nvGrpSpPr>
        <p:cNvPr id="1" name=""/>
        <p:cNvGrpSpPr/>
        <p:nvPr/>
      </p:nvGrpSpPr>
      <p:grpSpPr/>
      <p:sp>
        <p:nvSpPr>
          <p:cNvPr id="2" name="Rectangle 1"/>
          <p:cNvSpPr/>
          <p:nvPr/>
        </p:nvSpPr>
        <p:spPr>
          <a:xfrm>
            <a:off x="8778240" y="0"/>
            <a:ext cx="3410712"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457200"/>
            <a:ext cx="8046720" cy="731520"/>
          </a:xfrm>
          <a:prstGeom prst="rect">
            <a:avLst/>
          </a:prstGeom>
          <a:noFill/>
        </p:spPr>
        <p:txBody>
          <a:bodyPr wrap="square" lIns="0" rIns="0" tIns="0" bIns="0" anchor="t">
            <a:spAutoFit/>
          </a:bodyPr>
          <a:lstStyle/>
          <a:p>
            <a:pPr algn="l"/>
            <a:r>
              <a:rPr sz="3600" b="1" i="0">
                <a:solidFill>
                  <a:srgbClr val="FFFFFF"/>
                </a:solidFill>
                <a:latin typeface="Cambria"/>
              </a:rPr>
              <a:t>What we ask the board today</a:t>
            </a:r>
          </a:p>
        </p:txBody>
      </p:sp>
      <p:sp>
        <p:nvSpPr>
          <p:cNvPr id="4" name="Oval 3"/>
          <p:cNvSpPr/>
          <p:nvPr/>
        </p:nvSpPr>
        <p:spPr>
          <a:xfrm>
            <a:off x="548640" y="1508760"/>
            <a:ext cx="685800" cy="685800"/>
          </a:xfrm>
          <a:prstGeom prst="ellipse">
            <a:avLst/>
          </a:prstGeom>
          <a:solidFill>
            <a:srgbClr val="D49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8182B"/>
                </a:solidFill>
                <a:latin typeface="Cambria"/>
              </a:rPr>
              <a:t>1</a:t>
            </a:r>
          </a:p>
        </p:txBody>
      </p:sp>
      <p:sp>
        <p:nvSpPr>
          <p:cNvPr id="5" name="TextBox 4"/>
          <p:cNvSpPr txBox="1"/>
          <p:nvPr/>
        </p:nvSpPr>
        <p:spPr>
          <a:xfrm>
            <a:off x="1463040" y="1463040"/>
            <a:ext cx="7132320" cy="457200"/>
          </a:xfrm>
          <a:prstGeom prst="rect">
            <a:avLst/>
          </a:prstGeom>
          <a:noFill/>
        </p:spPr>
        <p:txBody>
          <a:bodyPr wrap="square" lIns="0" rIns="0" tIns="0" bIns="0" anchor="t">
            <a:spAutoFit/>
          </a:bodyPr>
          <a:lstStyle/>
          <a:p>
            <a:pPr algn="l"/>
            <a:r>
              <a:rPr sz="2200" b="1" i="0">
                <a:solidFill>
                  <a:srgbClr val="FFFFFF"/>
                </a:solidFill>
                <a:latin typeface="Calibri"/>
              </a:rPr>
              <a:t>Release the Stage 2 balance</a:t>
            </a:r>
          </a:p>
        </p:txBody>
      </p:sp>
      <p:sp>
        <p:nvSpPr>
          <p:cNvPr id="6" name="TextBox 5"/>
          <p:cNvSpPr txBox="1"/>
          <p:nvPr/>
        </p:nvSpPr>
        <p:spPr>
          <a:xfrm>
            <a:off x="1463040" y="1965960"/>
            <a:ext cx="7132320" cy="640080"/>
          </a:xfrm>
          <a:prstGeom prst="rect">
            <a:avLst/>
          </a:prstGeom>
          <a:noFill/>
        </p:spPr>
        <p:txBody>
          <a:bodyPr wrap="square" lIns="0" rIns="0" tIns="0" bIns="0" anchor="t">
            <a:spAutoFit/>
          </a:bodyPr>
          <a:lstStyle/>
          <a:p>
            <a:pPr algn="l"/>
            <a:r>
              <a:rPr sz="1600" b="0" i="0">
                <a:solidFill>
                  <a:srgbClr val="CFE0F5"/>
                </a:solidFill>
                <a:latin typeface="Calibri"/>
              </a:rPr>
              <a:t>₦533,359.38, to finish training and close out Stage 2.</a:t>
            </a:r>
          </a:p>
        </p:txBody>
      </p:sp>
      <p:sp>
        <p:nvSpPr>
          <p:cNvPr id="7" name="Oval 6"/>
          <p:cNvSpPr/>
          <p:nvPr/>
        </p:nvSpPr>
        <p:spPr>
          <a:xfrm>
            <a:off x="548640" y="2715768"/>
            <a:ext cx="685800" cy="685800"/>
          </a:xfrm>
          <a:prstGeom prst="ellipse">
            <a:avLst/>
          </a:prstGeom>
          <a:solidFill>
            <a:srgbClr val="D49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8182B"/>
                </a:solidFill>
                <a:latin typeface="Cambria"/>
              </a:rPr>
              <a:t>2</a:t>
            </a:r>
          </a:p>
        </p:txBody>
      </p:sp>
      <p:sp>
        <p:nvSpPr>
          <p:cNvPr id="8" name="TextBox 7"/>
          <p:cNvSpPr txBox="1"/>
          <p:nvPr/>
        </p:nvSpPr>
        <p:spPr>
          <a:xfrm>
            <a:off x="1463040" y="2670048"/>
            <a:ext cx="7132320" cy="457200"/>
          </a:xfrm>
          <a:prstGeom prst="rect">
            <a:avLst/>
          </a:prstGeom>
          <a:noFill/>
        </p:spPr>
        <p:txBody>
          <a:bodyPr wrap="square" lIns="0" rIns="0" tIns="0" bIns="0" anchor="t">
            <a:spAutoFit/>
          </a:bodyPr>
          <a:lstStyle/>
          <a:p>
            <a:pPr algn="l"/>
            <a:r>
              <a:rPr sz="2200" b="1" i="0">
                <a:solidFill>
                  <a:srgbClr val="FFFFFF"/>
                </a:solidFill>
                <a:latin typeface="Calibri"/>
              </a:rPr>
              <a:t>Approve the monthly subscriptions</a:t>
            </a:r>
          </a:p>
        </p:txBody>
      </p:sp>
      <p:sp>
        <p:nvSpPr>
          <p:cNvPr id="9" name="TextBox 8"/>
          <p:cNvSpPr txBox="1"/>
          <p:nvPr/>
        </p:nvSpPr>
        <p:spPr>
          <a:xfrm>
            <a:off x="1463040" y="3172968"/>
            <a:ext cx="7132320" cy="640080"/>
          </a:xfrm>
          <a:prstGeom prst="rect">
            <a:avLst/>
          </a:prstGeom>
          <a:noFill/>
        </p:spPr>
        <p:txBody>
          <a:bodyPr wrap="square" lIns="0" rIns="0" tIns="0" bIns="0" anchor="t">
            <a:spAutoFit/>
          </a:bodyPr>
          <a:lstStyle/>
          <a:p>
            <a:pPr algn="l"/>
            <a:r>
              <a:rPr sz="1600" b="0" i="0">
                <a:solidFill>
                  <a:srgbClr val="CFE0F5"/>
                </a:solidFill>
                <a:latin typeface="Calibri"/>
              </a:rPr>
              <a:t>About ₦422,000 a month, so no service is cut off. WhatsApp has already lapsed once.</a:t>
            </a:r>
          </a:p>
        </p:txBody>
      </p:sp>
      <p:sp>
        <p:nvSpPr>
          <p:cNvPr id="10" name="Oval 9"/>
          <p:cNvSpPr/>
          <p:nvPr/>
        </p:nvSpPr>
        <p:spPr>
          <a:xfrm>
            <a:off x="548640" y="3922776"/>
            <a:ext cx="685800" cy="685800"/>
          </a:xfrm>
          <a:prstGeom prst="ellipse">
            <a:avLst/>
          </a:prstGeom>
          <a:solidFill>
            <a:srgbClr val="D49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8182B"/>
                </a:solidFill>
                <a:latin typeface="Cambria"/>
              </a:rPr>
              <a:t>3</a:t>
            </a:r>
          </a:p>
        </p:txBody>
      </p:sp>
      <p:sp>
        <p:nvSpPr>
          <p:cNvPr id="11" name="TextBox 10"/>
          <p:cNvSpPr txBox="1"/>
          <p:nvPr/>
        </p:nvSpPr>
        <p:spPr>
          <a:xfrm>
            <a:off x="1463040" y="3877056"/>
            <a:ext cx="7132320" cy="457200"/>
          </a:xfrm>
          <a:prstGeom prst="rect">
            <a:avLst/>
          </a:prstGeom>
          <a:noFill/>
        </p:spPr>
        <p:txBody>
          <a:bodyPr wrap="square" lIns="0" rIns="0" tIns="0" bIns="0" anchor="t">
            <a:spAutoFit/>
          </a:bodyPr>
          <a:lstStyle/>
          <a:p>
            <a:pPr algn="l"/>
            <a:r>
              <a:rPr sz="2200" b="1" i="0">
                <a:solidFill>
                  <a:srgbClr val="FFFFFF"/>
                </a:solidFill>
                <a:latin typeface="Calibri"/>
              </a:rPr>
              <a:t>Agree how the two payment providers are used</a:t>
            </a:r>
          </a:p>
        </p:txBody>
      </p:sp>
      <p:sp>
        <p:nvSpPr>
          <p:cNvPr id="12" name="TextBox 11"/>
          <p:cNvSpPr txBox="1"/>
          <p:nvPr/>
        </p:nvSpPr>
        <p:spPr>
          <a:xfrm>
            <a:off x="1463040" y="4379976"/>
            <a:ext cx="7132320" cy="640080"/>
          </a:xfrm>
          <a:prstGeom prst="rect">
            <a:avLst/>
          </a:prstGeom>
          <a:noFill/>
        </p:spPr>
        <p:txBody>
          <a:bodyPr wrap="square" lIns="0" rIns="0" tIns="0" bIns="0" anchor="t">
            <a:spAutoFit/>
          </a:bodyPr>
          <a:lstStyle/>
          <a:p>
            <a:pPr algn="l"/>
            <a:r>
              <a:rPr sz="1600" b="0" i="0">
                <a:solidFill>
                  <a:srgbClr val="CFE0F5"/>
                </a:solidFill>
                <a:latin typeface="Calibri"/>
              </a:rPr>
              <a:t>Flutterwave to collect payments, Paystack to pay vendors and landlords.</a:t>
            </a:r>
          </a:p>
        </p:txBody>
      </p:sp>
      <p:sp>
        <p:nvSpPr>
          <p:cNvPr id="13" name="Oval 12"/>
          <p:cNvSpPr/>
          <p:nvPr/>
        </p:nvSpPr>
        <p:spPr>
          <a:xfrm>
            <a:off x="548640" y="5129784"/>
            <a:ext cx="685800" cy="685800"/>
          </a:xfrm>
          <a:prstGeom prst="ellipse">
            <a:avLst/>
          </a:prstGeom>
          <a:solidFill>
            <a:srgbClr val="D49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08182B"/>
                </a:solidFill>
                <a:latin typeface="Cambria"/>
              </a:rPr>
              <a:t>4</a:t>
            </a:r>
          </a:p>
        </p:txBody>
      </p:sp>
      <p:sp>
        <p:nvSpPr>
          <p:cNvPr id="14" name="TextBox 13"/>
          <p:cNvSpPr txBox="1"/>
          <p:nvPr/>
        </p:nvSpPr>
        <p:spPr>
          <a:xfrm>
            <a:off x="1463040" y="5084064"/>
            <a:ext cx="7132320" cy="457200"/>
          </a:xfrm>
          <a:prstGeom prst="rect">
            <a:avLst/>
          </a:prstGeom>
          <a:noFill/>
        </p:spPr>
        <p:txBody>
          <a:bodyPr wrap="square" lIns="0" rIns="0" tIns="0" bIns="0" anchor="t">
            <a:spAutoFit/>
          </a:bodyPr>
          <a:lstStyle/>
          <a:p>
            <a:pPr algn="l"/>
            <a:r>
              <a:rPr sz="2200" b="1" i="0">
                <a:solidFill>
                  <a:srgbClr val="FFFFFF"/>
                </a:solidFill>
                <a:latin typeface="Calibri"/>
              </a:rPr>
              <a:t>Support Engr Ola's onboarding this week</a:t>
            </a:r>
          </a:p>
        </p:txBody>
      </p:sp>
      <p:sp>
        <p:nvSpPr>
          <p:cNvPr id="15" name="TextBox 14"/>
          <p:cNvSpPr txBox="1"/>
          <p:nvPr/>
        </p:nvSpPr>
        <p:spPr>
          <a:xfrm>
            <a:off x="1463040" y="5586984"/>
            <a:ext cx="7132320" cy="640080"/>
          </a:xfrm>
          <a:prstGeom prst="rect">
            <a:avLst/>
          </a:prstGeom>
          <a:noFill/>
        </p:spPr>
        <p:txBody>
          <a:bodyPr wrap="square" lIns="0" rIns="0" tIns="0" bIns="0" anchor="t">
            <a:spAutoFit/>
          </a:bodyPr>
          <a:lstStyle/>
          <a:p>
            <a:pPr algn="l"/>
            <a:r>
              <a:rPr sz="1600" b="0" i="0">
                <a:solidFill>
                  <a:srgbClr val="CFE0F5"/>
                </a:solidFill>
                <a:latin typeface="Calibri"/>
              </a:rPr>
              <a:t>So her new role can be tested with her before it is relied on.</a:t>
            </a:r>
          </a:p>
        </p:txBody>
      </p:sp>
      <p:sp>
        <p:nvSpPr>
          <p:cNvPr id="16" name="Oval 15"/>
          <p:cNvSpPr/>
          <p:nvPr/>
        </p:nvSpPr>
        <p:spPr>
          <a:xfrm>
            <a:off x="9189720" y="685800"/>
            <a:ext cx="777240" cy="777240"/>
          </a:xfrm>
          <a:prstGeom prst="ellipse">
            <a:avLst/>
          </a:prstGeom>
          <a:solidFill>
            <a:srgbClr val="D49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17" name="Picture 16" descr="Rocket.png"/>
          <p:cNvPicPr>
            <a:picLocks noChangeAspect="1"/>
          </p:cNvPicPr>
          <p:nvPr/>
        </p:nvPicPr>
        <p:blipFill>
          <a:blip r:embed="rId2"/>
          <a:stretch>
            <a:fillRect/>
          </a:stretch>
        </p:blipFill>
        <p:spPr>
          <a:xfrm>
            <a:off x="9360712" y="856792"/>
            <a:ext cx="435254" cy="435254"/>
          </a:xfrm>
          <a:prstGeom prst="rect">
            <a:avLst/>
          </a:prstGeom>
        </p:spPr>
      </p:pic>
      <p:sp>
        <p:nvSpPr>
          <p:cNvPr id="18" name="TextBox 17"/>
          <p:cNvSpPr txBox="1"/>
          <p:nvPr/>
        </p:nvSpPr>
        <p:spPr>
          <a:xfrm>
            <a:off x="10104120" y="667512"/>
            <a:ext cx="2011680" cy="548640"/>
          </a:xfrm>
          <a:prstGeom prst="rect">
            <a:avLst/>
          </a:prstGeom>
          <a:noFill/>
        </p:spPr>
        <p:txBody>
          <a:bodyPr wrap="square" lIns="0" rIns="0" tIns="0" bIns="0" anchor="t">
            <a:spAutoFit/>
          </a:bodyPr>
          <a:lstStyle/>
          <a:p>
            <a:pPr algn="l"/>
            <a:r>
              <a:rPr sz="2800" b="1" i="0">
                <a:solidFill>
                  <a:srgbClr val="FFFFFF"/>
                </a:solidFill>
                <a:latin typeface="Cambria"/>
              </a:rPr>
              <a:t>LIVE</a:t>
            </a:r>
          </a:p>
        </p:txBody>
      </p:sp>
      <p:sp>
        <p:nvSpPr>
          <p:cNvPr id="19" name="TextBox 18"/>
          <p:cNvSpPr txBox="1"/>
          <p:nvPr/>
        </p:nvSpPr>
        <p:spPr>
          <a:xfrm>
            <a:off x="9189720" y="1554480"/>
            <a:ext cx="2834640" cy="411480"/>
          </a:xfrm>
          <a:prstGeom prst="rect">
            <a:avLst/>
          </a:prstGeom>
          <a:noFill/>
        </p:spPr>
        <p:txBody>
          <a:bodyPr wrap="square" lIns="0" rIns="0" tIns="0" bIns="0" anchor="t">
            <a:spAutoFit/>
          </a:bodyPr>
          <a:lstStyle/>
          <a:p>
            <a:pPr algn="l"/>
            <a:r>
              <a:rPr sz="1500" b="0" i="0">
                <a:solidFill>
                  <a:srgbClr val="CFE0F5"/>
                </a:solidFill>
                <a:latin typeface="Calibri"/>
              </a:rPr>
              <a:t>since 28 September</a:t>
            </a:r>
          </a:p>
        </p:txBody>
      </p:sp>
      <p:sp>
        <p:nvSpPr>
          <p:cNvPr id="20" name="Oval 19"/>
          <p:cNvSpPr/>
          <p:nvPr/>
        </p:nvSpPr>
        <p:spPr>
          <a:xfrm>
            <a:off x="9189720" y="2651760"/>
            <a:ext cx="777240" cy="777240"/>
          </a:xfrm>
          <a:prstGeom prst="ellipse">
            <a:avLst/>
          </a:prstGeom>
          <a:solidFill>
            <a:srgbClr val="D49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21" name="Picture 20" descr="CreditCard.png"/>
          <p:cNvPicPr>
            <a:picLocks noChangeAspect="1"/>
          </p:cNvPicPr>
          <p:nvPr/>
        </p:nvPicPr>
        <p:blipFill>
          <a:blip r:embed="rId3"/>
          <a:stretch>
            <a:fillRect/>
          </a:stretch>
        </p:blipFill>
        <p:spPr>
          <a:xfrm>
            <a:off x="9360712" y="2822752"/>
            <a:ext cx="435254" cy="435254"/>
          </a:xfrm>
          <a:prstGeom prst="rect">
            <a:avLst/>
          </a:prstGeom>
        </p:spPr>
      </p:pic>
      <p:sp>
        <p:nvSpPr>
          <p:cNvPr id="22" name="TextBox 21"/>
          <p:cNvSpPr txBox="1"/>
          <p:nvPr/>
        </p:nvSpPr>
        <p:spPr>
          <a:xfrm>
            <a:off x="10104120" y="2633472"/>
            <a:ext cx="2011680" cy="548640"/>
          </a:xfrm>
          <a:prstGeom prst="rect">
            <a:avLst/>
          </a:prstGeom>
          <a:noFill/>
        </p:spPr>
        <p:txBody>
          <a:bodyPr wrap="square" lIns="0" rIns="0" tIns="0" bIns="0" anchor="t">
            <a:spAutoFit/>
          </a:bodyPr>
          <a:lstStyle/>
          <a:p>
            <a:pPr algn="l"/>
            <a:r>
              <a:rPr sz="2800" b="1" i="0">
                <a:solidFill>
                  <a:srgbClr val="FFFFFF"/>
                </a:solidFill>
                <a:latin typeface="Cambria"/>
              </a:rPr>
              <a:t>2 of 2</a:t>
            </a:r>
          </a:p>
        </p:txBody>
      </p:sp>
      <p:sp>
        <p:nvSpPr>
          <p:cNvPr id="23" name="TextBox 22"/>
          <p:cNvSpPr txBox="1"/>
          <p:nvPr/>
        </p:nvSpPr>
        <p:spPr>
          <a:xfrm>
            <a:off x="9189720" y="3520439"/>
            <a:ext cx="2834640" cy="411480"/>
          </a:xfrm>
          <a:prstGeom prst="rect">
            <a:avLst/>
          </a:prstGeom>
          <a:noFill/>
        </p:spPr>
        <p:txBody>
          <a:bodyPr wrap="square" lIns="0" rIns="0" tIns="0" bIns="0" anchor="t">
            <a:spAutoFit/>
          </a:bodyPr>
          <a:lstStyle/>
          <a:p>
            <a:pPr algn="l"/>
            <a:r>
              <a:rPr sz="1500" b="0" i="0">
                <a:solidFill>
                  <a:srgbClr val="CFE0F5"/>
                </a:solidFill>
                <a:latin typeface="Calibri"/>
              </a:rPr>
              <a:t>payment providers approved</a:t>
            </a:r>
          </a:p>
        </p:txBody>
      </p:sp>
      <p:sp>
        <p:nvSpPr>
          <p:cNvPr id="24" name="Oval 23"/>
          <p:cNvSpPr/>
          <p:nvPr/>
        </p:nvSpPr>
        <p:spPr>
          <a:xfrm>
            <a:off x="9189720" y="4617720"/>
            <a:ext cx="777240" cy="777240"/>
          </a:xfrm>
          <a:prstGeom prst="ellipse">
            <a:avLst/>
          </a:prstGeom>
          <a:solidFill>
            <a:srgbClr val="D49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Cambria"/>
              </a:rPr>
              <a:t/>
            </a:r>
          </a:p>
        </p:txBody>
      </p:sp>
      <p:pic>
        <p:nvPicPr>
          <p:cNvPr id="25" name="Picture 24" descr="GraduationCap.png"/>
          <p:cNvPicPr>
            <a:picLocks noChangeAspect="1"/>
          </p:cNvPicPr>
          <p:nvPr/>
        </p:nvPicPr>
        <p:blipFill>
          <a:blip r:embed="rId4"/>
          <a:stretch>
            <a:fillRect/>
          </a:stretch>
        </p:blipFill>
        <p:spPr>
          <a:xfrm>
            <a:off x="9360712" y="4788712"/>
            <a:ext cx="435254" cy="435254"/>
          </a:xfrm>
          <a:prstGeom prst="rect">
            <a:avLst/>
          </a:prstGeom>
        </p:spPr>
      </p:pic>
      <p:sp>
        <p:nvSpPr>
          <p:cNvPr id="26" name="TextBox 25"/>
          <p:cNvSpPr txBox="1"/>
          <p:nvPr/>
        </p:nvSpPr>
        <p:spPr>
          <a:xfrm>
            <a:off x="10104120" y="4599432"/>
            <a:ext cx="2011680" cy="548640"/>
          </a:xfrm>
          <a:prstGeom prst="rect">
            <a:avLst/>
          </a:prstGeom>
          <a:noFill/>
        </p:spPr>
        <p:txBody>
          <a:bodyPr wrap="square" lIns="0" rIns="0" tIns="0" bIns="0" anchor="t">
            <a:spAutoFit/>
          </a:bodyPr>
          <a:lstStyle/>
          <a:p>
            <a:pPr algn="l"/>
            <a:r>
              <a:rPr sz="2800" b="1" i="0">
                <a:solidFill>
                  <a:srgbClr val="FFFFFF"/>
                </a:solidFill>
                <a:latin typeface="Cambria"/>
              </a:rPr>
              <a:t>3 days</a:t>
            </a:r>
          </a:p>
        </p:txBody>
      </p:sp>
      <p:sp>
        <p:nvSpPr>
          <p:cNvPr id="27" name="TextBox 26"/>
          <p:cNvSpPr txBox="1"/>
          <p:nvPr/>
        </p:nvSpPr>
        <p:spPr>
          <a:xfrm>
            <a:off x="9189720" y="5486400"/>
            <a:ext cx="2834640" cy="411480"/>
          </a:xfrm>
          <a:prstGeom prst="rect">
            <a:avLst/>
          </a:prstGeom>
          <a:noFill/>
        </p:spPr>
        <p:txBody>
          <a:bodyPr wrap="square" lIns="0" rIns="0" tIns="0" bIns="0" anchor="t">
            <a:spAutoFit/>
          </a:bodyPr>
          <a:lstStyle/>
          <a:p>
            <a:pPr algn="l"/>
            <a:r>
              <a:rPr sz="1500" b="0" i="0">
                <a:solidFill>
                  <a:srgbClr val="CFE0F5"/>
                </a:solidFill>
                <a:latin typeface="Calibri"/>
              </a:rPr>
              <a:t>of staff training</a:t>
            </a:r>
          </a:p>
        </p:txBody>
      </p:sp>
      <p:sp>
        <p:nvSpPr>
          <p:cNvPr id="28" name="TextBox 27"/>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CFE0F5"/>
                </a:solidFill>
                <a:latin typeface="Calibri"/>
              </a:rPr>
              <a:t>OE Group · TENTai · Board Confidential · 7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