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71" r:id="rId4"/>
    <p:sldId id="272" r:id="rId5"/>
    <p:sldId id="273" r:id="rId6"/>
    <p:sldId id="274" r:id="rId7"/>
    <p:sldId id="275" r:id="rId8"/>
    <p:sldId id="276" r:id="rId9"/>
    <p:sldId id="277" r:id="rId10"/>
    <p:sldId id="283" r:id="rId11"/>
    <p:sldId id="284" r:id="rId12"/>
    <p:sldId id="285" r:id="rId13"/>
    <p:sldId id="286" r:id="rId14"/>
    <p:sldId id="258" r:id="rId15"/>
    <p:sldId id="259" r:id="rId16"/>
    <p:sldId id="260" r:id="rId17"/>
    <p:sldId id="261" r:id="rId18"/>
    <p:sldId id="262" r:id="rId19"/>
    <p:sldId id="263" r:id="rId20"/>
    <p:sldId id="264" r:id="rId21"/>
    <p:sldId id="265" r:id="rId22"/>
    <p:sldId id="266" r:id="rId23"/>
    <p:sldId id="267" r:id="rId24"/>
    <p:sldId id="278" r:id="rId25"/>
    <p:sldId id="279" r:id="rId26"/>
    <p:sldId id="280" r:id="rId27"/>
    <p:sldId id="281" r:id="rId28"/>
    <p:sldId id="282" r:id="rId29"/>
    <p:sldId id="268" r:id="rId30"/>
    <p:sldId id="269" r:id="rId31"/>
    <p:sldId id="287" r:id="rId38"/>
    <p:sldId id="288" r:id="rId39"/>
    <p:sldId id="289" r:id="rId40"/>
    <p:sldId id="290" r:id="rId41"/>
    <p:sldId id="291" r:id="rId42"/>
    <p:sldId id="292" r:id="rId43"/>
    <p:sldId id="293" r:id="rId44"/>
    <p:sldId id="294" r:id="rId45"/>
    <p:sldId id="295" r:id="rId46"/>
    <p:sldId id="296" r:id="rId47"/>
    <p:sldId id="270"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5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Minutes</c:v>
                </c:pt>
              </c:strCache>
            </c:strRef>
          </c:tx>
          <c:dPt>
            <c:idx val="0"/>
            <c:spPr>
              <a:solidFill>
                <a:srgbClr val="003366"/>
              </a:solidFill>
            </c:spPr>
          </c:dPt>
          <c:dPt>
            <c:idx val="1"/>
            <c:spPr>
              <a:solidFill>
                <a:srgbClr val="003366"/>
              </a:solidFill>
            </c:spPr>
          </c:dPt>
          <c:dPt>
            <c:idx val="2"/>
            <c:spPr>
              <a:solidFill>
                <a:srgbClr val="003366"/>
              </a:solidFill>
            </c:spPr>
          </c:dPt>
          <c:dPt>
            <c:idx val="3"/>
            <c:spPr>
              <a:solidFill>
                <a:srgbClr val="1F7A4D"/>
              </a:solidFill>
            </c:spPr>
          </c:dPt>
          <c:cat>
            <c:strRef>
              <c:f>Sheet1!$A$2:$A$5</c:f>
              <c:strCache>
                <c:ptCount val="4"/>
                <c:pt idx="0">
                  <c:v>rc2 · run 1
19 Sep</c:v>
                </c:pt>
                <c:pt idx="1">
                  <c:v>rc2 · run 2
20 Sep</c:v>
                </c:pt>
                <c:pt idx="2">
                  <c:v>rc2 · run 3
20 Sep</c:v>
                </c:pt>
                <c:pt idx="3">
                  <c:v>rc3
21 Sep</c:v>
                </c:pt>
              </c:strCache>
            </c:strRef>
          </c:cat>
          <c:val>
            <c:numRef>
              <c:f>Sheet1!$B$2:$B$5</c:f>
              <c:numCache>
                <c:formatCode>General</c:formatCode>
                <c:ptCount val="4"/>
                <c:pt idx="0">
                  <c:v>66</c:v>
                </c:pt>
                <c:pt idx="1">
                  <c:v>71</c:v>
                </c:pt>
                <c:pt idx="2">
                  <c:v>68</c:v>
                </c:pt>
                <c:pt idx="3">
                  <c:v>56</c:v>
                </c:pt>
              </c:numCache>
            </c:numRef>
          </c:val>
        </c:ser>
        <c:dLbls>
          <c:numFmt formatCode="0&quot; min&quot;" sourceLinked="0"/>
          <c:txPr>
            <a:bodyPr/>
            <a:lstStyle/>
            <a:p>
              <a:pPr>
                <a:defRPr sz="1300" b="1">
                  <a:solidFill>
                    <a:srgbClr val="003366"/>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8E0EA"/>
            </a:solidFill>
          </a:ln>
        </c:spPr>
        <c:txPr>
          <a:bodyPr/>
          <a:lstStyle/>
          <a:p>
            <a:pPr>
              <a:defRPr sz="1000">
                <a:solidFill>
                  <a:srgbClr val="7A8A9B"/>
                </a:solidFill>
              </a:defRPr>
            </a:pPr>
          </a:p>
        </c:txPr>
        <c:crossAx val="-2113994440"/>
        <c:crosses val="autoZero"/>
        <c:auto val="1"/>
        <c:lblAlgn val="ctr"/>
        <c:lblOffset val="100"/>
        <c:noMultiLvlLbl val="0"/>
      </c:catAx>
      <c:valAx>
        <c:axId val="-2113994440"/>
        <c:scaling>
          <c:max val="85.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5863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OE Group Phase 1 progress report for the board. As of 5 August 2026 the build is complete through Day 11 (OEA lettings, analytics console, vendor KPI/SLA evaluation), with Day 12 (security, compliance, UAT, go-live) in progress — started 4 Aug per GO_LIVE_CHECKLIST.md, not yet executed. Verified from BUILD_JOURNAL.md and PHASE1_WORKPLAN.md day-status notes.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roadmap. Fifteen of sixteen stages complete: Days 0–6, the inserted foundation build, 6.5, 6.75, and now 7–11 (OEA lettings, analytics console, vendor evaluation). Only Day 12 (security, compliance, UAT, go-live) remains, in progress since 4 Aug.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lane: invite and onboard, configure controls, oversee all tickets and money, approve high-value payments (gated), analytics console (shipped Day 10). One upcoming ghost remains: go-live governance (Day 12, in progress).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FM/PM lane: see only my properties, dispatch, verify service delivered (gated), manage register, review tenant application (Day 8), rent-roll and lease oversight (Day 9). No upcoming ghosts remain in this lane.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lane: assigned work orders, accept/decline, mark complete, submit invoice (gated), payment history (the my-work page’s Payment status table, Day 10). One upcoming ghost remains: service catalog and pricing.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Tenant lane: report an issue, AI triage, ticket + ack, track request, pay service charge, view statements, apply for tenancy + KYC (Day 7), “Track my request” timeline (Day 10). One upcoming ghost remains: pay rent / lease online — the ledger side is built (Day 9) but no tenant-facing checkout page was found yet.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lane: portfolio dashboard, financial reports, receive remittance (gated), approve major spend. Two upcoming ghosts: market comps, e-sign documents.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Lead lane: reconcile ledger, batch-approve payouts, remit to owners (gated), generate reports. Two upcoming ghosts: tax and compliance filing, multi-entity consolidation.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Approver lane: review flagged transactions, check supporting docs, approve/reject release (gated final say), approval audit trail. Two upcoming ghosts: delegate approval authority, set approval policy and rules.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0 gate evidence from the Status board: dev Supabase, Upstash, Sentry, Vercel dev project, Paystack test keys. This stage is about readiness, not visible features.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gate: seeding dev left demo untouched; limiter + Sentry proven live. Build journal confirms demo 26 tickets vs dev 22 on separate hosts.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gate: verify-channel-routing, verify-jwt-claims. Kills hardcoded DEMO_ORG_ID; isolation proven at all four layers.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gate: verify-notifications, verify-cascade, verify-email-routing. Also invitation acceptance verified in-browser.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Inserted-scope gate: verify-org-theming, verify-asset-access, verify-asset-import, verify-vendor-applications, verify-invitations. This work was added between Days 3 and 4 after a scope check found asset management missing from Phase 1. TFML + OEA portal screenshots embedded (assets/01-portal-tfml.png, assets/02-portal-oea.png) — the paired shot is the visual proof of per-brand isolation.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gate verbatim: clean statement reconciles to 0, planted 75,000 debit flagged. 39 checks across ledger + reconciliation. Client-funds ledger screenshot embedded (assets/03-ledger.png): ₦5,585,000 held / ₦5,460,000 owed / ₦125,000 unallocated.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gate: verify-collections, verify-checkout-e2e — payload claiming 999,999,999 ignored, exactly-once under concurrency. Live Paystack test payment in the books: TFML 285,000 invoiced / 287,000 received, flagged.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 gate: verify-remittance — gate refuses every incomplete payment; 3 concurrent claims -&gt; 1 winner; re-confirming posts once; cannot pay more than owed; unknown stays unknown. Payment-gate screenshot embedded (assets/04-payment-gate.png): Sparkle Cleaning Services, INV-3IUY9A-7f7f, 180,000, verified, performance 93.4 Excellent vs threshold 70.</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6.5 gate evidence from BUILD_JOURNAL.md (2026-07-27 'Day 6.5 — the permission matrix'): verify-permissions.mjs, 24 assertions — a toggle changes what the DATABASE returns (revoke -&gt; zero rows, restore -&gt; exactly what was there); a revoked write is refused; four locked capabilities refuse to move; an invented capability is refused; a brand admin can read but not edit their own matrix and cannot see another's; a tenant cannot edit at all; isolation and identity survive every toggle off; the trail names both orgs. Commit 74f3816 (migrations 0050-0055). NOTE: the one-glance Status board table was not updated to mark this done; verified via the build journal + commit.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6.75 gate evidence from BUILD_JOURNAL.md (2026-07-27 'Day 6.75 — properties and units become manageable'): verify-properties.mjs, 17 checks — attaching an FM to a property makes it visible and detaching removes it, asserted against live sessions; all-or-nothing bulk import with a percentage-share preview; unique unit label per property and a strictly positive apportionment factor enforced in the DB; retire refuses while obligations remain, hard delete blocked. Commit 3ed049d (migration 0056). This stage was 'missed, not deferred' — every property had previously come only from seed scripts. NOTE: not reflected in the one-glance Status board table; verified via build journal + commit.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external-dependency roadblocks, all from the records. Meta verification is held up by inconsistent info in the referenced business-registration document (BUSINESS_VERIFICATION.md notes ~99% of rejections are detail mismatches). Paystack and Flutterwave both blocked by incomplete registration information. OEA email routing blocked by lack of access to OEA's email host. None blocked the build.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discovered fifth roadblock, taken from BUILD_JOURNAL.md (2026-07-25 'Email sending domain + reply routing'). The brief's TFML domain did not exist, and adding Resend to the root domain would have tipped its SPF past the 10-lookup RFC limit — under -all + DMARC p=reject that rejects genuine staff mail. Resolved by correcting the domain and sending from the notify. subdomain; verified live with root records unchanged.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10 of 16 roadmap stages done — the whole money path is live and verified, permissions are operator-governed, and property/unit enrolment now exists in-app. Next is Day 7 (OEA tenant application + KYC), opening the OEA lettings track (Days 7-9).</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Since this deck was last presented on 5 August, Days 1-11 are complete, the release candidate has been frozen three times (rc1, rc2, rc3), and the production database and hosting project have been created and proven empty. The rest of this section is the cutover.</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Stage 0: rc3 frozen 21 Sept; 124 of 124 suites, gitleaks clean. Stage 1: only the breach procedure and the hosting region are closed; the data-subject-rights procedure is in progress. Stage 2: 2.1-2.3, 2.5-2.7 and 2.9 done; bootstrap script, Turnstile/SMS wiring, prod world tooling and rc3 are finishing. Stage 3: Supabase project created (eu-west-1), migrated to 0300 schema-only, seven buckets verified, emptiness proven; the Vercel link read-back and the live environment variables remain.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Sources: docs/verify-runs/rc3-20260921.log (124 of 124 passed); docs/verify-runs/stage3-20260921-production-proof.md (schema 0300, 321 migrations, buckets all OK, business tables at zero). Two organisations and zero users is the correct shape: the platform operator and the service-charge client are both created by migration.</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These are GO_LIVE_BUILD_PLAN.md Stage 5 steps 5.1-5.10. Two points worth stating to the board: (1) domains are MOVED between Vercel projects, never aliased — an alias once froze both brand portals on an 18-day-old build; (2) propagation is verified by the deployment id served on each hostname, because a 200 status proves only that something answered. The ZAP active scan, load test and staff UAT follow in Stage 6, in the window before the first client is onboarded.</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Measured in the code on 23 Sept: lib/gateway/index.ts routes NGN to Paystack and only non-NGN to Flutterwave (getGateway, resolveOrgGateway); the Flutterwave adapter refuses createRecipient/transfer ('collections only, not payouts'); account-name resolution and the bank list call Paystack (lib/bank-resolve.ts, lib/bank-actions.ts). The database already accepts a per-org Flutterwave credential (0156) and the payment_gateway enum includes flutterwave (0032); the webhook route is per-gateway. The recorded bank-transfer payout route (0289, decision 48) runs the full B4 gate and needs no gateway. Build figures are engineering estimates. The switch amends locked scope decision 4 and should be minuted. Decision 47 still applies: each organisation's money moves through its own Flutterwave merchant account.</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Timings: sum of per-suite durations in docs/verify-runs/rc2-20260919.log (66), rc2-20260920.log (71), rc2-20260920-final.log (68), rc3-20260921.log (56). Suites share one database and are run serially; running them in parallel produces rate-limit failures that look like defects. Slowest single suites: conversational intelligence (~4 min, it calls the AI router per message), people directory, role surface, finance journey. Rule 7 of the go-live plan: if a fix lands after the tag, the tag is dead.</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The ask is two consecutive working days, released from regular ICT support duties, for the build owner. Day 1 is GO_LIVE_BUILD_PLAN Stage 4 (4.1-4.5); Day 2 is Stage 5 (5.1-5.10) plus Stage 6.1, the security pass, which can only run against an empty production. Real clients are onboarded only after the board's go/no-go (6.4), which in turn requires the DPAs, privacy notice and live payment keys.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Hours are engineering estimates for one person working through GO_LIVE_BUILD_PLAN Stages 4-6.1; Stage 4.2's output is a runbook with real durations, which will replace them. The two incidents referenced are INCIDENT_2026-08-05 (a deploy aimed at the wrong Vercel project) and INCIDENT_2026-08-06 (a migration aimed at the frozen demo database).</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GO_LIVE_BUILD_PLAN Stage 1 items 1.1, 1.2, 1.5, 1.8, 1.9, 1.10, 1.6, 1.11, 1.12. Closed already: 1.3 breach procedure, 1.7 hosting region (eu-west-1). In progress: 1.4 data-subject-rights procedure. The board go/no-go (6.4) requires 1.1-1.5 complete.</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Close on the ask. If the board approves the two days, Day 1 starts with cutting rc4 (the current candidate rc3 has been superseded by later commits, including the public Terms and Refund pages). Clients are onboarded only after the board's own go/no-go, which depends on the DPAs, privacy notice and live payment keys.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oundRect">
            <a:avLst/>
          </a:prstGeom>
          <a:solidFill>
            <a:srgbClr val="0A1B2E"/>
          </a:solidFill>
          <a:ln/>
        </p:spPr>
        <p:txBody>
          <a:bodyPr/>
          <a:p/>
        </p:txBody>
      </p:sp>
      <p:sp>
        <p:nvSpPr>
          <p:cNvPr id="3" name="Shape 1"/>
          <p:cNvSpPr/>
          <p:nvPr/>
        </p:nvSpPr>
        <p:spPr>
          <a:xfrm>
            <a:off x="7955280" y="-1463040"/>
            <a:ext cx="6035040" cy="6035040"/>
          </a:xfrm>
          <a:prstGeom prst="roundRect">
            <a:avLst>
              <a:gd name="adj" fmla="val 6061"/>
            </a:avLst>
          </a:prstGeom>
          <a:solidFill>
            <a:srgbClr val="003366"/>
          </a:solidFill>
          <a:ln/>
        </p:spPr>
        <p:txBody>
          <a:bodyPr/>
          <a:p/>
        </p:txBody>
      </p:sp>
      <p:sp>
        <p:nvSpPr>
          <p:cNvPr id="4" name="Shape 2"/>
          <p:cNvSpPr/>
          <p:nvPr/>
        </p:nvSpPr>
        <p:spPr>
          <a:xfrm>
            <a:off x="9052560" y="3108960"/>
            <a:ext cx="5120640" cy="5120640"/>
          </a:xfrm>
          <a:prstGeom prst="roundRect">
            <a:avLst>
              <a:gd name="adj" fmla="val 7143"/>
            </a:avLst>
          </a:prstGeom>
          <a:solidFill>
            <a:srgbClr val="0E2942"/>
          </a:solidFill>
          <a:ln/>
        </p:spPr>
        <p:txBody>
          <a:bodyPr/>
          <a:p/>
        </p:txBody>
      </p:sp>
      <p:sp>
        <p:nvSpPr>
          <p:cNvPr id="5" name="Text 3"/>
          <p:cNvSpPr/>
          <p:nvPr/>
        </p:nvSpPr>
        <p:spPr>
          <a:xfrm>
            <a:off x="777240" y="731520"/>
            <a:ext cx="5486400" cy="365760"/>
          </a:xfrm>
          <a:prstGeom prst="rect">
            <a:avLst/>
          </a:prstGeom>
          <a:noFill/>
          <a:ln/>
        </p:spPr>
        <p:txBody>
          <a:bodyPr wrap="square" rtlCol="0" anchor="ctr"/>
          <a:lstStyle/>
          <a:p>
            <a:pPr marL="0" indent="0">
              <a:buNone/>
            </a:pPr>
            <a:r>
              <a:rPr lang="en-US" sz="1200" b="1" kern="0" spc="300" dirty="0">
                <a:solidFill>
                  <a:srgbClr val="C08A1E"/>
                </a:solidFill>
                <a:latin typeface="Calibri" pitchFamily="34" charset="0"/>
                <a:ea typeface="Calibri" pitchFamily="34" charset="-122"/>
                <a:cs typeface="Calibri" pitchFamily="34" charset="-120"/>
              </a:rPr>
              <a:t>BOARD CONFIDENTIAL</a:t>
            </a:r>
            <a:endParaRPr lang="en-US" sz="1200" dirty="0"/>
          </a:p>
        </p:txBody>
      </p:sp>
      <p:sp>
        <p:nvSpPr>
          <p:cNvPr id="6" name="Text 4"/>
          <p:cNvSpPr/>
          <p:nvPr/>
        </p:nvSpPr>
        <p:spPr>
          <a:xfrm>
            <a:off x="731520" y="1828800"/>
            <a:ext cx="8229600" cy="91440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OE Group</a:t>
            </a:r>
            <a:endParaRPr lang="en-US" sz="5400" dirty="0"/>
          </a:p>
        </p:txBody>
      </p:sp>
      <p:sp>
        <p:nvSpPr>
          <p:cNvPr id="7" name="Text 5"/>
          <p:cNvSpPr/>
          <p:nvPr/>
        </p:nvSpPr>
        <p:spPr>
          <a:xfrm>
            <a:off x="731520" y="2743200"/>
            <a:ext cx="8229600" cy="914400"/>
          </a:xfrm>
          <a:prstGeom prst="rect">
            <a:avLst/>
          </a:prstGeom>
          <a:noFill/>
          <a:ln/>
        </p:spPr>
        <p:txBody>
          <a:bodyPr wrap="square" rtlCol="0" anchor="ctr"/>
          <a:lstStyle/>
          <a:p>
            <a:pPr marL="0" indent="0">
              <a:buNone/>
            </a:pPr>
            <a:r>
              <a:rPr lang="en-US" sz="4000" dirty="0">
                <a:solidFill>
                  <a:srgbClr val="D8E5F5"/>
                </a:solidFill>
                <a:latin typeface="Cambria" pitchFamily="34" charset="0"/>
                <a:ea typeface="Cambria" pitchFamily="34" charset="-122"/>
                <a:cs typeface="Cambria" pitchFamily="34" charset="-120"/>
              </a:rPr>
              <a:t>Production Readiness</a:t>
            </a:r>
            <a:endParaRPr lang="en-US" sz="4000" dirty="0"/>
          </a:p>
        </p:txBody>
      </p:sp>
      <p:sp>
        <p:nvSpPr>
          <p:cNvPr id="8" name="Text 6"/>
          <p:cNvSpPr/>
          <p:nvPr/>
        </p:nvSpPr>
        <p:spPr>
          <a:xfrm>
            <a:off x="777240" y="3794760"/>
            <a:ext cx="7498080" cy="731520"/>
          </a:xfrm>
          <a:prstGeom prst="rect">
            <a:avLst/>
          </a:prstGeom>
          <a:noFill/>
          <a:ln/>
        </p:spPr>
        <p:txBody>
          <a:bodyPr wrap="square" rtlCol="0" anchor="ctr"/>
          <a:lstStyle/>
          <a:p>
            <a:pPr marL="0" indent="0">
              <a:lnSpc>
                <a:spcPct val="120000"/>
              </a:lnSpc>
              <a:buNone/>
            </a:pPr>
            <a:r>
              <a:rPr lang="en-US" sz="1600" dirty="0">
                <a:solidFill>
                  <a:srgbClr val="AEC2DA"/>
                </a:solidFill>
                <a:latin typeface="Calibri" pitchFamily="34" charset="0"/>
                <a:ea typeface="Calibri" pitchFamily="34" charset="-122"/>
                <a:cs typeface="Calibri" pitchFamily="34" charset="-120"/>
              </a:rPr>
              <a:t>Phase 1 progress and the cutover plan — TFML and OEA</a:t>
            </a:r>
            <a:endParaRPr lang="en-US" sz="1600" dirty="0"/>
          </a:p>
        </p:txBody>
      </p:sp>
      <p:sp>
        <p:nvSpPr>
          <p:cNvPr id="9" name="Text 7"/>
          <p:cNvSpPr/>
          <p:nvPr/>
        </p:nvSpPr>
        <p:spPr>
          <a:xfrm>
            <a:off x="777240" y="5852160"/>
            <a:ext cx="45720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23 September 2026</a:t>
            </a:r>
            <a:endParaRPr lang="en-US" sz="1400" dirty="0"/>
          </a:p>
        </p:txBody>
      </p:sp>
      <p:sp>
        <p:nvSpPr>
          <p:cNvPr id="10" name="Text 8"/>
          <p:cNvSpPr/>
          <p:nvPr/>
        </p:nvSpPr>
        <p:spPr>
          <a:xfrm>
            <a:off x="777240" y="6172200"/>
            <a:ext cx="7315200" cy="365760"/>
          </a:xfrm>
          <a:prstGeom prst="rect">
            <a:avLst/>
          </a:prstGeom>
          <a:noFill/>
          <a:ln/>
        </p:spPr>
        <p:txBody>
          <a:bodyPr wrap="square" rtlCol="0" anchor="ctr"/>
          <a:lstStyle/>
          <a:p>
            <a:pPr marL="0" indent="0">
              <a:buNone/>
            </a:pPr>
            <a:r>
              <a:rPr lang="en-US" sz="1200" dirty="0">
                <a:solidFill>
                  <a:srgbClr val="8FA6C0"/>
                </a:solidFill>
                <a:latin typeface="Calibri" pitchFamily="34" charset="0"/>
                <a:ea typeface="Calibri" pitchFamily="34" charset="-122"/>
                <a:cs typeface="Calibri" pitchFamily="34" charset="-120"/>
              </a:rPr>
              <a:t>Days 1–11 complete  ·  production provisioned and proven empty  ·  two-day cutover requested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marL="0" indent="0">
              <a:buNone/>
            </a:pPr>
            <a:r>
              <a:rPr lang="en-US" sz="3200" b="1" dirty="0">
                <a:solidFill>
                  <a:srgbClr val="003366"/>
                </a:solidFill>
                <a:latin typeface="Cambria" pitchFamily="34" charset="0"/>
                <a:ea typeface="Cambria" pitchFamily="34" charset="-122"/>
                <a:cs typeface="Cambria" pitchFamily="34" charset="-120"/>
              </a:rPr>
              <a:t>The Phase 1 roadmap at a glance</a:t>
            </a:r>
            <a:endParaRPr lang="en-US" sz="3200" dirty="0"/>
          </a:p>
        </p:txBody>
      </p:sp>
      <p:sp>
        <p:nvSpPr>
          <p:cNvPr id="3" name="Text 1"/>
          <p:cNvSpPr/>
          <p:nvPr/>
        </p:nvSpPr>
        <p:spPr>
          <a:xfrm>
            <a:off x="566928" y="1024128"/>
            <a:ext cx="10972800" cy="365760"/>
          </a:xfrm>
          <a:prstGeom prst="rect">
            <a:avLst/>
          </a:prstGeom>
          <a:noFill/>
          <a:ln/>
        </p:spPr>
        <p:txBody>
          <a:bodyPr wrap="square" rtlCol="0" anchor="ctr"/>
          <a:lstStyle/>
          <a:p>
            <a:pPr marL="0" indent="0">
              <a:buNone/>
            </a:pPr>
            <a:r>
              <a:rPr lang="en-US" sz="1600" dirty="0">
                <a:solidFill>
                  <a:srgbClr val="7A8A9B"/>
                </a:solidFill>
                <a:latin typeface="Calibri" pitchFamily="34" charset="0"/>
                <a:ea typeface="Calibri" pitchFamily="34" charset="-122"/>
                <a:cs typeface="Calibri" pitchFamily="34" charset="-120"/>
              </a:rPr>
              <a:t>Foundation, money, lettings, intelligence and launch. Where the build actually is today.</a:t>
            </a:r>
            <a:endParaRPr lang="en-US" sz="1600" dirty="0"/>
          </a:p>
        </p:txBody>
      </p:sp>
      <p:sp>
        <p:nvSpPr>
          <p:cNvPr id="4" name="Shape 2"/>
          <p:cNvSpPr/>
          <p:nvPr/>
        </p:nvSpPr>
        <p:spPr>
          <a:xfrm>
            <a:off x="548640" y="1600200"/>
            <a:ext cx="5532120" cy="352044"/>
          </a:xfrm>
          <a:prstGeom prst="roundRect">
            <a:avLst>
              <a:gd name="adj" fmla="val 12987"/>
            </a:avLst>
          </a:prstGeom>
          <a:solidFill>
            <a:srgbClr val="FFFFFF"/>
          </a:solidFill>
          <a:ln w="9525">
            <a:solidFill>
              <a:srgbClr val="D8E0EA"/>
            </a:solidFill>
            <a:prstDash val="solid"/>
          </a:ln>
        </p:spPr>
      </p:sp>
      <p:sp>
        <p:nvSpPr>
          <p:cNvPr id="5" name="Shape 3"/>
          <p:cNvSpPr/>
          <p:nvPr/>
        </p:nvSpPr>
        <p:spPr>
          <a:xfrm>
            <a:off x="621792" y="1645920"/>
            <a:ext cx="457200" cy="260604"/>
          </a:xfrm>
          <a:prstGeom prst="roundRect">
            <a:avLst>
              <a:gd name="adj" fmla="val 17544"/>
            </a:avLst>
          </a:prstGeom>
          <a:solidFill>
            <a:srgbClr val="003366"/>
          </a:solidFill>
          <a:ln/>
        </p:spPr>
      </p:sp>
      <p:sp>
        <p:nvSpPr>
          <p:cNvPr id="6" name="Text 4"/>
          <p:cNvSpPr/>
          <p:nvPr/>
        </p:nvSpPr>
        <p:spPr>
          <a:xfrm>
            <a:off x="621792" y="16459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7" name="Text 5"/>
          <p:cNvSpPr/>
          <p:nvPr/>
        </p:nvSpPr>
        <p:spPr>
          <a:xfrm>
            <a:off x="1170432" y="16002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Preconditions — accounts, keys, environments</a:t>
            </a:r>
            <a:endParaRPr lang="en-US" sz="1200" dirty="0"/>
          </a:p>
        </p:txBody>
      </p:sp>
      <p:sp>
        <p:nvSpPr>
          <p:cNvPr id="8" name="Shape 6"/>
          <p:cNvSpPr/>
          <p:nvPr/>
        </p:nvSpPr>
        <p:spPr>
          <a:xfrm>
            <a:off x="4873752" y="1620774"/>
            <a:ext cx="1078992" cy="310896"/>
          </a:xfrm>
          <a:prstGeom prst="roundRect">
            <a:avLst>
              <a:gd name="adj" fmla="val 50000"/>
            </a:avLst>
          </a:prstGeom>
          <a:solidFill>
            <a:srgbClr val="1F7A4D"/>
          </a:solidFill>
          <a:ln/>
        </p:spPr>
      </p:sp>
      <p:sp>
        <p:nvSpPr>
          <p:cNvPr id="9" name="Text 7"/>
          <p:cNvSpPr/>
          <p:nvPr/>
        </p:nvSpPr>
        <p:spPr>
          <a:xfrm>
            <a:off x="4873752" y="16207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10" name="Shape 8"/>
          <p:cNvSpPr/>
          <p:nvPr/>
        </p:nvSpPr>
        <p:spPr>
          <a:xfrm>
            <a:off x="548640" y="2034540"/>
            <a:ext cx="5532120" cy="352044"/>
          </a:xfrm>
          <a:prstGeom prst="roundRect">
            <a:avLst>
              <a:gd name="adj" fmla="val 12987"/>
            </a:avLst>
          </a:prstGeom>
          <a:solidFill>
            <a:srgbClr val="FFFFFF"/>
          </a:solidFill>
          <a:ln w="9525">
            <a:solidFill>
              <a:srgbClr val="D8E0EA"/>
            </a:solidFill>
            <a:prstDash val="solid"/>
          </a:ln>
        </p:spPr>
      </p:sp>
      <p:sp>
        <p:nvSpPr>
          <p:cNvPr id="11" name="Shape 9"/>
          <p:cNvSpPr/>
          <p:nvPr/>
        </p:nvSpPr>
        <p:spPr>
          <a:xfrm>
            <a:off x="621792" y="2080260"/>
            <a:ext cx="457200" cy="260604"/>
          </a:xfrm>
          <a:prstGeom prst="roundRect">
            <a:avLst>
              <a:gd name="adj" fmla="val 17544"/>
            </a:avLst>
          </a:prstGeom>
          <a:solidFill>
            <a:srgbClr val="003366"/>
          </a:solidFill>
          <a:ln/>
        </p:spPr>
      </p:sp>
      <p:sp>
        <p:nvSpPr>
          <p:cNvPr id="12" name="Text 10"/>
          <p:cNvSpPr/>
          <p:nvPr/>
        </p:nvSpPr>
        <p:spPr>
          <a:xfrm>
            <a:off x="621792" y="20802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1170432" y="20345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Environment split — demo frozen, Phase 1 on its own database</a:t>
            </a:r>
            <a:endParaRPr lang="en-US" sz="1200" dirty="0"/>
          </a:p>
        </p:txBody>
      </p:sp>
      <p:sp>
        <p:nvSpPr>
          <p:cNvPr id="14" name="Shape 12"/>
          <p:cNvSpPr/>
          <p:nvPr/>
        </p:nvSpPr>
        <p:spPr>
          <a:xfrm>
            <a:off x="4873752" y="2055114"/>
            <a:ext cx="1078992" cy="310896"/>
          </a:xfrm>
          <a:prstGeom prst="roundRect">
            <a:avLst>
              <a:gd name="adj" fmla="val 50000"/>
            </a:avLst>
          </a:prstGeom>
          <a:solidFill>
            <a:srgbClr val="1F7A4D"/>
          </a:solidFill>
          <a:ln/>
        </p:spPr>
      </p:sp>
      <p:sp>
        <p:nvSpPr>
          <p:cNvPr id="15" name="Text 13"/>
          <p:cNvSpPr/>
          <p:nvPr/>
        </p:nvSpPr>
        <p:spPr>
          <a:xfrm>
            <a:off x="4873752" y="20551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16" name="Shape 14"/>
          <p:cNvSpPr/>
          <p:nvPr/>
        </p:nvSpPr>
        <p:spPr>
          <a:xfrm>
            <a:off x="548640" y="2468880"/>
            <a:ext cx="5532120" cy="352044"/>
          </a:xfrm>
          <a:prstGeom prst="roundRect">
            <a:avLst>
              <a:gd name="adj" fmla="val 12987"/>
            </a:avLst>
          </a:prstGeom>
          <a:solidFill>
            <a:srgbClr val="FFFFFF"/>
          </a:solidFill>
          <a:ln w="9525">
            <a:solidFill>
              <a:srgbClr val="D8E0EA"/>
            </a:solidFill>
            <a:prstDash val="solid"/>
          </a:ln>
        </p:spPr>
      </p:sp>
      <p:sp>
        <p:nvSpPr>
          <p:cNvPr id="17" name="Shape 15"/>
          <p:cNvSpPr/>
          <p:nvPr/>
        </p:nvSpPr>
        <p:spPr>
          <a:xfrm>
            <a:off x="621792" y="2514600"/>
            <a:ext cx="457200" cy="260604"/>
          </a:xfrm>
          <a:prstGeom prst="roundRect">
            <a:avLst>
              <a:gd name="adj" fmla="val 17544"/>
            </a:avLst>
          </a:prstGeom>
          <a:solidFill>
            <a:srgbClr val="003366"/>
          </a:solidFill>
          <a:ln/>
        </p:spPr>
      </p:sp>
      <p:sp>
        <p:nvSpPr>
          <p:cNvPr id="18" name="Text 16"/>
          <p:cNvSpPr/>
          <p:nvPr/>
        </p:nvSpPr>
        <p:spPr>
          <a:xfrm>
            <a:off x="621792" y="25146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7"/>
          <p:cNvSpPr/>
          <p:nvPr/>
        </p:nvSpPr>
        <p:spPr>
          <a:xfrm>
            <a:off x="1170432" y="24688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Brand isolation — each brand walled off, in and at rest</a:t>
            </a:r>
            <a:endParaRPr lang="en-US" sz="1200" dirty="0"/>
          </a:p>
        </p:txBody>
      </p:sp>
      <p:sp>
        <p:nvSpPr>
          <p:cNvPr id="20" name="Shape 18"/>
          <p:cNvSpPr/>
          <p:nvPr/>
        </p:nvSpPr>
        <p:spPr>
          <a:xfrm>
            <a:off x="4873752" y="2489454"/>
            <a:ext cx="1078992" cy="310896"/>
          </a:xfrm>
          <a:prstGeom prst="roundRect">
            <a:avLst>
              <a:gd name="adj" fmla="val 50000"/>
            </a:avLst>
          </a:prstGeom>
          <a:solidFill>
            <a:srgbClr val="1F7A4D"/>
          </a:solidFill>
          <a:ln/>
        </p:spPr>
      </p:sp>
      <p:sp>
        <p:nvSpPr>
          <p:cNvPr id="21" name="Text 19"/>
          <p:cNvSpPr/>
          <p:nvPr/>
        </p:nvSpPr>
        <p:spPr>
          <a:xfrm>
            <a:off x="4873752" y="24894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22" name="Shape 20"/>
          <p:cNvSpPr/>
          <p:nvPr/>
        </p:nvSpPr>
        <p:spPr>
          <a:xfrm>
            <a:off x="548640" y="2903220"/>
            <a:ext cx="5532120" cy="352044"/>
          </a:xfrm>
          <a:prstGeom prst="roundRect">
            <a:avLst>
              <a:gd name="adj" fmla="val 12987"/>
            </a:avLst>
          </a:prstGeom>
          <a:solidFill>
            <a:srgbClr val="FFFFFF"/>
          </a:solidFill>
          <a:ln w="9525">
            <a:solidFill>
              <a:srgbClr val="D8E0EA"/>
            </a:solidFill>
            <a:prstDash val="solid"/>
          </a:ln>
        </p:spPr>
      </p:sp>
      <p:sp>
        <p:nvSpPr>
          <p:cNvPr id="23" name="Shape 21"/>
          <p:cNvSpPr/>
          <p:nvPr/>
        </p:nvSpPr>
        <p:spPr>
          <a:xfrm>
            <a:off x="621792" y="2948940"/>
            <a:ext cx="457200" cy="260604"/>
          </a:xfrm>
          <a:prstGeom prst="roundRect">
            <a:avLst>
              <a:gd name="adj" fmla="val 17544"/>
            </a:avLst>
          </a:prstGeom>
          <a:solidFill>
            <a:srgbClr val="003366"/>
          </a:solidFill>
          <a:ln/>
        </p:spPr>
      </p:sp>
      <p:sp>
        <p:nvSpPr>
          <p:cNvPr id="24" name="Text 22"/>
          <p:cNvSpPr/>
          <p:nvPr/>
        </p:nvSpPr>
        <p:spPr>
          <a:xfrm>
            <a:off x="621792" y="294894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1170432" y="290322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Omnichannel intake + AI triage, notification centre</a:t>
            </a:r>
            <a:endParaRPr lang="en-US" sz="1200" dirty="0"/>
          </a:p>
        </p:txBody>
      </p:sp>
      <p:sp>
        <p:nvSpPr>
          <p:cNvPr id="26" name="Shape 24"/>
          <p:cNvSpPr/>
          <p:nvPr/>
        </p:nvSpPr>
        <p:spPr>
          <a:xfrm>
            <a:off x="4873752" y="2923794"/>
            <a:ext cx="1078992" cy="310896"/>
          </a:xfrm>
          <a:prstGeom prst="roundRect">
            <a:avLst>
              <a:gd name="adj" fmla="val 50000"/>
            </a:avLst>
          </a:prstGeom>
          <a:solidFill>
            <a:srgbClr val="1F7A4D"/>
          </a:solidFill>
          <a:ln/>
        </p:spPr>
      </p:sp>
      <p:sp>
        <p:nvSpPr>
          <p:cNvPr id="27" name="Text 25"/>
          <p:cNvSpPr/>
          <p:nvPr/>
        </p:nvSpPr>
        <p:spPr>
          <a:xfrm>
            <a:off x="4873752" y="292379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28" name="Shape 26"/>
          <p:cNvSpPr/>
          <p:nvPr/>
        </p:nvSpPr>
        <p:spPr>
          <a:xfrm>
            <a:off x="548640" y="3337560"/>
            <a:ext cx="5532120" cy="352044"/>
          </a:xfrm>
          <a:prstGeom prst="roundRect">
            <a:avLst>
              <a:gd name="adj" fmla="val 12987"/>
            </a:avLst>
          </a:prstGeom>
          <a:solidFill>
            <a:srgbClr val="FFFFFF"/>
          </a:solidFill>
          <a:ln w="9525">
            <a:solidFill>
              <a:srgbClr val="D8E0EA"/>
            </a:solidFill>
            <a:prstDash val="solid"/>
          </a:ln>
        </p:spPr>
      </p:sp>
      <p:sp>
        <p:nvSpPr>
          <p:cNvPr id="29" name="Shape 27"/>
          <p:cNvSpPr/>
          <p:nvPr/>
        </p:nvSpPr>
        <p:spPr>
          <a:xfrm>
            <a:off x="621792" y="3383280"/>
            <a:ext cx="457200" cy="260604"/>
          </a:xfrm>
          <a:prstGeom prst="roundRect">
            <a:avLst>
              <a:gd name="adj" fmla="val 17544"/>
            </a:avLst>
          </a:prstGeom>
          <a:solidFill>
            <a:srgbClr val="C08A1E"/>
          </a:solidFill>
          <a:ln/>
        </p:spPr>
      </p:sp>
      <p:sp>
        <p:nvSpPr>
          <p:cNvPr id="30" name="Text 28"/>
          <p:cNvSpPr/>
          <p:nvPr/>
        </p:nvSpPr>
        <p:spPr>
          <a:xfrm>
            <a:off x="621792" y="338328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1170432" y="333756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Foundation build — new UI, branding, asset register, vendor applications</a:t>
            </a:r>
            <a:endParaRPr lang="en-US" sz="1200" dirty="0"/>
          </a:p>
        </p:txBody>
      </p:sp>
      <p:sp>
        <p:nvSpPr>
          <p:cNvPr id="32" name="Shape 30"/>
          <p:cNvSpPr/>
          <p:nvPr/>
        </p:nvSpPr>
        <p:spPr>
          <a:xfrm>
            <a:off x="4873752" y="3358134"/>
            <a:ext cx="1078992" cy="310896"/>
          </a:xfrm>
          <a:prstGeom prst="roundRect">
            <a:avLst>
              <a:gd name="adj" fmla="val 50000"/>
            </a:avLst>
          </a:prstGeom>
          <a:solidFill>
            <a:srgbClr val="1F7A4D"/>
          </a:solidFill>
          <a:ln/>
        </p:spPr>
      </p:sp>
      <p:sp>
        <p:nvSpPr>
          <p:cNvPr id="33" name="Text 31"/>
          <p:cNvSpPr/>
          <p:nvPr/>
        </p:nvSpPr>
        <p:spPr>
          <a:xfrm>
            <a:off x="4873752" y="335813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34" name="Shape 32"/>
          <p:cNvSpPr/>
          <p:nvPr/>
        </p:nvSpPr>
        <p:spPr>
          <a:xfrm>
            <a:off x="548640" y="3771900"/>
            <a:ext cx="5532120" cy="352044"/>
          </a:xfrm>
          <a:prstGeom prst="roundRect">
            <a:avLst>
              <a:gd name="adj" fmla="val 12987"/>
            </a:avLst>
          </a:prstGeom>
          <a:solidFill>
            <a:srgbClr val="FFFFFF"/>
          </a:solidFill>
          <a:ln w="9525">
            <a:solidFill>
              <a:srgbClr val="D8E0EA"/>
            </a:solidFill>
            <a:prstDash val="solid"/>
          </a:ln>
        </p:spPr>
      </p:sp>
      <p:sp>
        <p:nvSpPr>
          <p:cNvPr id="35" name="Shape 33"/>
          <p:cNvSpPr/>
          <p:nvPr/>
        </p:nvSpPr>
        <p:spPr>
          <a:xfrm>
            <a:off x="621792" y="3817620"/>
            <a:ext cx="457200" cy="260604"/>
          </a:xfrm>
          <a:prstGeom prst="roundRect">
            <a:avLst>
              <a:gd name="adj" fmla="val 17544"/>
            </a:avLst>
          </a:prstGeom>
          <a:solidFill>
            <a:srgbClr val="003366"/>
          </a:solidFill>
          <a:ln/>
        </p:spPr>
      </p:sp>
      <p:sp>
        <p:nvSpPr>
          <p:cNvPr id="36" name="Text 34"/>
          <p:cNvSpPr/>
          <p:nvPr/>
        </p:nvSpPr>
        <p:spPr>
          <a:xfrm>
            <a:off x="621792" y="38176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7" name="Text 35"/>
          <p:cNvSpPr/>
          <p:nvPr/>
        </p:nvSpPr>
        <p:spPr>
          <a:xfrm>
            <a:off x="1170432" y="37719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Segregated client-funds ledger + reconciliation</a:t>
            </a:r>
            <a:endParaRPr lang="en-US" sz="1200" dirty="0"/>
          </a:p>
        </p:txBody>
      </p:sp>
      <p:sp>
        <p:nvSpPr>
          <p:cNvPr id="38" name="Shape 36"/>
          <p:cNvSpPr/>
          <p:nvPr/>
        </p:nvSpPr>
        <p:spPr>
          <a:xfrm>
            <a:off x="4873752" y="3792474"/>
            <a:ext cx="1078992" cy="310896"/>
          </a:xfrm>
          <a:prstGeom prst="roundRect">
            <a:avLst>
              <a:gd name="adj" fmla="val 50000"/>
            </a:avLst>
          </a:prstGeom>
          <a:solidFill>
            <a:srgbClr val="1F7A4D"/>
          </a:solidFill>
          <a:ln/>
        </p:spPr>
      </p:sp>
      <p:sp>
        <p:nvSpPr>
          <p:cNvPr id="39" name="Text 37"/>
          <p:cNvSpPr/>
          <p:nvPr/>
        </p:nvSpPr>
        <p:spPr>
          <a:xfrm>
            <a:off x="4873752" y="37924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40" name="Shape 38"/>
          <p:cNvSpPr/>
          <p:nvPr/>
        </p:nvSpPr>
        <p:spPr>
          <a:xfrm>
            <a:off x="548640" y="4206240"/>
            <a:ext cx="5532120" cy="352044"/>
          </a:xfrm>
          <a:prstGeom prst="roundRect">
            <a:avLst>
              <a:gd name="adj" fmla="val 12987"/>
            </a:avLst>
          </a:prstGeom>
          <a:solidFill>
            <a:srgbClr val="FFFFFF"/>
          </a:solidFill>
          <a:ln w="9525">
            <a:solidFill>
              <a:srgbClr val="D8E0EA"/>
            </a:solidFill>
            <a:prstDash val="solid"/>
          </a:ln>
        </p:spPr>
      </p:sp>
      <p:sp>
        <p:nvSpPr>
          <p:cNvPr id="41" name="Shape 39"/>
          <p:cNvSpPr/>
          <p:nvPr/>
        </p:nvSpPr>
        <p:spPr>
          <a:xfrm>
            <a:off x="621792" y="4251960"/>
            <a:ext cx="457200" cy="260604"/>
          </a:xfrm>
          <a:prstGeom prst="roundRect">
            <a:avLst>
              <a:gd name="adj" fmla="val 17544"/>
            </a:avLst>
          </a:prstGeom>
          <a:solidFill>
            <a:srgbClr val="003366"/>
          </a:solidFill>
          <a:ln/>
        </p:spPr>
      </p:sp>
      <p:sp>
        <p:nvSpPr>
          <p:cNvPr id="42" name="Text 40"/>
          <p:cNvSpPr/>
          <p:nvPr/>
        </p:nvSpPr>
        <p:spPr>
          <a:xfrm>
            <a:off x="621792" y="42519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3" name="Text 41"/>
          <p:cNvSpPr/>
          <p:nvPr/>
        </p:nvSpPr>
        <p:spPr>
          <a:xfrm>
            <a:off x="1170432" y="42062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Live collections — checkout to receipt to ledger</a:t>
            </a:r>
            <a:endParaRPr lang="en-US" sz="1200" dirty="0"/>
          </a:p>
        </p:txBody>
      </p:sp>
      <p:sp>
        <p:nvSpPr>
          <p:cNvPr id="44" name="Shape 42"/>
          <p:cNvSpPr/>
          <p:nvPr/>
        </p:nvSpPr>
        <p:spPr>
          <a:xfrm>
            <a:off x="4873752" y="4226814"/>
            <a:ext cx="1078992" cy="310896"/>
          </a:xfrm>
          <a:prstGeom prst="roundRect">
            <a:avLst>
              <a:gd name="adj" fmla="val 50000"/>
            </a:avLst>
          </a:prstGeom>
          <a:solidFill>
            <a:srgbClr val="1F7A4D"/>
          </a:solidFill>
          <a:ln/>
        </p:spPr>
      </p:sp>
      <p:sp>
        <p:nvSpPr>
          <p:cNvPr id="45" name="Text 43"/>
          <p:cNvSpPr/>
          <p:nvPr/>
        </p:nvSpPr>
        <p:spPr>
          <a:xfrm>
            <a:off x="4873752" y="42268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46" name="Shape 44"/>
          <p:cNvSpPr/>
          <p:nvPr/>
        </p:nvSpPr>
        <p:spPr>
          <a:xfrm>
            <a:off x="548640" y="4640580"/>
            <a:ext cx="5532120" cy="352044"/>
          </a:xfrm>
          <a:prstGeom prst="roundRect">
            <a:avLst>
              <a:gd name="adj" fmla="val 12987"/>
            </a:avLst>
          </a:prstGeom>
          <a:solidFill>
            <a:srgbClr val="FFFFFF"/>
          </a:solidFill>
          <a:ln w="9525">
            <a:solidFill>
              <a:srgbClr val="D8E0EA"/>
            </a:solidFill>
            <a:prstDash val="solid"/>
          </a:ln>
        </p:spPr>
      </p:sp>
      <p:sp>
        <p:nvSpPr>
          <p:cNvPr id="47" name="Shape 45"/>
          <p:cNvSpPr/>
          <p:nvPr/>
        </p:nvSpPr>
        <p:spPr>
          <a:xfrm>
            <a:off x="621792" y="4686300"/>
            <a:ext cx="457200" cy="260604"/>
          </a:xfrm>
          <a:prstGeom prst="roundRect">
            <a:avLst>
              <a:gd name="adj" fmla="val 17544"/>
            </a:avLst>
          </a:prstGeom>
          <a:solidFill>
            <a:srgbClr val="003366"/>
          </a:solidFill>
          <a:ln/>
        </p:spPr>
      </p:sp>
      <p:sp>
        <p:nvSpPr>
          <p:cNvPr id="48" name="Text 46"/>
          <p:cNvSpPr/>
          <p:nvPr/>
        </p:nvSpPr>
        <p:spPr>
          <a:xfrm>
            <a:off x="621792" y="46863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9" name="Text 47"/>
          <p:cNvSpPr/>
          <p:nvPr/>
        </p:nvSpPr>
        <p:spPr>
          <a:xfrm>
            <a:off x="1170432" y="46405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Live remittance — vendor payouts + landlord rent, gated</a:t>
            </a:r>
            <a:endParaRPr lang="en-US" sz="1200" dirty="0"/>
          </a:p>
        </p:txBody>
      </p:sp>
      <p:sp>
        <p:nvSpPr>
          <p:cNvPr id="50" name="Shape 48"/>
          <p:cNvSpPr/>
          <p:nvPr/>
        </p:nvSpPr>
        <p:spPr>
          <a:xfrm>
            <a:off x="4873752" y="4661154"/>
            <a:ext cx="1078992" cy="310896"/>
          </a:xfrm>
          <a:prstGeom prst="roundRect">
            <a:avLst>
              <a:gd name="adj" fmla="val 50000"/>
            </a:avLst>
          </a:prstGeom>
          <a:solidFill>
            <a:srgbClr val="1F7A4D"/>
          </a:solidFill>
          <a:ln/>
        </p:spPr>
      </p:sp>
      <p:sp>
        <p:nvSpPr>
          <p:cNvPr id="51" name="Text 49"/>
          <p:cNvSpPr/>
          <p:nvPr/>
        </p:nvSpPr>
        <p:spPr>
          <a:xfrm>
            <a:off x="4873752" y="46611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52" name="Shape 50"/>
          <p:cNvSpPr/>
          <p:nvPr/>
        </p:nvSpPr>
        <p:spPr>
          <a:xfrm>
            <a:off x="6400800" y="1600200"/>
            <a:ext cx="5532120" cy="352044"/>
          </a:xfrm>
          <a:prstGeom prst="roundRect">
            <a:avLst>
              <a:gd name="adj" fmla="val 12987"/>
            </a:avLst>
          </a:prstGeom>
          <a:solidFill>
            <a:srgbClr val="FFFFFF"/>
          </a:solidFill>
          <a:ln w="9525">
            <a:solidFill>
              <a:srgbClr val="D8E0EA"/>
            </a:solidFill>
            <a:prstDash val="solid"/>
          </a:ln>
        </p:spPr>
      </p:sp>
      <p:sp>
        <p:nvSpPr>
          <p:cNvPr id="53" name="Shape 51"/>
          <p:cNvSpPr/>
          <p:nvPr/>
        </p:nvSpPr>
        <p:spPr>
          <a:xfrm>
            <a:off x="6473952" y="1645920"/>
            <a:ext cx="457200" cy="260604"/>
          </a:xfrm>
          <a:prstGeom prst="roundRect">
            <a:avLst>
              <a:gd name="adj" fmla="val 17544"/>
            </a:avLst>
          </a:prstGeom>
          <a:solidFill>
            <a:srgbClr val="003366"/>
          </a:solidFill>
          <a:ln/>
        </p:spPr>
      </p:sp>
      <p:sp>
        <p:nvSpPr>
          <p:cNvPr id="54" name="Text 52"/>
          <p:cNvSpPr/>
          <p:nvPr/>
        </p:nvSpPr>
        <p:spPr>
          <a:xfrm>
            <a:off x="6473952" y="16459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6.5</a:t>
            </a:r>
            <a:endParaRPr lang="en-US" sz="1400" dirty="0"/>
          </a:p>
        </p:txBody>
      </p:sp>
      <p:sp>
        <p:nvSpPr>
          <p:cNvPr id="55" name="Text 53"/>
          <p:cNvSpPr/>
          <p:nvPr/>
        </p:nvSpPr>
        <p:spPr>
          <a:xfrm>
            <a:off x="7022592" y="16002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Operator-governed permission matrix</a:t>
            </a:r>
            <a:endParaRPr lang="en-US" sz="1200" dirty="0"/>
          </a:p>
        </p:txBody>
      </p:sp>
      <p:sp>
        <p:nvSpPr>
          <p:cNvPr id="56" name="Shape 54"/>
          <p:cNvSpPr/>
          <p:nvPr/>
        </p:nvSpPr>
        <p:spPr>
          <a:xfrm>
            <a:off x="10725912" y="1620774"/>
            <a:ext cx="1078992" cy="310896"/>
          </a:xfrm>
          <a:prstGeom prst="roundRect">
            <a:avLst>
              <a:gd name="adj" fmla="val 50000"/>
            </a:avLst>
          </a:prstGeom>
          <a:solidFill>
            <a:srgbClr val="1F7A4D"/>
          </a:solidFill>
          <a:ln/>
        </p:spPr>
      </p:sp>
      <p:sp>
        <p:nvSpPr>
          <p:cNvPr id="57" name="Text 55"/>
          <p:cNvSpPr/>
          <p:nvPr/>
        </p:nvSpPr>
        <p:spPr>
          <a:xfrm>
            <a:off x="10725912" y="16207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58" name="Shape 56"/>
          <p:cNvSpPr/>
          <p:nvPr/>
        </p:nvSpPr>
        <p:spPr>
          <a:xfrm>
            <a:off x="6400800" y="2034540"/>
            <a:ext cx="5532120" cy="352044"/>
          </a:xfrm>
          <a:prstGeom prst="roundRect">
            <a:avLst>
              <a:gd name="adj" fmla="val 12987"/>
            </a:avLst>
          </a:prstGeom>
          <a:solidFill>
            <a:srgbClr val="FFFFFF"/>
          </a:solidFill>
          <a:ln w="9525">
            <a:solidFill>
              <a:srgbClr val="D8E0EA"/>
            </a:solidFill>
            <a:prstDash val="solid"/>
          </a:ln>
        </p:spPr>
      </p:sp>
      <p:sp>
        <p:nvSpPr>
          <p:cNvPr id="59" name="Shape 57"/>
          <p:cNvSpPr/>
          <p:nvPr/>
        </p:nvSpPr>
        <p:spPr>
          <a:xfrm>
            <a:off x="6473952" y="2080260"/>
            <a:ext cx="457200" cy="260604"/>
          </a:xfrm>
          <a:prstGeom prst="roundRect">
            <a:avLst>
              <a:gd name="adj" fmla="val 17544"/>
            </a:avLst>
          </a:prstGeom>
          <a:solidFill>
            <a:srgbClr val="003366"/>
          </a:solidFill>
          <a:ln/>
        </p:spPr>
      </p:sp>
      <p:sp>
        <p:nvSpPr>
          <p:cNvPr id="60" name="Text 58"/>
          <p:cNvSpPr/>
          <p:nvPr/>
        </p:nvSpPr>
        <p:spPr>
          <a:xfrm>
            <a:off x="6473952" y="20802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6.75</a:t>
            </a:r>
            <a:endParaRPr lang="en-US" sz="1400" dirty="0"/>
          </a:p>
        </p:txBody>
      </p:sp>
      <p:sp>
        <p:nvSpPr>
          <p:cNvPr id="61" name="Text 59"/>
          <p:cNvSpPr/>
          <p:nvPr/>
        </p:nvSpPr>
        <p:spPr>
          <a:xfrm>
            <a:off x="7022592" y="20345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Property &amp; unit enrolment (create/manage portfolio)</a:t>
            </a:r>
            <a:endParaRPr lang="en-US" sz="1200" dirty="0"/>
          </a:p>
        </p:txBody>
      </p:sp>
      <p:sp>
        <p:nvSpPr>
          <p:cNvPr id="62" name="Shape 60"/>
          <p:cNvSpPr/>
          <p:nvPr/>
        </p:nvSpPr>
        <p:spPr>
          <a:xfrm>
            <a:off x="10725912" y="2055114"/>
            <a:ext cx="1078992" cy="310896"/>
          </a:xfrm>
          <a:prstGeom prst="roundRect">
            <a:avLst>
              <a:gd name="adj" fmla="val 50000"/>
            </a:avLst>
          </a:prstGeom>
          <a:solidFill>
            <a:srgbClr val="1F7A4D"/>
          </a:solidFill>
          <a:ln/>
        </p:spPr>
      </p:sp>
      <p:sp>
        <p:nvSpPr>
          <p:cNvPr id="63" name="Text 61"/>
          <p:cNvSpPr/>
          <p:nvPr/>
        </p:nvSpPr>
        <p:spPr>
          <a:xfrm>
            <a:off x="10725912" y="20551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64" name="Shape 62"/>
          <p:cNvSpPr/>
          <p:nvPr/>
        </p:nvSpPr>
        <p:spPr>
          <a:xfrm>
            <a:off x="6400800" y="2468880"/>
            <a:ext cx="5532120" cy="352044"/>
          </a:xfrm>
          <a:prstGeom prst="roundRect">
            <a:avLst>
              <a:gd name="adj" fmla="val 12987"/>
            </a:avLst>
          </a:prstGeom>
          <a:solidFill>
            <a:srgbClr val="FFFFFF"/>
          </a:solidFill>
          <a:ln w="9525">
            <a:solidFill>
              <a:srgbClr val="D8E0EA"/>
            </a:solidFill>
            <a:prstDash val="solid"/>
          </a:ln>
        </p:spPr>
      </p:sp>
      <p:sp>
        <p:nvSpPr>
          <p:cNvPr id="65" name="Shape 63"/>
          <p:cNvSpPr/>
          <p:nvPr/>
        </p:nvSpPr>
        <p:spPr>
          <a:xfrm>
            <a:off x="6473952" y="2514600"/>
            <a:ext cx="457200" cy="260604"/>
          </a:xfrm>
          <a:prstGeom prst="roundRect">
            <a:avLst>
              <a:gd name="adj" fmla="val 17544"/>
            </a:avLst>
          </a:prstGeom>
          <a:solidFill>
            <a:srgbClr val="003366"/>
          </a:solidFill>
          <a:ln/>
        </p:spPr>
      </p:sp>
      <p:sp>
        <p:nvSpPr>
          <p:cNvPr id="66" name="Text 64"/>
          <p:cNvSpPr/>
          <p:nvPr/>
        </p:nvSpPr>
        <p:spPr>
          <a:xfrm>
            <a:off x="6473952" y="25146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67" name="Text 65"/>
          <p:cNvSpPr/>
          <p:nvPr/>
        </p:nvSpPr>
        <p:spPr>
          <a:xfrm>
            <a:off x="7022592" y="24688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OEA tenant application + KYC intake</a:t>
            </a:r>
            <a:endParaRPr lang="en-US" sz="1200" dirty="0"/>
          </a:p>
        </p:txBody>
      </p:sp>
      <p:sp>
        <p:nvSpPr>
          <p:cNvPr id="68" name="Shape 66"/>
          <p:cNvSpPr/>
          <p:nvPr/>
        </p:nvSpPr>
        <p:spPr>
          <a:xfrm>
            <a:off x="10725912" y="2489454"/>
            <a:ext cx="1078992" cy="310896"/>
          </a:xfrm>
          <a:prstGeom prst="roundRect">
            <a:avLst>
              <a:gd name="adj" fmla="val 50000"/>
            </a:avLst>
          </a:prstGeom>
          <a:solidFill>
            <a:srgbClr val="1F7A4D"/>
          </a:solidFill>
          <a:ln/>
        </p:spPr>
      </p:sp>
      <p:sp>
        <p:nvSpPr>
          <p:cNvPr id="69" name="Text 67"/>
          <p:cNvSpPr/>
          <p:nvPr/>
        </p:nvSpPr>
        <p:spPr>
          <a:xfrm>
            <a:off x="10725912" y="24894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70" name="Shape 68"/>
          <p:cNvSpPr/>
          <p:nvPr/>
        </p:nvSpPr>
        <p:spPr>
          <a:xfrm>
            <a:off x="6400800" y="2903220"/>
            <a:ext cx="5532120" cy="352044"/>
          </a:xfrm>
          <a:prstGeom prst="roundRect">
            <a:avLst>
              <a:gd name="adj" fmla="val 12987"/>
            </a:avLst>
          </a:prstGeom>
          <a:solidFill>
            <a:srgbClr val="FFFFFF"/>
          </a:solidFill>
          <a:ln w="9525">
            <a:solidFill>
              <a:srgbClr val="D8E0EA"/>
            </a:solidFill>
            <a:prstDash val="solid"/>
          </a:ln>
        </p:spPr>
      </p:sp>
      <p:sp>
        <p:nvSpPr>
          <p:cNvPr id="71" name="Shape 69"/>
          <p:cNvSpPr/>
          <p:nvPr/>
        </p:nvSpPr>
        <p:spPr>
          <a:xfrm>
            <a:off x="6473952" y="2948940"/>
            <a:ext cx="457200" cy="260604"/>
          </a:xfrm>
          <a:prstGeom prst="roundRect">
            <a:avLst>
              <a:gd name="adj" fmla="val 17544"/>
            </a:avLst>
          </a:prstGeom>
          <a:solidFill>
            <a:srgbClr val="003366"/>
          </a:solidFill>
          <a:ln/>
        </p:spPr>
      </p:sp>
      <p:sp>
        <p:nvSpPr>
          <p:cNvPr id="72" name="Text 70"/>
          <p:cNvSpPr/>
          <p:nvPr/>
        </p:nvSpPr>
        <p:spPr>
          <a:xfrm>
            <a:off x="6473952" y="294894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73" name="Text 71"/>
          <p:cNvSpPr/>
          <p:nvPr/>
        </p:nvSpPr>
        <p:spPr>
          <a:xfrm>
            <a:off x="7022592" y="290322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Two-tier human review + approval</a:t>
            </a:r>
            <a:endParaRPr lang="en-US" sz="1200" dirty="0"/>
          </a:p>
        </p:txBody>
      </p:sp>
      <p:sp>
        <p:nvSpPr>
          <p:cNvPr id="74" name="Shape 72"/>
          <p:cNvSpPr/>
          <p:nvPr/>
        </p:nvSpPr>
        <p:spPr>
          <a:xfrm>
            <a:off x="10725912" y="2923794"/>
            <a:ext cx="1078992" cy="310896"/>
          </a:xfrm>
          <a:prstGeom prst="roundRect">
            <a:avLst>
              <a:gd name="adj" fmla="val 50000"/>
            </a:avLst>
          </a:prstGeom>
          <a:solidFill>
            <a:srgbClr val="1F7A4D"/>
          </a:solidFill>
          <a:ln/>
        </p:spPr>
      </p:sp>
      <p:sp>
        <p:nvSpPr>
          <p:cNvPr id="75" name="Text 73"/>
          <p:cNvSpPr/>
          <p:nvPr/>
        </p:nvSpPr>
        <p:spPr>
          <a:xfrm>
            <a:off x="10725912" y="292379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76" name="Shape 74"/>
          <p:cNvSpPr/>
          <p:nvPr/>
        </p:nvSpPr>
        <p:spPr>
          <a:xfrm>
            <a:off x="6400800" y="3337560"/>
            <a:ext cx="5532120" cy="352044"/>
          </a:xfrm>
          <a:prstGeom prst="roundRect">
            <a:avLst>
              <a:gd name="adj" fmla="val 12987"/>
            </a:avLst>
          </a:prstGeom>
          <a:solidFill>
            <a:srgbClr val="FFFFFF"/>
          </a:solidFill>
          <a:ln w="9525">
            <a:solidFill>
              <a:srgbClr val="D8E0EA"/>
            </a:solidFill>
            <a:prstDash val="solid"/>
          </a:ln>
        </p:spPr>
      </p:sp>
      <p:sp>
        <p:nvSpPr>
          <p:cNvPr id="77" name="Shape 75"/>
          <p:cNvSpPr/>
          <p:nvPr/>
        </p:nvSpPr>
        <p:spPr>
          <a:xfrm>
            <a:off x="6473952" y="3383280"/>
            <a:ext cx="457200" cy="260604"/>
          </a:xfrm>
          <a:prstGeom prst="roundRect">
            <a:avLst>
              <a:gd name="adj" fmla="val 17544"/>
            </a:avLst>
          </a:prstGeom>
          <a:solidFill>
            <a:srgbClr val="003366"/>
          </a:solidFill>
          <a:ln/>
        </p:spPr>
      </p:sp>
      <p:sp>
        <p:nvSpPr>
          <p:cNvPr id="78" name="Text 76"/>
          <p:cNvSpPr/>
          <p:nvPr/>
        </p:nvSpPr>
        <p:spPr>
          <a:xfrm>
            <a:off x="6473952" y="338328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79" name="Text 77"/>
          <p:cNvSpPr/>
          <p:nvPr/>
        </p:nvSpPr>
        <p:spPr>
          <a:xfrm>
            <a:off x="7022592" y="333756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Lease administration + rent roll</a:t>
            </a:r>
            <a:endParaRPr lang="en-US" sz="1200" dirty="0"/>
          </a:p>
        </p:txBody>
      </p:sp>
      <p:sp>
        <p:nvSpPr>
          <p:cNvPr id="80" name="Shape 78"/>
          <p:cNvSpPr/>
          <p:nvPr/>
        </p:nvSpPr>
        <p:spPr>
          <a:xfrm>
            <a:off x="10725912" y="3358134"/>
            <a:ext cx="1078992" cy="310896"/>
          </a:xfrm>
          <a:prstGeom prst="roundRect">
            <a:avLst>
              <a:gd name="adj" fmla="val 50000"/>
            </a:avLst>
          </a:prstGeom>
          <a:solidFill>
            <a:srgbClr val="1F7A4D"/>
          </a:solidFill>
          <a:ln/>
        </p:spPr>
      </p:sp>
      <p:sp>
        <p:nvSpPr>
          <p:cNvPr id="81" name="Text 79"/>
          <p:cNvSpPr/>
          <p:nvPr/>
        </p:nvSpPr>
        <p:spPr>
          <a:xfrm>
            <a:off x="10725912" y="335813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82" name="Shape 80"/>
          <p:cNvSpPr/>
          <p:nvPr/>
        </p:nvSpPr>
        <p:spPr>
          <a:xfrm>
            <a:off x="6400800" y="3771900"/>
            <a:ext cx="5532120" cy="352044"/>
          </a:xfrm>
          <a:prstGeom prst="roundRect">
            <a:avLst>
              <a:gd name="adj" fmla="val 12987"/>
            </a:avLst>
          </a:prstGeom>
          <a:solidFill>
            <a:srgbClr val="FFFFFF"/>
          </a:solidFill>
          <a:ln w="9525">
            <a:solidFill>
              <a:srgbClr val="D8E0EA"/>
            </a:solidFill>
            <a:prstDash val="solid"/>
          </a:ln>
        </p:spPr>
      </p:sp>
      <p:sp>
        <p:nvSpPr>
          <p:cNvPr id="83" name="Shape 81"/>
          <p:cNvSpPr/>
          <p:nvPr/>
        </p:nvSpPr>
        <p:spPr>
          <a:xfrm>
            <a:off x="6473952" y="3817620"/>
            <a:ext cx="457200" cy="260604"/>
          </a:xfrm>
          <a:prstGeom prst="roundRect">
            <a:avLst>
              <a:gd name="adj" fmla="val 17544"/>
            </a:avLst>
          </a:prstGeom>
          <a:solidFill>
            <a:srgbClr val="003366"/>
          </a:solidFill>
          <a:ln/>
        </p:spPr>
      </p:sp>
      <p:sp>
        <p:nvSpPr>
          <p:cNvPr id="84" name="Text 82"/>
          <p:cNvSpPr/>
          <p:nvPr/>
        </p:nvSpPr>
        <p:spPr>
          <a:xfrm>
            <a:off x="6473952" y="38176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85" name="Text 83"/>
          <p:cNvSpPr/>
          <p:nvPr/>
        </p:nvSpPr>
        <p:spPr>
          <a:xfrm>
            <a:off x="7022592" y="37719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Interactive analytics dashboard</a:t>
            </a:r>
            <a:endParaRPr lang="en-US" sz="1200" dirty="0"/>
          </a:p>
        </p:txBody>
      </p:sp>
      <p:sp>
        <p:nvSpPr>
          <p:cNvPr id="86" name="Shape 84"/>
          <p:cNvSpPr/>
          <p:nvPr/>
        </p:nvSpPr>
        <p:spPr>
          <a:xfrm>
            <a:off x="10725912" y="3792474"/>
            <a:ext cx="1078992" cy="310896"/>
          </a:xfrm>
          <a:prstGeom prst="roundRect">
            <a:avLst>
              <a:gd name="adj" fmla="val 50000"/>
            </a:avLst>
          </a:prstGeom>
          <a:solidFill>
            <a:srgbClr val="1F7A4D"/>
          </a:solidFill>
          <a:ln/>
        </p:spPr>
      </p:sp>
      <p:sp>
        <p:nvSpPr>
          <p:cNvPr id="87" name="Text 85"/>
          <p:cNvSpPr/>
          <p:nvPr/>
        </p:nvSpPr>
        <p:spPr>
          <a:xfrm>
            <a:off x="10725912" y="37924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88" name="Shape 86"/>
          <p:cNvSpPr/>
          <p:nvPr/>
        </p:nvSpPr>
        <p:spPr>
          <a:xfrm>
            <a:off x="6400800" y="4206240"/>
            <a:ext cx="5532120" cy="352044"/>
          </a:xfrm>
          <a:prstGeom prst="roundRect">
            <a:avLst>
              <a:gd name="adj" fmla="val 12987"/>
            </a:avLst>
          </a:prstGeom>
          <a:solidFill>
            <a:srgbClr val="FFFFFF"/>
          </a:solidFill>
          <a:ln w="9525">
            <a:solidFill>
              <a:srgbClr val="D8E0EA"/>
            </a:solidFill>
            <a:prstDash val="solid"/>
          </a:ln>
        </p:spPr>
      </p:sp>
      <p:sp>
        <p:nvSpPr>
          <p:cNvPr id="89" name="Shape 87"/>
          <p:cNvSpPr/>
          <p:nvPr/>
        </p:nvSpPr>
        <p:spPr>
          <a:xfrm>
            <a:off x="6473952" y="4251960"/>
            <a:ext cx="457200" cy="260604"/>
          </a:xfrm>
          <a:prstGeom prst="roundRect">
            <a:avLst>
              <a:gd name="adj" fmla="val 17544"/>
            </a:avLst>
          </a:prstGeom>
          <a:solidFill>
            <a:srgbClr val="003366"/>
          </a:solidFill>
          <a:ln/>
        </p:spPr>
      </p:sp>
      <p:sp>
        <p:nvSpPr>
          <p:cNvPr id="90" name="Text 88"/>
          <p:cNvSpPr/>
          <p:nvPr/>
        </p:nvSpPr>
        <p:spPr>
          <a:xfrm>
            <a:off x="6473952" y="42519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91" name="Text 89"/>
          <p:cNvSpPr/>
          <p:nvPr/>
        </p:nvSpPr>
        <p:spPr>
          <a:xfrm>
            <a:off x="7022592" y="42062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Vendor KPI/SLA evaluation, work-order media, UX pass</a:t>
            </a:r>
            <a:endParaRPr lang="en-US" sz="1200" dirty="0"/>
          </a:p>
        </p:txBody>
      </p:sp>
      <p:sp>
        <p:nvSpPr>
          <p:cNvPr id="92" name="Shape 90"/>
          <p:cNvSpPr/>
          <p:nvPr/>
        </p:nvSpPr>
        <p:spPr>
          <a:xfrm>
            <a:off x="10725912" y="4226814"/>
            <a:ext cx="1078992" cy="310896"/>
          </a:xfrm>
          <a:prstGeom prst="roundRect">
            <a:avLst>
              <a:gd name="adj" fmla="val 50000"/>
            </a:avLst>
          </a:prstGeom>
          <a:solidFill>
            <a:srgbClr val="1F7A4D"/>
          </a:solidFill>
          <a:ln/>
        </p:spPr>
      </p:sp>
      <p:sp>
        <p:nvSpPr>
          <p:cNvPr id="93" name="Text 91"/>
          <p:cNvSpPr/>
          <p:nvPr/>
        </p:nvSpPr>
        <p:spPr>
          <a:xfrm>
            <a:off x="10725912" y="42268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94" name="Shape 92"/>
          <p:cNvSpPr/>
          <p:nvPr/>
        </p:nvSpPr>
        <p:spPr>
          <a:xfrm>
            <a:off x="6400800" y="4640580"/>
            <a:ext cx="5532120" cy="352044"/>
          </a:xfrm>
          <a:prstGeom prst="roundRect">
            <a:avLst>
              <a:gd name="adj" fmla="val 12987"/>
            </a:avLst>
          </a:prstGeom>
          <a:solidFill>
            <a:srgbClr val="FFFFFF"/>
          </a:solidFill>
          <a:ln w="9525">
            <a:solidFill>
              <a:srgbClr val="D8E0EA"/>
            </a:solidFill>
            <a:prstDash val="solid"/>
          </a:ln>
        </p:spPr>
      </p:sp>
      <p:sp>
        <p:nvSpPr>
          <p:cNvPr id="95" name="Shape 93"/>
          <p:cNvSpPr/>
          <p:nvPr/>
        </p:nvSpPr>
        <p:spPr>
          <a:xfrm>
            <a:off x="6473952" y="4686300"/>
            <a:ext cx="457200" cy="260604"/>
          </a:xfrm>
          <a:prstGeom prst="roundRect">
            <a:avLst>
              <a:gd name="adj" fmla="val 17544"/>
            </a:avLst>
          </a:prstGeom>
          <a:solidFill>
            <a:srgbClr val="003366"/>
          </a:solidFill>
          <a:ln/>
        </p:spPr>
      </p:sp>
      <p:sp>
        <p:nvSpPr>
          <p:cNvPr id="96" name="Text 94"/>
          <p:cNvSpPr/>
          <p:nvPr/>
        </p:nvSpPr>
        <p:spPr>
          <a:xfrm>
            <a:off x="6473952" y="46863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97" name="Text 95"/>
          <p:cNvSpPr/>
          <p:nvPr/>
        </p:nvSpPr>
        <p:spPr>
          <a:xfrm>
            <a:off x="7022592" y="46405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Security audit, NDPA pack, UAT, go-live</a:t>
            </a:r>
            <a:endParaRPr lang="en-US" sz="1200" dirty="0"/>
          </a:p>
        </p:txBody>
      </p:sp>
      <p:sp>
        <p:nvSpPr>
          <p:cNvPr id="98" name="Shape 96"/>
          <p:cNvSpPr/>
          <p:nvPr/>
        </p:nvSpPr>
        <p:spPr>
          <a:xfrm>
            <a:off x="10725912" y="4661154"/>
            <a:ext cx="1078992" cy="310896"/>
          </a:xfrm>
          <a:prstGeom prst="roundRect">
            <a:avLst>
              <a:gd name="adj" fmla="val 50000"/>
            </a:avLst>
          </a:prstGeom>
          <a:solidFill>
            <a:srgbClr val="B5680A"/>
          </a:solidFill>
          <a:ln/>
        </p:spPr>
      </p:sp>
      <p:sp>
        <p:nvSpPr>
          <p:cNvPr id="99" name="Text 97"/>
          <p:cNvSpPr/>
          <p:nvPr/>
        </p:nvSpPr>
        <p:spPr>
          <a:xfrm>
            <a:off x="10725912" y="46611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 PROGRESS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4B4742"/>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A</a:t>
            </a:r>
            <a:endParaRPr lang="en-US" sz="1000" dirty="0">
              <a:solidFill>
                <a:prstClr val="black"/>
              </a:solidFill>
              <a:latin typeface="Calibri" panose="020F0502020204030204"/>
            </a:endParaRPr>
          </a:p>
        </p:txBody>
      </p:sp>
      <p:sp>
        <p:nvSpPr>
          <p:cNvPr id="5" name="Text 3"/>
          <p:cNvSpPr/>
          <p:nvPr/>
        </p:nvSpPr>
        <p:spPr>
          <a:xfrm>
            <a:off x="976727" y="1731920"/>
            <a:ext cx="2355160" cy="175536"/>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A</a:t>
            </a:r>
            <a:endParaRPr lang="en-US" sz="900" dirty="0">
              <a:solidFill>
                <a:prstClr val="black"/>
              </a:solidFill>
              <a:latin typeface="Calibri" panose="020F0502020204030204"/>
            </a:endParaRPr>
          </a:p>
        </p:txBody>
      </p:sp>
      <p:sp>
        <p:nvSpPr>
          <p:cNvPr id="6" name="Shape 4"/>
          <p:cNvSpPr/>
          <p:nvPr/>
        </p:nvSpPr>
        <p:spPr>
          <a:xfrm>
            <a:off x="10062633" y="1689100"/>
            <a:ext cx="63500" cy="63500"/>
          </a:xfrm>
          <a:prstGeom prst="ellipse">
            <a:avLst/>
          </a:prstGeom>
          <a:solidFill>
            <a:srgbClr val="4B4742"/>
          </a:solidFill>
          <a:ln/>
        </p:spPr>
      </p:sp>
      <p:sp>
        <p:nvSpPr>
          <p:cNvPr id="7" name="Text 5"/>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8" name="Shape 6"/>
          <p:cNvSpPr/>
          <p:nvPr/>
        </p:nvSpPr>
        <p:spPr>
          <a:xfrm>
            <a:off x="11042452" y="1680634"/>
            <a:ext cx="80433" cy="80433"/>
          </a:xfrm>
          <a:prstGeom prst="roundRect">
            <a:avLst>
              <a:gd name="adj" fmla="val 15789"/>
            </a:avLst>
          </a:prstGeom>
          <a:ln w="12700">
            <a:solidFill>
              <a:srgbClr val="83807A"/>
            </a:solidFill>
            <a:prstDash val="dash"/>
          </a:ln>
        </p:spPr>
      </p:sp>
      <p:sp>
        <p:nvSpPr>
          <p:cNvPr id="9" name="Text 7"/>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t="12500" b="12500"/>
          <a:stretch/>
        </p:blipFill>
        <p:spPr>
          <a:xfrm>
            <a:off x="927100" y="2677782"/>
            <a:ext cx="952500" cy="952500"/>
          </a:xfrm>
          <a:prstGeom prst="rect">
            <a:avLst/>
          </a:prstGeom>
        </p:spPr>
      </p:pic>
      <p:sp>
        <p:nvSpPr>
          <p:cNvPr id="12" name="Text 9"/>
          <p:cNvSpPr/>
          <p:nvPr/>
        </p:nvSpPr>
        <p:spPr>
          <a:xfrm>
            <a:off x="766773" y="3719182"/>
            <a:ext cx="1273089"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ADMIN</a:t>
            </a:r>
            <a:endParaRPr lang="en-US" sz="1200" dirty="0">
              <a:solidFill>
                <a:prstClr val="black"/>
              </a:solidFill>
              <a:latin typeface="Calibri" panose="020F0502020204030204"/>
            </a:endParaRPr>
          </a:p>
        </p:txBody>
      </p:sp>
      <p:sp>
        <p:nvSpPr>
          <p:cNvPr id="13" name="Text 10"/>
          <p:cNvSpPr/>
          <p:nvPr/>
        </p:nvSpPr>
        <p:spPr>
          <a:xfrm>
            <a:off x="799240" y="3901216"/>
            <a:ext cx="1208154"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Onboard people, set controls, oversee everything, sign off large payments.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24334C">
                  <a:alpha val="35000"/>
                </a:srgbClr>
              </a:gs>
              <a:gs pos="100000">
                <a:srgbClr val="C53637">
                  <a:alpha val="35000"/>
                </a:srgbClr>
              </a:gs>
            </a:gsLst>
            <a:lin ang="0" scaled="0"/>
          </a:gradFill>
          <a:ln/>
        </p:spPr>
      </p:sp>
      <p:sp>
        <p:nvSpPr>
          <p:cNvPr id="15" name="Shape 12"/>
          <p:cNvSpPr/>
          <p:nvPr/>
        </p:nvSpPr>
        <p:spPr>
          <a:xfrm>
            <a:off x="2825750" y="2383367"/>
            <a:ext cx="177800" cy="177800"/>
          </a:xfrm>
          <a:prstGeom prst="ellipse">
            <a:avLst/>
          </a:prstGeom>
          <a:solidFill>
            <a:srgbClr val="4B4742"/>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B2823"/>
          </a:solidFill>
          <a:ln/>
        </p:spPr>
      </p:sp>
      <p:sp>
        <p:nvSpPr>
          <p:cNvPr id="18" name="Shape 15"/>
          <p:cNvSpPr/>
          <p:nvPr/>
        </p:nvSpPr>
        <p:spPr>
          <a:xfrm>
            <a:off x="2800350" y="2808817"/>
            <a:ext cx="228600" cy="165100"/>
          </a:xfrm>
          <a:prstGeom prst="roundRect">
            <a:avLst>
              <a:gd name="adj" fmla="val 15385"/>
            </a:avLst>
          </a:prstGeom>
          <a:solidFill>
            <a:srgbClr val="F9F5EE"/>
          </a:solidFill>
          <a:ln/>
        </p:spPr>
      </p:sp>
      <p:sp>
        <p:nvSpPr>
          <p:cNvPr id="19" name="Shape 16"/>
          <p:cNvSpPr/>
          <p:nvPr/>
        </p:nvSpPr>
        <p:spPr>
          <a:xfrm>
            <a:off x="2800350" y="2808817"/>
            <a:ext cx="228600" cy="88900"/>
          </a:xfrm>
          <a:prstGeom prst="rect">
            <a:avLst/>
          </a:prstGeom>
          <a:solidFill>
            <a:srgbClr val="2B2823"/>
          </a:solidFill>
          <a:ln/>
        </p:spPr>
      </p:sp>
      <p:sp>
        <p:nvSpPr>
          <p:cNvPr id="20" name="Shape 17"/>
          <p:cNvSpPr/>
          <p:nvPr/>
        </p:nvSpPr>
        <p:spPr>
          <a:xfrm>
            <a:off x="2965450" y="2910417"/>
            <a:ext cx="101600" cy="101600"/>
          </a:xfrm>
          <a:prstGeom prst="ellipse">
            <a:avLst/>
          </a:prstGeom>
          <a:solidFill>
            <a:srgbClr val="24334C"/>
          </a:solidFill>
          <a:ln/>
        </p:spPr>
      </p:sp>
      <p:sp>
        <p:nvSpPr>
          <p:cNvPr id="21" name="Text 18"/>
          <p:cNvSpPr/>
          <p:nvPr/>
        </p:nvSpPr>
        <p:spPr>
          <a:xfrm>
            <a:off x="2940050" y="2910417"/>
            <a:ext cx="152400" cy="127000"/>
          </a:xfrm>
          <a:prstGeom prst="rect">
            <a:avLst/>
          </a:prstGeom>
          <a:noFill/>
          <a:ln/>
        </p:spPr>
        <p:txBody>
          <a:bodyPr wrap="square" lIns="16933" tIns="16933" rIns="16933" bIns="16933" rtlCol="0" anchor="ctr">
            <a:noAutofit/>
          </a:bodyPr>
          <a:lstStyle/>
          <a:p>
            <a:pPr algn="ctr" defTabSz="609630"/>
            <a:r>
              <a:rPr lang="en-US" sz="900" b="1" dirty="0">
                <a:solidFill>
                  <a:srgbClr val="FFFFFF"/>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2" name="Text 19"/>
          <p:cNvSpPr/>
          <p:nvPr/>
        </p:nvSpPr>
        <p:spPr>
          <a:xfrm>
            <a:off x="23907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Invite &amp; onboard</a:t>
            </a:r>
            <a:endParaRPr lang="en-US" sz="900" dirty="0">
              <a:solidFill>
                <a:prstClr val="black"/>
              </a:solidFill>
              <a:latin typeface="Calibri" panose="020F0502020204030204"/>
            </a:endParaRPr>
          </a:p>
        </p:txBody>
      </p:sp>
      <p:sp>
        <p:nvSpPr>
          <p:cNvPr id="23" name="Text 20"/>
          <p:cNvSpPr/>
          <p:nvPr/>
        </p:nvSpPr>
        <p:spPr>
          <a:xfrm>
            <a:off x="2362836" y="3342217"/>
            <a:ext cx="1103630" cy="1947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staff · vendors · tenants → role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4B4742"/>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B2823"/>
          </a:solidFill>
          <a:ln/>
        </p:spPr>
      </p:sp>
      <p:sp>
        <p:nvSpPr>
          <p:cNvPr id="27" name="Shape 24"/>
          <p:cNvSpPr/>
          <p:nvPr/>
        </p:nvSpPr>
        <p:spPr>
          <a:xfrm>
            <a:off x="4400550" y="2837392"/>
            <a:ext cx="279400" cy="25400"/>
          </a:xfrm>
          <a:prstGeom prst="roundRect">
            <a:avLst>
              <a:gd name="adj" fmla="val 50000"/>
            </a:avLst>
          </a:prstGeom>
          <a:solidFill>
            <a:srgbClr val="66635D"/>
          </a:solidFill>
          <a:ln/>
        </p:spPr>
      </p:sp>
      <p:sp>
        <p:nvSpPr>
          <p:cNvPr id="28" name="Shape 25"/>
          <p:cNvSpPr/>
          <p:nvPr/>
        </p:nvSpPr>
        <p:spPr>
          <a:xfrm>
            <a:off x="4565650" y="2811992"/>
            <a:ext cx="76200" cy="76200"/>
          </a:xfrm>
          <a:prstGeom prst="ellipse">
            <a:avLst/>
          </a:prstGeom>
          <a:solidFill>
            <a:srgbClr val="24334C"/>
          </a:solidFill>
          <a:ln/>
        </p:spPr>
      </p:sp>
      <p:sp>
        <p:nvSpPr>
          <p:cNvPr id="29" name="Shape 26"/>
          <p:cNvSpPr/>
          <p:nvPr/>
        </p:nvSpPr>
        <p:spPr>
          <a:xfrm>
            <a:off x="4400550" y="2919942"/>
            <a:ext cx="279400" cy="25400"/>
          </a:xfrm>
          <a:prstGeom prst="roundRect">
            <a:avLst>
              <a:gd name="adj" fmla="val 50000"/>
            </a:avLst>
          </a:prstGeom>
          <a:solidFill>
            <a:srgbClr val="66635D"/>
          </a:solidFill>
          <a:ln/>
        </p:spPr>
      </p:sp>
      <p:sp>
        <p:nvSpPr>
          <p:cNvPr id="30" name="Shape 27"/>
          <p:cNvSpPr/>
          <p:nvPr/>
        </p:nvSpPr>
        <p:spPr>
          <a:xfrm>
            <a:off x="4464050" y="2894542"/>
            <a:ext cx="76200" cy="76200"/>
          </a:xfrm>
          <a:prstGeom prst="ellipse">
            <a:avLst/>
          </a:prstGeom>
          <a:solidFill>
            <a:srgbClr val="C53637"/>
          </a:solidFill>
          <a:ln/>
        </p:spPr>
      </p:sp>
      <p:sp>
        <p:nvSpPr>
          <p:cNvPr id="31" name="Text 28"/>
          <p:cNvSpPr/>
          <p:nvPr/>
        </p:nvSpPr>
        <p:spPr>
          <a:xfrm>
            <a:off x="40163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Configure controls</a:t>
            </a:r>
            <a:endParaRPr lang="en-US" sz="900" dirty="0">
              <a:solidFill>
                <a:prstClr val="black"/>
              </a:solidFill>
              <a:latin typeface="Calibri" panose="020F0502020204030204"/>
            </a:endParaRPr>
          </a:p>
        </p:txBody>
      </p:sp>
      <p:sp>
        <p:nvSpPr>
          <p:cNvPr id="32" name="Text 29"/>
          <p:cNvSpPr/>
          <p:nvPr/>
        </p:nvSpPr>
        <p:spPr>
          <a:xfrm>
            <a:off x="4038600" y="3519774"/>
            <a:ext cx="1003300" cy="1947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threshold · permissions · brand</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4B4742"/>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99150" y="2624667"/>
            <a:ext cx="533400" cy="533400"/>
          </a:xfrm>
          <a:prstGeom prst="roundRect">
            <a:avLst>
              <a:gd name="adj" fmla="val 19048"/>
            </a:avLst>
          </a:prstGeom>
          <a:solidFill>
            <a:srgbClr val="2B2823"/>
          </a:solidFill>
          <a:ln/>
        </p:spPr>
      </p:sp>
      <p:sp>
        <p:nvSpPr>
          <p:cNvPr id="36" name="Shape 33"/>
          <p:cNvSpPr/>
          <p:nvPr/>
        </p:nvSpPr>
        <p:spPr>
          <a:xfrm>
            <a:off x="6048375" y="2773892"/>
            <a:ext cx="101600" cy="101600"/>
          </a:xfrm>
          <a:prstGeom prst="roundRect">
            <a:avLst>
              <a:gd name="adj" fmla="val 18750"/>
            </a:avLst>
          </a:prstGeom>
          <a:solidFill>
            <a:srgbClr val="F9F5EE"/>
          </a:solidFill>
          <a:ln/>
        </p:spPr>
      </p:sp>
      <p:sp>
        <p:nvSpPr>
          <p:cNvPr id="37" name="Shape 34"/>
          <p:cNvSpPr/>
          <p:nvPr/>
        </p:nvSpPr>
        <p:spPr>
          <a:xfrm>
            <a:off x="6181725" y="2773892"/>
            <a:ext cx="101600" cy="101600"/>
          </a:xfrm>
          <a:prstGeom prst="roundRect">
            <a:avLst>
              <a:gd name="adj" fmla="val 18750"/>
            </a:avLst>
          </a:prstGeom>
          <a:solidFill>
            <a:srgbClr val="24334C"/>
          </a:solidFill>
          <a:ln/>
        </p:spPr>
      </p:sp>
      <p:sp>
        <p:nvSpPr>
          <p:cNvPr id="38" name="Shape 35"/>
          <p:cNvSpPr/>
          <p:nvPr/>
        </p:nvSpPr>
        <p:spPr>
          <a:xfrm>
            <a:off x="6048375" y="2907242"/>
            <a:ext cx="101600" cy="101600"/>
          </a:xfrm>
          <a:prstGeom prst="roundRect">
            <a:avLst>
              <a:gd name="adj" fmla="val 18750"/>
            </a:avLst>
          </a:prstGeom>
          <a:solidFill>
            <a:srgbClr val="C53637"/>
          </a:solidFill>
          <a:ln/>
        </p:spPr>
      </p:sp>
      <p:sp>
        <p:nvSpPr>
          <p:cNvPr id="39" name="Shape 36"/>
          <p:cNvSpPr/>
          <p:nvPr/>
        </p:nvSpPr>
        <p:spPr>
          <a:xfrm>
            <a:off x="6181725" y="2907242"/>
            <a:ext cx="101600" cy="101600"/>
          </a:xfrm>
          <a:prstGeom prst="roundRect">
            <a:avLst>
              <a:gd name="adj" fmla="val 18750"/>
            </a:avLst>
          </a:prstGeom>
          <a:solidFill>
            <a:srgbClr val="F9F5EE"/>
          </a:solidFill>
          <a:ln/>
        </p:spPr>
      </p:sp>
      <p:sp>
        <p:nvSpPr>
          <p:cNvPr id="40" name="Text 37"/>
          <p:cNvSpPr/>
          <p:nvPr/>
        </p:nvSpPr>
        <p:spPr>
          <a:xfrm>
            <a:off x="56642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Oversee all tickets &amp; money</a:t>
            </a:r>
            <a:endParaRPr lang="en-US" sz="900" dirty="0">
              <a:solidFill>
                <a:prstClr val="black"/>
              </a:solidFill>
              <a:latin typeface="Calibri" panose="020F0502020204030204"/>
            </a:endParaRPr>
          </a:p>
        </p:txBody>
      </p:sp>
      <p:sp>
        <p:nvSpPr>
          <p:cNvPr id="41" name="Text 38"/>
          <p:cNvSpPr/>
          <p:nvPr/>
        </p:nvSpPr>
        <p:spPr>
          <a:xfrm>
            <a:off x="5641976" y="3514839"/>
            <a:ext cx="1047750"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org-scoped dashboard</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4B4742"/>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12050" y="2624667"/>
            <a:ext cx="558800" cy="558800"/>
          </a:xfrm>
          <a:prstGeom prst="roundRect">
            <a:avLst>
              <a:gd name="adj" fmla="val 18182"/>
            </a:avLst>
          </a:prstGeom>
          <a:solidFill>
            <a:srgbClr val="2B2823"/>
          </a:solidFill>
          <a:ln w="19050">
            <a:solidFill>
              <a:srgbClr val="C53637"/>
            </a:solidFill>
            <a:prstDash val="solid"/>
          </a:ln>
        </p:spPr>
      </p:sp>
      <p:sp>
        <p:nvSpPr>
          <p:cNvPr id="45" name="Shape 42"/>
          <p:cNvSpPr/>
          <p:nvPr/>
        </p:nvSpPr>
        <p:spPr>
          <a:xfrm>
            <a:off x="7727950" y="2802467"/>
            <a:ext cx="160867" cy="16933"/>
          </a:xfrm>
          <a:prstGeom prst="rect">
            <a:avLst/>
          </a:prstGeom>
          <a:solidFill>
            <a:srgbClr val="F9F5EE"/>
          </a:solidFill>
          <a:ln/>
        </p:spPr>
      </p:sp>
      <p:sp>
        <p:nvSpPr>
          <p:cNvPr id="46" name="Shape 43"/>
          <p:cNvSpPr/>
          <p:nvPr/>
        </p:nvSpPr>
        <p:spPr>
          <a:xfrm>
            <a:off x="7727950" y="2802467"/>
            <a:ext cx="16933" cy="118533"/>
          </a:xfrm>
          <a:prstGeom prst="rect">
            <a:avLst/>
          </a:prstGeom>
          <a:solidFill>
            <a:srgbClr val="F9F5EE"/>
          </a:solidFill>
          <a:ln/>
        </p:spPr>
      </p:sp>
      <p:sp>
        <p:nvSpPr>
          <p:cNvPr id="47" name="Shape 44"/>
          <p:cNvSpPr/>
          <p:nvPr/>
        </p:nvSpPr>
        <p:spPr>
          <a:xfrm>
            <a:off x="7871884" y="2802467"/>
            <a:ext cx="16933" cy="118533"/>
          </a:xfrm>
          <a:prstGeom prst="rect">
            <a:avLst/>
          </a:prstGeom>
          <a:solidFill>
            <a:srgbClr val="F9F5EE"/>
          </a:solidFill>
          <a:ln/>
        </p:spPr>
      </p:sp>
      <p:sp>
        <p:nvSpPr>
          <p:cNvPr id="48" name="Shape 45"/>
          <p:cNvSpPr/>
          <p:nvPr/>
        </p:nvSpPr>
        <p:spPr>
          <a:xfrm>
            <a:off x="7696200" y="2878667"/>
            <a:ext cx="190500" cy="127000"/>
          </a:xfrm>
          <a:prstGeom prst="roundRect">
            <a:avLst>
              <a:gd name="adj" fmla="val 20000"/>
            </a:avLst>
          </a:prstGeom>
          <a:solidFill>
            <a:srgbClr val="C53637"/>
          </a:solidFill>
          <a:ln/>
        </p:spPr>
      </p:sp>
      <p:sp>
        <p:nvSpPr>
          <p:cNvPr id="49" name="Shape 46"/>
          <p:cNvSpPr/>
          <p:nvPr/>
        </p:nvSpPr>
        <p:spPr>
          <a:xfrm>
            <a:off x="7778750" y="2910417"/>
            <a:ext cx="25400" cy="50800"/>
          </a:xfrm>
          <a:prstGeom prst="roundRect">
            <a:avLst>
              <a:gd name="adj" fmla="val 50000"/>
            </a:avLst>
          </a:prstGeom>
          <a:solidFill>
            <a:srgbClr val="F9F5EE"/>
          </a:solidFill>
          <a:ln/>
        </p:spPr>
      </p:sp>
      <p:sp>
        <p:nvSpPr>
          <p:cNvPr id="50" name="Text 47"/>
          <p:cNvSpPr/>
          <p:nvPr/>
        </p:nvSpPr>
        <p:spPr>
          <a:xfrm>
            <a:off x="7289800" y="3246967"/>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Approve high-value pay</a:t>
            </a:r>
            <a:endParaRPr lang="en-US" sz="900" dirty="0">
              <a:solidFill>
                <a:prstClr val="black"/>
              </a:solidFill>
              <a:latin typeface="Calibri" panose="020F0502020204030204"/>
            </a:endParaRPr>
          </a:p>
        </p:txBody>
      </p:sp>
      <p:sp>
        <p:nvSpPr>
          <p:cNvPr id="51" name="Text 48"/>
          <p:cNvSpPr/>
          <p:nvPr/>
        </p:nvSpPr>
        <p:spPr>
          <a:xfrm>
            <a:off x="7267576" y="3539417"/>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above threshold · gated</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solidFill>
            <a:srgbClr val="4B4742"/>
          </a:solidFill>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660400"/>
          </a:xfrm>
          <a:prstGeom prst="roundRect">
            <a:avLst>
              <a:gd name="adj" fmla="val 18182"/>
            </a:avLst>
          </a:prstGeom>
          <a:solidFill>
            <a:srgbClr val="2B2823"/>
          </a:solidFill>
          <a:ln/>
        </p:spPr>
      </p:sp>
      <p:sp>
        <p:nvSpPr>
          <p:cNvPr id="55" name="Shape 52"/>
          <p:cNvSpPr/>
          <p:nvPr/>
        </p:nvSpPr>
        <p:spPr>
          <a:xfrm>
            <a:off x="9283700" y="3081867"/>
            <a:ext cx="67733" cy="105833"/>
          </a:xfrm>
          <a:prstGeom prst="rect">
            <a:avLst/>
          </a:prstGeom>
          <a:solidFill>
            <a:srgbClr val="F9F5EE"/>
          </a:solidFill>
          <a:ln/>
        </p:spPr>
      </p:sp>
      <p:sp>
        <p:nvSpPr>
          <p:cNvPr id="56" name="Shape 53"/>
          <p:cNvSpPr/>
          <p:nvPr/>
        </p:nvSpPr>
        <p:spPr>
          <a:xfrm>
            <a:off x="9383184" y="3031067"/>
            <a:ext cx="67733" cy="156633"/>
          </a:xfrm>
          <a:prstGeom prst="rect">
            <a:avLst/>
          </a:prstGeom>
          <a:solidFill>
            <a:srgbClr val="F9F5EE"/>
          </a:solidFill>
          <a:ln/>
        </p:spPr>
      </p:sp>
      <p:sp>
        <p:nvSpPr>
          <p:cNvPr id="57" name="Shape 54"/>
          <p:cNvSpPr/>
          <p:nvPr/>
        </p:nvSpPr>
        <p:spPr>
          <a:xfrm>
            <a:off x="9482667" y="3107267"/>
            <a:ext cx="67733" cy="80433"/>
          </a:xfrm>
          <a:prstGeom prst="rect">
            <a:avLst/>
          </a:prstGeom>
          <a:solidFill>
            <a:srgbClr val="F9F5EE"/>
          </a:solidFill>
          <a:ln/>
        </p:spPr>
      </p:sp>
      <p:sp>
        <p:nvSpPr>
          <p:cNvPr id="58" name="Text 55"/>
          <p:cNvSpPr/>
          <p:nvPr/>
        </p:nvSpPr>
        <p:spPr>
          <a:xfrm>
            <a:off x="9048221" y="3365500"/>
            <a:ext cx="7376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Analytics console</a:t>
            </a:r>
            <a:endParaRPr lang="en-US" sz="900" dirty="0">
              <a:solidFill>
                <a:prstClr val="black"/>
              </a:solidFill>
              <a:latin typeface="Calibri" panose="020F0502020204030204"/>
            </a:endParaRPr>
          </a:p>
        </p:txBody>
      </p:sp>
      <p:sp>
        <p:nvSpPr>
          <p:cNvPr id="59" name="Text 56"/>
          <p:cNvSpPr/>
          <p:nvPr/>
        </p:nvSpPr>
        <p:spPr>
          <a:xfrm>
            <a:off x="9048221" y="3627678"/>
            <a:ext cx="737659"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filters, trends, exports</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ln w="12700">
            <a:solidFill>
              <a:srgbClr val="75716B">
                <a:alpha val="55000"/>
              </a:srgbClr>
            </a:solidFill>
            <a:prstDash val="dash"/>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3" name="Shape 60"/>
          <p:cNvSpPr/>
          <p:nvPr/>
        </p:nvSpPr>
        <p:spPr>
          <a:xfrm>
            <a:off x="10938934" y="2804584"/>
            <a:ext cx="207433" cy="232833"/>
          </a:xfrm>
          <a:prstGeom prst="roundRect">
            <a:avLst>
              <a:gd name="adj" fmla="val 12245"/>
            </a:avLst>
          </a:prstGeom>
          <a:ln w="12700">
            <a:solidFill>
              <a:srgbClr val="75716B">
                <a:alpha val="55000"/>
              </a:srgbClr>
            </a:solidFill>
            <a:prstDash val="dash"/>
          </a:ln>
        </p:spPr>
      </p:sp>
      <p:sp>
        <p:nvSpPr>
          <p:cNvPr id="64" name="Text 61"/>
          <p:cNvSpPr/>
          <p:nvPr/>
        </p:nvSpPr>
        <p:spPr>
          <a:xfrm>
            <a:off x="10631753" y="3263900"/>
            <a:ext cx="821730"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Go-live governance</a:t>
            </a:r>
            <a:endParaRPr lang="en-US" sz="900" dirty="0">
              <a:solidFill>
                <a:prstClr val="black"/>
              </a:solidFill>
              <a:latin typeface="Calibri" panose="020F0502020204030204"/>
            </a:endParaRPr>
          </a:p>
        </p:txBody>
      </p:sp>
      <p:sp>
        <p:nvSpPr>
          <p:cNvPr id="65" name="Text 62"/>
          <p:cNvSpPr/>
          <p:nvPr/>
        </p:nvSpPr>
        <p:spPr>
          <a:xfrm>
            <a:off x="10631753" y="3534740"/>
            <a:ext cx="82173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upcoming · Stage 12</a:t>
            </a:r>
            <a:endParaRPr lang="en-US" sz="800" dirty="0">
              <a:solidFill>
                <a:prstClr val="black"/>
              </a:solidFill>
              <a:latin typeface="Calibri" panose="020F0502020204030204"/>
            </a:endParaRPr>
          </a:p>
        </p:txBody>
      </p:sp>
      <p:sp>
        <p:nvSpPr>
          <p:cNvPr id="66" name="Shape 63"/>
          <p:cNvSpPr/>
          <p:nvPr/>
        </p:nvSpPr>
        <p:spPr>
          <a:xfrm>
            <a:off x="673100" y="5033434"/>
            <a:ext cx="10845800" cy="6350"/>
          </a:xfrm>
          <a:prstGeom prst="rect">
            <a:avLst/>
          </a:prstGeom>
          <a:solidFill>
            <a:srgbClr val="CFCDCA"/>
          </a:solidFill>
          <a:ln/>
        </p:spPr>
      </p:sp>
      <p:sp>
        <p:nvSpPr>
          <p:cNvPr id="67" name="Text 64"/>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68" name="Text 65"/>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69" name="Text 66"/>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70" name="Text 67"/>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71" name="Text 68"/>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72" name="Text 69"/>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73" name="Text 70"/>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74" name="Text 71"/>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75" name="Text 72"/>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76" name="Text 73"/>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77" name="Text 74"/>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79244"/>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24334C"/>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B</a:t>
            </a:r>
            <a:endParaRPr lang="en-US" sz="1000" dirty="0">
              <a:solidFill>
                <a:prstClr val="black"/>
              </a:solidFill>
              <a:latin typeface="Calibri" panose="020F0502020204030204"/>
            </a:endParaRPr>
          </a:p>
        </p:txBody>
      </p:sp>
      <p:sp>
        <p:nvSpPr>
          <p:cNvPr id="5" name="Text 3"/>
          <p:cNvSpPr/>
          <p:nvPr/>
        </p:nvSpPr>
        <p:spPr>
          <a:xfrm>
            <a:off x="928287" y="1739900"/>
            <a:ext cx="2063308" cy="124239"/>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B</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667" r="16667"/>
          <a:stretch/>
        </p:blipFill>
        <p:spPr>
          <a:xfrm>
            <a:off x="927100" y="2677782"/>
            <a:ext cx="952500" cy="952500"/>
          </a:xfrm>
          <a:prstGeom prst="rect">
            <a:avLst/>
          </a:prstGeom>
        </p:spPr>
      </p:pic>
      <p:sp>
        <p:nvSpPr>
          <p:cNvPr id="12" name="Text 9"/>
          <p:cNvSpPr/>
          <p:nvPr/>
        </p:nvSpPr>
        <p:spPr>
          <a:xfrm>
            <a:off x="868710" y="3719182"/>
            <a:ext cx="1069215"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FM / PM</a:t>
            </a:r>
            <a:endParaRPr lang="en-US" sz="1200" dirty="0">
              <a:solidFill>
                <a:prstClr val="black"/>
              </a:solidFill>
              <a:latin typeface="Calibri" panose="020F0502020204030204"/>
            </a:endParaRPr>
          </a:p>
        </p:txBody>
      </p:sp>
      <p:sp>
        <p:nvSpPr>
          <p:cNvPr id="13" name="Text 10"/>
          <p:cNvSpPr/>
          <p:nvPr/>
        </p:nvSpPr>
        <p:spPr>
          <a:xfrm>
            <a:off x="723901" y="3901216"/>
            <a:ext cx="1190824"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Run assigned properties: dispatch, verify work, manage units &amp; assets.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24334C">
                  <a:alpha val="35000"/>
                </a:srgbClr>
              </a:gs>
              <a:gs pos="100000">
                <a:srgbClr val="24334C">
                  <a:alpha val="35000"/>
                </a:srgbClr>
              </a:gs>
            </a:gsLst>
            <a:lin ang="0" scaled="0"/>
          </a:gradFill>
          <a:ln/>
        </p:spPr>
      </p:sp>
      <p:sp>
        <p:nvSpPr>
          <p:cNvPr id="15" name="Shape 12"/>
          <p:cNvSpPr/>
          <p:nvPr/>
        </p:nvSpPr>
        <p:spPr>
          <a:xfrm>
            <a:off x="2825750" y="2383367"/>
            <a:ext cx="177800" cy="177800"/>
          </a:xfrm>
          <a:prstGeom prst="ellipse">
            <a:avLst/>
          </a:prstGeom>
          <a:solidFill>
            <a:srgbClr val="24334C"/>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171F2E"/>
          </a:solidFill>
          <a:ln/>
        </p:spPr>
      </p:sp>
      <p:sp>
        <p:nvSpPr>
          <p:cNvPr id="18" name="Shape 15"/>
          <p:cNvSpPr/>
          <p:nvPr/>
        </p:nvSpPr>
        <p:spPr>
          <a:xfrm>
            <a:off x="2794000" y="2789767"/>
            <a:ext cx="241300" cy="165100"/>
          </a:xfrm>
          <a:prstGeom prst="roundRect">
            <a:avLst>
              <a:gd name="adj" fmla="val 11538"/>
            </a:avLst>
          </a:prstGeom>
          <a:solidFill>
            <a:srgbClr val="F9F5EE"/>
          </a:solidFill>
          <a:ln/>
        </p:spPr>
      </p:sp>
      <p:sp>
        <p:nvSpPr>
          <p:cNvPr id="19" name="Shape 16"/>
          <p:cNvSpPr/>
          <p:nvPr/>
        </p:nvSpPr>
        <p:spPr>
          <a:xfrm>
            <a:off x="2870200" y="2916767"/>
            <a:ext cx="88900" cy="76200"/>
          </a:xfrm>
          <a:prstGeom prst="rect">
            <a:avLst/>
          </a:prstGeom>
          <a:solidFill>
            <a:srgbClr val="171F2E"/>
          </a:solidFill>
          <a:ln/>
        </p:spPr>
      </p:sp>
      <p:sp>
        <p:nvSpPr>
          <p:cNvPr id="20" name="Shape 17"/>
          <p:cNvSpPr/>
          <p:nvPr/>
        </p:nvSpPr>
        <p:spPr>
          <a:xfrm>
            <a:off x="2882900" y="2751667"/>
            <a:ext cx="88900" cy="88900"/>
          </a:xfrm>
          <a:prstGeom prst="ellipse">
            <a:avLst/>
          </a:prstGeom>
          <a:ln w="19050">
            <a:solidFill>
              <a:srgbClr val="F9F5EE"/>
            </a:solidFill>
            <a:prstDash val="solid"/>
          </a:ln>
        </p:spPr>
      </p:sp>
      <p:sp>
        <p:nvSpPr>
          <p:cNvPr id="21" name="Text 18"/>
          <p:cNvSpPr/>
          <p:nvPr/>
        </p:nvSpPr>
        <p:spPr>
          <a:xfrm>
            <a:off x="2439088" y="3221567"/>
            <a:ext cx="951124"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My properties only</a:t>
            </a:r>
            <a:endParaRPr lang="en-US" sz="900" dirty="0">
              <a:solidFill>
                <a:prstClr val="black"/>
              </a:solidFill>
              <a:latin typeface="Calibri" panose="020F0502020204030204"/>
            </a:endParaRPr>
          </a:p>
        </p:txBody>
      </p:sp>
      <p:sp>
        <p:nvSpPr>
          <p:cNvPr id="22" name="Text 19"/>
          <p:cNvSpPr/>
          <p:nvPr/>
        </p:nvSpPr>
        <p:spPr>
          <a:xfrm>
            <a:off x="2439088" y="3502016"/>
            <a:ext cx="951124"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property-scoped requests</a:t>
            </a:r>
            <a:endParaRPr lang="en-US" sz="800" dirty="0">
              <a:solidFill>
                <a:prstClr val="black"/>
              </a:solidFill>
              <a:latin typeface="Calibri" panose="020F0502020204030204"/>
            </a:endParaRPr>
          </a:p>
        </p:txBody>
      </p:sp>
      <p:sp>
        <p:nvSpPr>
          <p:cNvPr id="23" name="Shape 20"/>
          <p:cNvSpPr/>
          <p:nvPr/>
        </p:nvSpPr>
        <p:spPr>
          <a:xfrm>
            <a:off x="4451350" y="2383367"/>
            <a:ext cx="177800" cy="177800"/>
          </a:xfrm>
          <a:prstGeom prst="ellipse">
            <a:avLst/>
          </a:prstGeom>
          <a:solidFill>
            <a:srgbClr val="24334C"/>
          </a:solidFill>
          <a:ln/>
        </p:spPr>
      </p:sp>
      <p:sp>
        <p:nvSpPr>
          <p:cNvPr id="24" name="Text 21"/>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4273550" y="2624667"/>
            <a:ext cx="533400" cy="533400"/>
          </a:xfrm>
          <a:prstGeom prst="roundRect">
            <a:avLst>
              <a:gd name="adj" fmla="val 19048"/>
            </a:avLst>
          </a:prstGeom>
          <a:solidFill>
            <a:srgbClr val="171F2E"/>
          </a:solidFill>
          <a:ln/>
        </p:spPr>
      </p:sp>
      <p:sp>
        <p:nvSpPr>
          <p:cNvPr id="26" name="Shape 23"/>
          <p:cNvSpPr/>
          <p:nvPr/>
        </p:nvSpPr>
        <p:spPr>
          <a:xfrm>
            <a:off x="4324350" y="2840567"/>
            <a:ext cx="101600" cy="101600"/>
          </a:xfrm>
          <a:prstGeom prst="ellipse">
            <a:avLst/>
          </a:prstGeom>
          <a:solidFill>
            <a:srgbClr val="F9F5EE"/>
          </a:solidFill>
          <a:ln/>
        </p:spPr>
      </p:sp>
      <p:sp>
        <p:nvSpPr>
          <p:cNvPr id="27" name="Shape 24"/>
          <p:cNvSpPr/>
          <p:nvPr/>
        </p:nvSpPr>
        <p:spPr>
          <a:xfrm>
            <a:off x="4464050" y="2885017"/>
            <a:ext cx="127000" cy="12700"/>
          </a:xfrm>
          <a:prstGeom prst="rect">
            <a:avLst/>
          </a:prstGeom>
          <a:solidFill>
            <a:srgbClr val="D1CDC7"/>
          </a:solidFill>
          <a:ln/>
        </p:spPr>
      </p:sp>
      <p:sp>
        <p:nvSpPr>
          <p:cNvPr id="28" name="Shape 25"/>
          <p:cNvSpPr/>
          <p:nvPr/>
        </p:nvSpPr>
        <p:spPr>
          <a:xfrm>
            <a:off x="4629150" y="2827867"/>
            <a:ext cx="127000" cy="127000"/>
          </a:xfrm>
          <a:prstGeom prst="ellipse">
            <a:avLst/>
          </a:prstGeom>
          <a:ln w="19050">
            <a:solidFill>
              <a:srgbClr val="F9F5EE"/>
            </a:solidFill>
            <a:prstDash val="solid"/>
          </a:ln>
        </p:spPr>
      </p:sp>
      <p:sp>
        <p:nvSpPr>
          <p:cNvPr id="29" name="Text 26"/>
          <p:cNvSpPr/>
          <p:nvPr/>
        </p:nvSpPr>
        <p:spPr>
          <a:xfrm>
            <a:off x="4140928" y="3221567"/>
            <a:ext cx="79864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Dispatch</a:t>
            </a:r>
            <a:endParaRPr lang="en-US" sz="900" dirty="0">
              <a:solidFill>
                <a:prstClr val="black"/>
              </a:solidFill>
              <a:latin typeface="Calibri" panose="020F0502020204030204"/>
            </a:endParaRPr>
          </a:p>
        </p:txBody>
      </p:sp>
      <p:sp>
        <p:nvSpPr>
          <p:cNvPr id="30" name="Text 27"/>
          <p:cNvSpPr/>
          <p:nvPr/>
        </p:nvSpPr>
        <p:spPr>
          <a:xfrm>
            <a:off x="4140928" y="3351095"/>
            <a:ext cx="798645"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assign vendor to ticket</a:t>
            </a:r>
            <a:endParaRPr lang="en-US" sz="800" dirty="0">
              <a:solidFill>
                <a:prstClr val="black"/>
              </a:solidFill>
              <a:latin typeface="Calibri" panose="020F0502020204030204"/>
            </a:endParaRPr>
          </a:p>
        </p:txBody>
      </p:sp>
      <p:sp>
        <p:nvSpPr>
          <p:cNvPr id="31" name="Shape 28"/>
          <p:cNvSpPr/>
          <p:nvPr/>
        </p:nvSpPr>
        <p:spPr>
          <a:xfrm>
            <a:off x="6076950" y="2383367"/>
            <a:ext cx="177800" cy="177800"/>
          </a:xfrm>
          <a:prstGeom prst="ellipse">
            <a:avLst/>
          </a:prstGeom>
          <a:solidFill>
            <a:srgbClr val="24334C"/>
          </a:solidFill>
          <a:ln/>
        </p:spPr>
      </p:sp>
      <p:sp>
        <p:nvSpPr>
          <p:cNvPr id="32" name="Text 29"/>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5886450" y="2624667"/>
            <a:ext cx="558800" cy="558800"/>
          </a:xfrm>
          <a:prstGeom prst="roundRect">
            <a:avLst>
              <a:gd name="adj" fmla="val 18182"/>
            </a:avLst>
          </a:prstGeom>
          <a:solidFill>
            <a:srgbClr val="171F2E"/>
          </a:solidFill>
          <a:ln w="19050">
            <a:solidFill>
              <a:srgbClr val="C53637"/>
            </a:solidFill>
            <a:prstDash val="solid"/>
          </a:ln>
        </p:spPr>
      </p:sp>
      <p:sp>
        <p:nvSpPr>
          <p:cNvPr id="34" name="Shape 31"/>
          <p:cNvSpPr/>
          <p:nvPr/>
        </p:nvSpPr>
        <p:spPr>
          <a:xfrm>
            <a:off x="6102350" y="2802467"/>
            <a:ext cx="160867" cy="16933"/>
          </a:xfrm>
          <a:prstGeom prst="rect">
            <a:avLst/>
          </a:prstGeom>
          <a:solidFill>
            <a:srgbClr val="F9F5EE"/>
          </a:solidFill>
          <a:ln/>
        </p:spPr>
      </p:sp>
      <p:sp>
        <p:nvSpPr>
          <p:cNvPr id="35" name="Shape 32"/>
          <p:cNvSpPr/>
          <p:nvPr/>
        </p:nvSpPr>
        <p:spPr>
          <a:xfrm>
            <a:off x="6102350" y="2802467"/>
            <a:ext cx="16933" cy="118533"/>
          </a:xfrm>
          <a:prstGeom prst="rect">
            <a:avLst/>
          </a:prstGeom>
          <a:solidFill>
            <a:srgbClr val="F9F5EE"/>
          </a:solidFill>
          <a:ln/>
        </p:spPr>
      </p:sp>
      <p:sp>
        <p:nvSpPr>
          <p:cNvPr id="36" name="Shape 33"/>
          <p:cNvSpPr/>
          <p:nvPr/>
        </p:nvSpPr>
        <p:spPr>
          <a:xfrm>
            <a:off x="6246284" y="2802467"/>
            <a:ext cx="16933" cy="118533"/>
          </a:xfrm>
          <a:prstGeom prst="rect">
            <a:avLst/>
          </a:prstGeom>
          <a:solidFill>
            <a:srgbClr val="F9F5EE"/>
          </a:solidFill>
          <a:ln/>
        </p:spPr>
      </p:sp>
      <p:sp>
        <p:nvSpPr>
          <p:cNvPr id="37" name="Shape 34"/>
          <p:cNvSpPr/>
          <p:nvPr/>
        </p:nvSpPr>
        <p:spPr>
          <a:xfrm>
            <a:off x="6070600" y="2878667"/>
            <a:ext cx="190500" cy="127000"/>
          </a:xfrm>
          <a:prstGeom prst="roundRect">
            <a:avLst>
              <a:gd name="adj" fmla="val 20000"/>
            </a:avLst>
          </a:prstGeom>
          <a:solidFill>
            <a:srgbClr val="C53637"/>
          </a:solidFill>
          <a:ln/>
        </p:spPr>
      </p:sp>
      <p:sp>
        <p:nvSpPr>
          <p:cNvPr id="38" name="Shape 35"/>
          <p:cNvSpPr/>
          <p:nvPr/>
        </p:nvSpPr>
        <p:spPr>
          <a:xfrm>
            <a:off x="6153150" y="2910417"/>
            <a:ext cx="25400" cy="50800"/>
          </a:xfrm>
          <a:prstGeom prst="roundRect">
            <a:avLst>
              <a:gd name="adj" fmla="val 50000"/>
            </a:avLst>
          </a:prstGeom>
          <a:solidFill>
            <a:srgbClr val="F9F5EE"/>
          </a:solidFill>
          <a:ln/>
        </p:spPr>
      </p:sp>
      <p:sp>
        <p:nvSpPr>
          <p:cNvPr id="39" name="Text 36"/>
          <p:cNvSpPr/>
          <p:nvPr/>
        </p:nvSpPr>
        <p:spPr>
          <a:xfrm>
            <a:off x="5664200" y="3229211"/>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Verify service delivered</a:t>
            </a:r>
            <a:endParaRPr lang="en-US" sz="900" dirty="0">
              <a:solidFill>
                <a:prstClr val="black"/>
              </a:solidFill>
              <a:latin typeface="Calibri" panose="020F0502020204030204"/>
            </a:endParaRPr>
          </a:p>
        </p:txBody>
      </p:sp>
      <p:sp>
        <p:nvSpPr>
          <p:cNvPr id="40" name="Text 37"/>
          <p:cNvSpPr/>
          <p:nvPr/>
        </p:nvSpPr>
        <p:spPr>
          <a:xfrm>
            <a:off x="5659732" y="3503906"/>
            <a:ext cx="1047750" cy="119749"/>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①</a:t>
            </a:r>
            <a:endParaRPr lang="en-US" sz="800" dirty="0">
              <a:solidFill>
                <a:prstClr val="black"/>
              </a:solidFill>
              <a:latin typeface="Calibri" panose="020F0502020204030204"/>
            </a:endParaRPr>
          </a:p>
        </p:txBody>
      </p:sp>
      <p:sp>
        <p:nvSpPr>
          <p:cNvPr id="41" name="Shape 38"/>
          <p:cNvSpPr/>
          <p:nvPr/>
        </p:nvSpPr>
        <p:spPr>
          <a:xfrm>
            <a:off x="7702550" y="2383367"/>
            <a:ext cx="177800" cy="177800"/>
          </a:xfrm>
          <a:prstGeom prst="ellipse">
            <a:avLst/>
          </a:prstGeom>
          <a:solidFill>
            <a:srgbClr val="24334C"/>
          </a:solidFill>
          <a:ln/>
        </p:spPr>
      </p:sp>
      <p:sp>
        <p:nvSpPr>
          <p:cNvPr id="42" name="Text 39"/>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3" name="Shape 40"/>
          <p:cNvSpPr/>
          <p:nvPr/>
        </p:nvSpPr>
        <p:spPr>
          <a:xfrm>
            <a:off x="7524750" y="2624667"/>
            <a:ext cx="533400" cy="533400"/>
          </a:xfrm>
          <a:prstGeom prst="roundRect">
            <a:avLst>
              <a:gd name="adj" fmla="val 19048"/>
            </a:avLst>
          </a:prstGeom>
          <a:solidFill>
            <a:srgbClr val="171F2E"/>
          </a:solidFill>
          <a:ln/>
        </p:spPr>
      </p:sp>
      <p:sp>
        <p:nvSpPr>
          <p:cNvPr id="44" name="Shape 41"/>
          <p:cNvSpPr/>
          <p:nvPr/>
        </p:nvSpPr>
        <p:spPr>
          <a:xfrm>
            <a:off x="7632700" y="2789767"/>
            <a:ext cx="88900" cy="88900"/>
          </a:xfrm>
          <a:prstGeom prst="roundRect">
            <a:avLst>
              <a:gd name="adj" fmla="val 14286"/>
            </a:avLst>
          </a:prstGeom>
          <a:solidFill>
            <a:srgbClr val="F9F5EE"/>
          </a:solidFill>
          <a:ln/>
        </p:spPr>
      </p:sp>
      <p:sp>
        <p:nvSpPr>
          <p:cNvPr id="45" name="Shape 42"/>
          <p:cNvSpPr/>
          <p:nvPr/>
        </p:nvSpPr>
        <p:spPr>
          <a:xfrm>
            <a:off x="7747000" y="2789767"/>
            <a:ext cx="88900" cy="88900"/>
          </a:xfrm>
          <a:prstGeom prst="roundRect">
            <a:avLst>
              <a:gd name="adj" fmla="val 14286"/>
            </a:avLst>
          </a:prstGeom>
          <a:solidFill>
            <a:srgbClr val="D1CDC7"/>
          </a:solidFill>
          <a:ln/>
        </p:spPr>
      </p:sp>
      <p:sp>
        <p:nvSpPr>
          <p:cNvPr id="46" name="Shape 43"/>
          <p:cNvSpPr/>
          <p:nvPr/>
        </p:nvSpPr>
        <p:spPr>
          <a:xfrm>
            <a:off x="7861300" y="2789767"/>
            <a:ext cx="88900" cy="88900"/>
          </a:xfrm>
          <a:prstGeom prst="roundRect">
            <a:avLst>
              <a:gd name="adj" fmla="val 14286"/>
            </a:avLst>
          </a:prstGeom>
          <a:solidFill>
            <a:srgbClr val="F9F5EE"/>
          </a:solidFill>
          <a:ln/>
        </p:spPr>
      </p:sp>
      <p:sp>
        <p:nvSpPr>
          <p:cNvPr id="47" name="Shape 44"/>
          <p:cNvSpPr/>
          <p:nvPr/>
        </p:nvSpPr>
        <p:spPr>
          <a:xfrm>
            <a:off x="7632700" y="2904067"/>
            <a:ext cx="88900" cy="88900"/>
          </a:xfrm>
          <a:prstGeom prst="roundRect">
            <a:avLst>
              <a:gd name="adj" fmla="val 14286"/>
            </a:avLst>
          </a:prstGeom>
          <a:solidFill>
            <a:srgbClr val="D1CDC7"/>
          </a:solidFill>
          <a:ln/>
        </p:spPr>
      </p:sp>
      <p:sp>
        <p:nvSpPr>
          <p:cNvPr id="48" name="Shape 45"/>
          <p:cNvSpPr/>
          <p:nvPr/>
        </p:nvSpPr>
        <p:spPr>
          <a:xfrm>
            <a:off x="7747000" y="2904067"/>
            <a:ext cx="88900" cy="88900"/>
          </a:xfrm>
          <a:prstGeom prst="roundRect">
            <a:avLst>
              <a:gd name="adj" fmla="val 14286"/>
            </a:avLst>
          </a:prstGeom>
          <a:solidFill>
            <a:srgbClr val="F9F5EE"/>
          </a:solidFill>
          <a:ln/>
        </p:spPr>
      </p:sp>
      <p:sp>
        <p:nvSpPr>
          <p:cNvPr id="49" name="Shape 46"/>
          <p:cNvSpPr/>
          <p:nvPr/>
        </p:nvSpPr>
        <p:spPr>
          <a:xfrm>
            <a:off x="7861300" y="2904067"/>
            <a:ext cx="88900" cy="88900"/>
          </a:xfrm>
          <a:prstGeom prst="roundRect">
            <a:avLst>
              <a:gd name="adj" fmla="val 14286"/>
            </a:avLst>
          </a:prstGeom>
          <a:solidFill>
            <a:srgbClr val="D1CDC7"/>
          </a:solidFill>
          <a:ln/>
        </p:spPr>
      </p:sp>
      <p:sp>
        <p:nvSpPr>
          <p:cNvPr id="50" name="Text 47"/>
          <p:cNvSpPr/>
          <p:nvPr/>
        </p:nvSpPr>
        <p:spPr>
          <a:xfrm>
            <a:off x="7415081" y="3221567"/>
            <a:ext cx="75267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Manage register</a:t>
            </a:r>
            <a:endParaRPr lang="en-US" sz="900" dirty="0">
              <a:solidFill>
                <a:prstClr val="black"/>
              </a:solidFill>
              <a:latin typeface="Calibri" panose="020F0502020204030204"/>
            </a:endParaRPr>
          </a:p>
        </p:txBody>
      </p:sp>
      <p:sp>
        <p:nvSpPr>
          <p:cNvPr id="51" name="Text 48"/>
          <p:cNvSpPr/>
          <p:nvPr/>
        </p:nvSpPr>
        <p:spPr>
          <a:xfrm>
            <a:off x="7415081" y="3475386"/>
            <a:ext cx="752673"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 · unit · asset</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solidFill>
            <a:srgbClr val="4B4742"/>
          </a:solidFill>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558800"/>
          </a:xfrm>
          <a:prstGeom prst="roundRect">
            <a:avLst>
              <a:gd name="adj" fmla="val 18182"/>
            </a:avLst>
          </a:prstGeom>
          <a:solidFill>
            <a:srgbClr val="2B2823"/>
          </a:solidFill>
          <a:ln/>
        </p:spPr>
      </p:sp>
      <p:sp>
        <p:nvSpPr>
          <p:cNvPr id="55" name="Shape 52"/>
          <p:cNvSpPr/>
          <p:nvPr/>
        </p:nvSpPr>
        <p:spPr>
          <a:xfrm>
            <a:off x="9294284" y="2772834"/>
            <a:ext cx="245533" cy="296333"/>
          </a:xfrm>
          <a:prstGeom prst="roundRect">
            <a:avLst>
              <a:gd name="adj" fmla="val 10345"/>
            </a:avLst>
          </a:prstGeom>
          <a:solidFill>
            <a:srgbClr val="F9F5EE"/>
          </a:solidFill>
          <a:ln/>
        </p:spPr>
      </p:sp>
      <p:sp>
        <p:nvSpPr>
          <p:cNvPr id="56" name="Shape 53"/>
          <p:cNvSpPr/>
          <p:nvPr/>
        </p:nvSpPr>
        <p:spPr>
          <a:xfrm>
            <a:off x="9450917" y="2904067"/>
            <a:ext cx="118533" cy="118533"/>
          </a:xfrm>
          <a:prstGeom prst="ellipse">
            <a:avLst/>
          </a:prstGeom>
          <a:solidFill>
            <a:srgbClr val="F9F5EE"/>
          </a:solidFill>
          <a:ln/>
        </p:spPr>
      </p:sp>
      <p:sp>
        <p:nvSpPr>
          <p:cNvPr id="57" name="Text 54"/>
          <p:cNvSpPr/>
          <p:nvPr/>
        </p:nvSpPr>
        <p:spPr>
          <a:xfrm>
            <a:off x="9433983" y="2912533"/>
            <a:ext cx="152400" cy="1270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58" name="Text 55"/>
          <p:cNvSpPr/>
          <p:nvPr/>
        </p:nvSpPr>
        <p:spPr>
          <a:xfrm>
            <a:off x="89154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Review tenant application</a:t>
            </a:r>
            <a:endParaRPr lang="en-US" sz="900" dirty="0">
              <a:solidFill>
                <a:prstClr val="black"/>
              </a:solidFill>
              <a:latin typeface="Calibri" panose="020F0502020204030204"/>
            </a:endParaRPr>
          </a:p>
        </p:txBody>
      </p:sp>
      <p:sp>
        <p:nvSpPr>
          <p:cNvPr id="59" name="Text 56"/>
          <p:cNvSpPr/>
          <p:nvPr/>
        </p:nvSpPr>
        <p:spPr>
          <a:xfrm>
            <a:off x="8915400" y="3530540"/>
            <a:ext cx="1003300" cy="188178"/>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property-scoped queue</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solidFill>
            <a:srgbClr val="4B4742"/>
          </a:solidFill>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solidFill>
            <a:srgbClr val="2B2823"/>
          </a:solidFill>
          <a:ln/>
        </p:spPr>
      </p:sp>
      <p:sp>
        <p:nvSpPr>
          <p:cNvPr id="63" name="Shape 60"/>
          <p:cNvSpPr/>
          <p:nvPr/>
        </p:nvSpPr>
        <p:spPr>
          <a:xfrm>
            <a:off x="10913534" y="2816226"/>
            <a:ext cx="258233" cy="48683"/>
          </a:xfrm>
          <a:prstGeom prst="rect">
            <a:avLst/>
          </a:prstGeom>
          <a:solidFill>
            <a:srgbClr val="F9F5EE"/>
          </a:solidFill>
          <a:ln/>
        </p:spPr>
      </p:sp>
      <p:sp>
        <p:nvSpPr>
          <p:cNvPr id="64" name="Shape 61"/>
          <p:cNvSpPr/>
          <p:nvPr/>
        </p:nvSpPr>
        <p:spPr>
          <a:xfrm>
            <a:off x="10913534" y="2896659"/>
            <a:ext cx="258233" cy="48683"/>
          </a:xfrm>
          <a:prstGeom prst="rect">
            <a:avLst/>
          </a:prstGeom>
          <a:solidFill>
            <a:srgbClr val="F9F5EE"/>
          </a:solidFill>
          <a:ln/>
        </p:spPr>
      </p:sp>
      <p:sp>
        <p:nvSpPr>
          <p:cNvPr id="65" name="Shape 62"/>
          <p:cNvSpPr/>
          <p:nvPr/>
        </p:nvSpPr>
        <p:spPr>
          <a:xfrm>
            <a:off x="10957984" y="2977093"/>
            <a:ext cx="169333" cy="48683"/>
          </a:xfrm>
          <a:prstGeom prst="rect">
            <a:avLst/>
          </a:prstGeom>
          <a:solidFill>
            <a:srgbClr val="F9F5EE"/>
          </a:solidFill>
          <a:ln/>
        </p:spPr>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Rent-roll &amp; lease oversight</a:t>
            </a:r>
            <a:endParaRPr lang="en-US" sz="900" dirty="0">
              <a:solidFill>
                <a:prstClr val="black"/>
              </a:solidFill>
              <a:latin typeface="Calibri" panose="020F0502020204030204"/>
            </a:endParaRPr>
          </a:p>
        </p:txBody>
      </p:sp>
      <p:sp>
        <p:nvSpPr>
          <p:cNvPr id="67" name="Text 64"/>
          <p:cNvSpPr/>
          <p:nvPr/>
        </p:nvSpPr>
        <p:spPr>
          <a:xfrm>
            <a:off x="10518775" y="3539418"/>
            <a:ext cx="1047750" cy="106919"/>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landlord-ready roll</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93C71EA7-6023-47C8-9A49-E19C9EA1D5FE}"/>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ACAFABA0-449C-4A60-87E6-5F0818CF3962}"/>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A97BA2F7-C459-411D-B220-CDDC1732998E}"/>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5DB37930-7535-4287-A3D4-A63836E6B3A8}"/>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98C07A00-92A4-43CB-9382-150ED535B4EE}"/>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1F5F3992-0B5D-4569-959E-8F31F68FC55C}"/>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EA509ACF-C62B-4211-8EBD-05C4E00B3E49}"/>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8D93ECE0-E7AB-49B9-BBC3-9618736E8720}"/>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D6BA4485-5F84-49A4-B68D-3688CE1B8070}"/>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2201EAD3-47C6-4787-B583-10455A91A582}"/>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BF8473D4-929C-4A24-BE19-F413A53FEA9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D8E75A20-4002-414B-BE83-D273E08B2D0D}"/>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6" name="Shape 4">
            <a:extLst>
              <a:ext uri="{FF2B5EF4-FFF2-40B4-BE49-F238E27FC236}">
                <a16:creationId xmlns:a16="http://schemas.microsoft.com/office/drawing/2014/main" id="{40C9F03C-00DC-42BD-A753-24E26A834E39}"/>
              </a:ext>
            </a:extLst>
          </p:cNvPr>
          <p:cNvSpPr/>
          <p:nvPr/>
        </p:nvSpPr>
        <p:spPr>
          <a:xfrm>
            <a:off x="10062633" y="1689100"/>
            <a:ext cx="63500" cy="63500"/>
          </a:xfrm>
          <a:prstGeom prst="ellipse">
            <a:avLst/>
          </a:prstGeom>
          <a:solidFill>
            <a:srgbClr val="4B4742"/>
          </a:solidFill>
          <a:ln/>
        </p:spPr>
      </p:sp>
      <p:sp>
        <p:nvSpPr>
          <p:cNvPr id="97" name="Text 5">
            <a:extLst>
              <a:ext uri="{FF2B5EF4-FFF2-40B4-BE49-F238E27FC236}">
                <a16:creationId xmlns:a16="http://schemas.microsoft.com/office/drawing/2014/main" id="{B54D04B9-0AF4-4B18-9763-9CDE9E5E6BA3}"/>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8" name="Shape 6">
            <a:extLst>
              <a:ext uri="{FF2B5EF4-FFF2-40B4-BE49-F238E27FC236}">
                <a16:creationId xmlns:a16="http://schemas.microsoft.com/office/drawing/2014/main" id="{68886361-5562-41A2-9225-E03D1A158D72}"/>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9" name="Text 7">
            <a:extLst>
              <a:ext uri="{FF2B5EF4-FFF2-40B4-BE49-F238E27FC236}">
                <a16:creationId xmlns:a16="http://schemas.microsoft.com/office/drawing/2014/main" id="{40642CFB-6A6C-4897-B262-F8A2CE923561}"/>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007950"/>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C</a:t>
            </a:r>
            <a:endParaRPr lang="en-US" sz="1000" dirty="0">
              <a:solidFill>
                <a:prstClr val="black"/>
              </a:solidFill>
              <a:latin typeface="Calibri" panose="020F0502020204030204"/>
            </a:endParaRPr>
          </a:p>
        </p:txBody>
      </p:sp>
      <p:sp>
        <p:nvSpPr>
          <p:cNvPr id="5" name="Text 3"/>
          <p:cNvSpPr/>
          <p:nvPr/>
        </p:nvSpPr>
        <p:spPr>
          <a:xfrm>
            <a:off x="951941"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C</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t="14286" b="14286"/>
          <a:stretch/>
        </p:blipFill>
        <p:spPr>
          <a:xfrm>
            <a:off x="927100" y="2677782"/>
            <a:ext cx="952500" cy="952500"/>
          </a:xfrm>
          <a:prstGeom prst="rect">
            <a:avLst/>
          </a:prstGeom>
        </p:spPr>
      </p:pic>
      <p:sp>
        <p:nvSpPr>
          <p:cNvPr id="12" name="Text 9"/>
          <p:cNvSpPr/>
          <p:nvPr/>
        </p:nvSpPr>
        <p:spPr>
          <a:xfrm>
            <a:off x="989674" y="3719182"/>
            <a:ext cx="827352"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VENDOR</a:t>
            </a:r>
            <a:endParaRPr lang="en-US" sz="1200" dirty="0">
              <a:solidFill>
                <a:prstClr val="black"/>
              </a:solidFill>
              <a:latin typeface="Calibri" panose="020F0502020204030204"/>
            </a:endParaRPr>
          </a:p>
        </p:txBody>
      </p:sp>
      <p:sp>
        <p:nvSpPr>
          <p:cNvPr id="13" name="Text 10"/>
          <p:cNvSpPr/>
          <p:nvPr/>
        </p:nvSpPr>
        <p:spPr>
          <a:xfrm>
            <a:off x="989674" y="3901216"/>
            <a:ext cx="827352"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Fulfil assigned work orders and get paid for completed jobs.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007950">
                  <a:alpha val="35000"/>
                </a:srgbClr>
              </a:gs>
              <a:gs pos="100000">
                <a:srgbClr val="007950">
                  <a:alpha val="35000"/>
                </a:srgbClr>
              </a:gs>
            </a:gsLst>
            <a:lin ang="0" scaled="0"/>
          </a:gradFill>
          <a:ln/>
        </p:spPr>
      </p:sp>
      <p:sp>
        <p:nvSpPr>
          <p:cNvPr id="15" name="Shape 12"/>
          <p:cNvSpPr/>
          <p:nvPr/>
        </p:nvSpPr>
        <p:spPr>
          <a:xfrm>
            <a:off x="2825750" y="2383367"/>
            <a:ext cx="177800" cy="177800"/>
          </a:xfrm>
          <a:prstGeom prst="ellipse">
            <a:avLst/>
          </a:prstGeom>
          <a:solidFill>
            <a:srgbClr val="007950"/>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003320"/>
          </a:solidFill>
          <a:ln/>
        </p:spPr>
      </p:sp>
      <p:sp>
        <p:nvSpPr>
          <p:cNvPr id="18" name="Shape 15"/>
          <p:cNvSpPr/>
          <p:nvPr/>
        </p:nvSpPr>
        <p:spPr>
          <a:xfrm>
            <a:off x="2794000" y="2751667"/>
            <a:ext cx="241300" cy="279400"/>
          </a:xfrm>
          <a:prstGeom prst="roundRect">
            <a:avLst>
              <a:gd name="adj" fmla="val 7895"/>
            </a:avLst>
          </a:prstGeom>
          <a:solidFill>
            <a:srgbClr val="F9F5EE"/>
          </a:solidFill>
          <a:ln/>
        </p:spPr>
      </p:sp>
      <p:sp>
        <p:nvSpPr>
          <p:cNvPr id="19" name="Shape 16"/>
          <p:cNvSpPr/>
          <p:nvPr/>
        </p:nvSpPr>
        <p:spPr>
          <a:xfrm>
            <a:off x="2832100" y="2802467"/>
            <a:ext cx="165100" cy="19050"/>
          </a:xfrm>
          <a:prstGeom prst="rect">
            <a:avLst/>
          </a:prstGeom>
          <a:solidFill>
            <a:srgbClr val="C1BDB7"/>
          </a:solidFill>
          <a:ln/>
        </p:spPr>
      </p:sp>
      <p:sp>
        <p:nvSpPr>
          <p:cNvPr id="20" name="Shape 17"/>
          <p:cNvSpPr/>
          <p:nvPr/>
        </p:nvSpPr>
        <p:spPr>
          <a:xfrm>
            <a:off x="2832100" y="2853267"/>
            <a:ext cx="165100" cy="19050"/>
          </a:xfrm>
          <a:prstGeom prst="rect">
            <a:avLst/>
          </a:prstGeom>
          <a:solidFill>
            <a:srgbClr val="C1BDB7"/>
          </a:solidFill>
          <a:ln/>
        </p:spPr>
      </p:sp>
      <p:sp>
        <p:nvSpPr>
          <p:cNvPr id="21" name="Shape 18"/>
          <p:cNvSpPr/>
          <p:nvPr/>
        </p:nvSpPr>
        <p:spPr>
          <a:xfrm>
            <a:off x="2832100" y="2904067"/>
            <a:ext cx="114300" cy="19050"/>
          </a:xfrm>
          <a:prstGeom prst="rect">
            <a:avLst/>
          </a:prstGeom>
          <a:solidFill>
            <a:srgbClr val="C1BDB7"/>
          </a:solidFill>
          <a:ln/>
        </p:spPr>
      </p:sp>
      <p:sp>
        <p:nvSpPr>
          <p:cNvPr id="22" name="Text 19"/>
          <p:cNvSpPr/>
          <p:nvPr/>
        </p:nvSpPr>
        <p:spPr>
          <a:xfrm>
            <a:off x="2444475" y="3221567"/>
            <a:ext cx="94028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Assigned work orders</a:t>
            </a:r>
            <a:endParaRPr lang="en-US" sz="900" dirty="0">
              <a:solidFill>
                <a:prstClr val="black"/>
              </a:solidFill>
              <a:latin typeface="Calibri" panose="020F0502020204030204"/>
            </a:endParaRPr>
          </a:p>
        </p:txBody>
      </p:sp>
      <p:sp>
        <p:nvSpPr>
          <p:cNvPr id="23" name="Text 20"/>
          <p:cNvSpPr/>
          <p:nvPr/>
        </p:nvSpPr>
        <p:spPr>
          <a:xfrm>
            <a:off x="2444475" y="3501242"/>
            <a:ext cx="94028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jobs dispatched to me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007950"/>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003320"/>
          </a:solidFill>
          <a:ln/>
        </p:spPr>
      </p:sp>
      <p:sp>
        <p:nvSpPr>
          <p:cNvPr id="27" name="Shape 24"/>
          <p:cNvSpPr/>
          <p:nvPr/>
        </p:nvSpPr>
        <p:spPr>
          <a:xfrm>
            <a:off x="4362450" y="2821517"/>
            <a:ext cx="139700" cy="139700"/>
          </a:xfrm>
          <a:prstGeom prst="ellipse">
            <a:avLst/>
          </a:prstGeom>
          <a:solidFill>
            <a:srgbClr val="F9F5EE"/>
          </a:solidFill>
          <a:ln/>
        </p:spPr>
      </p:sp>
      <p:sp>
        <p:nvSpPr>
          <p:cNvPr id="28" name="Text 25"/>
          <p:cNvSpPr/>
          <p:nvPr/>
        </p:nvSpPr>
        <p:spPr>
          <a:xfrm>
            <a:off x="4337050" y="2821517"/>
            <a:ext cx="190500" cy="165100"/>
          </a:xfrm>
          <a:prstGeom prst="rect">
            <a:avLst/>
          </a:prstGeom>
          <a:noFill/>
          <a:ln/>
        </p:spPr>
        <p:txBody>
          <a:bodyPr wrap="square" lIns="16933" tIns="16933" rIns="16933" bIns="16933" rtlCol="0" anchor="ctr">
            <a:noAutofit/>
          </a:bodyPr>
          <a:lstStyle/>
          <a:p>
            <a:pPr algn="ctr" defTabSz="609630"/>
            <a:r>
              <a:rPr lang="en-US" sz="900" dirty="0">
                <a:solidFill>
                  <a:srgbClr val="007950"/>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9" name="Shape 26"/>
          <p:cNvSpPr/>
          <p:nvPr/>
        </p:nvSpPr>
        <p:spPr>
          <a:xfrm>
            <a:off x="4552950" y="2808817"/>
            <a:ext cx="165100" cy="165100"/>
          </a:xfrm>
          <a:prstGeom prst="ellipse">
            <a:avLst/>
          </a:prstGeom>
          <a:ln w="19050">
            <a:solidFill>
              <a:srgbClr val="F9F5EE"/>
            </a:solidFill>
            <a:prstDash val="solid"/>
          </a:ln>
        </p:spPr>
      </p:sp>
      <p:sp>
        <p:nvSpPr>
          <p:cNvPr id="30" name="Text 27"/>
          <p:cNvSpPr/>
          <p:nvPr/>
        </p:nvSpPr>
        <p:spPr>
          <a:xfrm>
            <a:off x="4540250" y="2821517"/>
            <a:ext cx="190500" cy="165100"/>
          </a:xfrm>
          <a:prstGeom prst="rect">
            <a:avLst/>
          </a:prstGeom>
          <a:noFill/>
          <a:ln/>
        </p:spPr>
        <p:txBody>
          <a:bodyPr wrap="square" lIns="16933" tIns="16933" rIns="16933" bIns="16933" rtlCol="0" anchor="ctr">
            <a:noAutofit/>
          </a:bodyPr>
          <a:lstStyle/>
          <a:p>
            <a:pPr algn="ct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31" name="Text 28"/>
          <p:cNvSpPr/>
          <p:nvPr/>
        </p:nvSpPr>
        <p:spPr>
          <a:xfrm>
            <a:off x="4186106" y="3221567"/>
            <a:ext cx="70822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Accept / decline</a:t>
            </a:r>
            <a:endParaRPr lang="en-US" sz="900" dirty="0">
              <a:solidFill>
                <a:prstClr val="black"/>
              </a:solidFill>
              <a:latin typeface="Calibri" panose="020F0502020204030204"/>
            </a:endParaRPr>
          </a:p>
        </p:txBody>
      </p:sp>
      <p:sp>
        <p:nvSpPr>
          <p:cNvPr id="32" name="Text 29"/>
          <p:cNvSpPr/>
          <p:nvPr/>
        </p:nvSpPr>
        <p:spPr>
          <a:xfrm>
            <a:off x="4186106" y="3501242"/>
            <a:ext cx="70822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respond to dispatch</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007950"/>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99150" y="2624667"/>
            <a:ext cx="533400" cy="533400"/>
          </a:xfrm>
          <a:prstGeom prst="roundRect">
            <a:avLst>
              <a:gd name="adj" fmla="val 19048"/>
            </a:avLst>
          </a:prstGeom>
          <a:solidFill>
            <a:srgbClr val="003320"/>
          </a:solidFill>
          <a:ln/>
        </p:spPr>
      </p:sp>
      <p:sp>
        <p:nvSpPr>
          <p:cNvPr id="36" name="Shape 33"/>
          <p:cNvSpPr/>
          <p:nvPr/>
        </p:nvSpPr>
        <p:spPr>
          <a:xfrm>
            <a:off x="6047317" y="2992967"/>
            <a:ext cx="237067" cy="16933"/>
          </a:xfrm>
          <a:prstGeom prst="rect">
            <a:avLst/>
          </a:prstGeom>
          <a:solidFill>
            <a:srgbClr val="F9F5EE"/>
          </a:solidFill>
          <a:ln/>
        </p:spPr>
      </p:sp>
      <p:sp>
        <p:nvSpPr>
          <p:cNvPr id="37" name="Shape 34"/>
          <p:cNvSpPr/>
          <p:nvPr/>
        </p:nvSpPr>
        <p:spPr>
          <a:xfrm>
            <a:off x="6047317" y="2772833"/>
            <a:ext cx="16933" cy="237067"/>
          </a:xfrm>
          <a:prstGeom prst="rect">
            <a:avLst/>
          </a:prstGeom>
          <a:solidFill>
            <a:srgbClr val="F9F5EE"/>
          </a:solidFill>
          <a:ln/>
        </p:spPr>
      </p:sp>
      <p:sp>
        <p:nvSpPr>
          <p:cNvPr id="38" name="Shape 35"/>
          <p:cNvSpPr/>
          <p:nvPr/>
        </p:nvSpPr>
        <p:spPr>
          <a:xfrm>
            <a:off x="6267450" y="2772833"/>
            <a:ext cx="16933" cy="237067"/>
          </a:xfrm>
          <a:prstGeom prst="rect">
            <a:avLst/>
          </a:prstGeom>
          <a:solidFill>
            <a:srgbClr val="F9F5EE"/>
          </a:solidFill>
          <a:ln/>
        </p:spPr>
      </p:sp>
      <p:sp>
        <p:nvSpPr>
          <p:cNvPr id="39" name="Text 36"/>
          <p:cNvSpPr/>
          <p:nvPr/>
        </p:nvSpPr>
        <p:spPr>
          <a:xfrm>
            <a:off x="6096000" y="2846917"/>
            <a:ext cx="127000" cy="101600"/>
          </a:xfrm>
          <a:prstGeom prst="rect">
            <a:avLst/>
          </a:prstGeom>
          <a:noFill/>
          <a:ln/>
        </p:spPr>
        <p:txBody>
          <a:bodyPr wrap="square" lIns="16933" tIns="16933" rIns="16933" bIns="16933" rtlCol="0" anchor="ctr">
            <a:noAutofit/>
          </a:bodyPr>
          <a:lstStyle/>
          <a:p>
            <a:pPr algn="ct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40" name="Text 37"/>
          <p:cNvSpPr/>
          <p:nvPr/>
        </p:nvSpPr>
        <p:spPr>
          <a:xfrm>
            <a:off x="5816138" y="3221567"/>
            <a:ext cx="699426"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Mark complete</a:t>
            </a:r>
            <a:endParaRPr lang="en-US" sz="900" dirty="0">
              <a:solidFill>
                <a:prstClr val="black"/>
              </a:solidFill>
              <a:latin typeface="Calibri" panose="020F0502020204030204"/>
            </a:endParaRPr>
          </a:p>
        </p:txBody>
      </p:sp>
      <p:sp>
        <p:nvSpPr>
          <p:cNvPr id="41" name="Text 38"/>
          <p:cNvSpPr/>
          <p:nvPr/>
        </p:nvSpPr>
        <p:spPr>
          <a:xfrm>
            <a:off x="5816138" y="3502017"/>
            <a:ext cx="699426"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update ticket status</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007950"/>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12050" y="2624667"/>
            <a:ext cx="558800" cy="558800"/>
          </a:xfrm>
          <a:prstGeom prst="roundRect">
            <a:avLst>
              <a:gd name="adj" fmla="val 18182"/>
            </a:avLst>
          </a:prstGeom>
          <a:solidFill>
            <a:srgbClr val="003320"/>
          </a:solidFill>
          <a:ln w="19050">
            <a:solidFill>
              <a:srgbClr val="C53637"/>
            </a:solidFill>
            <a:prstDash val="solid"/>
          </a:ln>
        </p:spPr>
      </p:sp>
      <p:sp>
        <p:nvSpPr>
          <p:cNvPr id="45" name="Shape 42"/>
          <p:cNvSpPr/>
          <p:nvPr/>
        </p:nvSpPr>
        <p:spPr>
          <a:xfrm>
            <a:off x="7689850" y="2789767"/>
            <a:ext cx="203200" cy="228600"/>
          </a:xfrm>
          <a:prstGeom prst="roundRect">
            <a:avLst>
              <a:gd name="adj" fmla="val 9375"/>
            </a:avLst>
          </a:prstGeom>
          <a:solidFill>
            <a:srgbClr val="F9F5EE"/>
          </a:solidFill>
          <a:ln/>
        </p:spPr>
      </p:sp>
      <p:sp>
        <p:nvSpPr>
          <p:cNvPr id="46" name="Shape 43"/>
          <p:cNvSpPr/>
          <p:nvPr/>
        </p:nvSpPr>
        <p:spPr>
          <a:xfrm>
            <a:off x="7727950" y="2840567"/>
            <a:ext cx="127000" cy="19050"/>
          </a:xfrm>
          <a:prstGeom prst="rect">
            <a:avLst/>
          </a:prstGeom>
          <a:solidFill>
            <a:srgbClr val="C53637"/>
          </a:solidFill>
          <a:ln/>
        </p:spPr>
      </p:sp>
      <p:sp>
        <p:nvSpPr>
          <p:cNvPr id="47" name="Shape 44"/>
          <p:cNvSpPr/>
          <p:nvPr/>
        </p:nvSpPr>
        <p:spPr>
          <a:xfrm>
            <a:off x="7727950" y="2878667"/>
            <a:ext cx="127000" cy="19050"/>
          </a:xfrm>
          <a:prstGeom prst="rect">
            <a:avLst/>
          </a:prstGeom>
          <a:solidFill>
            <a:srgbClr val="C1BDB7"/>
          </a:solidFill>
          <a:ln/>
        </p:spPr>
      </p:sp>
      <p:sp>
        <p:nvSpPr>
          <p:cNvPr id="48" name="Shape 45"/>
          <p:cNvSpPr/>
          <p:nvPr/>
        </p:nvSpPr>
        <p:spPr>
          <a:xfrm>
            <a:off x="7727950" y="2916767"/>
            <a:ext cx="76200" cy="19050"/>
          </a:xfrm>
          <a:prstGeom prst="rect">
            <a:avLst/>
          </a:prstGeom>
          <a:solidFill>
            <a:srgbClr val="C1BDB7"/>
          </a:solidFill>
          <a:ln/>
        </p:spPr>
      </p:sp>
      <p:sp>
        <p:nvSpPr>
          <p:cNvPr id="49" name="Shape 46"/>
          <p:cNvSpPr/>
          <p:nvPr/>
        </p:nvSpPr>
        <p:spPr>
          <a:xfrm>
            <a:off x="7791450" y="2904067"/>
            <a:ext cx="88900" cy="88900"/>
          </a:xfrm>
          <a:prstGeom prst="ellipse">
            <a:avLst/>
          </a:prstGeom>
          <a:solidFill>
            <a:srgbClr val="C53637"/>
          </a:solidFill>
          <a:ln/>
        </p:spPr>
      </p:sp>
      <p:sp>
        <p:nvSpPr>
          <p:cNvPr id="50" name="Text 47"/>
          <p:cNvSpPr/>
          <p:nvPr/>
        </p:nvSpPr>
        <p:spPr>
          <a:xfrm>
            <a:off x="7766050" y="2904067"/>
            <a:ext cx="139700" cy="1143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51" name="Text 48"/>
          <p:cNvSpPr/>
          <p:nvPr/>
        </p:nvSpPr>
        <p:spPr>
          <a:xfrm>
            <a:off x="7403571" y="3246967"/>
            <a:ext cx="775692"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Submit invoice</a:t>
            </a:r>
            <a:endParaRPr lang="en-US" sz="900" dirty="0">
              <a:solidFill>
                <a:prstClr val="black"/>
              </a:solidFill>
              <a:latin typeface="Calibri" panose="020F0502020204030204"/>
            </a:endParaRPr>
          </a:p>
        </p:txBody>
      </p:sp>
      <p:sp>
        <p:nvSpPr>
          <p:cNvPr id="52" name="Text 49"/>
          <p:cNvSpPr/>
          <p:nvPr/>
        </p:nvSpPr>
        <p:spPr>
          <a:xfrm>
            <a:off x="7403571" y="3543576"/>
            <a:ext cx="775692"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②</a:t>
            </a:r>
            <a:endParaRPr lang="en-US" sz="800" dirty="0">
              <a:solidFill>
                <a:prstClr val="black"/>
              </a:solidFill>
              <a:latin typeface="Calibri" panose="020F0502020204030204"/>
            </a:endParaRPr>
          </a:p>
        </p:txBody>
      </p:sp>
      <p:sp>
        <p:nvSpPr>
          <p:cNvPr id="53" name="Shape 50"/>
          <p:cNvSpPr/>
          <p:nvPr/>
        </p:nvSpPr>
        <p:spPr>
          <a:xfrm>
            <a:off x="9319684" y="2383367"/>
            <a:ext cx="194733" cy="194733"/>
          </a:xfrm>
          <a:prstGeom prst="ellipse">
            <a:avLst/>
          </a:prstGeom>
          <a:solidFill>
            <a:srgbClr val="4B4742"/>
          </a:solidFill>
          <a:ln/>
        </p:spPr>
      </p:sp>
      <p:sp>
        <p:nvSpPr>
          <p:cNvPr id="54" name="Text 51"/>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5" name="Shape 52"/>
          <p:cNvSpPr/>
          <p:nvPr/>
        </p:nvSpPr>
        <p:spPr>
          <a:xfrm>
            <a:off x="9137650" y="2641600"/>
            <a:ext cx="558800" cy="558800"/>
          </a:xfrm>
          <a:prstGeom prst="roundRect">
            <a:avLst>
              <a:gd name="adj" fmla="val 18182"/>
            </a:avLst>
          </a:prstGeom>
          <a:solidFill>
            <a:srgbClr val="2B2823"/>
          </a:solidFill>
          <a:ln/>
        </p:spPr>
      </p:sp>
      <p:sp>
        <p:nvSpPr>
          <p:cNvPr id="56" name="Shape 53"/>
          <p:cNvSpPr/>
          <p:nvPr/>
        </p:nvSpPr>
        <p:spPr>
          <a:xfrm>
            <a:off x="9294284" y="2816226"/>
            <a:ext cx="245533" cy="48683"/>
          </a:xfrm>
          <a:prstGeom prst="rect">
            <a:avLst/>
          </a:prstGeom>
          <a:solidFill>
            <a:srgbClr val="F9F5EE"/>
          </a:solidFill>
          <a:ln/>
        </p:spPr>
      </p:sp>
      <p:sp>
        <p:nvSpPr>
          <p:cNvPr id="57" name="Shape 54"/>
          <p:cNvSpPr/>
          <p:nvPr/>
        </p:nvSpPr>
        <p:spPr>
          <a:xfrm>
            <a:off x="9294284" y="2896659"/>
            <a:ext cx="245533" cy="48683"/>
          </a:xfrm>
          <a:prstGeom prst="rect">
            <a:avLst/>
          </a:prstGeom>
          <a:solidFill>
            <a:srgbClr val="F9F5EE"/>
          </a:solidFill>
          <a:ln/>
        </p:spPr>
      </p:sp>
      <p:sp>
        <p:nvSpPr>
          <p:cNvPr id="58" name="Shape 55"/>
          <p:cNvSpPr/>
          <p:nvPr/>
        </p:nvSpPr>
        <p:spPr>
          <a:xfrm>
            <a:off x="9294284" y="2977093"/>
            <a:ext cx="156633" cy="48683"/>
          </a:xfrm>
          <a:prstGeom prst="rect">
            <a:avLst/>
          </a:prstGeom>
          <a:solidFill>
            <a:srgbClr val="F9F5EE"/>
          </a:solidFill>
          <a:ln/>
        </p:spPr>
      </p:sp>
      <p:sp>
        <p:nvSpPr>
          <p:cNvPr id="59" name="Text 56"/>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Payment history</a:t>
            </a:r>
            <a:endParaRPr lang="en-US" sz="900" dirty="0">
              <a:solidFill>
                <a:prstClr val="black"/>
              </a:solidFill>
              <a:latin typeface="Calibri" panose="020F0502020204030204"/>
            </a:endParaRPr>
          </a:p>
        </p:txBody>
      </p:sp>
      <p:sp>
        <p:nvSpPr>
          <p:cNvPr id="60" name="Text 57"/>
          <p:cNvSpPr/>
          <p:nvPr/>
        </p:nvSpPr>
        <p:spPr>
          <a:xfrm>
            <a:off x="8996305" y="3543576"/>
            <a:ext cx="841424"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every invoice, always</a:t>
            </a:r>
            <a:endParaRPr lang="en-US" sz="800" dirty="0">
              <a:solidFill>
                <a:prstClr val="black"/>
              </a:solidFill>
              <a:latin typeface="Calibri" panose="020F0502020204030204"/>
            </a:endParaRPr>
          </a:p>
        </p:txBody>
      </p:sp>
      <p:sp>
        <p:nvSpPr>
          <p:cNvPr id="61" name="Shape 58"/>
          <p:cNvSpPr/>
          <p:nvPr/>
        </p:nvSpPr>
        <p:spPr>
          <a:xfrm>
            <a:off x="10945284" y="2383367"/>
            <a:ext cx="194733" cy="194733"/>
          </a:xfrm>
          <a:prstGeom prst="ellipse">
            <a:avLst/>
          </a:prstGeom>
          <a:ln w="12700">
            <a:solidFill>
              <a:srgbClr val="75716B">
                <a:alpha val="55000"/>
              </a:srgbClr>
            </a:solidFill>
            <a:prstDash val="dash"/>
          </a:ln>
        </p:spPr>
      </p:sp>
      <p:sp>
        <p:nvSpPr>
          <p:cNvPr id="62" name="Text 59"/>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3" name="Shape 60"/>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4" name="Shape 61"/>
          <p:cNvSpPr/>
          <p:nvPr/>
        </p:nvSpPr>
        <p:spPr>
          <a:xfrm>
            <a:off x="10919884" y="2798234"/>
            <a:ext cx="245533" cy="245533"/>
          </a:xfrm>
          <a:prstGeom prst="ellipse">
            <a:avLst/>
          </a:prstGeom>
          <a:ln w="12700">
            <a:solidFill>
              <a:srgbClr val="75716B">
                <a:alpha val="55000"/>
              </a:srgbClr>
            </a:solidFill>
            <a:prstDash val="dash"/>
          </a:ln>
        </p:spPr>
      </p:sp>
      <p:sp>
        <p:nvSpPr>
          <p:cNvPr id="65" name="Text 62"/>
          <p:cNvSpPr/>
          <p:nvPr/>
        </p:nvSpPr>
        <p:spPr>
          <a:xfrm>
            <a:off x="10902951" y="2806700"/>
            <a:ext cx="279400" cy="254000"/>
          </a:xfrm>
          <a:prstGeom prst="rect">
            <a:avLst/>
          </a:prstGeom>
          <a:noFill/>
          <a:ln/>
        </p:spPr>
        <p:txBody>
          <a:bodyPr wrap="square" lIns="16933" tIns="16933" rIns="16933" bIns="16933" rtlCol="0" anchor="ctr">
            <a:normAutofit/>
          </a:bodyPr>
          <a:lstStyle/>
          <a:p>
            <a:pPr algn="ctr" defTabSz="609630"/>
            <a:r>
              <a:rPr lang="en-US" sz="900" dirty="0">
                <a:solidFill>
                  <a:srgbClr val="75716B">
                    <a:alpha val="55000"/>
                  </a:srgbClr>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Service catalog &amp; pricing</a:t>
            </a:r>
            <a:endParaRPr lang="en-US" sz="900" dirty="0">
              <a:solidFill>
                <a:prstClr val="black"/>
              </a:solidFill>
              <a:latin typeface="Calibri" panose="020F0502020204030204"/>
            </a:endParaRPr>
          </a:p>
        </p:txBody>
      </p:sp>
      <p:sp>
        <p:nvSpPr>
          <p:cNvPr id="67" name="Text 64"/>
          <p:cNvSpPr/>
          <p:nvPr/>
        </p:nvSpPr>
        <p:spPr>
          <a:xfrm>
            <a:off x="10518775" y="3539418"/>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05D3CD3B-E17E-4654-9F9A-DDB38F521DDD}"/>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8C4D90B6-7E22-44F9-9D3D-53E4828BDD34}"/>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D330BE49-0BF2-4F3F-9FE9-9B576452625C}"/>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7380D643-6546-4A57-9D0E-E618FED60664}"/>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668A51D6-9599-4516-8FB9-1D799F688BF8}"/>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402FBFC2-C56C-4CF6-AD51-3499E6FE038E}"/>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128A5E32-5A0E-43CB-AA20-B0FFB3AB8596}"/>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7D875248-1C84-4B1C-AF18-10CF103C7F3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CB6C5698-3029-434B-A272-562A32C895E8}"/>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0A0AC2D7-68EA-4334-9B49-275C1D9E934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6735A5E0-50A8-4435-8D3F-B02914798866}"/>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1CC7D0C0-7EB5-4093-88AB-E1A0AC65A009}"/>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2" name="Shape 4">
            <a:extLst>
              <a:ext uri="{FF2B5EF4-FFF2-40B4-BE49-F238E27FC236}">
                <a16:creationId xmlns:a16="http://schemas.microsoft.com/office/drawing/2014/main" id="{1D996237-1280-44ED-910F-3BF3FEF76DFD}"/>
              </a:ext>
            </a:extLst>
          </p:cNvPr>
          <p:cNvSpPr/>
          <p:nvPr/>
        </p:nvSpPr>
        <p:spPr>
          <a:xfrm>
            <a:off x="10062633" y="1689100"/>
            <a:ext cx="63500" cy="63500"/>
          </a:xfrm>
          <a:prstGeom prst="ellipse">
            <a:avLst/>
          </a:prstGeom>
          <a:solidFill>
            <a:srgbClr val="4B4742"/>
          </a:solidFill>
          <a:ln/>
        </p:spPr>
      </p:sp>
      <p:sp>
        <p:nvSpPr>
          <p:cNvPr id="93" name="Text 5">
            <a:extLst>
              <a:ext uri="{FF2B5EF4-FFF2-40B4-BE49-F238E27FC236}">
                <a16:creationId xmlns:a16="http://schemas.microsoft.com/office/drawing/2014/main" id="{8BC4EFA4-E374-4BA6-8742-A0EAEAF06976}"/>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4" name="Shape 6">
            <a:extLst>
              <a:ext uri="{FF2B5EF4-FFF2-40B4-BE49-F238E27FC236}">
                <a16:creationId xmlns:a16="http://schemas.microsoft.com/office/drawing/2014/main" id="{20411BAA-05E9-45EA-ACDD-14F8F89313E6}"/>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5" name="Text 7">
            <a:extLst>
              <a:ext uri="{FF2B5EF4-FFF2-40B4-BE49-F238E27FC236}">
                <a16:creationId xmlns:a16="http://schemas.microsoft.com/office/drawing/2014/main" id="{4DD2272A-E2C2-4175-A3D0-31C225DE74C9}"/>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8D6E00"/>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D</a:t>
            </a:r>
            <a:endParaRPr lang="en-US" sz="1000" dirty="0">
              <a:solidFill>
                <a:prstClr val="black"/>
              </a:solidFill>
              <a:latin typeface="Calibri" panose="020F0502020204030204"/>
            </a:endParaRPr>
          </a:p>
        </p:txBody>
      </p:sp>
      <p:sp>
        <p:nvSpPr>
          <p:cNvPr id="5" name="Text 3"/>
          <p:cNvSpPr/>
          <p:nvPr/>
        </p:nvSpPr>
        <p:spPr>
          <a:xfrm>
            <a:off x="944631" y="1739900"/>
            <a:ext cx="2092463" cy="80065"/>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D</a:t>
            </a:r>
            <a:endParaRPr lang="en-US" sz="900" dirty="0">
              <a:solidFill>
                <a:prstClr val="black"/>
              </a:solidFill>
              <a:latin typeface="Calibri" panose="020F0502020204030204"/>
            </a:endParaRPr>
          </a:p>
        </p:txBody>
      </p:sp>
      <p:sp>
        <p:nvSpPr>
          <p:cNvPr id="10" name="Shape 8"/>
          <p:cNvSpPr/>
          <p:nvPr/>
        </p:nvSpPr>
        <p:spPr>
          <a:xfrm>
            <a:off x="927100" y="2735593"/>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667" r="16667"/>
          <a:stretch/>
        </p:blipFill>
        <p:spPr>
          <a:xfrm>
            <a:off x="927100" y="2735593"/>
            <a:ext cx="952500" cy="952500"/>
          </a:xfrm>
          <a:prstGeom prst="rect">
            <a:avLst/>
          </a:prstGeom>
        </p:spPr>
      </p:pic>
      <p:sp>
        <p:nvSpPr>
          <p:cNvPr id="12" name="Text 9"/>
          <p:cNvSpPr/>
          <p:nvPr/>
        </p:nvSpPr>
        <p:spPr>
          <a:xfrm>
            <a:off x="690010" y="3776994"/>
            <a:ext cx="14266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TENANT / RESIDENT</a:t>
            </a:r>
            <a:endParaRPr lang="en-US" sz="1200" dirty="0">
              <a:solidFill>
                <a:prstClr val="black"/>
              </a:solidFill>
              <a:latin typeface="Calibri" panose="020F0502020204030204"/>
            </a:endParaRPr>
          </a:p>
        </p:txBody>
      </p:sp>
      <p:sp>
        <p:nvSpPr>
          <p:cNvPr id="13" name="Text 10"/>
          <p:cNvSpPr/>
          <p:nvPr/>
        </p:nvSpPr>
        <p:spPr>
          <a:xfrm>
            <a:off x="729456" y="4109948"/>
            <a:ext cx="1347721" cy="256513"/>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Report an issue, track it, pay charges — from their phone.</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8D6E00">
                  <a:alpha val="35000"/>
                </a:srgbClr>
              </a:gs>
              <a:gs pos="62000">
                <a:srgbClr val="8D6E00">
                  <a:alpha val="35000"/>
                </a:srgbClr>
              </a:gs>
              <a:gs pos="68000">
                <a:srgbClr val="C53637">
                  <a:alpha val="35000"/>
                </a:srgbClr>
              </a:gs>
              <a:gs pos="100000">
                <a:srgbClr val="C53637">
                  <a:alpha val="35000"/>
                </a:srgbClr>
              </a:gs>
            </a:gsLst>
            <a:lin ang="0" scaled="0"/>
          </a:gradFill>
          <a:ln/>
        </p:spPr>
      </p:sp>
      <p:sp>
        <p:nvSpPr>
          <p:cNvPr id="15" name="Shape 12"/>
          <p:cNvSpPr/>
          <p:nvPr/>
        </p:nvSpPr>
        <p:spPr>
          <a:xfrm>
            <a:off x="2825750" y="2383367"/>
            <a:ext cx="177800" cy="177800"/>
          </a:xfrm>
          <a:prstGeom prst="ellipse">
            <a:avLst/>
          </a:prstGeom>
          <a:solidFill>
            <a:srgbClr val="8D6E00"/>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413100"/>
          </a:solidFill>
          <a:ln/>
        </p:spPr>
      </p:sp>
      <p:sp>
        <p:nvSpPr>
          <p:cNvPr id="18" name="Shape 15"/>
          <p:cNvSpPr/>
          <p:nvPr/>
        </p:nvSpPr>
        <p:spPr>
          <a:xfrm>
            <a:off x="2819400" y="2732617"/>
            <a:ext cx="190500" cy="317500"/>
          </a:xfrm>
          <a:prstGeom prst="roundRect">
            <a:avLst>
              <a:gd name="adj" fmla="val 20000"/>
            </a:avLst>
          </a:prstGeom>
          <a:solidFill>
            <a:srgbClr val="F9F5EE"/>
          </a:solidFill>
          <a:ln/>
        </p:spPr>
      </p:sp>
      <p:sp>
        <p:nvSpPr>
          <p:cNvPr id="19" name="Shape 16"/>
          <p:cNvSpPr/>
          <p:nvPr/>
        </p:nvSpPr>
        <p:spPr>
          <a:xfrm>
            <a:off x="2844800" y="2783417"/>
            <a:ext cx="139700" cy="215900"/>
          </a:xfrm>
          <a:prstGeom prst="roundRect">
            <a:avLst>
              <a:gd name="adj" fmla="val 13636"/>
            </a:avLst>
          </a:prstGeom>
          <a:solidFill>
            <a:srgbClr val="8D6E00"/>
          </a:solidFill>
          <a:ln/>
        </p:spPr>
      </p:sp>
      <p:sp>
        <p:nvSpPr>
          <p:cNvPr id="20" name="Shape 17"/>
          <p:cNvSpPr/>
          <p:nvPr/>
        </p:nvSpPr>
        <p:spPr>
          <a:xfrm>
            <a:off x="2832100" y="2758017"/>
            <a:ext cx="88900" cy="57150"/>
          </a:xfrm>
          <a:prstGeom prst="roundRect">
            <a:avLst>
              <a:gd name="adj" fmla="val 33333"/>
            </a:avLst>
          </a:prstGeom>
          <a:solidFill>
            <a:srgbClr val="FFFFFF"/>
          </a:solidFill>
          <a:ln/>
        </p:spPr>
      </p:sp>
      <p:sp>
        <p:nvSpPr>
          <p:cNvPr id="21" name="Text 18"/>
          <p:cNvSpPr/>
          <p:nvPr/>
        </p:nvSpPr>
        <p:spPr>
          <a:xfrm>
            <a:off x="23907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Report an issue</a:t>
            </a:r>
            <a:endParaRPr lang="en-US" sz="900" dirty="0">
              <a:solidFill>
                <a:prstClr val="black"/>
              </a:solidFill>
              <a:latin typeface="Calibri" panose="020F0502020204030204"/>
            </a:endParaRPr>
          </a:p>
        </p:txBody>
      </p:sp>
      <p:sp>
        <p:nvSpPr>
          <p:cNvPr id="22" name="Text 19"/>
          <p:cNvSpPr/>
          <p:nvPr/>
        </p:nvSpPr>
        <p:spPr>
          <a:xfrm>
            <a:off x="2413000" y="3342217"/>
            <a:ext cx="1003300" cy="203200"/>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 🖥 WhatsApp · Telegram · web</a:t>
            </a:r>
            <a:endParaRPr lang="en-US" sz="800" dirty="0">
              <a:solidFill>
                <a:prstClr val="black"/>
              </a:solidFill>
              <a:latin typeface="Calibri" panose="020F0502020204030204"/>
            </a:endParaRPr>
          </a:p>
        </p:txBody>
      </p:sp>
      <p:sp>
        <p:nvSpPr>
          <p:cNvPr id="23" name="Shape 20"/>
          <p:cNvSpPr/>
          <p:nvPr/>
        </p:nvSpPr>
        <p:spPr>
          <a:xfrm>
            <a:off x="3841750" y="2383367"/>
            <a:ext cx="177800" cy="177800"/>
          </a:xfrm>
          <a:prstGeom prst="ellipse">
            <a:avLst/>
          </a:prstGeom>
          <a:solidFill>
            <a:srgbClr val="8D6E00"/>
          </a:solidFill>
          <a:ln/>
        </p:spPr>
      </p:sp>
      <p:sp>
        <p:nvSpPr>
          <p:cNvPr id="24" name="Text 21"/>
          <p:cNvSpPr/>
          <p:nvPr/>
        </p:nvSpPr>
        <p:spPr>
          <a:xfrm>
            <a:off x="3816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3663950" y="2624667"/>
            <a:ext cx="533400" cy="533400"/>
          </a:xfrm>
          <a:prstGeom prst="roundRect">
            <a:avLst>
              <a:gd name="adj" fmla="val 19048"/>
            </a:avLst>
          </a:prstGeom>
          <a:solidFill>
            <a:srgbClr val="413100"/>
          </a:solidFill>
          <a:ln/>
        </p:spPr>
      </p:sp>
      <p:sp>
        <p:nvSpPr>
          <p:cNvPr id="26" name="Shape 23"/>
          <p:cNvSpPr/>
          <p:nvPr/>
        </p:nvSpPr>
        <p:spPr>
          <a:xfrm>
            <a:off x="3810000" y="2802467"/>
            <a:ext cx="241300" cy="38100"/>
          </a:xfrm>
          <a:prstGeom prst="roundRect">
            <a:avLst>
              <a:gd name="adj" fmla="val 50000"/>
            </a:avLst>
          </a:prstGeom>
          <a:solidFill>
            <a:srgbClr val="C53637"/>
          </a:solidFill>
          <a:ln/>
        </p:spPr>
      </p:sp>
      <p:sp>
        <p:nvSpPr>
          <p:cNvPr id="27" name="Shape 24"/>
          <p:cNvSpPr/>
          <p:nvPr/>
        </p:nvSpPr>
        <p:spPr>
          <a:xfrm>
            <a:off x="3848100" y="2872317"/>
            <a:ext cx="165100" cy="38100"/>
          </a:xfrm>
          <a:prstGeom prst="roundRect">
            <a:avLst>
              <a:gd name="adj" fmla="val 50000"/>
            </a:avLst>
          </a:prstGeom>
          <a:solidFill>
            <a:srgbClr val="D1CDC7"/>
          </a:solidFill>
          <a:ln/>
        </p:spPr>
      </p:sp>
      <p:sp>
        <p:nvSpPr>
          <p:cNvPr id="28" name="Shape 25"/>
          <p:cNvSpPr/>
          <p:nvPr/>
        </p:nvSpPr>
        <p:spPr>
          <a:xfrm>
            <a:off x="3829050" y="2942167"/>
            <a:ext cx="203200" cy="38100"/>
          </a:xfrm>
          <a:prstGeom prst="roundRect">
            <a:avLst>
              <a:gd name="adj" fmla="val 50000"/>
            </a:avLst>
          </a:prstGeom>
          <a:solidFill>
            <a:srgbClr val="D1CDC7"/>
          </a:solidFill>
          <a:ln/>
        </p:spPr>
      </p:sp>
      <p:sp>
        <p:nvSpPr>
          <p:cNvPr id="29" name="Text 26"/>
          <p:cNvSpPr/>
          <p:nvPr/>
        </p:nvSpPr>
        <p:spPr>
          <a:xfrm>
            <a:off x="3597473" y="3221567"/>
            <a:ext cx="6662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AI triage</a:t>
            </a:r>
            <a:endParaRPr lang="en-US" sz="900" dirty="0">
              <a:solidFill>
                <a:prstClr val="black"/>
              </a:solidFill>
              <a:latin typeface="Calibri" panose="020F0502020204030204"/>
            </a:endParaRPr>
          </a:p>
        </p:txBody>
      </p:sp>
      <p:sp>
        <p:nvSpPr>
          <p:cNvPr id="30" name="Text 27"/>
          <p:cNvSpPr/>
          <p:nvPr/>
        </p:nvSpPr>
        <p:spPr>
          <a:xfrm>
            <a:off x="3597473" y="3359973"/>
            <a:ext cx="666287" cy="155585"/>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category + priority</a:t>
            </a:r>
            <a:endParaRPr lang="en-US" sz="800" dirty="0">
              <a:solidFill>
                <a:prstClr val="black"/>
              </a:solidFill>
              <a:latin typeface="Calibri" panose="020F0502020204030204"/>
            </a:endParaRPr>
          </a:p>
        </p:txBody>
      </p:sp>
      <p:sp>
        <p:nvSpPr>
          <p:cNvPr id="31" name="Shape 28"/>
          <p:cNvSpPr/>
          <p:nvPr/>
        </p:nvSpPr>
        <p:spPr>
          <a:xfrm>
            <a:off x="4857750" y="2383367"/>
            <a:ext cx="177800" cy="177800"/>
          </a:xfrm>
          <a:prstGeom prst="ellipse">
            <a:avLst/>
          </a:prstGeom>
          <a:solidFill>
            <a:srgbClr val="8D6E00"/>
          </a:solidFill>
          <a:ln/>
        </p:spPr>
      </p:sp>
      <p:sp>
        <p:nvSpPr>
          <p:cNvPr id="32" name="Text 29"/>
          <p:cNvSpPr/>
          <p:nvPr/>
        </p:nvSpPr>
        <p:spPr>
          <a:xfrm>
            <a:off x="4832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4679950" y="2624667"/>
            <a:ext cx="533400" cy="533400"/>
          </a:xfrm>
          <a:prstGeom prst="roundRect">
            <a:avLst>
              <a:gd name="adj" fmla="val 19048"/>
            </a:avLst>
          </a:prstGeom>
          <a:solidFill>
            <a:srgbClr val="413100"/>
          </a:solidFill>
          <a:ln/>
        </p:spPr>
      </p:sp>
      <p:sp>
        <p:nvSpPr>
          <p:cNvPr id="34" name="Shape 31"/>
          <p:cNvSpPr/>
          <p:nvPr/>
        </p:nvSpPr>
        <p:spPr>
          <a:xfrm>
            <a:off x="4794250" y="2783417"/>
            <a:ext cx="304800" cy="215900"/>
          </a:xfrm>
          <a:prstGeom prst="roundRect">
            <a:avLst>
              <a:gd name="adj" fmla="val 14706"/>
            </a:avLst>
          </a:prstGeom>
          <a:solidFill>
            <a:srgbClr val="F9F5EE"/>
          </a:solidFill>
          <a:ln/>
        </p:spPr>
      </p:sp>
      <p:sp>
        <p:nvSpPr>
          <p:cNvPr id="35" name="Shape 32"/>
          <p:cNvSpPr/>
          <p:nvPr/>
        </p:nvSpPr>
        <p:spPr>
          <a:xfrm>
            <a:off x="4918076" y="2751667"/>
            <a:ext cx="57150" cy="57150"/>
          </a:xfrm>
          <a:prstGeom prst="ellipse">
            <a:avLst/>
          </a:prstGeom>
          <a:solidFill>
            <a:srgbClr val="413100"/>
          </a:solidFill>
          <a:ln/>
        </p:spPr>
      </p:sp>
      <p:sp>
        <p:nvSpPr>
          <p:cNvPr id="36" name="Shape 33"/>
          <p:cNvSpPr/>
          <p:nvPr/>
        </p:nvSpPr>
        <p:spPr>
          <a:xfrm>
            <a:off x="4918076" y="2973917"/>
            <a:ext cx="57150" cy="57150"/>
          </a:xfrm>
          <a:prstGeom prst="ellipse">
            <a:avLst/>
          </a:prstGeom>
          <a:solidFill>
            <a:srgbClr val="413100"/>
          </a:solidFill>
          <a:ln/>
        </p:spPr>
      </p:sp>
      <p:sp>
        <p:nvSpPr>
          <p:cNvPr id="37" name="Shape 34"/>
          <p:cNvSpPr/>
          <p:nvPr/>
        </p:nvSpPr>
        <p:spPr>
          <a:xfrm>
            <a:off x="4845050" y="2872317"/>
            <a:ext cx="203200" cy="31750"/>
          </a:xfrm>
          <a:prstGeom prst="roundRect">
            <a:avLst>
              <a:gd name="adj" fmla="val 50000"/>
            </a:avLst>
          </a:prstGeom>
          <a:solidFill>
            <a:srgbClr val="D1CDC7"/>
          </a:solidFill>
          <a:ln/>
        </p:spPr>
      </p:sp>
      <p:sp>
        <p:nvSpPr>
          <p:cNvPr id="38" name="Text 35"/>
          <p:cNvSpPr/>
          <p:nvPr/>
        </p:nvSpPr>
        <p:spPr>
          <a:xfrm>
            <a:off x="44450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Ticket + acknowledgement</a:t>
            </a:r>
            <a:endParaRPr lang="en-US" sz="900" dirty="0">
              <a:solidFill>
                <a:prstClr val="black"/>
              </a:solidFill>
              <a:latin typeface="Calibri" panose="020F0502020204030204"/>
            </a:endParaRPr>
          </a:p>
        </p:txBody>
      </p:sp>
      <p:sp>
        <p:nvSpPr>
          <p:cNvPr id="39" name="Text 36"/>
          <p:cNvSpPr/>
          <p:nvPr/>
        </p:nvSpPr>
        <p:spPr>
          <a:xfrm>
            <a:off x="4422776" y="3497085"/>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"check status" · "it's urgent"</a:t>
            </a:r>
            <a:endParaRPr lang="en-US" sz="800" dirty="0">
              <a:solidFill>
                <a:prstClr val="black"/>
              </a:solidFill>
              <a:latin typeface="Calibri" panose="020F0502020204030204"/>
            </a:endParaRPr>
          </a:p>
        </p:txBody>
      </p:sp>
      <p:sp>
        <p:nvSpPr>
          <p:cNvPr id="40" name="Shape 37"/>
          <p:cNvSpPr/>
          <p:nvPr/>
        </p:nvSpPr>
        <p:spPr>
          <a:xfrm>
            <a:off x="5873750" y="2383367"/>
            <a:ext cx="177800" cy="177800"/>
          </a:xfrm>
          <a:prstGeom prst="ellipse">
            <a:avLst/>
          </a:prstGeom>
          <a:solidFill>
            <a:srgbClr val="8D6E00"/>
          </a:solidFill>
          <a:ln/>
        </p:spPr>
      </p:sp>
      <p:sp>
        <p:nvSpPr>
          <p:cNvPr id="41" name="Text 38"/>
          <p:cNvSpPr/>
          <p:nvPr/>
        </p:nvSpPr>
        <p:spPr>
          <a:xfrm>
            <a:off x="5848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2" name="Shape 39"/>
          <p:cNvSpPr/>
          <p:nvPr/>
        </p:nvSpPr>
        <p:spPr>
          <a:xfrm>
            <a:off x="5695950" y="2624667"/>
            <a:ext cx="533400" cy="533400"/>
          </a:xfrm>
          <a:prstGeom prst="roundRect">
            <a:avLst>
              <a:gd name="adj" fmla="val 19048"/>
            </a:avLst>
          </a:prstGeom>
          <a:solidFill>
            <a:srgbClr val="413100"/>
          </a:solidFill>
          <a:ln/>
        </p:spPr>
      </p:sp>
      <p:sp>
        <p:nvSpPr>
          <p:cNvPr id="43" name="Shape 40"/>
          <p:cNvSpPr/>
          <p:nvPr/>
        </p:nvSpPr>
        <p:spPr>
          <a:xfrm rot="-2700000">
            <a:off x="5880100" y="2777067"/>
            <a:ext cx="165100" cy="165100"/>
          </a:xfrm>
          <a:custGeom>
            <a:avLst/>
            <a:gdLst/>
            <a:ahLst/>
            <a:cxnLst/>
            <a:rect l="l" t="t" r="r" b="b"/>
            <a:pathLst>
              <a:path w="247650" h="247650">
                <a:moveTo>
                  <a:pt x="123825" y="0"/>
                </a:moveTo>
                <a:lnTo>
                  <a:pt x="123825" y="0"/>
                </a:lnTo>
                <a:arcTo wR="123825" hR="123825" stAng="16200000" swAng="5400000"/>
                <a:lnTo>
                  <a:pt x="247650" y="123825"/>
                </a:lnTo>
                <a:arcTo wR="123825" hR="123825" stAng="0" swAng="5400000"/>
                <a:lnTo>
                  <a:pt x="0" y="247650"/>
                </a:lnTo>
                <a:lnTo>
                  <a:pt x="0" y="123825"/>
                </a:lnTo>
                <a:arcTo wR="123825" hR="123825" stAng="10800000" swAng="5400000"/>
                <a:close/>
              </a:path>
            </a:pathLst>
          </a:custGeom>
          <a:solidFill>
            <a:srgbClr val="F9F5EE"/>
          </a:solidFill>
          <a:ln/>
        </p:spPr>
      </p:sp>
      <p:sp>
        <p:nvSpPr>
          <p:cNvPr id="44" name="Shape 41"/>
          <p:cNvSpPr/>
          <p:nvPr/>
        </p:nvSpPr>
        <p:spPr>
          <a:xfrm>
            <a:off x="5924550" y="2815167"/>
            <a:ext cx="76200" cy="76200"/>
          </a:xfrm>
          <a:prstGeom prst="ellipse">
            <a:avLst/>
          </a:prstGeom>
          <a:solidFill>
            <a:srgbClr val="413100"/>
          </a:solidFill>
          <a:ln/>
        </p:spPr>
      </p:sp>
      <p:sp>
        <p:nvSpPr>
          <p:cNvPr id="45" name="Text 42"/>
          <p:cNvSpPr/>
          <p:nvPr/>
        </p:nvSpPr>
        <p:spPr>
          <a:xfrm>
            <a:off x="5592961" y="3221567"/>
            <a:ext cx="739312"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Track the request</a:t>
            </a:r>
            <a:endParaRPr lang="en-US" sz="900" dirty="0">
              <a:solidFill>
                <a:prstClr val="black"/>
              </a:solidFill>
              <a:latin typeface="Calibri" panose="020F0502020204030204"/>
            </a:endParaRPr>
          </a:p>
        </p:txBody>
      </p:sp>
      <p:sp>
        <p:nvSpPr>
          <p:cNvPr id="46" name="Text 43"/>
          <p:cNvSpPr/>
          <p:nvPr/>
        </p:nvSpPr>
        <p:spPr>
          <a:xfrm>
            <a:off x="5592961" y="3510337"/>
            <a:ext cx="739312"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live status updates</a:t>
            </a:r>
            <a:endParaRPr lang="en-US" sz="800" dirty="0">
              <a:solidFill>
                <a:prstClr val="black"/>
              </a:solidFill>
              <a:latin typeface="Calibri" panose="020F0502020204030204"/>
            </a:endParaRPr>
          </a:p>
        </p:txBody>
      </p:sp>
      <p:sp>
        <p:nvSpPr>
          <p:cNvPr id="47" name="Shape 44"/>
          <p:cNvSpPr/>
          <p:nvPr/>
        </p:nvSpPr>
        <p:spPr>
          <a:xfrm>
            <a:off x="6889750" y="2383367"/>
            <a:ext cx="177800" cy="177800"/>
          </a:xfrm>
          <a:prstGeom prst="ellipse">
            <a:avLst/>
          </a:prstGeom>
          <a:solidFill>
            <a:srgbClr val="8D6E00"/>
          </a:solidFill>
          <a:ln/>
        </p:spPr>
      </p:sp>
      <p:sp>
        <p:nvSpPr>
          <p:cNvPr id="48" name="Text 45"/>
          <p:cNvSpPr/>
          <p:nvPr/>
        </p:nvSpPr>
        <p:spPr>
          <a:xfrm>
            <a:off x="6864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49" name="Shape 46"/>
          <p:cNvSpPr/>
          <p:nvPr/>
        </p:nvSpPr>
        <p:spPr>
          <a:xfrm>
            <a:off x="6711950" y="2624667"/>
            <a:ext cx="533400" cy="533400"/>
          </a:xfrm>
          <a:prstGeom prst="roundRect">
            <a:avLst>
              <a:gd name="adj" fmla="val 19048"/>
            </a:avLst>
          </a:prstGeom>
          <a:solidFill>
            <a:srgbClr val="413100"/>
          </a:solidFill>
          <a:ln/>
        </p:spPr>
      </p:sp>
      <p:sp>
        <p:nvSpPr>
          <p:cNvPr id="50" name="Shape 47"/>
          <p:cNvSpPr/>
          <p:nvPr/>
        </p:nvSpPr>
        <p:spPr>
          <a:xfrm>
            <a:off x="6838950" y="2777067"/>
            <a:ext cx="279400" cy="165100"/>
          </a:xfrm>
          <a:prstGeom prst="roundRect">
            <a:avLst>
              <a:gd name="adj" fmla="val 15385"/>
            </a:avLst>
          </a:prstGeom>
          <a:solidFill>
            <a:srgbClr val="F9F5EE"/>
          </a:solidFill>
          <a:ln/>
        </p:spPr>
      </p:sp>
      <p:sp>
        <p:nvSpPr>
          <p:cNvPr id="51" name="Shape 48"/>
          <p:cNvSpPr/>
          <p:nvPr/>
        </p:nvSpPr>
        <p:spPr>
          <a:xfrm>
            <a:off x="6813550" y="2967567"/>
            <a:ext cx="330200" cy="38100"/>
          </a:xfrm>
          <a:custGeom>
            <a:avLst/>
            <a:gdLst/>
            <a:ahLst/>
            <a:cxnLst/>
            <a:rect l="l" t="t" r="r" b="b"/>
            <a:pathLst>
              <a:path w="495300" h="57150">
                <a:moveTo>
                  <a:pt x="0" y="0"/>
                </a:moveTo>
                <a:lnTo>
                  <a:pt x="495300" y="0"/>
                </a:lnTo>
                <a:lnTo>
                  <a:pt x="495300" y="28575"/>
                </a:lnTo>
                <a:arcTo wR="28575" hR="28575" stAng="0" swAng="5400000"/>
                <a:lnTo>
                  <a:pt x="28575" y="57150"/>
                </a:lnTo>
                <a:arcTo wR="28575" hR="28575" stAng="5400000" swAng="5400000"/>
                <a:lnTo>
                  <a:pt x="0" y="0"/>
                </a:lnTo>
                <a:close/>
              </a:path>
            </a:pathLst>
          </a:custGeom>
          <a:solidFill>
            <a:srgbClr val="D1CDC7"/>
          </a:solidFill>
          <a:ln/>
        </p:spPr>
      </p:sp>
      <p:sp>
        <p:nvSpPr>
          <p:cNvPr id="52" name="Text 49"/>
          <p:cNvSpPr/>
          <p:nvPr/>
        </p:nvSpPr>
        <p:spPr>
          <a:xfrm>
            <a:off x="6575227" y="3221567"/>
            <a:ext cx="80684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Pay service charge</a:t>
            </a:r>
            <a:endParaRPr lang="en-US" sz="900" dirty="0">
              <a:solidFill>
                <a:prstClr val="black"/>
              </a:solidFill>
              <a:latin typeface="Calibri" panose="020F0502020204030204"/>
            </a:endParaRPr>
          </a:p>
        </p:txBody>
      </p:sp>
      <p:sp>
        <p:nvSpPr>
          <p:cNvPr id="53" name="Text 50"/>
          <p:cNvSpPr/>
          <p:nvPr/>
        </p:nvSpPr>
        <p:spPr>
          <a:xfrm>
            <a:off x="6490508" y="3510338"/>
            <a:ext cx="976285"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Paystack → receipt</a:t>
            </a:r>
            <a:endParaRPr lang="en-US" sz="800" dirty="0">
              <a:solidFill>
                <a:prstClr val="black"/>
              </a:solidFill>
              <a:latin typeface="Calibri" panose="020F0502020204030204"/>
            </a:endParaRPr>
          </a:p>
        </p:txBody>
      </p:sp>
      <p:sp>
        <p:nvSpPr>
          <p:cNvPr id="54" name="Shape 51"/>
          <p:cNvSpPr/>
          <p:nvPr/>
        </p:nvSpPr>
        <p:spPr>
          <a:xfrm>
            <a:off x="7905750" y="2383367"/>
            <a:ext cx="177800" cy="177800"/>
          </a:xfrm>
          <a:prstGeom prst="ellipse">
            <a:avLst/>
          </a:prstGeom>
          <a:solidFill>
            <a:srgbClr val="8D6E00"/>
          </a:solidFill>
          <a:ln/>
        </p:spPr>
      </p:sp>
      <p:sp>
        <p:nvSpPr>
          <p:cNvPr id="55" name="Text 52"/>
          <p:cNvSpPr/>
          <p:nvPr/>
        </p:nvSpPr>
        <p:spPr>
          <a:xfrm>
            <a:off x="788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56" name="Shape 53"/>
          <p:cNvSpPr/>
          <p:nvPr/>
        </p:nvSpPr>
        <p:spPr>
          <a:xfrm>
            <a:off x="7727950" y="2624667"/>
            <a:ext cx="533400" cy="533400"/>
          </a:xfrm>
          <a:prstGeom prst="roundRect">
            <a:avLst>
              <a:gd name="adj" fmla="val 19048"/>
            </a:avLst>
          </a:prstGeom>
          <a:solidFill>
            <a:srgbClr val="413100"/>
          </a:solidFill>
          <a:ln/>
        </p:spPr>
      </p:sp>
      <p:sp>
        <p:nvSpPr>
          <p:cNvPr id="57" name="Shape 54"/>
          <p:cNvSpPr/>
          <p:nvPr/>
        </p:nvSpPr>
        <p:spPr>
          <a:xfrm>
            <a:off x="7867650" y="2732617"/>
            <a:ext cx="254000" cy="317500"/>
          </a:xfrm>
          <a:prstGeom prst="roundRect">
            <a:avLst>
              <a:gd name="adj" fmla="val 10000"/>
            </a:avLst>
          </a:prstGeom>
          <a:solidFill>
            <a:srgbClr val="F9F5EE"/>
          </a:solidFill>
          <a:ln/>
        </p:spPr>
      </p:sp>
      <p:sp>
        <p:nvSpPr>
          <p:cNvPr id="58" name="Shape 55"/>
          <p:cNvSpPr/>
          <p:nvPr/>
        </p:nvSpPr>
        <p:spPr>
          <a:xfrm>
            <a:off x="7912100" y="2821517"/>
            <a:ext cx="165100" cy="25400"/>
          </a:xfrm>
          <a:prstGeom prst="roundRect">
            <a:avLst>
              <a:gd name="adj" fmla="val 50000"/>
            </a:avLst>
          </a:prstGeom>
          <a:solidFill>
            <a:srgbClr val="D1CDC7"/>
          </a:solidFill>
          <a:ln/>
        </p:spPr>
      </p:sp>
      <p:sp>
        <p:nvSpPr>
          <p:cNvPr id="59" name="Shape 56"/>
          <p:cNvSpPr/>
          <p:nvPr/>
        </p:nvSpPr>
        <p:spPr>
          <a:xfrm>
            <a:off x="7912100" y="2878667"/>
            <a:ext cx="165100" cy="25400"/>
          </a:xfrm>
          <a:prstGeom prst="roundRect">
            <a:avLst>
              <a:gd name="adj" fmla="val 50000"/>
            </a:avLst>
          </a:prstGeom>
          <a:solidFill>
            <a:srgbClr val="D1CDC7"/>
          </a:solidFill>
          <a:ln/>
        </p:spPr>
      </p:sp>
      <p:sp>
        <p:nvSpPr>
          <p:cNvPr id="60" name="Shape 57"/>
          <p:cNvSpPr/>
          <p:nvPr/>
        </p:nvSpPr>
        <p:spPr>
          <a:xfrm>
            <a:off x="7937500" y="2935817"/>
            <a:ext cx="114300" cy="25400"/>
          </a:xfrm>
          <a:prstGeom prst="roundRect">
            <a:avLst>
              <a:gd name="adj" fmla="val 50000"/>
            </a:avLst>
          </a:prstGeom>
          <a:solidFill>
            <a:srgbClr val="D1CDC7"/>
          </a:solidFill>
          <a:ln/>
        </p:spPr>
      </p:sp>
      <p:sp>
        <p:nvSpPr>
          <p:cNvPr id="61" name="Text 58"/>
          <p:cNvSpPr/>
          <p:nvPr/>
        </p:nvSpPr>
        <p:spPr>
          <a:xfrm>
            <a:off x="7643945" y="3221567"/>
            <a:ext cx="70141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View statements</a:t>
            </a:r>
            <a:endParaRPr lang="en-US" sz="900" dirty="0">
              <a:solidFill>
                <a:prstClr val="black"/>
              </a:solidFill>
              <a:latin typeface="Calibri" panose="020F0502020204030204"/>
            </a:endParaRPr>
          </a:p>
        </p:txBody>
      </p:sp>
      <p:sp>
        <p:nvSpPr>
          <p:cNvPr id="62" name="Text 59"/>
          <p:cNvSpPr/>
          <p:nvPr/>
        </p:nvSpPr>
        <p:spPr>
          <a:xfrm>
            <a:off x="7643945" y="3510337"/>
            <a:ext cx="701411"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payment history</a:t>
            </a:r>
            <a:endParaRPr lang="en-US" sz="800" dirty="0">
              <a:solidFill>
                <a:prstClr val="black"/>
              </a:solidFill>
              <a:latin typeface="Calibri" panose="020F0502020204030204"/>
            </a:endParaRPr>
          </a:p>
        </p:txBody>
      </p:sp>
      <p:sp>
        <p:nvSpPr>
          <p:cNvPr id="63" name="Shape 60"/>
          <p:cNvSpPr/>
          <p:nvPr/>
        </p:nvSpPr>
        <p:spPr>
          <a:xfrm>
            <a:off x="8913284" y="2383367"/>
            <a:ext cx="194733" cy="194733"/>
          </a:xfrm>
          <a:prstGeom prst="ellipse">
            <a:avLst/>
          </a:prstGeom>
          <a:ln w="12700">
            <a:solidFill>
              <a:srgbClr val="C53637">
                <a:alpha val="55000"/>
              </a:srgbClr>
            </a:solidFill>
            <a:prstDash val="dash"/>
          </a:ln>
        </p:spPr>
      </p:sp>
      <p:sp>
        <p:nvSpPr>
          <p:cNvPr id="64" name="Text 61"/>
          <p:cNvSpPr/>
          <p:nvPr/>
        </p:nvSpPr>
        <p:spPr>
          <a:xfrm>
            <a:off x="8896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7</a:t>
            </a:r>
            <a:endParaRPr lang="en-US" sz="900" dirty="0">
              <a:solidFill>
                <a:prstClr val="black"/>
              </a:solidFill>
              <a:latin typeface="Calibri" panose="020F0502020204030204"/>
            </a:endParaRPr>
          </a:p>
        </p:txBody>
      </p:sp>
      <p:sp>
        <p:nvSpPr>
          <p:cNvPr id="65" name="Shape 62"/>
          <p:cNvSpPr/>
          <p:nvPr/>
        </p:nvSpPr>
        <p:spPr>
          <a:xfrm>
            <a:off x="8731250" y="2641600"/>
            <a:ext cx="558800" cy="558800"/>
          </a:xfrm>
          <a:prstGeom prst="roundRect">
            <a:avLst>
              <a:gd name="adj" fmla="val 18182"/>
            </a:avLst>
          </a:prstGeom>
          <a:solidFill>
            <a:srgbClr val="2B2823"/>
          </a:solidFill>
          <a:ln w="19050">
            <a:solidFill>
              <a:srgbClr val="C53637"/>
            </a:solidFill>
            <a:prstDash val="solid"/>
          </a:ln>
        </p:spPr>
      </p:sp>
      <p:sp>
        <p:nvSpPr>
          <p:cNvPr id="66" name="Shape 63"/>
          <p:cNvSpPr/>
          <p:nvPr/>
        </p:nvSpPr>
        <p:spPr>
          <a:xfrm>
            <a:off x="8890000" y="2781300"/>
            <a:ext cx="266700" cy="304800"/>
          </a:xfrm>
          <a:prstGeom prst="roundRect">
            <a:avLst>
              <a:gd name="adj" fmla="val 9524"/>
            </a:avLst>
          </a:prstGeom>
          <a:solidFill>
            <a:srgbClr val="F9F5EE"/>
          </a:solidFill>
          <a:ln/>
        </p:spPr>
      </p:sp>
      <p:sp>
        <p:nvSpPr>
          <p:cNvPr id="67" name="Shape 64"/>
          <p:cNvSpPr/>
          <p:nvPr/>
        </p:nvSpPr>
        <p:spPr>
          <a:xfrm>
            <a:off x="8972550" y="2730500"/>
            <a:ext cx="76200" cy="50800"/>
          </a:xfrm>
          <a:prstGeom prst="rect">
            <a:avLst/>
          </a:prstGeom>
          <a:solidFill>
            <a:srgbClr val="F9F5EE"/>
          </a:solidFill>
          <a:ln/>
        </p:spPr>
      </p:sp>
      <p:sp>
        <p:nvSpPr>
          <p:cNvPr id="68" name="Text 65"/>
          <p:cNvSpPr/>
          <p:nvPr/>
        </p:nvSpPr>
        <p:spPr>
          <a:xfrm>
            <a:off x="8509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Apply for tenancy + KYC</a:t>
            </a:r>
            <a:endParaRPr lang="en-US" sz="900" dirty="0">
              <a:solidFill>
                <a:prstClr val="black"/>
              </a:solidFill>
              <a:latin typeface="Calibri" panose="020F0502020204030204"/>
            </a:endParaRPr>
          </a:p>
        </p:txBody>
      </p:sp>
      <p:sp>
        <p:nvSpPr>
          <p:cNvPr id="69" name="Text 66"/>
          <p:cNvSpPr/>
          <p:nvPr/>
        </p:nvSpPr>
        <p:spPr>
          <a:xfrm>
            <a:off x="8486776" y="3539418"/>
            <a:ext cx="1047750"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on their phone, OEA</a:t>
            </a:r>
            <a:endParaRPr lang="en-US" sz="800" dirty="0">
              <a:solidFill>
                <a:prstClr val="black"/>
              </a:solidFill>
              <a:latin typeface="Calibri" panose="020F0502020204030204"/>
            </a:endParaRPr>
          </a:p>
        </p:txBody>
      </p:sp>
      <p:sp>
        <p:nvSpPr>
          <p:cNvPr id="70" name="Shape 67"/>
          <p:cNvSpPr/>
          <p:nvPr/>
        </p:nvSpPr>
        <p:spPr>
          <a:xfrm>
            <a:off x="9929284" y="2383367"/>
            <a:ext cx="194733" cy="194733"/>
          </a:xfrm>
          <a:prstGeom prst="ellipse">
            <a:avLst/>
          </a:prstGeom>
          <a:ln w="12700">
            <a:solidFill>
              <a:srgbClr val="75716B">
                <a:alpha val="55000"/>
              </a:srgbClr>
            </a:solidFill>
            <a:prstDash val="dash"/>
          </a:ln>
        </p:spPr>
      </p:sp>
      <p:sp>
        <p:nvSpPr>
          <p:cNvPr id="71" name="Text 68"/>
          <p:cNvSpPr/>
          <p:nvPr/>
        </p:nvSpPr>
        <p:spPr>
          <a:xfrm>
            <a:off x="9912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8</a:t>
            </a:r>
            <a:endParaRPr lang="en-US" sz="900" dirty="0">
              <a:solidFill>
                <a:prstClr val="black"/>
              </a:solidFill>
              <a:latin typeface="Calibri" panose="020F0502020204030204"/>
            </a:endParaRPr>
          </a:p>
        </p:txBody>
      </p:sp>
      <p:sp>
        <p:nvSpPr>
          <p:cNvPr id="72" name="Shape 69"/>
          <p:cNvSpPr/>
          <p:nvPr/>
        </p:nvSpPr>
        <p:spPr>
          <a:xfrm>
            <a:off x="9747250" y="2641600"/>
            <a:ext cx="558800" cy="558800"/>
          </a:xfrm>
          <a:prstGeom prst="roundRect">
            <a:avLst>
              <a:gd name="adj" fmla="val 18182"/>
            </a:avLst>
          </a:prstGeom>
          <a:ln w="19050">
            <a:solidFill>
              <a:srgbClr val="75716B">
                <a:alpha val="55000"/>
              </a:srgbClr>
            </a:solidFill>
            <a:prstDash val="dash"/>
          </a:ln>
        </p:spPr>
      </p:sp>
      <p:sp>
        <p:nvSpPr>
          <p:cNvPr id="73" name="Shape 70"/>
          <p:cNvSpPr/>
          <p:nvPr/>
        </p:nvSpPr>
        <p:spPr>
          <a:xfrm>
            <a:off x="9836150" y="2844800"/>
            <a:ext cx="152400" cy="152400"/>
          </a:xfrm>
          <a:prstGeom prst="ellipse">
            <a:avLst/>
          </a:prstGeom>
          <a:ln w="19050">
            <a:solidFill>
              <a:srgbClr val="75716B">
                <a:alpha val="55000"/>
              </a:srgbClr>
            </a:solidFill>
            <a:prstDash val="dash"/>
          </a:ln>
        </p:spPr>
      </p:sp>
      <p:sp>
        <p:nvSpPr>
          <p:cNvPr id="74" name="Shape 71"/>
          <p:cNvSpPr/>
          <p:nvPr/>
        </p:nvSpPr>
        <p:spPr>
          <a:xfrm>
            <a:off x="10026650" y="2851150"/>
            <a:ext cx="190500" cy="139700"/>
          </a:xfrm>
          <a:prstGeom prst="roundRect">
            <a:avLst>
              <a:gd name="adj" fmla="val 13636"/>
            </a:avLst>
          </a:prstGeom>
          <a:ln w="19050">
            <a:solidFill>
              <a:srgbClr val="75716B">
                <a:alpha val="55000"/>
              </a:srgbClr>
            </a:solidFill>
            <a:prstDash val="dash"/>
          </a:ln>
        </p:spPr>
      </p:sp>
      <p:sp>
        <p:nvSpPr>
          <p:cNvPr id="75" name="Text 72"/>
          <p:cNvSpPr/>
          <p:nvPr/>
        </p:nvSpPr>
        <p:spPr>
          <a:xfrm>
            <a:off x="9542798" y="3263900"/>
            <a:ext cx="96764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Pay rent / lease online</a:t>
            </a:r>
            <a:endParaRPr lang="en-US" sz="900" dirty="0">
              <a:solidFill>
                <a:prstClr val="black"/>
              </a:solidFill>
              <a:latin typeface="Calibri" panose="020F0502020204030204"/>
            </a:endParaRPr>
          </a:p>
        </p:txBody>
      </p:sp>
      <p:sp>
        <p:nvSpPr>
          <p:cNvPr id="76" name="Text 73"/>
          <p:cNvSpPr/>
          <p:nvPr/>
        </p:nvSpPr>
        <p:spPr>
          <a:xfrm>
            <a:off x="9542798" y="3552671"/>
            <a:ext cx="96764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Paystack · receipt</a:t>
            </a:r>
            <a:endParaRPr lang="en-US" sz="800" dirty="0">
              <a:solidFill>
                <a:prstClr val="black"/>
              </a:solidFill>
              <a:latin typeface="Calibri" panose="020F0502020204030204"/>
            </a:endParaRPr>
          </a:p>
        </p:txBody>
      </p:sp>
      <p:sp>
        <p:nvSpPr>
          <p:cNvPr id="77" name="Shape 74"/>
          <p:cNvSpPr/>
          <p:nvPr/>
        </p:nvSpPr>
        <p:spPr>
          <a:xfrm>
            <a:off x="10945284" y="2383367"/>
            <a:ext cx="194733" cy="194733"/>
          </a:xfrm>
          <a:prstGeom prst="ellipse">
            <a:avLst/>
          </a:prstGeom>
          <a:solidFill>
            <a:srgbClr val="4B4742"/>
          </a:solidFill>
          <a:ln/>
        </p:spPr>
      </p:sp>
      <p:sp>
        <p:nvSpPr>
          <p:cNvPr id="78" name="Text 75"/>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9</a:t>
            </a:r>
            <a:endParaRPr lang="en-US" sz="900" dirty="0">
              <a:solidFill>
                <a:prstClr val="black"/>
              </a:solidFill>
              <a:latin typeface="Calibri" panose="020F0502020204030204"/>
            </a:endParaRPr>
          </a:p>
        </p:txBody>
      </p:sp>
      <p:sp>
        <p:nvSpPr>
          <p:cNvPr id="79" name="Shape 76"/>
          <p:cNvSpPr/>
          <p:nvPr/>
        </p:nvSpPr>
        <p:spPr>
          <a:xfrm>
            <a:off x="10763250" y="2641600"/>
            <a:ext cx="558800" cy="558800"/>
          </a:xfrm>
          <a:prstGeom prst="roundRect">
            <a:avLst>
              <a:gd name="adj" fmla="val 18182"/>
            </a:avLst>
          </a:prstGeom>
          <a:solidFill>
            <a:srgbClr val="2B2823"/>
          </a:solidFill>
          <a:ln/>
        </p:spPr>
      </p:sp>
      <p:sp>
        <p:nvSpPr>
          <p:cNvPr id="80" name="Shape 77"/>
          <p:cNvSpPr/>
          <p:nvPr/>
        </p:nvSpPr>
        <p:spPr>
          <a:xfrm>
            <a:off x="10802409" y="2898776"/>
            <a:ext cx="44450" cy="44450"/>
          </a:xfrm>
          <a:prstGeom prst="ellipse">
            <a:avLst/>
          </a:prstGeom>
          <a:solidFill>
            <a:srgbClr val="F9F5EE"/>
          </a:solidFill>
          <a:ln/>
        </p:spPr>
      </p:sp>
      <p:sp>
        <p:nvSpPr>
          <p:cNvPr id="81" name="Shape 78"/>
          <p:cNvSpPr/>
          <p:nvPr/>
        </p:nvSpPr>
        <p:spPr>
          <a:xfrm>
            <a:off x="10884959" y="2914650"/>
            <a:ext cx="88900" cy="12700"/>
          </a:xfrm>
          <a:prstGeom prst="rect">
            <a:avLst/>
          </a:prstGeom>
          <a:solidFill>
            <a:srgbClr val="F9F5EE"/>
          </a:solidFill>
          <a:ln/>
        </p:spPr>
      </p:sp>
      <p:sp>
        <p:nvSpPr>
          <p:cNvPr id="82" name="Shape 79"/>
          <p:cNvSpPr/>
          <p:nvPr/>
        </p:nvSpPr>
        <p:spPr>
          <a:xfrm>
            <a:off x="11011959" y="2898776"/>
            <a:ext cx="44450" cy="44450"/>
          </a:xfrm>
          <a:prstGeom prst="ellipse">
            <a:avLst/>
          </a:prstGeom>
          <a:solidFill>
            <a:srgbClr val="F9F5EE"/>
          </a:solidFill>
          <a:ln/>
        </p:spPr>
      </p:sp>
      <p:sp>
        <p:nvSpPr>
          <p:cNvPr id="83" name="Shape 80"/>
          <p:cNvSpPr/>
          <p:nvPr/>
        </p:nvSpPr>
        <p:spPr>
          <a:xfrm>
            <a:off x="11094509" y="2914650"/>
            <a:ext cx="88900" cy="12700"/>
          </a:xfrm>
          <a:prstGeom prst="rect">
            <a:avLst/>
          </a:prstGeom>
          <a:solidFill>
            <a:srgbClr val="F9F5EE"/>
          </a:solidFill>
          <a:ln/>
        </p:spPr>
      </p:sp>
      <p:sp>
        <p:nvSpPr>
          <p:cNvPr id="84" name="Shape 81"/>
          <p:cNvSpPr/>
          <p:nvPr/>
        </p:nvSpPr>
        <p:spPr>
          <a:xfrm>
            <a:off x="11221509" y="2890309"/>
            <a:ext cx="61383" cy="61383"/>
          </a:xfrm>
          <a:prstGeom prst="ellipse">
            <a:avLst/>
          </a:prstGeom>
          <a:solidFill>
            <a:srgbClr val="F9F5EE"/>
          </a:solidFill>
          <a:ln/>
        </p:spPr>
      </p:sp>
      <p:sp>
        <p:nvSpPr>
          <p:cNvPr id="85" name="Text 82"/>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"Track my request" timeline</a:t>
            </a:r>
            <a:endParaRPr lang="en-US" sz="900" dirty="0">
              <a:solidFill>
                <a:prstClr val="black"/>
              </a:solidFill>
              <a:latin typeface="Calibri" panose="020F0502020204030204"/>
            </a:endParaRPr>
          </a:p>
        </p:txBody>
      </p:sp>
      <p:sp>
        <p:nvSpPr>
          <p:cNvPr id="86" name="Text 83"/>
          <p:cNvSpPr/>
          <p:nvPr/>
        </p:nvSpPr>
        <p:spPr>
          <a:xfrm>
            <a:off x="10518775" y="3539418"/>
            <a:ext cx="1047750"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raised → resolved</a:t>
            </a:r>
            <a:endParaRPr lang="en-US" sz="800" dirty="0">
              <a:solidFill>
                <a:prstClr val="black"/>
              </a:solidFill>
              <a:latin typeface="Calibri" panose="020F0502020204030204"/>
            </a:endParaRPr>
          </a:p>
        </p:txBody>
      </p:sp>
      <p:sp>
        <p:nvSpPr>
          <p:cNvPr id="99" name="Shape 63">
            <a:extLst>
              <a:ext uri="{FF2B5EF4-FFF2-40B4-BE49-F238E27FC236}">
                <a16:creationId xmlns:a16="http://schemas.microsoft.com/office/drawing/2014/main" id="{F71ADE77-AD2B-4973-BE2B-584AA17A1487}"/>
              </a:ext>
            </a:extLst>
          </p:cNvPr>
          <p:cNvSpPr/>
          <p:nvPr/>
        </p:nvSpPr>
        <p:spPr>
          <a:xfrm>
            <a:off x="673100" y="5033434"/>
            <a:ext cx="10845800" cy="6350"/>
          </a:xfrm>
          <a:prstGeom prst="rect">
            <a:avLst/>
          </a:prstGeom>
          <a:solidFill>
            <a:srgbClr val="CFCDCA"/>
          </a:solidFill>
          <a:ln/>
        </p:spPr>
      </p:sp>
      <p:sp>
        <p:nvSpPr>
          <p:cNvPr id="100" name="Text 64">
            <a:extLst>
              <a:ext uri="{FF2B5EF4-FFF2-40B4-BE49-F238E27FC236}">
                <a16:creationId xmlns:a16="http://schemas.microsoft.com/office/drawing/2014/main" id="{9B3D94B3-E62B-427F-A689-F65C82618179}"/>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101" name="Text 65">
            <a:extLst>
              <a:ext uri="{FF2B5EF4-FFF2-40B4-BE49-F238E27FC236}">
                <a16:creationId xmlns:a16="http://schemas.microsoft.com/office/drawing/2014/main" id="{76FB3833-6CE7-425D-8D5F-C982A4BABDA9}"/>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102" name="Text 66">
            <a:extLst>
              <a:ext uri="{FF2B5EF4-FFF2-40B4-BE49-F238E27FC236}">
                <a16:creationId xmlns:a16="http://schemas.microsoft.com/office/drawing/2014/main" id="{E708AB0A-4C55-4D6A-9643-ADE55673C8E1}"/>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103" name="Text 67">
            <a:extLst>
              <a:ext uri="{FF2B5EF4-FFF2-40B4-BE49-F238E27FC236}">
                <a16:creationId xmlns:a16="http://schemas.microsoft.com/office/drawing/2014/main" id="{1A973FAF-368B-4A16-A614-E232B3FDBD56}"/>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104" name="Text 68">
            <a:extLst>
              <a:ext uri="{FF2B5EF4-FFF2-40B4-BE49-F238E27FC236}">
                <a16:creationId xmlns:a16="http://schemas.microsoft.com/office/drawing/2014/main" id="{5CBC34C7-A771-484D-A800-F02EC3A6C6AE}"/>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105" name="Text 69">
            <a:extLst>
              <a:ext uri="{FF2B5EF4-FFF2-40B4-BE49-F238E27FC236}">
                <a16:creationId xmlns:a16="http://schemas.microsoft.com/office/drawing/2014/main" id="{D01C1373-6E1B-400A-B590-C5420978F2A7}"/>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106" name="Text 70">
            <a:extLst>
              <a:ext uri="{FF2B5EF4-FFF2-40B4-BE49-F238E27FC236}">
                <a16:creationId xmlns:a16="http://schemas.microsoft.com/office/drawing/2014/main" id="{F40F1529-3375-455C-8956-034666444D4E}"/>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107" name="Text 71">
            <a:extLst>
              <a:ext uri="{FF2B5EF4-FFF2-40B4-BE49-F238E27FC236}">
                <a16:creationId xmlns:a16="http://schemas.microsoft.com/office/drawing/2014/main" id="{2060F12C-37A2-4E68-BE2E-8FF95BE0A47B}"/>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108" name="Text 72">
            <a:extLst>
              <a:ext uri="{FF2B5EF4-FFF2-40B4-BE49-F238E27FC236}">
                <a16:creationId xmlns:a16="http://schemas.microsoft.com/office/drawing/2014/main" id="{AEA68528-CE8F-493C-8791-3B022D1468A2}"/>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109" name="Text 73">
            <a:extLst>
              <a:ext uri="{FF2B5EF4-FFF2-40B4-BE49-F238E27FC236}">
                <a16:creationId xmlns:a16="http://schemas.microsoft.com/office/drawing/2014/main" id="{9AD870A6-5833-4D2A-B7DE-F48930607C2F}"/>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110" name="Text 74">
            <a:extLst>
              <a:ext uri="{FF2B5EF4-FFF2-40B4-BE49-F238E27FC236}">
                <a16:creationId xmlns:a16="http://schemas.microsoft.com/office/drawing/2014/main" id="{07DACB04-4341-4C59-ADAC-8EBAAA1980A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111" name="Shape 4">
            <a:extLst>
              <a:ext uri="{FF2B5EF4-FFF2-40B4-BE49-F238E27FC236}">
                <a16:creationId xmlns:a16="http://schemas.microsoft.com/office/drawing/2014/main" id="{D83C8729-39F4-49A0-A5E0-9821819755E2}"/>
              </a:ext>
            </a:extLst>
          </p:cNvPr>
          <p:cNvSpPr/>
          <p:nvPr/>
        </p:nvSpPr>
        <p:spPr>
          <a:xfrm>
            <a:off x="10062633" y="1689100"/>
            <a:ext cx="63500" cy="63500"/>
          </a:xfrm>
          <a:prstGeom prst="ellipse">
            <a:avLst/>
          </a:prstGeom>
          <a:solidFill>
            <a:srgbClr val="4B4742"/>
          </a:solidFill>
          <a:ln/>
        </p:spPr>
      </p:sp>
      <p:sp>
        <p:nvSpPr>
          <p:cNvPr id="112" name="Text 5">
            <a:extLst>
              <a:ext uri="{FF2B5EF4-FFF2-40B4-BE49-F238E27FC236}">
                <a16:creationId xmlns:a16="http://schemas.microsoft.com/office/drawing/2014/main" id="{D9505520-B0F7-4392-9CB6-B65D7BCD5267}"/>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113" name="Shape 6">
            <a:extLst>
              <a:ext uri="{FF2B5EF4-FFF2-40B4-BE49-F238E27FC236}">
                <a16:creationId xmlns:a16="http://schemas.microsoft.com/office/drawing/2014/main" id="{38D64A40-01D6-4629-9957-6FAC54E42688}"/>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114" name="Text 7">
            <a:extLst>
              <a:ext uri="{FF2B5EF4-FFF2-40B4-BE49-F238E27FC236}">
                <a16:creationId xmlns:a16="http://schemas.microsoft.com/office/drawing/2014/main" id="{7819C94B-D8B1-433D-91CC-A952D8C1F97C}"/>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E</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E</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OWNER/LANDLORD</a:t>
            </a:r>
            <a:endParaRPr lang="en-US" sz="1200" dirty="0">
              <a:solidFill>
                <a:prstClr val="black"/>
              </a:solidFill>
              <a:latin typeface="Calibri" panose="020F0502020204030204"/>
            </a:endParaRPr>
          </a:p>
        </p:txBody>
      </p:sp>
      <p:sp>
        <p:nvSpPr>
          <p:cNvPr id="13" name="Text 10"/>
          <p:cNvSpPr/>
          <p:nvPr/>
        </p:nvSpPr>
        <p:spPr>
          <a:xfrm>
            <a:off x="753269" y="3901216"/>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Track portfolio health, get paid, sign off on major spend.</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Portfolio dashboard</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performance at a glance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Financial reports</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portfolio statement · built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Receive remittance</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③ · payout</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Approve major spend</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future · needs a board decision</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Market comps</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E-sign documents</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future · unscoped</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A24019"/>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F</a:t>
            </a:r>
            <a:endParaRPr lang="en-US" sz="1000" dirty="0">
              <a:solidFill>
                <a:prstClr val="black"/>
              </a:solidFill>
              <a:latin typeface="Calibri" panose="020F0502020204030204"/>
            </a:endParaRPr>
          </a:p>
        </p:txBody>
      </p:sp>
      <p:sp>
        <p:nvSpPr>
          <p:cNvPr id="5" name="Text 3"/>
          <p:cNvSpPr/>
          <p:nvPr/>
        </p:nvSpPr>
        <p:spPr>
          <a:xfrm>
            <a:off x="926962" y="1739900"/>
            <a:ext cx="2092463" cy="124239"/>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F</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583" r="16583"/>
          <a:stretch/>
        </p:blipFill>
        <p:spPr>
          <a:xfrm>
            <a:off x="927100" y="2677782"/>
            <a:ext cx="952500" cy="952500"/>
          </a:xfrm>
          <a:prstGeom prst="rect">
            <a:avLst/>
          </a:prstGeom>
        </p:spPr>
      </p:pic>
      <p:sp>
        <p:nvSpPr>
          <p:cNvPr id="12" name="Text 9"/>
          <p:cNvSpPr/>
          <p:nvPr/>
        </p:nvSpPr>
        <p:spPr>
          <a:xfrm>
            <a:off x="862082" y="3719183"/>
            <a:ext cx="1088744" cy="13278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FINANCE LEAD</a:t>
            </a:r>
            <a:endParaRPr lang="en-US" sz="1200" dirty="0">
              <a:solidFill>
                <a:prstClr val="black"/>
              </a:solidFill>
              <a:latin typeface="Calibri" panose="020F0502020204030204"/>
            </a:endParaRPr>
          </a:p>
        </p:txBody>
      </p:sp>
      <p:sp>
        <p:nvSpPr>
          <p:cNvPr id="13" name="Text 10"/>
          <p:cNvSpPr/>
          <p:nvPr/>
        </p:nvSpPr>
        <p:spPr>
          <a:xfrm>
            <a:off x="836662" y="4069890"/>
            <a:ext cx="1133376"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Reconcile the ledger, batch-approve payouts, close the books.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A24019">
                  <a:alpha val="35000"/>
                </a:srgbClr>
              </a:gs>
              <a:gs pos="100000">
                <a:srgbClr val="A24019">
                  <a:alpha val="35000"/>
                </a:srgbClr>
              </a:gs>
            </a:gsLst>
            <a:lin ang="0" scaled="0"/>
          </a:gradFill>
          <a:ln/>
        </p:spPr>
      </p:sp>
      <p:sp>
        <p:nvSpPr>
          <p:cNvPr id="15" name="Shape 12"/>
          <p:cNvSpPr/>
          <p:nvPr/>
        </p:nvSpPr>
        <p:spPr>
          <a:xfrm>
            <a:off x="2825750" y="2383367"/>
            <a:ext cx="177800" cy="177800"/>
          </a:xfrm>
          <a:prstGeom prst="ellipse">
            <a:avLst/>
          </a:prstGeom>
          <a:solidFill>
            <a:srgbClr val="A24019"/>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4E1C0A"/>
          </a:solidFill>
          <a:ln/>
        </p:spPr>
      </p:sp>
      <p:sp>
        <p:nvSpPr>
          <p:cNvPr id="18" name="Shape 15"/>
          <p:cNvSpPr/>
          <p:nvPr/>
        </p:nvSpPr>
        <p:spPr>
          <a:xfrm>
            <a:off x="2726465" y="2808817"/>
            <a:ext cx="127000" cy="165100"/>
          </a:xfrm>
          <a:prstGeom prst="roundRect">
            <a:avLst>
              <a:gd name="adj" fmla="val 15000"/>
            </a:avLst>
          </a:prstGeom>
          <a:solidFill>
            <a:srgbClr val="F9F5EE"/>
          </a:solidFill>
          <a:ln/>
        </p:spPr>
      </p:sp>
      <p:sp>
        <p:nvSpPr>
          <p:cNvPr id="19" name="Text 16"/>
          <p:cNvSpPr/>
          <p:nvPr/>
        </p:nvSpPr>
        <p:spPr>
          <a:xfrm>
            <a:off x="2885216" y="2838450"/>
            <a:ext cx="109670" cy="131233"/>
          </a:xfrm>
          <a:prstGeom prst="rect">
            <a:avLst/>
          </a:prstGeom>
          <a:noFill/>
          <a:ln/>
        </p:spPr>
        <p:txBody>
          <a:bodyPr wrap="square" lIns="16933" tIns="16933" rIns="16933" bIns="16933" rtlCol="0" anchor="t">
            <a:noAutofit/>
          </a:bodyPr>
          <a:lstStyle/>
          <a:p>
            <a:pP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0" name="Shape 17"/>
          <p:cNvSpPr/>
          <p:nvPr/>
        </p:nvSpPr>
        <p:spPr>
          <a:xfrm>
            <a:off x="2975835" y="2808817"/>
            <a:ext cx="127000" cy="165100"/>
          </a:xfrm>
          <a:prstGeom prst="roundRect">
            <a:avLst>
              <a:gd name="adj" fmla="val 15000"/>
            </a:avLst>
          </a:prstGeom>
          <a:solidFill>
            <a:srgbClr val="F9F5EE"/>
          </a:solidFill>
          <a:ln/>
        </p:spPr>
      </p:sp>
      <p:sp>
        <p:nvSpPr>
          <p:cNvPr id="21" name="Text 18"/>
          <p:cNvSpPr/>
          <p:nvPr/>
        </p:nvSpPr>
        <p:spPr>
          <a:xfrm>
            <a:off x="2438288" y="3221567"/>
            <a:ext cx="95272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Reconcile ledger</a:t>
            </a:r>
            <a:endParaRPr lang="en-US" sz="900" dirty="0">
              <a:solidFill>
                <a:prstClr val="black"/>
              </a:solidFill>
              <a:latin typeface="Calibri" panose="020F0502020204030204"/>
            </a:endParaRPr>
          </a:p>
        </p:txBody>
      </p:sp>
      <p:sp>
        <p:nvSpPr>
          <p:cNvPr id="22" name="Text 19"/>
          <p:cNvSpPr/>
          <p:nvPr/>
        </p:nvSpPr>
        <p:spPr>
          <a:xfrm>
            <a:off x="2438288" y="3377729"/>
            <a:ext cx="95272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work-order trace · built</a:t>
            </a:r>
            <a:endParaRPr lang="en-US" sz="800" dirty="0">
              <a:solidFill>
                <a:prstClr val="black"/>
              </a:solidFill>
              <a:latin typeface="Calibri" panose="020F0502020204030204"/>
            </a:endParaRPr>
          </a:p>
        </p:txBody>
      </p:sp>
      <p:sp>
        <p:nvSpPr>
          <p:cNvPr id="23" name="Shape 20"/>
          <p:cNvSpPr/>
          <p:nvPr/>
        </p:nvSpPr>
        <p:spPr>
          <a:xfrm>
            <a:off x="4451350" y="2383367"/>
            <a:ext cx="177800" cy="177800"/>
          </a:xfrm>
          <a:prstGeom prst="ellipse">
            <a:avLst/>
          </a:prstGeom>
          <a:solidFill>
            <a:srgbClr val="A24019"/>
          </a:solidFill>
          <a:ln/>
        </p:spPr>
      </p:sp>
      <p:sp>
        <p:nvSpPr>
          <p:cNvPr id="24" name="Text 21"/>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4273550" y="2624667"/>
            <a:ext cx="533400" cy="533400"/>
          </a:xfrm>
          <a:prstGeom prst="roundRect">
            <a:avLst>
              <a:gd name="adj" fmla="val 19048"/>
            </a:avLst>
          </a:prstGeom>
          <a:solidFill>
            <a:srgbClr val="4E1C0A"/>
          </a:solidFill>
          <a:ln/>
        </p:spPr>
      </p:sp>
      <p:sp>
        <p:nvSpPr>
          <p:cNvPr id="26" name="Shape 23"/>
          <p:cNvSpPr/>
          <p:nvPr/>
        </p:nvSpPr>
        <p:spPr>
          <a:xfrm>
            <a:off x="4435475" y="2786592"/>
            <a:ext cx="88900" cy="88900"/>
          </a:xfrm>
          <a:prstGeom prst="roundRect">
            <a:avLst>
              <a:gd name="adj" fmla="val 21429"/>
            </a:avLst>
          </a:prstGeom>
          <a:solidFill>
            <a:srgbClr val="F9F5EE"/>
          </a:solidFill>
          <a:ln/>
        </p:spPr>
      </p:sp>
      <p:sp>
        <p:nvSpPr>
          <p:cNvPr id="27" name="Shape 24"/>
          <p:cNvSpPr/>
          <p:nvPr/>
        </p:nvSpPr>
        <p:spPr>
          <a:xfrm>
            <a:off x="4556125" y="2786592"/>
            <a:ext cx="88900" cy="88900"/>
          </a:xfrm>
          <a:prstGeom prst="roundRect">
            <a:avLst>
              <a:gd name="adj" fmla="val 21429"/>
            </a:avLst>
          </a:prstGeom>
          <a:solidFill>
            <a:srgbClr val="F9F5EE"/>
          </a:solidFill>
          <a:ln/>
        </p:spPr>
      </p:sp>
      <p:sp>
        <p:nvSpPr>
          <p:cNvPr id="28" name="Shape 25"/>
          <p:cNvSpPr/>
          <p:nvPr/>
        </p:nvSpPr>
        <p:spPr>
          <a:xfrm>
            <a:off x="4435475" y="2907242"/>
            <a:ext cx="88900" cy="88900"/>
          </a:xfrm>
          <a:prstGeom prst="roundRect">
            <a:avLst>
              <a:gd name="adj" fmla="val 21429"/>
            </a:avLst>
          </a:prstGeom>
          <a:solidFill>
            <a:srgbClr val="F9F5EE"/>
          </a:solidFill>
          <a:ln/>
        </p:spPr>
      </p:sp>
      <p:sp>
        <p:nvSpPr>
          <p:cNvPr id="29" name="Shape 26"/>
          <p:cNvSpPr/>
          <p:nvPr/>
        </p:nvSpPr>
        <p:spPr>
          <a:xfrm>
            <a:off x="4556125" y="2907242"/>
            <a:ext cx="88900" cy="88900"/>
          </a:xfrm>
          <a:prstGeom prst="roundRect">
            <a:avLst>
              <a:gd name="adj" fmla="val 21429"/>
            </a:avLst>
          </a:prstGeom>
          <a:solidFill>
            <a:srgbClr val="F9F5EE"/>
          </a:solidFill>
          <a:ln/>
        </p:spPr>
      </p:sp>
      <p:sp>
        <p:nvSpPr>
          <p:cNvPr id="30" name="Text 27"/>
          <p:cNvSpPr/>
          <p:nvPr/>
        </p:nvSpPr>
        <p:spPr>
          <a:xfrm>
            <a:off x="4530725" y="2907242"/>
            <a:ext cx="139700" cy="114300"/>
          </a:xfrm>
          <a:prstGeom prst="rect">
            <a:avLst/>
          </a:prstGeom>
          <a:noFill/>
          <a:ln/>
        </p:spPr>
        <p:txBody>
          <a:bodyPr wrap="square" lIns="16933" tIns="16933" rIns="16933" bIns="16933" rtlCol="0" anchor="ctr">
            <a:noAutofit/>
          </a:bodyPr>
          <a:lstStyle/>
          <a:p>
            <a:pPr algn="ctr" defTabSz="609630"/>
            <a:r>
              <a:rPr lang="en-US" sz="700" b="1" dirty="0">
                <a:solidFill>
                  <a:srgbClr val="A24019"/>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31" name="Text 28"/>
          <p:cNvSpPr/>
          <p:nvPr/>
        </p:nvSpPr>
        <p:spPr>
          <a:xfrm>
            <a:off x="4037403" y="3221567"/>
            <a:ext cx="100569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Batch-approve payouts</a:t>
            </a:r>
            <a:endParaRPr lang="en-US" sz="900" dirty="0">
              <a:solidFill>
                <a:prstClr val="black"/>
              </a:solidFill>
              <a:latin typeface="Calibri" panose="020F0502020204030204"/>
            </a:endParaRPr>
          </a:p>
        </p:txBody>
      </p:sp>
      <p:sp>
        <p:nvSpPr>
          <p:cNvPr id="32" name="Text 29"/>
          <p:cNvSpPr/>
          <p:nvPr/>
        </p:nvSpPr>
        <p:spPr>
          <a:xfrm>
            <a:off x="4037403" y="3510293"/>
            <a:ext cx="100569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vendor invoices, in bulk</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A24019"/>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86450" y="2624667"/>
            <a:ext cx="558800" cy="558800"/>
          </a:xfrm>
          <a:prstGeom prst="roundRect">
            <a:avLst>
              <a:gd name="adj" fmla="val 18182"/>
            </a:avLst>
          </a:prstGeom>
          <a:solidFill>
            <a:srgbClr val="4E1C0A"/>
          </a:solidFill>
          <a:ln w="19050">
            <a:solidFill>
              <a:srgbClr val="C53637"/>
            </a:solidFill>
            <a:prstDash val="solid"/>
          </a:ln>
        </p:spPr>
      </p:sp>
      <p:sp>
        <p:nvSpPr>
          <p:cNvPr id="36" name="Shape 33"/>
          <p:cNvSpPr/>
          <p:nvPr/>
        </p:nvSpPr>
        <p:spPr>
          <a:xfrm>
            <a:off x="6051550" y="2846917"/>
            <a:ext cx="228600" cy="152400"/>
          </a:xfrm>
          <a:prstGeom prst="roundRect">
            <a:avLst>
              <a:gd name="adj" fmla="val 20833"/>
            </a:avLst>
          </a:prstGeom>
          <a:solidFill>
            <a:srgbClr val="F9F5EE"/>
          </a:solidFill>
          <a:ln/>
        </p:spPr>
      </p:sp>
      <p:sp>
        <p:nvSpPr>
          <p:cNvPr id="37" name="Shape 34"/>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B09991"/>
          </a:solidFill>
          <a:ln/>
        </p:spPr>
      </p:sp>
      <p:sp>
        <p:nvSpPr>
          <p:cNvPr id="38" name="Shape 35"/>
          <p:cNvSpPr/>
          <p:nvPr/>
        </p:nvSpPr>
        <p:spPr>
          <a:xfrm>
            <a:off x="6127750" y="2891367"/>
            <a:ext cx="76200" cy="76200"/>
          </a:xfrm>
          <a:prstGeom prst="ellipse">
            <a:avLst/>
          </a:prstGeom>
          <a:solidFill>
            <a:srgbClr val="C53637"/>
          </a:solidFill>
          <a:ln/>
        </p:spPr>
      </p:sp>
      <p:sp>
        <p:nvSpPr>
          <p:cNvPr id="39" name="Text 36"/>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0" name="Text 37"/>
          <p:cNvSpPr/>
          <p:nvPr/>
        </p:nvSpPr>
        <p:spPr>
          <a:xfrm>
            <a:off x="5720266" y="3246967"/>
            <a:ext cx="891169"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Remit to owners</a:t>
            </a:r>
            <a:endParaRPr lang="en-US" sz="900" dirty="0">
              <a:solidFill>
                <a:prstClr val="black"/>
              </a:solidFill>
              <a:latin typeface="Calibri" panose="020F0502020204030204"/>
            </a:endParaRPr>
          </a:p>
        </p:txBody>
      </p:sp>
      <p:sp>
        <p:nvSpPr>
          <p:cNvPr id="41" name="Text 38"/>
          <p:cNvSpPr/>
          <p:nvPr/>
        </p:nvSpPr>
        <p:spPr>
          <a:xfrm>
            <a:off x="5720266" y="3534870"/>
            <a:ext cx="891169" cy="158242"/>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④ · payout run</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A24019"/>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24750" y="2624667"/>
            <a:ext cx="533400" cy="533400"/>
          </a:xfrm>
          <a:prstGeom prst="roundRect">
            <a:avLst>
              <a:gd name="adj" fmla="val 19048"/>
            </a:avLst>
          </a:prstGeom>
          <a:solidFill>
            <a:srgbClr val="4E1C0A"/>
          </a:solidFill>
          <a:ln/>
        </p:spPr>
      </p:sp>
      <p:sp>
        <p:nvSpPr>
          <p:cNvPr id="45" name="Shape 42"/>
          <p:cNvSpPr/>
          <p:nvPr/>
        </p:nvSpPr>
        <p:spPr>
          <a:xfrm>
            <a:off x="7677150" y="2751667"/>
            <a:ext cx="228600" cy="279400"/>
          </a:xfrm>
          <a:prstGeom prst="roundRect">
            <a:avLst>
              <a:gd name="adj" fmla="val 8333"/>
            </a:avLst>
          </a:prstGeom>
          <a:solidFill>
            <a:srgbClr val="F9F5EE"/>
          </a:solidFill>
          <a:ln/>
        </p:spPr>
      </p:sp>
      <p:sp>
        <p:nvSpPr>
          <p:cNvPr id="46" name="Shape 43"/>
          <p:cNvSpPr/>
          <p:nvPr/>
        </p:nvSpPr>
        <p:spPr>
          <a:xfrm>
            <a:off x="7715250" y="2802467"/>
            <a:ext cx="152400" cy="19050"/>
          </a:xfrm>
          <a:prstGeom prst="rect">
            <a:avLst/>
          </a:prstGeom>
          <a:solidFill>
            <a:srgbClr val="C1BDB7"/>
          </a:solidFill>
          <a:ln/>
        </p:spPr>
      </p:sp>
      <p:sp>
        <p:nvSpPr>
          <p:cNvPr id="47" name="Shape 44"/>
          <p:cNvSpPr/>
          <p:nvPr/>
        </p:nvSpPr>
        <p:spPr>
          <a:xfrm>
            <a:off x="7715250" y="2853267"/>
            <a:ext cx="152400" cy="19050"/>
          </a:xfrm>
          <a:prstGeom prst="rect">
            <a:avLst/>
          </a:prstGeom>
          <a:solidFill>
            <a:srgbClr val="C1BDB7"/>
          </a:solidFill>
          <a:ln/>
        </p:spPr>
      </p:sp>
      <p:sp>
        <p:nvSpPr>
          <p:cNvPr id="48" name="Shape 45"/>
          <p:cNvSpPr/>
          <p:nvPr/>
        </p:nvSpPr>
        <p:spPr>
          <a:xfrm>
            <a:off x="7715250" y="2904067"/>
            <a:ext cx="88900" cy="19050"/>
          </a:xfrm>
          <a:prstGeom prst="rect">
            <a:avLst/>
          </a:prstGeom>
          <a:solidFill>
            <a:srgbClr val="C1BDB7"/>
          </a:solidFill>
          <a:ln/>
        </p:spPr>
      </p:sp>
      <p:sp>
        <p:nvSpPr>
          <p:cNvPr id="49" name="Shape 46"/>
          <p:cNvSpPr/>
          <p:nvPr/>
        </p:nvSpPr>
        <p:spPr>
          <a:xfrm>
            <a:off x="7715250" y="2954867"/>
            <a:ext cx="127000" cy="19050"/>
          </a:xfrm>
          <a:prstGeom prst="rect">
            <a:avLst/>
          </a:prstGeom>
          <a:solidFill>
            <a:srgbClr val="A24019"/>
          </a:solidFill>
          <a:ln/>
        </p:spPr>
      </p:sp>
      <p:sp>
        <p:nvSpPr>
          <p:cNvPr id="50" name="Text 47"/>
          <p:cNvSpPr/>
          <p:nvPr/>
        </p:nvSpPr>
        <p:spPr>
          <a:xfrm>
            <a:off x="7299375" y="3221567"/>
            <a:ext cx="98408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Generate reports</a:t>
            </a:r>
            <a:endParaRPr lang="en-US" sz="900" dirty="0">
              <a:solidFill>
                <a:prstClr val="black"/>
              </a:solidFill>
              <a:latin typeface="Calibri" panose="020F0502020204030204"/>
            </a:endParaRPr>
          </a:p>
        </p:txBody>
      </p:sp>
      <p:sp>
        <p:nvSpPr>
          <p:cNvPr id="51" name="Text 48"/>
          <p:cNvSpPr/>
          <p:nvPr/>
        </p:nvSpPr>
        <p:spPr>
          <a:xfrm>
            <a:off x="7299375" y="3368851"/>
            <a:ext cx="98408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org-wide P&amp;L &amp; statements</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ln w="12700">
            <a:solidFill>
              <a:srgbClr val="75716B">
                <a:alpha val="55000"/>
              </a:srgbClr>
            </a:solidFill>
            <a:prstDash val="dash"/>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5" name="Shape 52"/>
          <p:cNvSpPr/>
          <p:nvPr/>
        </p:nvSpPr>
        <p:spPr>
          <a:xfrm>
            <a:off x="9300634" y="2785534"/>
            <a:ext cx="232833" cy="270933"/>
          </a:xfrm>
          <a:prstGeom prst="roundRect">
            <a:avLst>
              <a:gd name="adj" fmla="val 10909"/>
            </a:avLst>
          </a:prstGeom>
          <a:ln w="12700">
            <a:solidFill>
              <a:srgbClr val="75716B">
                <a:alpha val="55000"/>
              </a:srgbClr>
            </a:solidFill>
            <a:prstDash val="dash"/>
          </a:ln>
        </p:spPr>
      </p:sp>
      <p:sp>
        <p:nvSpPr>
          <p:cNvPr id="56" name="Shape 53"/>
          <p:cNvSpPr/>
          <p:nvPr/>
        </p:nvSpPr>
        <p:spPr>
          <a:xfrm>
            <a:off x="9347200" y="2844800"/>
            <a:ext cx="139700" cy="19050"/>
          </a:xfrm>
          <a:prstGeom prst="rect">
            <a:avLst/>
          </a:prstGeom>
          <a:solidFill>
            <a:srgbClr val="75716B">
              <a:alpha val="55000"/>
            </a:srgbClr>
          </a:solidFill>
          <a:ln/>
        </p:spPr>
      </p:sp>
      <p:sp>
        <p:nvSpPr>
          <p:cNvPr id="57" name="Shape 54"/>
          <p:cNvSpPr/>
          <p:nvPr/>
        </p:nvSpPr>
        <p:spPr>
          <a:xfrm>
            <a:off x="9347200" y="2895600"/>
            <a:ext cx="101600" cy="19050"/>
          </a:xfrm>
          <a:prstGeom prst="rect">
            <a:avLst/>
          </a:prstGeom>
          <a:solidFill>
            <a:srgbClr val="75716B">
              <a:alpha val="55000"/>
            </a:srgbClr>
          </a:solidFill>
          <a:ln/>
        </p:spPr>
      </p:sp>
      <p:sp>
        <p:nvSpPr>
          <p:cNvPr id="58" name="Text 55"/>
          <p:cNvSpPr/>
          <p:nvPr/>
        </p:nvSpPr>
        <p:spPr>
          <a:xfrm>
            <a:off x="8919664" y="3263900"/>
            <a:ext cx="99470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Tax &amp; compliance filing</a:t>
            </a:r>
            <a:endParaRPr lang="en-US" sz="900" dirty="0">
              <a:solidFill>
                <a:prstClr val="black"/>
              </a:solidFill>
              <a:latin typeface="Calibri" panose="020F0502020204030204"/>
            </a:endParaRPr>
          </a:p>
        </p:txBody>
      </p:sp>
      <p:sp>
        <p:nvSpPr>
          <p:cNvPr id="59" name="Text 56"/>
          <p:cNvSpPr/>
          <p:nvPr/>
        </p:nvSpPr>
        <p:spPr>
          <a:xfrm>
            <a:off x="8919664" y="3543748"/>
            <a:ext cx="994707"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ln w="12700">
            <a:solidFill>
              <a:srgbClr val="75716B">
                <a:alpha val="55000"/>
              </a:srgbClr>
            </a:solidFill>
            <a:prstDash val="dash"/>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3" name="Shape 60"/>
          <p:cNvSpPr/>
          <p:nvPr/>
        </p:nvSpPr>
        <p:spPr>
          <a:xfrm>
            <a:off x="10922000" y="2819400"/>
            <a:ext cx="118533" cy="118533"/>
          </a:xfrm>
          <a:prstGeom prst="roundRect">
            <a:avLst>
              <a:gd name="adj" fmla="val 16071"/>
            </a:avLst>
          </a:prstGeom>
          <a:ln w="12700">
            <a:solidFill>
              <a:srgbClr val="75716B">
                <a:alpha val="55000"/>
              </a:srgbClr>
            </a:solidFill>
            <a:prstDash val="dash"/>
          </a:ln>
        </p:spPr>
      </p:sp>
      <p:sp>
        <p:nvSpPr>
          <p:cNvPr id="64" name="Shape 61"/>
          <p:cNvSpPr/>
          <p:nvPr/>
        </p:nvSpPr>
        <p:spPr>
          <a:xfrm>
            <a:off x="11044767" y="2819400"/>
            <a:ext cx="118533" cy="118533"/>
          </a:xfrm>
          <a:prstGeom prst="roundRect">
            <a:avLst>
              <a:gd name="adj" fmla="val 16071"/>
            </a:avLst>
          </a:prstGeom>
          <a:ln w="12700">
            <a:solidFill>
              <a:srgbClr val="75716B">
                <a:alpha val="55000"/>
              </a:srgbClr>
            </a:solidFill>
            <a:prstDash val="dash"/>
          </a:ln>
        </p:spPr>
      </p:sp>
      <p:sp>
        <p:nvSpPr>
          <p:cNvPr id="65" name="Shape 62"/>
          <p:cNvSpPr/>
          <p:nvPr/>
        </p:nvSpPr>
        <p:spPr>
          <a:xfrm>
            <a:off x="10991850" y="2904067"/>
            <a:ext cx="118533" cy="118533"/>
          </a:xfrm>
          <a:prstGeom prst="roundRect">
            <a:avLst>
              <a:gd name="adj" fmla="val 16071"/>
            </a:avLst>
          </a:prstGeom>
          <a:ln w="12700">
            <a:solidFill>
              <a:srgbClr val="75716B">
                <a:alpha val="55000"/>
              </a:srgbClr>
            </a:solidFill>
            <a:prstDash val="dash"/>
          </a:ln>
        </p:spPr>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Multi-entity consolidation</a:t>
            </a:r>
            <a:endParaRPr lang="en-US" sz="900" dirty="0">
              <a:solidFill>
                <a:prstClr val="black"/>
              </a:solidFill>
              <a:latin typeface="Calibri" panose="020F0502020204030204"/>
            </a:endParaRPr>
          </a:p>
        </p:txBody>
      </p:sp>
      <p:sp>
        <p:nvSpPr>
          <p:cNvPr id="67" name="Text 64"/>
          <p:cNvSpPr/>
          <p:nvPr/>
        </p:nvSpPr>
        <p:spPr>
          <a:xfrm>
            <a:off x="10518775" y="3530540"/>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BDA7659B-99C5-4165-9DAF-14AADD9BE259}"/>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DB8F5CC3-0732-47C9-8D01-92C81F043616}"/>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BAF2C1BE-60A7-40F9-89DA-6C23B97B66DA}"/>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E56054CD-5231-4843-BA8E-43E91D5BBAA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8CE77C27-B374-4151-B882-2980D1506E2C}"/>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37E9402E-6691-4DEE-B346-081F4D081662}"/>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44F63004-B22B-4CDA-B28D-9DB4A02833A8}"/>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AD923330-831D-4FF6-8CB4-07FC5E30397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6829212D-DEEE-4433-9909-068A54F866C2}"/>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0D4E24E3-425C-4975-9F21-9FA050229E81}"/>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C77B92EA-2012-4DFF-8CDF-F6895463C731}"/>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D06EA49C-3193-45E6-90E5-8FDD9EE2F9BD}"/>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2" name="Shape 4">
            <a:extLst>
              <a:ext uri="{FF2B5EF4-FFF2-40B4-BE49-F238E27FC236}">
                <a16:creationId xmlns:a16="http://schemas.microsoft.com/office/drawing/2014/main" id="{3D7522EE-7677-425E-A8DB-C3CFB188310E}"/>
              </a:ext>
            </a:extLst>
          </p:cNvPr>
          <p:cNvSpPr/>
          <p:nvPr/>
        </p:nvSpPr>
        <p:spPr>
          <a:xfrm>
            <a:off x="10062633" y="1689100"/>
            <a:ext cx="63500" cy="63500"/>
          </a:xfrm>
          <a:prstGeom prst="ellipse">
            <a:avLst/>
          </a:prstGeom>
          <a:solidFill>
            <a:srgbClr val="4B4742"/>
          </a:solidFill>
          <a:ln/>
        </p:spPr>
      </p:sp>
      <p:sp>
        <p:nvSpPr>
          <p:cNvPr id="93" name="Text 5">
            <a:extLst>
              <a:ext uri="{FF2B5EF4-FFF2-40B4-BE49-F238E27FC236}">
                <a16:creationId xmlns:a16="http://schemas.microsoft.com/office/drawing/2014/main" id="{8DD7A442-33D6-4020-9560-10C817DF4B7B}"/>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4" name="Shape 6">
            <a:extLst>
              <a:ext uri="{FF2B5EF4-FFF2-40B4-BE49-F238E27FC236}">
                <a16:creationId xmlns:a16="http://schemas.microsoft.com/office/drawing/2014/main" id="{A052B5D1-763A-4A25-8E2F-B3687835CF60}"/>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5" name="Text 7">
            <a:extLst>
              <a:ext uri="{FF2B5EF4-FFF2-40B4-BE49-F238E27FC236}">
                <a16:creationId xmlns:a16="http://schemas.microsoft.com/office/drawing/2014/main" id="{A7782EF9-DA72-4FD4-970F-6FFA622D0DFB}"/>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302D28"/>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G</a:t>
            </a:r>
            <a:endParaRPr lang="en-US" sz="1000" dirty="0">
              <a:solidFill>
                <a:prstClr val="black"/>
              </a:solidFill>
              <a:latin typeface="Calibri" panose="020F0502020204030204"/>
            </a:endParaRPr>
          </a:p>
        </p:txBody>
      </p:sp>
      <p:sp>
        <p:nvSpPr>
          <p:cNvPr id="5" name="Text 3"/>
          <p:cNvSpPr/>
          <p:nvPr/>
        </p:nvSpPr>
        <p:spPr>
          <a:xfrm>
            <a:off x="978910" y="1739900"/>
            <a:ext cx="2115764"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G</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3500" r="13500"/>
          <a:stretch/>
        </p:blipFill>
        <p:spPr>
          <a:xfrm>
            <a:off x="927100" y="2677782"/>
            <a:ext cx="952500" cy="952500"/>
          </a:xfrm>
          <a:prstGeom prst="rect">
            <a:avLst/>
          </a:prstGeom>
        </p:spPr>
      </p:pic>
      <p:sp>
        <p:nvSpPr>
          <p:cNvPr id="12" name="Text 9"/>
          <p:cNvSpPr/>
          <p:nvPr/>
        </p:nvSpPr>
        <p:spPr>
          <a:xfrm>
            <a:off x="882022" y="3719182"/>
            <a:ext cx="1042657"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APPROVER</a:t>
            </a:r>
            <a:endParaRPr lang="en-US" sz="1200" dirty="0">
              <a:solidFill>
                <a:prstClr val="black"/>
              </a:solidFill>
              <a:latin typeface="Calibri" panose="020F0502020204030204"/>
            </a:endParaRPr>
          </a:p>
        </p:txBody>
      </p:sp>
      <p:sp>
        <p:nvSpPr>
          <p:cNvPr id="13" name="Text 10"/>
          <p:cNvSpPr/>
          <p:nvPr/>
        </p:nvSpPr>
        <p:spPr>
          <a:xfrm>
            <a:off x="904016" y="3901216"/>
            <a:ext cx="998670"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Final sign-off on the largest payments before they release.</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302D28">
                  <a:alpha val="35000"/>
                </a:srgbClr>
              </a:gs>
              <a:gs pos="100000">
                <a:srgbClr val="302D28">
                  <a:alpha val="35000"/>
                </a:srgbClr>
              </a:gs>
            </a:gsLst>
            <a:lin ang="0" scaled="0"/>
          </a:gradFill>
          <a:ln/>
        </p:spPr>
      </p:sp>
      <p:sp>
        <p:nvSpPr>
          <p:cNvPr id="15" name="Shape 12"/>
          <p:cNvSpPr/>
          <p:nvPr/>
        </p:nvSpPr>
        <p:spPr>
          <a:xfrm>
            <a:off x="2825750" y="2383367"/>
            <a:ext cx="177800" cy="177800"/>
          </a:xfrm>
          <a:prstGeom prst="ellipse">
            <a:avLst/>
          </a:prstGeom>
          <a:solidFill>
            <a:srgbClr val="302D28"/>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1D1A15"/>
          </a:solidFill>
          <a:ln/>
        </p:spPr>
      </p:sp>
      <p:sp>
        <p:nvSpPr>
          <p:cNvPr id="18" name="Shape 15"/>
          <p:cNvSpPr/>
          <p:nvPr/>
        </p:nvSpPr>
        <p:spPr>
          <a:xfrm>
            <a:off x="2813050" y="2789767"/>
            <a:ext cx="237067" cy="237067"/>
          </a:xfrm>
          <a:prstGeom prst="ellipse">
            <a:avLst/>
          </a:prstGeom>
          <a:ln w="25400">
            <a:solidFill>
              <a:srgbClr val="F9F5EE"/>
            </a:solidFill>
            <a:prstDash val="solid"/>
          </a:ln>
        </p:spPr>
      </p:sp>
      <p:sp>
        <p:nvSpPr>
          <p:cNvPr id="19" name="Shape 16"/>
          <p:cNvSpPr/>
          <p:nvPr/>
        </p:nvSpPr>
        <p:spPr>
          <a:xfrm rot="2700000">
            <a:off x="2787650" y="2846917"/>
            <a:ext cx="101600" cy="19050"/>
          </a:xfrm>
          <a:prstGeom prst="rect">
            <a:avLst/>
          </a:prstGeom>
          <a:solidFill>
            <a:srgbClr val="C53637"/>
          </a:solidFill>
          <a:ln/>
        </p:spPr>
      </p:sp>
      <p:sp>
        <p:nvSpPr>
          <p:cNvPr id="20" name="Text 17"/>
          <p:cNvSpPr/>
          <p:nvPr/>
        </p:nvSpPr>
        <p:spPr>
          <a:xfrm>
            <a:off x="24130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Review flagged transactions</a:t>
            </a:r>
            <a:endParaRPr lang="en-US" sz="900" dirty="0">
              <a:solidFill>
                <a:prstClr val="black"/>
              </a:solidFill>
              <a:latin typeface="Calibri" panose="020F0502020204030204"/>
            </a:endParaRPr>
          </a:p>
        </p:txBody>
      </p:sp>
      <p:sp>
        <p:nvSpPr>
          <p:cNvPr id="21" name="Text 18"/>
          <p:cNvSpPr/>
          <p:nvPr/>
        </p:nvSpPr>
        <p:spPr>
          <a:xfrm>
            <a:off x="2390776" y="3514841"/>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high-value queue</a:t>
            </a:r>
            <a:endParaRPr lang="en-US" sz="800" dirty="0">
              <a:solidFill>
                <a:prstClr val="black"/>
              </a:solidFill>
              <a:latin typeface="Calibri" panose="020F0502020204030204"/>
            </a:endParaRPr>
          </a:p>
        </p:txBody>
      </p:sp>
      <p:sp>
        <p:nvSpPr>
          <p:cNvPr id="22" name="Shape 19"/>
          <p:cNvSpPr/>
          <p:nvPr/>
        </p:nvSpPr>
        <p:spPr>
          <a:xfrm>
            <a:off x="4451350" y="2383367"/>
            <a:ext cx="177800" cy="177800"/>
          </a:xfrm>
          <a:prstGeom prst="ellipse">
            <a:avLst/>
          </a:prstGeom>
          <a:solidFill>
            <a:srgbClr val="302D28"/>
          </a:solidFill>
          <a:ln/>
        </p:spPr>
      </p:sp>
      <p:sp>
        <p:nvSpPr>
          <p:cNvPr id="23" name="Text 20"/>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4" name="Shape 21"/>
          <p:cNvSpPr/>
          <p:nvPr/>
        </p:nvSpPr>
        <p:spPr>
          <a:xfrm>
            <a:off x="4273550" y="2624667"/>
            <a:ext cx="533400" cy="533400"/>
          </a:xfrm>
          <a:prstGeom prst="roundRect">
            <a:avLst>
              <a:gd name="adj" fmla="val 19048"/>
            </a:avLst>
          </a:prstGeom>
          <a:solidFill>
            <a:srgbClr val="1D1A15"/>
          </a:solidFill>
          <a:ln/>
        </p:spPr>
      </p:sp>
      <p:sp>
        <p:nvSpPr>
          <p:cNvPr id="25" name="Shape 22"/>
          <p:cNvSpPr/>
          <p:nvPr/>
        </p:nvSpPr>
        <p:spPr>
          <a:xfrm>
            <a:off x="4419600" y="2751667"/>
            <a:ext cx="241300" cy="279400"/>
          </a:xfrm>
          <a:prstGeom prst="roundRect">
            <a:avLst>
              <a:gd name="adj" fmla="val 7895"/>
            </a:avLst>
          </a:prstGeom>
          <a:solidFill>
            <a:srgbClr val="F9F5EE"/>
          </a:solidFill>
          <a:ln/>
        </p:spPr>
      </p:sp>
      <p:sp>
        <p:nvSpPr>
          <p:cNvPr id="26" name="Shape 23"/>
          <p:cNvSpPr/>
          <p:nvPr/>
        </p:nvSpPr>
        <p:spPr>
          <a:xfrm>
            <a:off x="4457700" y="2802467"/>
            <a:ext cx="165100" cy="19050"/>
          </a:xfrm>
          <a:prstGeom prst="rect">
            <a:avLst/>
          </a:prstGeom>
          <a:solidFill>
            <a:srgbClr val="C1BDB7"/>
          </a:solidFill>
          <a:ln/>
        </p:spPr>
      </p:sp>
      <p:sp>
        <p:nvSpPr>
          <p:cNvPr id="27" name="Shape 24"/>
          <p:cNvSpPr/>
          <p:nvPr/>
        </p:nvSpPr>
        <p:spPr>
          <a:xfrm>
            <a:off x="4457700" y="2853267"/>
            <a:ext cx="165100" cy="19050"/>
          </a:xfrm>
          <a:prstGeom prst="rect">
            <a:avLst/>
          </a:prstGeom>
          <a:solidFill>
            <a:srgbClr val="C1BDB7"/>
          </a:solidFill>
          <a:ln/>
        </p:spPr>
      </p:sp>
      <p:sp>
        <p:nvSpPr>
          <p:cNvPr id="28" name="Shape 25"/>
          <p:cNvSpPr/>
          <p:nvPr/>
        </p:nvSpPr>
        <p:spPr>
          <a:xfrm>
            <a:off x="4457700" y="2904067"/>
            <a:ext cx="114300" cy="114300"/>
          </a:xfrm>
          <a:prstGeom prst="roundRect">
            <a:avLst>
              <a:gd name="adj" fmla="val 11111"/>
            </a:avLst>
          </a:prstGeom>
          <a:ln w="19050">
            <a:solidFill>
              <a:srgbClr val="302D28"/>
            </a:solidFill>
            <a:prstDash val="solid"/>
          </a:ln>
        </p:spPr>
      </p:sp>
      <p:sp>
        <p:nvSpPr>
          <p:cNvPr id="29" name="Text 26"/>
          <p:cNvSpPr/>
          <p:nvPr/>
        </p:nvSpPr>
        <p:spPr>
          <a:xfrm>
            <a:off x="4042860" y="3221567"/>
            <a:ext cx="99478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Check supporting docs</a:t>
            </a:r>
            <a:endParaRPr lang="en-US" sz="900" dirty="0">
              <a:solidFill>
                <a:prstClr val="black"/>
              </a:solidFill>
              <a:latin typeface="Calibri" panose="020F0502020204030204"/>
            </a:endParaRPr>
          </a:p>
        </p:txBody>
      </p:sp>
      <p:sp>
        <p:nvSpPr>
          <p:cNvPr id="30" name="Text 27"/>
          <p:cNvSpPr/>
          <p:nvPr/>
        </p:nvSpPr>
        <p:spPr>
          <a:xfrm>
            <a:off x="4042860" y="3528091"/>
            <a:ext cx="994781"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invoices, photos, receipts</a:t>
            </a:r>
            <a:endParaRPr lang="en-US" sz="800" dirty="0">
              <a:solidFill>
                <a:prstClr val="black"/>
              </a:solidFill>
              <a:latin typeface="Calibri" panose="020F0502020204030204"/>
            </a:endParaRPr>
          </a:p>
        </p:txBody>
      </p:sp>
      <p:sp>
        <p:nvSpPr>
          <p:cNvPr id="31" name="Shape 28"/>
          <p:cNvSpPr/>
          <p:nvPr/>
        </p:nvSpPr>
        <p:spPr>
          <a:xfrm>
            <a:off x="6076950" y="2383367"/>
            <a:ext cx="177800" cy="177800"/>
          </a:xfrm>
          <a:prstGeom prst="ellipse">
            <a:avLst/>
          </a:prstGeom>
          <a:solidFill>
            <a:srgbClr val="302D28"/>
          </a:solidFill>
          <a:ln/>
        </p:spPr>
      </p:sp>
      <p:sp>
        <p:nvSpPr>
          <p:cNvPr id="32" name="Text 29"/>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5886450" y="2624667"/>
            <a:ext cx="558800" cy="558800"/>
          </a:xfrm>
          <a:prstGeom prst="roundRect">
            <a:avLst>
              <a:gd name="adj" fmla="val 18182"/>
            </a:avLst>
          </a:prstGeom>
          <a:solidFill>
            <a:srgbClr val="1D1A15"/>
          </a:solidFill>
          <a:ln w="19050">
            <a:solidFill>
              <a:srgbClr val="C53637"/>
            </a:solidFill>
            <a:prstDash val="solid"/>
          </a:ln>
        </p:spPr>
      </p:sp>
      <p:sp>
        <p:nvSpPr>
          <p:cNvPr id="34" name="Shape 31"/>
          <p:cNvSpPr/>
          <p:nvPr/>
        </p:nvSpPr>
        <p:spPr>
          <a:xfrm>
            <a:off x="6102350" y="2802467"/>
            <a:ext cx="160867" cy="16933"/>
          </a:xfrm>
          <a:prstGeom prst="rect">
            <a:avLst/>
          </a:prstGeom>
          <a:solidFill>
            <a:srgbClr val="F9F5EE"/>
          </a:solidFill>
          <a:ln/>
        </p:spPr>
      </p:sp>
      <p:sp>
        <p:nvSpPr>
          <p:cNvPr id="35" name="Shape 32"/>
          <p:cNvSpPr/>
          <p:nvPr/>
        </p:nvSpPr>
        <p:spPr>
          <a:xfrm>
            <a:off x="6102350" y="2802467"/>
            <a:ext cx="16933" cy="118533"/>
          </a:xfrm>
          <a:prstGeom prst="rect">
            <a:avLst/>
          </a:prstGeom>
          <a:solidFill>
            <a:srgbClr val="F9F5EE"/>
          </a:solidFill>
          <a:ln/>
        </p:spPr>
      </p:sp>
      <p:sp>
        <p:nvSpPr>
          <p:cNvPr id="36" name="Shape 33"/>
          <p:cNvSpPr/>
          <p:nvPr/>
        </p:nvSpPr>
        <p:spPr>
          <a:xfrm>
            <a:off x="6246284" y="2802467"/>
            <a:ext cx="16933" cy="118533"/>
          </a:xfrm>
          <a:prstGeom prst="rect">
            <a:avLst/>
          </a:prstGeom>
          <a:solidFill>
            <a:srgbClr val="F9F5EE"/>
          </a:solidFill>
          <a:ln/>
        </p:spPr>
      </p:sp>
      <p:sp>
        <p:nvSpPr>
          <p:cNvPr id="37" name="Shape 34"/>
          <p:cNvSpPr/>
          <p:nvPr/>
        </p:nvSpPr>
        <p:spPr>
          <a:xfrm>
            <a:off x="6070600" y="2878667"/>
            <a:ext cx="190500" cy="127000"/>
          </a:xfrm>
          <a:prstGeom prst="roundRect">
            <a:avLst>
              <a:gd name="adj" fmla="val 20000"/>
            </a:avLst>
          </a:prstGeom>
          <a:solidFill>
            <a:srgbClr val="C53637"/>
          </a:solidFill>
          <a:ln/>
        </p:spPr>
      </p:sp>
      <p:sp>
        <p:nvSpPr>
          <p:cNvPr id="38" name="Shape 35"/>
          <p:cNvSpPr/>
          <p:nvPr/>
        </p:nvSpPr>
        <p:spPr>
          <a:xfrm>
            <a:off x="6153150" y="2910417"/>
            <a:ext cx="25400" cy="50800"/>
          </a:xfrm>
          <a:prstGeom prst="roundRect">
            <a:avLst>
              <a:gd name="adj" fmla="val 50000"/>
            </a:avLst>
          </a:prstGeom>
          <a:solidFill>
            <a:srgbClr val="F9F5EE"/>
          </a:solidFill>
          <a:ln/>
        </p:spPr>
      </p:sp>
      <p:sp>
        <p:nvSpPr>
          <p:cNvPr id="39" name="Text 36"/>
          <p:cNvSpPr/>
          <p:nvPr/>
        </p:nvSpPr>
        <p:spPr>
          <a:xfrm>
            <a:off x="5664200" y="3246967"/>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Approve / reject release</a:t>
            </a:r>
            <a:endParaRPr lang="en-US" sz="900" dirty="0">
              <a:solidFill>
                <a:prstClr val="black"/>
              </a:solidFill>
              <a:latin typeface="Calibri" panose="020F0502020204030204"/>
            </a:endParaRPr>
          </a:p>
        </p:txBody>
      </p:sp>
      <p:sp>
        <p:nvSpPr>
          <p:cNvPr id="40" name="Text 37"/>
          <p:cNvSpPr/>
          <p:nvPr/>
        </p:nvSpPr>
        <p:spPr>
          <a:xfrm>
            <a:off x="5641976" y="3557174"/>
            <a:ext cx="1047750"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⑤ · final say</a:t>
            </a:r>
            <a:endParaRPr lang="en-US" sz="800" dirty="0">
              <a:solidFill>
                <a:prstClr val="black"/>
              </a:solidFill>
              <a:latin typeface="Calibri" panose="020F0502020204030204"/>
            </a:endParaRPr>
          </a:p>
        </p:txBody>
      </p:sp>
      <p:sp>
        <p:nvSpPr>
          <p:cNvPr id="41" name="Shape 38"/>
          <p:cNvSpPr/>
          <p:nvPr/>
        </p:nvSpPr>
        <p:spPr>
          <a:xfrm>
            <a:off x="7702550" y="2383367"/>
            <a:ext cx="177800" cy="177800"/>
          </a:xfrm>
          <a:prstGeom prst="ellipse">
            <a:avLst/>
          </a:prstGeom>
          <a:solidFill>
            <a:srgbClr val="302D28"/>
          </a:solidFill>
          <a:ln/>
        </p:spPr>
      </p:sp>
      <p:sp>
        <p:nvSpPr>
          <p:cNvPr id="42" name="Text 39"/>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3" name="Shape 40"/>
          <p:cNvSpPr/>
          <p:nvPr/>
        </p:nvSpPr>
        <p:spPr>
          <a:xfrm>
            <a:off x="7524750" y="2624667"/>
            <a:ext cx="533400" cy="533400"/>
          </a:xfrm>
          <a:prstGeom prst="roundRect">
            <a:avLst>
              <a:gd name="adj" fmla="val 19048"/>
            </a:avLst>
          </a:prstGeom>
          <a:solidFill>
            <a:srgbClr val="1D1A15"/>
          </a:solidFill>
          <a:ln/>
        </p:spPr>
      </p:sp>
      <p:sp>
        <p:nvSpPr>
          <p:cNvPr id="44" name="Shape 41"/>
          <p:cNvSpPr/>
          <p:nvPr/>
        </p:nvSpPr>
        <p:spPr>
          <a:xfrm>
            <a:off x="7585076" y="2869142"/>
            <a:ext cx="44450" cy="44450"/>
          </a:xfrm>
          <a:prstGeom prst="ellipse">
            <a:avLst/>
          </a:prstGeom>
          <a:solidFill>
            <a:srgbClr val="F9F5EE"/>
          </a:solidFill>
          <a:ln/>
        </p:spPr>
      </p:sp>
      <p:sp>
        <p:nvSpPr>
          <p:cNvPr id="45" name="Shape 42"/>
          <p:cNvSpPr/>
          <p:nvPr/>
        </p:nvSpPr>
        <p:spPr>
          <a:xfrm>
            <a:off x="7661275" y="2885017"/>
            <a:ext cx="76200" cy="12700"/>
          </a:xfrm>
          <a:prstGeom prst="rect">
            <a:avLst/>
          </a:prstGeom>
          <a:solidFill>
            <a:srgbClr val="F9F5EE"/>
          </a:solidFill>
          <a:ln/>
        </p:spPr>
      </p:sp>
      <p:sp>
        <p:nvSpPr>
          <p:cNvPr id="46" name="Shape 43"/>
          <p:cNvSpPr/>
          <p:nvPr/>
        </p:nvSpPr>
        <p:spPr>
          <a:xfrm>
            <a:off x="7769226" y="2869142"/>
            <a:ext cx="44450" cy="44450"/>
          </a:xfrm>
          <a:prstGeom prst="ellipse">
            <a:avLst/>
          </a:prstGeom>
          <a:solidFill>
            <a:srgbClr val="F9F5EE"/>
          </a:solidFill>
          <a:ln/>
        </p:spPr>
      </p:sp>
      <p:sp>
        <p:nvSpPr>
          <p:cNvPr id="47" name="Shape 44"/>
          <p:cNvSpPr/>
          <p:nvPr/>
        </p:nvSpPr>
        <p:spPr>
          <a:xfrm>
            <a:off x="7845425" y="2885017"/>
            <a:ext cx="76200" cy="12700"/>
          </a:xfrm>
          <a:prstGeom prst="rect">
            <a:avLst/>
          </a:prstGeom>
          <a:solidFill>
            <a:srgbClr val="F9F5EE"/>
          </a:solidFill>
          <a:ln/>
        </p:spPr>
      </p:sp>
      <p:sp>
        <p:nvSpPr>
          <p:cNvPr id="48" name="Shape 45"/>
          <p:cNvSpPr/>
          <p:nvPr/>
        </p:nvSpPr>
        <p:spPr>
          <a:xfrm>
            <a:off x="7953376" y="2869142"/>
            <a:ext cx="44450" cy="44450"/>
          </a:xfrm>
          <a:prstGeom prst="ellipse">
            <a:avLst/>
          </a:prstGeom>
          <a:solidFill>
            <a:srgbClr val="F9F5EE"/>
          </a:solidFill>
          <a:ln/>
        </p:spPr>
      </p:sp>
      <p:sp>
        <p:nvSpPr>
          <p:cNvPr id="49" name="Text 46"/>
          <p:cNvSpPr/>
          <p:nvPr/>
        </p:nvSpPr>
        <p:spPr>
          <a:xfrm>
            <a:off x="7311671" y="3221567"/>
            <a:ext cx="959492"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Approval audit trail</a:t>
            </a:r>
            <a:endParaRPr lang="en-US" sz="900" dirty="0">
              <a:solidFill>
                <a:prstClr val="black"/>
              </a:solidFill>
              <a:latin typeface="Calibri" panose="020F0502020204030204"/>
            </a:endParaRPr>
          </a:p>
        </p:txBody>
      </p:sp>
      <p:sp>
        <p:nvSpPr>
          <p:cNvPr id="50" name="Text 47"/>
          <p:cNvSpPr/>
          <p:nvPr/>
        </p:nvSpPr>
        <p:spPr>
          <a:xfrm>
            <a:off x="7311671" y="3510899"/>
            <a:ext cx="959492"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who approved what, when</a:t>
            </a:r>
            <a:endParaRPr lang="en-US" sz="800" dirty="0">
              <a:solidFill>
                <a:prstClr val="black"/>
              </a:solidFill>
              <a:latin typeface="Calibri" panose="020F0502020204030204"/>
            </a:endParaRPr>
          </a:p>
        </p:txBody>
      </p:sp>
      <p:sp>
        <p:nvSpPr>
          <p:cNvPr id="51" name="Shape 48"/>
          <p:cNvSpPr/>
          <p:nvPr/>
        </p:nvSpPr>
        <p:spPr>
          <a:xfrm>
            <a:off x="9319684" y="2383367"/>
            <a:ext cx="194733" cy="194733"/>
          </a:xfrm>
          <a:prstGeom prst="ellipse">
            <a:avLst/>
          </a:prstGeom>
          <a:ln w="12700">
            <a:solidFill>
              <a:srgbClr val="75716B">
                <a:alpha val="55000"/>
              </a:srgbClr>
            </a:solidFill>
            <a:prstDash val="dash"/>
          </a:ln>
        </p:spPr>
      </p:sp>
      <p:sp>
        <p:nvSpPr>
          <p:cNvPr id="52" name="Text 49"/>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3" name="Shape 50"/>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4" name="Shape 51"/>
          <p:cNvSpPr/>
          <p:nvPr/>
        </p:nvSpPr>
        <p:spPr>
          <a:xfrm>
            <a:off x="9190567" y="2855384"/>
            <a:ext cx="131233" cy="131233"/>
          </a:xfrm>
          <a:prstGeom prst="ellipse">
            <a:avLst/>
          </a:prstGeom>
          <a:ln w="12700">
            <a:solidFill>
              <a:srgbClr val="75716B">
                <a:alpha val="55000"/>
              </a:srgbClr>
            </a:solidFill>
            <a:prstDash val="dash"/>
          </a:ln>
        </p:spPr>
      </p:sp>
      <p:sp>
        <p:nvSpPr>
          <p:cNvPr id="55" name="Shape 52"/>
          <p:cNvSpPr/>
          <p:nvPr/>
        </p:nvSpPr>
        <p:spPr>
          <a:xfrm>
            <a:off x="9372600" y="2914650"/>
            <a:ext cx="88900" cy="12700"/>
          </a:xfrm>
          <a:prstGeom prst="rect">
            <a:avLst/>
          </a:prstGeom>
          <a:solidFill>
            <a:srgbClr val="75716B">
              <a:alpha val="55000"/>
            </a:srgbClr>
          </a:solidFill>
          <a:ln/>
        </p:spPr>
      </p:sp>
      <p:sp>
        <p:nvSpPr>
          <p:cNvPr id="56" name="Shape 53"/>
          <p:cNvSpPr/>
          <p:nvPr/>
        </p:nvSpPr>
        <p:spPr>
          <a:xfrm>
            <a:off x="9512300" y="2855384"/>
            <a:ext cx="131233" cy="131233"/>
          </a:xfrm>
          <a:prstGeom prst="ellipse">
            <a:avLst/>
          </a:prstGeom>
          <a:ln w="12700">
            <a:solidFill>
              <a:srgbClr val="75716B">
                <a:alpha val="55000"/>
              </a:srgbClr>
            </a:solidFill>
            <a:prstDash val="dash"/>
          </a:ln>
        </p:spPr>
      </p:sp>
      <p:sp>
        <p:nvSpPr>
          <p:cNvPr id="57" name="Text 54"/>
          <p:cNvSpPr/>
          <p:nvPr/>
        </p:nvSpPr>
        <p:spPr>
          <a:xfrm>
            <a:off x="89154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Delegate approval authority</a:t>
            </a:r>
            <a:endParaRPr lang="en-US" sz="900" dirty="0">
              <a:solidFill>
                <a:prstClr val="black"/>
              </a:solidFill>
              <a:latin typeface="Calibri" panose="020F0502020204030204"/>
            </a:endParaRPr>
          </a:p>
        </p:txBody>
      </p:sp>
      <p:sp>
        <p:nvSpPr>
          <p:cNvPr id="58" name="Text 55"/>
          <p:cNvSpPr/>
          <p:nvPr/>
        </p:nvSpPr>
        <p:spPr>
          <a:xfrm>
            <a:off x="8893176" y="3654832"/>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59" name="Shape 56"/>
          <p:cNvSpPr/>
          <p:nvPr/>
        </p:nvSpPr>
        <p:spPr>
          <a:xfrm>
            <a:off x="10945284" y="2383367"/>
            <a:ext cx="194733" cy="194733"/>
          </a:xfrm>
          <a:prstGeom prst="ellipse">
            <a:avLst/>
          </a:prstGeom>
          <a:ln w="12700">
            <a:solidFill>
              <a:srgbClr val="75716B">
                <a:alpha val="55000"/>
              </a:srgbClr>
            </a:solidFill>
            <a:prstDash val="dash"/>
          </a:ln>
        </p:spPr>
      </p:sp>
      <p:sp>
        <p:nvSpPr>
          <p:cNvPr id="60" name="Text 57"/>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1" name="Shape 58"/>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2" name="Shape 59"/>
          <p:cNvSpPr/>
          <p:nvPr/>
        </p:nvSpPr>
        <p:spPr>
          <a:xfrm>
            <a:off x="10913534" y="2816226"/>
            <a:ext cx="258233" cy="48683"/>
          </a:xfrm>
          <a:prstGeom prst="rect">
            <a:avLst/>
          </a:prstGeom>
          <a:ln w="12700">
            <a:solidFill>
              <a:srgbClr val="75716B">
                <a:alpha val="55000"/>
              </a:srgbClr>
            </a:solidFill>
            <a:prstDash val="dash"/>
          </a:ln>
        </p:spPr>
      </p:sp>
      <p:sp>
        <p:nvSpPr>
          <p:cNvPr id="63" name="Shape 60"/>
          <p:cNvSpPr/>
          <p:nvPr/>
        </p:nvSpPr>
        <p:spPr>
          <a:xfrm>
            <a:off x="10951634" y="2896659"/>
            <a:ext cx="182033" cy="48683"/>
          </a:xfrm>
          <a:prstGeom prst="rect">
            <a:avLst/>
          </a:prstGeom>
          <a:ln w="12700">
            <a:solidFill>
              <a:srgbClr val="75716B">
                <a:alpha val="55000"/>
              </a:srgbClr>
            </a:solidFill>
            <a:prstDash val="dash"/>
          </a:ln>
        </p:spPr>
      </p:sp>
      <p:sp>
        <p:nvSpPr>
          <p:cNvPr id="64" name="Shape 61"/>
          <p:cNvSpPr/>
          <p:nvPr/>
        </p:nvSpPr>
        <p:spPr>
          <a:xfrm>
            <a:off x="10932584" y="2977093"/>
            <a:ext cx="220133" cy="48683"/>
          </a:xfrm>
          <a:prstGeom prst="rect">
            <a:avLst/>
          </a:prstGeom>
          <a:ln w="12700">
            <a:solidFill>
              <a:srgbClr val="75716B">
                <a:alpha val="55000"/>
              </a:srgbClr>
            </a:solidFill>
            <a:prstDash val="dash"/>
          </a:ln>
        </p:spPr>
      </p:sp>
      <p:sp>
        <p:nvSpPr>
          <p:cNvPr id="65" name="Text 62"/>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Set approval policy &amp; rules</a:t>
            </a:r>
            <a:endParaRPr lang="en-US" sz="900" dirty="0">
              <a:solidFill>
                <a:prstClr val="black"/>
              </a:solidFill>
              <a:latin typeface="Calibri" panose="020F0502020204030204"/>
            </a:endParaRPr>
          </a:p>
        </p:txBody>
      </p:sp>
      <p:sp>
        <p:nvSpPr>
          <p:cNvPr id="66" name="Text 63"/>
          <p:cNvSpPr/>
          <p:nvPr/>
        </p:nvSpPr>
        <p:spPr>
          <a:xfrm>
            <a:off x="10518775" y="3557174"/>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79" name="Shape 63">
            <a:extLst>
              <a:ext uri="{FF2B5EF4-FFF2-40B4-BE49-F238E27FC236}">
                <a16:creationId xmlns:a16="http://schemas.microsoft.com/office/drawing/2014/main" id="{E7998B65-CA21-4D8E-A0B0-94E93C9B504D}"/>
              </a:ext>
            </a:extLst>
          </p:cNvPr>
          <p:cNvSpPr/>
          <p:nvPr/>
        </p:nvSpPr>
        <p:spPr>
          <a:xfrm>
            <a:off x="673100" y="5033434"/>
            <a:ext cx="10845800" cy="6350"/>
          </a:xfrm>
          <a:prstGeom prst="rect">
            <a:avLst/>
          </a:prstGeom>
          <a:solidFill>
            <a:srgbClr val="CFCDCA"/>
          </a:solidFill>
          <a:ln/>
        </p:spPr>
      </p:sp>
      <p:sp>
        <p:nvSpPr>
          <p:cNvPr id="80" name="Text 64">
            <a:extLst>
              <a:ext uri="{FF2B5EF4-FFF2-40B4-BE49-F238E27FC236}">
                <a16:creationId xmlns:a16="http://schemas.microsoft.com/office/drawing/2014/main" id="{B5B52DB4-0236-4A5F-A406-255E693A922A}"/>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1" name="Text 65">
            <a:extLst>
              <a:ext uri="{FF2B5EF4-FFF2-40B4-BE49-F238E27FC236}">
                <a16:creationId xmlns:a16="http://schemas.microsoft.com/office/drawing/2014/main" id="{88B16E14-B053-4CF7-A671-18FBCAE09CE0}"/>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2" name="Text 66">
            <a:extLst>
              <a:ext uri="{FF2B5EF4-FFF2-40B4-BE49-F238E27FC236}">
                <a16:creationId xmlns:a16="http://schemas.microsoft.com/office/drawing/2014/main" id="{DDEC4323-5D65-4434-BA9B-64FAAABE4438}"/>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3" name="Text 67">
            <a:extLst>
              <a:ext uri="{FF2B5EF4-FFF2-40B4-BE49-F238E27FC236}">
                <a16:creationId xmlns:a16="http://schemas.microsoft.com/office/drawing/2014/main" id="{CB3055C4-9768-46DB-9C40-F44E1F3D1FD6}"/>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4" name="Text 68">
            <a:extLst>
              <a:ext uri="{FF2B5EF4-FFF2-40B4-BE49-F238E27FC236}">
                <a16:creationId xmlns:a16="http://schemas.microsoft.com/office/drawing/2014/main" id="{8AA29F2D-0ADC-4830-8DAE-19F2E49DF976}"/>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5" name="Text 69">
            <a:extLst>
              <a:ext uri="{FF2B5EF4-FFF2-40B4-BE49-F238E27FC236}">
                <a16:creationId xmlns:a16="http://schemas.microsoft.com/office/drawing/2014/main" id="{C05D9576-A534-46E3-B912-D624434B1D71}"/>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6" name="Text 70">
            <a:extLst>
              <a:ext uri="{FF2B5EF4-FFF2-40B4-BE49-F238E27FC236}">
                <a16:creationId xmlns:a16="http://schemas.microsoft.com/office/drawing/2014/main" id="{E37AE2EE-5221-4936-916D-BE0E985E2BF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7" name="Text 71">
            <a:extLst>
              <a:ext uri="{FF2B5EF4-FFF2-40B4-BE49-F238E27FC236}">
                <a16:creationId xmlns:a16="http://schemas.microsoft.com/office/drawing/2014/main" id="{9595B2D9-006A-4C9F-B275-99FE94CC3882}"/>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8" name="Text 72">
            <a:extLst>
              <a:ext uri="{FF2B5EF4-FFF2-40B4-BE49-F238E27FC236}">
                <a16:creationId xmlns:a16="http://schemas.microsoft.com/office/drawing/2014/main" id="{8BECBEB3-1A8B-4888-A5B2-32AC92C3BE19}"/>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9" name="Text 73">
            <a:extLst>
              <a:ext uri="{FF2B5EF4-FFF2-40B4-BE49-F238E27FC236}">
                <a16:creationId xmlns:a16="http://schemas.microsoft.com/office/drawing/2014/main" id="{40C6C95D-5733-4CCC-85EC-766C9B6B6640}"/>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0" name="Text 74">
            <a:extLst>
              <a:ext uri="{FF2B5EF4-FFF2-40B4-BE49-F238E27FC236}">
                <a16:creationId xmlns:a16="http://schemas.microsoft.com/office/drawing/2014/main" id="{C994AA25-AF7A-4C58-B9E0-494AD173C4F0}"/>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1" name="Shape 4">
            <a:extLst>
              <a:ext uri="{FF2B5EF4-FFF2-40B4-BE49-F238E27FC236}">
                <a16:creationId xmlns:a16="http://schemas.microsoft.com/office/drawing/2014/main" id="{69D42907-8906-41D8-8BBF-09AB078A909D}"/>
              </a:ext>
            </a:extLst>
          </p:cNvPr>
          <p:cNvSpPr/>
          <p:nvPr/>
        </p:nvSpPr>
        <p:spPr>
          <a:xfrm>
            <a:off x="10062633" y="1689100"/>
            <a:ext cx="63500" cy="63500"/>
          </a:xfrm>
          <a:prstGeom prst="ellipse">
            <a:avLst/>
          </a:prstGeom>
          <a:solidFill>
            <a:srgbClr val="4B4742"/>
          </a:solidFill>
          <a:ln/>
        </p:spPr>
      </p:sp>
      <p:sp>
        <p:nvSpPr>
          <p:cNvPr id="92" name="Text 5">
            <a:extLst>
              <a:ext uri="{FF2B5EF4-FFF2-40B4-BE49-F238E27FC236}">
                <a16:creationId xmlns:a16="http://schemas.microsoft.com/office/drawing/2014/main" id="{6E0ABEC6-C470-4B5D-890B-BE85DAFE2618}"/>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3" name="Shape 6">
            <a:extLst>
              <a:ext uri="{FF2B5EF4-FFF2-40B4-BE49-F238E27FC236}">
                <a16:creationId xmlns:a16="http://schemas.microsoft.com/office/drawing/2014/main" id="{BDA6B167-2C78-4D47-8DD6-85BD73B50065}"/>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4" name="Text 7">
            <a:extLst>
              <a:ext uri="{FF2B5EF4-FFF2-40B4-BE49-F238E27FC236}">
                <a16:creationId xmlns:a16="http://schemas.microsoft.com/office/drawing/2014/main" id="{D4465618-28DA-4183-8CBB-5CBC13376599}"/>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H</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H</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2"/>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EXECUTIVE  ·  MD / MANAGING PARTNER</a:t>
            </a:r>
            <a:endParaRPr lang="en-US" sz="1200" dirty="0">
              <a:solidFill>
                <a:prstClr val="black"/>
              </a:solidFill>
              <a:latin typeface="Calibri" panose="020F0502020204030204"/>
            </a:endParaRPr>
          </a:p>
        </p:txBody>
      </p:sp>
      <p:sp>
        <p:nvSpPr>
          <p:cNvPr id="13" name="Text 10"/>
          <p:cNvSpPr/>
          <p:nvPr/>
        </p:nvSpPr>
        <p:spPr>
          <a:xfrm>
            <a:off x="753269" y="4277732"/>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See everything finance sees, co-hold approval — and never move the money.</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Org-wide oversight</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every request, property, vendor</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Client-funds ledger</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read in full · never post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Co-approve payments</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above the threshold too</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Cannot execute a payout</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refused in the database</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Full audit trail</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who did what, when</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Executive analytics</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all columns, live</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I</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I</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2"/>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REGIONAL MANAGER</a:t>
            </a:r>
            <a:endParaRPr lang="en-US" sz="1200" dirty="0">
              <a:solidFill>
                <a:prstClr val="black"/>
              </a:solidFill>
              <a:latin typeface="Calibri" panose="020F0502020204030204"/>
            </a:endParaRPr>
          </a:p>
        </p:txBody>
      </p:sp>
      <p:sp>
        <p:nvSpPr>
          <p:cNvPr id="13" name="Text 10"/>
          <p:cNvSpPr/>
          <p:nvPr/>
        </p:nvSpPr>
        <p:spPr>
          <a:xfrm>
            <a:off x="753269" y="4116368"/>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Run a region: dispatch, verify, manage the register, enrol operational staff.</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My region only</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region → project → site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Dispatch &amp; close jobs</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assign vendor · close ticket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Verify service delivered</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①</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Enrol operational staff</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bounded to my region</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Manage register</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property · unit · asset</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Nothing financial</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no budgets, no payments</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J</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J</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2"/>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FM OPS STAFF</a:t>
            </a:r>
            <a:endParaRPr lang="en-US" sz="1200" dirty="0">
              <a:solidFill>
                <a:prstClr val="black"/>
              </a:solidFill>
              <a:latin typeface="Calibri" panose="020F0502020204030204"/>
            </a:endParaRPr>
          </a:p>
        </p:txBody>
      </p:sp>
      <p:sp>
        <p:nvSpPr>
          <p:cNvPr id="13" name="Text 10"/>
          <p:cNvSpPr/>
          <p:nvPr/>
        </p:nvSpPr>
        <p:spPr>
          <a:xfrm>
            <a:off x="753269" y="3928110"/>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Do the jobs dispatched to me, and record what I did.</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My jobs</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dispatched to me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Acknowledge</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confirm I have it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Record progress</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status as work proceeds</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Photo / video evidence</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on the work order</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My own activity</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my actions, my scope</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Nothing organisational</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no register, no money</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K</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K</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2"/>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VIEWER</a:t>
            </a:r>
            <a:endParaRPr lang="en-US" sz="1200" dirty="0">
              <a:solidFill>
                <a:prstClr val="black"/>
              </a:solidFill>
              <a:latin typeface="Calibri" panose="020F0502020204030204"/>
            </a:endParaRPr>
          </a:p>
        </p:txBody>
      </p:sp>
      <p:sp>
        <p:nvSpPr>
          <p:cNvPr id="13" name="Text 10"/>
          <p:cNvSpPr/>
          <p:nvPr/>
        </p:nvSpPr>
        <p:spPr>
          <a:xfrm>
            <a:off x="753269" y="3981898"/>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An observer from outside the organisation: the programme, not the particulars.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Programme overview</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one honest page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Delivery progress</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stages and status</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No tickets</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operational data withheld</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No money</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ledger and payments withheld</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No people</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the directory is not theirs</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Own notification settings</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the one thing they own</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0</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Preconditions in place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Set up the workshop before any building began.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separate development database, isolated from the live demo.</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Live error monitoring and uptime watching switched on.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Payment gateway test keys obtained so money paths could be built safely.</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Every account, key and environment needed for the build was confirmed in hand — a dedicated development Supabase database, Upstash rate-limiting, Sentry error tracking, an isolated Vercel project, and Paystack test keys — with nothing yet touching real money or the live demo.</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world that cannot touch the demo</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fresh Phase 1 workspace running on its own database.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The existing live demo left completely frozen and untouched.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Automatic protection against message floods on both intake channels.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Error reporting proven to be live and delivering.</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The live demo and the new Phase 1 environment were shown running side by side — same app, different data — with the demo database provably unchanged. Rate-limiting blocked a flood on the sixth message; a test error arrived in monitoring within seconds.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2</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Each brand walled off from the other</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TFML and OEA fully separated — on the way in, not just at rest.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Each brand's WhatsApp / Telegram number routes into its own account.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Four independent layers of isolation, each checked automatically.</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The old shared hard-coded organisation removed entirely.</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message sent to TFML's number appeared only under TFML; a message to OEA's number only under OEA — and neither brand could see a trace of the other. The separation held at all four layers under an automated isolation test.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3</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Requests in, from anywhere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Residents can reach the platform by WhatsApp, Telegram or the portal.</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AI reads each message, decides what it is and how urgent, and files it.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personal notification inbox for every user, with channel preferences.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People can enrol their own colleagues by email invitation — no scripts.</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message on any channel became a correctly-categorised ticket automatically, the right person was notified, and an emailed invitation carried a new user through sign-up into exactly the role and organisation they were granted — and nothing more.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INSERTED SCOPE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a:t>
            </a:r>
            <a:endParaRPr lang="en-US" sz="66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The platform gets its face and its assets</a:t>
            </a:r>
            <a:endParaRPr lang="en-US" sz="1900" dirty="0"/>
          </a:p>
        </p:txBody>
      </p:sp>
      <p:sp>
        <p:nvSpPr>
          <p:cNvPr id="6" name="Shape 4"/>
          <p:cNvSpPr/>
          <p:nvPr/>
        </p:nvSpPr>
        <p:spPr>
          <a:xfrm>
            <a:off x="685800" y="5904098"/>
            <a:ext cx="1463040" cy="310896"/>
          </a:xfrm>
          <a:prstGeom prst="roundRect">
            <a:avLst>
              <a:gd name="adj" fmla="val 50000"/>
            </a:avLst>
          </a:prstGeom>
          <a:solidFill>
            <a:srgbClr val="1F7A4D"/>
          </a:solidFill>
          <a:ln/>
        </p:spPr>
      </p:sp>
      <p:sp>
        <p:nvSpPr>
          <p:cNvPr id="7" name="Text 5"/>
          <p:cNvSpPr/>
          <p:nvPr/>
        </p:nvSpPr>
        <p:spPr>
          <a:xfrm>
            <a:off x="685800" y="5904098"/>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69164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Every screen restyled onto one modern, mobile-ready design system.</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Each brand controls its own colours, logo, portal name and contacts — no code.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complete asset register: property, equipment, compliance, custom fields, bulk import.</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public vendor application form with layered anti-abuse controls.</a:t>
            </a:r>
            <a:endParaRPr lang="en-US" sz="1600" dirty="0"/>
          </a:p>
        </p:txBody>
      </p:sp>
      <p:sp>
        <p:nvSpPr>
          <p:cNvPr id="10" name="Shape 8"/>
          <p:cNvSpPr/>
          <p:nvPr/>
        </p:nvSpPr>
        <p:spPr>
          <a:xfrm>
            <a:off x="3703320" y="2331720"/>
            <a:ext cx="8001000" cy="1371600"/>
          </a:xfrm>
          <a:prstGeom prst="roundRect">
            <a:avLst>
              <a:gd name="adj" fmla="val 6667"/>
            </a:avLst>
          </a:prstGeom>
          <a:solidFill>
            <a:srgbClr val="EAF1FA"/>
          </a:solidFill>
          <a:ln w="12700">
            <a:solidFill>
              <a:srgbClr val="D8E5F5"/>
            </a:solidFill>
            <a:prstDash val="solid"/>
          </a:ln>
        </p:spPr>
      </p:sp>
      <p:sp>
        <p:nvSpPr>
          <p:cNvPr id="11" name="Text 9"/>
          <p:cNvSpPr/>
          <p:nvPr/>
        </p:nvSpPr>
        <p:spPr>
          <a:xfrm>
            <a:off x="3977640" y="253288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898648"/>
            <a:ext cx="7452360" cy="59436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Each brand's portal rendered in its own identity (TFML navy, OEA red) from admin settings alone; an asset import accepted valid rows and refused the bad ones with reasons; a vendor could apply publicly but became payable only after a human approved.</a:t>
            </a:r>
            <a:endParaRPr lang="en-US" sz="1400" dirty="0"/>
          </a:p>
        </p:txBody>
      </p:sp>
      <p:sp>
        <p:nvSpPr>
          <p:cNvPr id="13" name="Shape 11"/>
          <p:cNvSpPr/>
          <p:nvPr/>
        </p:nvSpPr>
        <p:spPr>
          <a:xfrm>
            <a:off x="3649526" y="3883274"/>
            <a:ext cx="3970928" cy="2103120"/>
          </a:xfrm>
          <a:prstGeom prst="roundRect">
            <a:avLst>
              <a:gd name="adj" fmla="val 217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1-portal-tfml.png"/>
          <p:cNvPicPr>
            <a:picLocks noChangeAspect="1"/>
          </p:cNvPicPr>
          <p:nvPr/>
        </p:nvPicPr>
        <p:blipFill>
          <a:blip r:embed="rId3"/>
          <a:stretch>
            <a:fillRect/>
          </a:stretch>
        </p:blipFill>
        <p:spPr>
          <a:xfrm>
            <a:off x="3704390" y="3938138"/>
            <a:ext cx="3861200" cy="1993392"/>
          </a:xfrm>
          <a:prstGeom prst="rect">
            <a:avLst/>
          </a:prstGeom>
        </p:spPr>
      </p:pic>
      <p:sp>
        <p:nvSpPr>
          <p:cNvPr id="15" name="Shape 12"/>
          <p:cNvSpPr/>
          <p:nvPr/>
        </p:nvSpPr>
        <p:spPr>
          <a:xfrm>
            <a:off x="7828050" y="3883274"/>
            <a:ext cx="3889199" cy="2103120"/>
          </a:xfrm>
          <a:prstGeom prst="roundRect">
            <a:avLst>
              <a:gd name="adj" fmla="val 217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6" name="Image 1" descr="C:/projects/oe-group-ipms/board-reports/assets/02-portal-oea.png"/>
          <p:cNvPicPr>
            <a:picLocks noChangeAspect="1"/>
          </p:cNvPicPr>
          <p:nvPr/>
        </p:nvPicPr>
        <p:blipFill>
          <a:blip r:embed="rId4"/>
          <a:stretch>
            <a:fillRect/>
          </a:stretch>
        </p:blipFill>
        <p:spPr>
          <a:xfrm>
            <a:off x="7882914" y="3938138"/>
            <a:ext cx="3779471" cy="1993392"/>
          </a:xfrm>
          <a:prstGeom prst="rect">
            <a:avLst/>
          </a:prstGeom>
        </p:spPr>
      </p:pic>
      <p:sp>
        <p:nvSpPr>
          <p:cNvPr id="17" name="Text 13"/>
          <p:cNvSpPr/>
          <p:nvPr/>
        </p:nvSpPr>
        <p:spPr>
          <a:xfrm>
            <a:off x="3703320" y="6059546"/>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TFML (navy) and OEA (red) portals — separate requests, separate branding, one shared backend.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4</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Client money gets a real ledger</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64592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segregated, double-entry ledger for client funds.</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Four safety rules enforced by the database itself, not just the app.</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daily bank-versus-ledger reconciliation that flags any variance.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Balances, journal and reconciliation screens to see it all.</a:t>
            </a:r>
            <a:endParaRPr lang="en-US" sz="1600" dirty="0"/>
          </a:p>
        </p:txBody>
      </p:sp>
      <p:sp>
        <p:nvSpPr>
          <p:cNvPr id="10" name="Shape 8"/>
          <p:cNvSpPr/>
          <p:nvPr/>
        </p:nvSpPr>
        <p:spPr>
          <a:xfrm>
            <a:off x="3703320" y="2286000"/>
            <a:ext cx="8001000" cy="1325880"/>
          </a:xfrm>
          <a:prstGeom prst="roundRect">
            <a:avLst>
              <a:gd name="adj" fmla="val 6897"/>
            </a:avLst>
          </a:prstGeom>
          <a:solidFill>
            <a:srgbClr val="EAF1FA"/>
          </a:solidFill>
          <a:ln w="12700">
            <a:solidFill>
              <a:srgbClr val="D8E5F5"/>
            </a:solidFill>
            <a:prstDash val="solid"/>
          </a:ln>
        </p:spPr>
      </p:sp>
      <p:sp>
        <p:nvSpPr>
          <p:cNvPr id="11" name="Text 9"/>
          <p:cNvSpPr/>
          <p:nvPr/>
        </p:nvSpPr>
        <p:spPr>
          <a:xfrm>
            <a:off x="3977640" y="248716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852928"/>
            <a:ext cx="7452360" cy="54864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A clean bank statement reconciled to exactly zero variance. A hidden ₦75,000 debit was then deliberately planted — and the system flagged it, reported the line unmatched, and kept both runs on record. The gate that unlocks live payment keys.</a:t>
            </a:r>
            <a:endParaRPr lang="en-US" sz="1400" dirty="0"/>
          </a:p>
        </p:txBody>
      </p:sp>
      <p:sp>
        <p:nvSpPr>
          <p:cNvPr id="13" name="Shape 11"/>
          <p:cNvSpPr/>
          <p:nvPr/>
        </p:nvSpPr>
        <p:spPr>
          <a:xfrm>
            <a:off x="5659404" y="3810920"/>
            <a:ext cx="4088831" cy="2212848"/>
          </a:xfrm>
          <a:prstGeom prst="roundRect">
            <a:avLst>
              <a:gd name="adj" fmla="val 2066"/>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3-ledger.png"/>
          <p:cNvPicPr>
            <a:picLocks noChangeAspect="1"/>
          </p:cNvPicPr>
          <p:nvPr/>
        </p:nvPicPr>
        <p:blipFill>
          <a:blip r:embed="rId3"/>
          <a:stretch>
            <a:fillRect/>
          </a:stretch>
        </p:blipFill>
        <p:spPr>
          <a:xfrm>
            <a:off x="5714268" y="3865784"/>
            <a:ext cx="3979103" cy="2103120"/>
          </a:xfrm>
          <a:prstGeom prst="rect">
            <a:avLst/>
          </a:prstGeom>
        </p:spPr>
      </p:pic>
      <p:sp>
        <p:nvSpPr>
          <p:cNvPr id="15" name="Text 12"/>
          <p:cNvSpPr/>
          <p:nvPr/>
        </p:nvSpPr>
        <p:spPr>
          <a:xfrm>
            <a:off x="3703320" y="6096920"/>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The segregated client-funds ledger: money held covers everything owed, per client account.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Money coming in, end to end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169164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and service-charge payments taken through Paystack and Flutterwave.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Every payment verified server-to-server, then posted to the ledger once.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Branded receipts generated on demand, always matching the ledger.</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real test-mode payment recorded live against the true gateway.</a:t>
            </a:r>
            <a:endParaRPr lang="en-US" dirty="0"/>
          </a:p>
        </p:txBody>
      </p:sp>
      <p:sp>
        <p:nvSpPr>
          <p:cNvPr id="10" name="Shape 8"/>
          <p:cNvSpPr/>
          <p:nvPr/>
        </p:nvSpPr>
        <p:spPr>
          <a:xfrm>
            <a:off x="3703320" y="2571418"/>
            <a:ext cx="8001000" cy="1954861"/>
          </a:xfrm>
          <a:prstGeom prst="roundRect">
            <a:avLst>
              <a:gd name="adj" fmla="val 6452"/>
            </a:avLst>
          </a:prstGeom>
          <a:solidFill>
            <a:srgbClr val="EAF1FA"/>
          </a:solidFill>
          <a:ln w="12700">
            <a:solidFill>
              <a:srgbClr val="D8E5F5"/>
            </a:solidFill>
            <a:prstDash val="solid"/>
          </a:ln>
        </p:spPr>
      </p:sp>
      <p:sp>
        <p:nvSpPr>
          <p:cNvPr id="11" name="Text 9"/>
          <p:cNvSpPr/>
          <p:nvPr/>
        </p:nvSpPr>
        <p:spPr>
          <a:xfrm>
            <a:off x="3977640" y="2772587"/>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138347"/>
            <a:ext cx="7452360" cy="640080"/>
          </a:xfrm>
          <a:prstGeom prst="rect">
            <a:avLst/>
          </a:prstGeom>
          <a:noFill/>
          <a:ln/>
        </p:spPr>
        <p:txBody>
          <a:bodyPr wrap="square" rtlCol="0" anchor="t"/>
          <a:lstStyle/>
          <a:p>
            <a:pPr marL="0" indent="0">
              <a:lnSpc>
                <a:spcPct val="115000"/>
              </a:lnSpc>
              <a:buNone/>
            </a:pPr>
            <a:r>
              <a:rPr lang="en-US" sz="1600" i="1" dirty="0">
                <a:solidFill>
                  <a:srgbClr val="1C2B3A"/>
                </a:solidFill>
                <a:latin typeface="Calibri" pitchFamily="34" charset="0"/>
                <a:ea typeface="Calibri" pitchFamily="34" charset="-122"/>
                <a:cs typeface="Calibri" pitchFamily="34" charset="-120"/>
              </a:rPr>
              <a:t>A test payment flowed from checkout to receipt to ledger. A forged webhook claiming ₦999,999,999 against a ₦400,000 invoice was ignored — only the ₦250,000 actually presented posted. A live Paystack test then recorded ₦287,000 against a ₦285,000 invoice and correctly flagged the mismatch.</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Money going out — only through the gate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55448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Vendor payouts and custodial landlord rent remittance, both live.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No payment moves without passing verify → performance → approve → remit.</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Management and admin fees retained; the landlord receives the balance.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Remittance advice, and a safe path if a transfer's outcome is ever unknown.</a:t>
            </a:r>
            <a:endParaRPr lang="en-US" sz="1600" dirty="0"/>
          </a:p>
        </p:txBody>
      </p:sp>
      <p:sp>
        <p:nvSpPr>
          <p:cNvPr id="10" name="Shape 8"/>
          <p:cNvSpPr/>
          <p:nvPr/>
        </p:nvSpPr>
        <p:spPr>
          <a:xfrm>
            <a:off x="3703320" y="2148840"/>
            <a:ext cx="8001000" cy="1640860"/>
          </a:xfrm>
          <a:prstGeom prst="roundRect">
            <a:avLst>
              <a:gd name="adj" fmla="val 6452"/>
            </a:avLst>
          </a:prstGeom>
          <a:solidFill>
            <a:srgbClr val="EAF1FA"/>
          </a:solidFill>
          <a:ln w="12700">
            <a:solidFill>
              <a:srgbClr val="D8E5F5"/>
            </a:solidFill>
            <a:prstDash val="solid"/>
          </a:ln>
        </p:spPr>
      </p:sp>
      <p:sp>
        <p:nvSpPr>
          <p:cNvPr id="11" name="Text 9"/>
          <p:cNvSpPr/>
          <p:nvPr/>
        </p:nvSpPr>
        <p:spPr>
          <a:xfrm>
            <a:off x="3977640" y="235000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715768"/>
            <a:ext cx="7452360" cy="64008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The gate refused every unverified, unscored or unapproved payment. Three simultaneous attempts on one payout produced exactly one payment. Fees landed in fee income and the landlord received the net. An unrecognised ₦5,000,000 liability was refused, and a transfer of uncertain outcome was held for a person rather than guessed.</a:t>
            </a:r>
            <a:endParaRPr lang="en-US" sz="1400" dirty="0"/>
          </a:p>
        </p:txBody>
      </p:sp>
      <p:sp>
        <p:nvSpPr>
          <p:cNvPr id="13" name="Shape 11"/>
          <p:cNvSpPr/>
          <p:nvPr/>
        </p:nvSpPr>
        <p:spPr>
          <a:xfrm>
            <a:off x="5636567" y="3862852"/>
            <a:ext cx="4134505" cy="2258568"/>
          </a:xfrm>
          <a:prstGeom prst="roundRect">
            <a:avLst>
              <a:gd name="adj" fmla="val 202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4-payment-gate.png"/>
          <p:cNvPicPr>
            <a:picLocks noChangeAspect="1"/>
          </p:cNvPicPr>
          <p:nvPr/>
        </p:nvPicPr>
        <p:blipFill>
          <a:blip r:embed="rId3"/>
          <a:stretch>
            <a:fillRect/>
          </a:stretch>
        </p:blipFill>
        <p:spPr>
          <a:xfrm>
            <a:off x="5691431" y="3917716"/>
            <a:ext cx="4024777" cy="2148840"/>
          </a:xfrm>
          <a:prstGeom prst="rect">
            <a:avLst/>
          </a:prstGeom>
        </p:spPr>
      </p:pic>
      <p:sp>
        <p:nvSpPr>
          <p:cNvPr id="15" name="Text 12"/>
          <p:cNvSpPr/>
          <p:nvPr/>
        </p:nvSpPr>
        <p:spPr>
          <a:xfrm>
            <a:off x="3703320" y="6194572"/>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The B4 payment gate: no vendor is paid until service is verified and performance clears the threshold — here 93.4 vs a 70 minimum.</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GOVERNANCE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Permissions become an operator's switches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Who can do what is now settings an operator toggles, not rules buried in code.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Only the OE Group operator portal can change them; each brand sees its own, read-only.</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Money and audit controls are permanently locked, shown on screen with the reason.</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Any drift from the board-approved baseline is badged, with one-click reset.</a:t>
            </a:r>
            <a:endParaRPr lang="en-US" sz="1600" dirty="0"/>
          </a:p>
        </p:txBody>
      </p:sp>
      <p:sp>
        <p:nvSpPr>
          <p:cNvPr id="10" name="Shape 8"/>
          <p:cNvSpPr/>
          <p:nvPr/>
        </p:nvSpPr>
        <p:spPr>
          <a:xfrm>
            <a:off x="3703320" y="3200399"/>
            <a:ext cx="8001000" cy="2197223"/>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sz="1600" i="1" dirty="0">
                <a:solidFill>
                  <a:srgbClr val="1C2B3A"/>
                </a:solidFill>
                <a:latin typeface="Calibri" pitchFamily="34" charset="0"/>
                <a:ea typeface="Calibri" pitchFamily="34" charset="-122"/>
                <a:cs typeface="Calibri" pitchFamily="34" charset="-120"/>
              </a:rPr>
              <a:t>Flipping a single permission changed what the database itself returned — switch it off and the data disappeared, switch it back and exactly what was there returned. The locked money and audit controls refused to move; a brand administrator could view but not edit their own matrix, and could not see another brand's; and every change was recorded naming both organisations. Proven by 24 checks against live logins.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PORTFOLIO</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6.75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Properties and units can finally be enrolled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Staff can now create and manage properties and units inside the app itself.</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Units carry occupancy, bulk import, and facility-manager assignment.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Guardrails protect the service-charge split: unique unit names, positive shares.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property or unit cannot be retired while occupants or unpaid charges remain.</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Attaching a facility manager to a property immediately made it visible to them, and detaching removed it again — proven against live logins, so the assignment is the access, not a label. A bulk unit import was all-or-nothing, its preview showing each unit's resulting share of the service charge as a percentage; and a property still holding live units or unpaid charges refused to be retired. Confirmed by 17 checks.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7</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OEA's front door opens for applicants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Prospective tenants apply on their phone — individual or corporate, documents attached.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Explicit NDPA consent is captured; a rejected application purges automatically after 90 days.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Save-and-resume: a half-finished application can be picked up later from an emailed link.</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Which documents are mandatory is now admin configuration, not code.</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live audit found submission silently blocked end to end — a document check that quietly returned zero rows instead of erroring, so every uploaded file read as missing. Closed at the database layer: the gate now lives inside the submission function itself, fields that had no reason to be readable were locked down, and the resume-by-email link the form promised was made to actually work. 48 checks across three suites confirm it end to end.</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8</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Applications move through review, not a spreadsheet</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Two-tier review: a scoped FM/PM recommends, admin or finance approves — never the same person.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Individual applications need one approval; corporate need two independent approvers.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Approval automatically creates the tenant's login and allocates the unit.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Every recommend, request-info, approve and reject is recorded with its author and reason.</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blocker found in review: every application arrived with no property attached, so a property-scoped reviewer's queue was correctly empty. Closed by having the applicant's own form carry the property forward. Verified live in the browser against a real applicant submission: the review queue, a live recommendation, and the system correctly refusing to let the recommender also approve their own case. 35 checks.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9</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Leases, rent, and the roll a landlord can actually be handed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Lease creation, term, rent and escalation — one unit can never be let twice over the same dates.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billed annually in advance, the Nigerian norm, with each landlord's own fee rate honoured.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Renewal notices fire automatically at 90/60/30 days; rent demands now raise themselves too.</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reaches the ledger automatically, splitting the landlord's share and OE Group's fee.</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Every rate is snapshotted onto the transaction the moment it's collected, so a later fee change can never silently rewrite a past landlord statement. A gap closed on 3 August: rent demands used to depend on someone remembering to click “Bill rent” — with rent billed a year at a time, that is a year's income never asked for. Demands now raise themselves daily, each one exactly once. 47 checks across three suites.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D — INTELLIGENCE &amp; EXPERIENCE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10</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dashboard that answers the board's question live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filterable analytics console for both brands: date, property, vendor, category, status, trends.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Fastest/slowest vendor, completion by category, average time-to-resolve — computed live.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CSV export and a branded PDF report always match the numbers shown on screen.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tenant's own “Track my request” timeline, and a vendor's own pipeline-and-scorecard view.</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fact nobody had written down: the system never recorded the moment a ticket resolved, so “average time-to-resolve” was uncomputable, until now — every average states on screen exactly what it measured. A partial period is no longer mistaken for a decline: three days of August against a full July used to print “−81% raised” in red — fixed before anyone saw it live. 32 checks.</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D — INTELLIGENCE &amp; EXPERIENCE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11</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vendor's score comes from a checklist and a clock, not a guess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Response and completion time are measured automatically against an admin-set SLA target.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Quality and compliance come from an FM/PM checklist; satisfaction from the tenant's own rating.</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Photo and video evidence on every work order, capped, private, and ticket-scoped.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measured accessibility pass: every tinted badge and muted text fixed for contrast, both themes.</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No free-typed score is possible anywhere in the write path — verified live in the browser as both roles: a tenant rates a job, an FM/PM completes the checklist, and the vendor's scorecard updates immediately to the composite the AURA weights actually specify. 26 checks on the scoring alone, plus 20 more on work-order media.</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11480"/>
            <a:ext cx="11155680" cy="548640"/>
          </a:xfrm>
          <a:prstGeom prst="rect">
            <a:avLst/>
          </a:prstGeom>
          <a:noFill/>
          <a:ln/>
        </p:spPr>
        <p:txBody>
          <a:bodyPr wrap="square" rtlCol="0" anchor="ctr"/>
          <a:lstStyle/>
          <a:p>
            <a:pPr marL="0" indent="0">
              <a:buNone/>
            </a:pPr>
            <a:r>
              <a:rPr lang="en-US" sz="3000" b="1" dirty="0">
                <a:solidFill>
                  <a:srgbClr val="003366"/>
                </a:solidFill>
                <a:latin typeface="Cambria" pitchFamily="34" charset="0"/>
                <a:ea typeface="Cambria" pitchFamily="34" charset="-122"/>
                <a:cs typeface="Cambria" pitchFamily="34" charset="-120"/>
              </a:rPr>
              <a:t>Roadblocks — and how they are being handled</a:t>
            </a:r>
            <a:endParaRPr lang="en-US" sz="3000" dirty="0"/>
          </a:p>
        </p:txBody>
      </p:sp>
      <p:sp>
        <p:nvSpPr>
          <p:cNvPr id="3" name="Text 1"/>
          <p:cNvSpPr/>
          <p:nvPr/>
        </p:nvSpPr>
        <p:spPr>
          <a:xfrm>
            <a:off x="566928" y="1005840"/>
            <a:ext cx="11155680" cy="365760"/>
          </a:xfrm>
          <a:prstGeom prst="rect">
            <a:avLst/>
          </a:prstGeom>
          <a:noFill/>
          <a:ln/>
        </p:spPr>
        <p:txBody>
          <a:bodyPr wrap="square" rtlCol="0" anchor="ctr"/>
          <a:lstStyle/>
          <a:p>
            <a:pPr marL="0" indent="0">
              <a:buNone/>
            </a:pPr>
            <a:r>
              <a:rPr lang="en-US" sz="1400" dirty="0">
                <a:solidFill>
                  <a:srgbClr val="7A8A9B"/>
                </a:solidFill>
                <a:latin typeface="Calibri" pitchFamily="34" charset="0"/>
                <a:ea typeface="Calibri" pitchFamily="34" charset="-122"/>
                <a:cs typeface="Calibri" pitchFamily="34" charset="-120"/>
              </a:rPr>
              <a:t>None of these stopped the build. Each is an external dependency waiting on paperwork or access, framed as issue → impact → status.</a:t>
            </a:r>
            <a:endParaRPr lang="en-US" sz="1400" dirty="0"/>
          </a:p>
        </p:txBody>
      </p:sp>
      <p:sp>
        <p:nvSpPr>
          <p:cNvPr id="4" name="Shape 2"/>
          <p:cNvSpPr/>
          <p:nvPr/>
        </p:nvSpPr>
        <p:spPr>
          <a:xfrm>
            <a:off x="548640" y="1600200"/>
            <a:ext cx="5486400" cy="2331720"/>
          </a:xfrm>
          <a:prstGeom prst="roundRect">
            <a:avLst>
              <a:gd name="adj" fmla="val 3529"/>
            </a:avLst>
          </a:prstGeom>
          <a:solidFill>
            <a:srgbClr val="FFFFFF"/>
          </a:solidFill>
          <a:ln w="12700">
            <a:solidFill>
              <a:srgbClr val="D8E0EA"/>
            </a:solidFill>
            <a:prstDash val="solid"/>
          </a:ln>
        </p:spPr>
      </p:sp>
      <p:sp>
        <p:nvSpPr>
          <p:cNvPr id="5" name="Shape 3"/>
          <p:cNvSpPr/>
          <p:nvPr/>
        </p:nvSpPr>
        <p:spPr>
          <a:xfrm>
            <a:off x="749808" y="1801368"/>
            <a:ext cx="384048" cy="384048"/>
          </a:xfrm>
          <a:prstGeom prst="roundRect">
            <a:avLst>
              <a:gd name="adj" fmla="val 50000"/>
            </a:avLst>
          </a:prstGeom>
          <a:solidFill>
            <a:srgbClr val="B23A2E"/>
          </a:solidFill>
          <a:ln/>
        </p:spPr>
      </p:sp>
      <p:sp>
        <p:nvSpPr>
          <p:cNvPr id="6" name="Text 4"/>
          <p:cNvSpPr/>
          <p:nvPr/>
        </p:nvSpPr>
        <p:spPr>
          <a:xfrm>
            <a:off x="749808" y="18013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7" name="Text 5"/>
          <p:cNvSpPr/>
          <p:nvPr/>
        </p:nvSpPr>
        <p:spPr>
          <a:xfrm>
            <a:off x="1280160" y="17830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Meta / Facebook business verification</a:t>
            </a:r>
            <a:endParaRPr lang="en-US" dirty="0"/>
          </a:p>
        </p:txBody>
      </p:sp>
      <p:sp>
        <p:nvSpPr>
          <p:cNvPr id="8" name="Text 6"/>
          <p:cNvSpPr/>
          <p:nvPr/>
        </p:nvSpPr>
        <p:spPr>
          <a:xfrm>
            <a:off x="749808" y="23134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002060"/>
                </a:solidFill>
                <a:latin typeface="Calibri" pitchFamily="34" charset="0"/>
                <a:ea typeface="Calibri" pitchFamily="34" charset="-122"/>
                <a:cs typeface="Calibri" pitchFamily="34" charset="-120"/>
              </a:rPr>
              <a:t>Verification was held </a:t>
            </a:r>
            <a:r>
              <a:rPr lang="en-US" sz="1200" dirty="0">
                <a:solidFill>
                  <a:srgbClr val="1C2B3A"/>
                </a:solidFill>
                <a:latin typeface="Calibri" pitchFamily="34" charset="0"/>
                <a:ea typeface="Calibri" pitchFamily="34" charset="-122"/>
                <a:cs typeface="Calibri" pitchFamily="34" charset="-120"/>
              </a:rPr>
              <a:t>up because the information Facebook referenced in the business-registration document is inconsistent with the details submitted.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OEA's WhatsApp display name and higher messaging limits stay pending.
</a:t>
            </a:r>
            <a:r>
              <a:rPr lang="en-US" sz="1200" b="1" dirty="0">
                <a:solidFill>
                  <a:srgbClr val="1F7A4D"/>
                </a:solidFill>
                <a:latin typeface="Calibri" pitchFamily="34" charset="0"/>
                <a:ea typeface="Calibri" pitchFamily="34" charset="-122"/>
                <a:cs typeface="Calibri" pitchFamily="34" charset="-120"/>
              </a:rPr>
              <a:t>Status: Superseded, 4 Aug.</a:t>
            </a:r>
            <a:r>
              <a:rPr lang="en-US" sz="1200" dirty="0">
                <a:solidFill>
                  <a:srgbClr val="1C2B3A"/>
                </a:solidFill>
                <a:latin typeface="Calibri" pitchFamily="34" charset="0"/>
                <a:ea typeface="Calibri" pitchFamily="34" charset="-122"/>
                <a:cs typeface="Calibri" pitchFamily="34" charset="-120"/>
              </a:rPr>
              <a:t> Both numbers moved onto 360dialog as direct clients instead — TFML’s identity is confirmed verified via 360dialog’s own route; OEA is live under an interim display name pending the same.</a:t>
            </a:r>
            <a:endParaRPr lang="en-US" sz="1200" dirty="0"/>
          </a:p>
        </p:txBody>
      </p:sp>
      <p:sp>
        <p:nvSpPr>
          <p:cNvPr id="9" name="Shape 7"/>
          <p:cNvSpPr/>
          <p:nvPr/>
        </p:nvSpPr>
        <p:spPr>
          <a:xfrm>
            <a:off x="6199632" y="1600200"/>
            <a:ext cx="5486400" cy="2331720"/>
          </a:xfrm>
          <a:prstGeom prst="roundRect">
            <a:avLst>
              <a:gd name="adj" fmla="val 3529"/>
            </a:avLst>
          </a:prstGeom>
          <a:solidFill>
            <a:srgbClr val="FFFFFF"/>
          </a:solidFill>
          <a:ln w="12700">
            <a:solidFill>
              <a:srgbClr val="D8E0EA"/>
            </a:solidFill>
            <a:prstDash val="solid"/>
          </a:ln>
        </p:spPr>
      </p:sp>
      <p:sp>
        <p:nvSpPr>
          <p:cNvPr id="10" name="Shape 8"/>
          <p:cNvSpPr/>
          <p:nvPr/>
        </p:nvSpPr>
        <p:spPr>
          <a:xfrm>
            <a:off x="6400800" y="1801368"/>
            <a:ext cx="384048" cy="384048"/>
          </a:xfrm>
          <a:prstGeom prst="roundRect">
            <a:avLst>
              <a:gd name="adj" fmla="val 50000"/>
            </a:avLst>
          </a:prstGeom>
          <a:solidFill>
            <a:srgbClr val="B23A2E"/>
          </a:solidFill>
          <a:ln/>
        </p:spPr>
      </p:sp>
      <p:sp>
        <p:nvSpPr>
          <p:cNvPr id="11" name="Text 9"/>
          <p:cNvSpPr/>
          <p:nvPr/>
        </p:nvSpPr>
        <p:spPr>
          <a:xfrm>
            <a:off x="6400800" y="18013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2" name="Text 10"/>
          <p:cNvSpPr/>
          <p:nvPr/>
        </p:nvSpPr>
        <p:spPr>
          <a:xfrm>
            <a:off x="6931152" y="17830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Paystack setup — being replaced</a:t>
            </a:r>
            <a:endParaRPr lang="en-US" dirty="0"/>
          </a:p>
        </p:txBody>
      </p:sp>
      <p:sp>
        <p:nvSpPr>
          <p:cNvPr id="13" name="Text 11"/>
          <p:cNvSpPr/>
          <p:nvPr/>
        </p:nvSpPr>
        <p:spPr>
          <a:xfrm>
            <a:off x="6400800" y="23134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Incomplete business-registration information is blocking the Paystack account from being fully set up. Of particular interest is the latest additions of the “SCUML Certificate” and “Proof of Identity and Addresses for shareholders that own up to 51% of TFML.” requirement.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Its verification asks cannot be met in time, so Naira collections cannot go live through it.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Superseded, 23 Sept. The board is moving to Flutterwave as the single gateway. Paystack stays in the code, switched off.</a:t>
            </a:r>
            <a:endParaRPr lang="en-US" sz="1200" dirty="0"/>
          </a:p>
        </p:txBody>
      </p:sp>
      <p:sp>
        <p:nvSpPr>
          <p:cNvPr id="14" name="Shape 12"/>
          <p:cNvSpPr/>
          <p:nvPr/>
        </p:nvSpPr>
        <p:spPr>
          <a:xfrm>
            <a:off x="548640" y="4114800"/>
            <a:ext cx="5486400" cy="2331720"/>
          </a:xfrm>
          <a:prstGeom prst="roundRect">
            <a:avLst>
              <a:gd name="adj" fmla="val 3529"/>
            </a:avLst>
          </a:prstGeom>
          <a:solidFill>
            <a:srgbClr val="FFFFFF"/>
          </a:solidFill>
          <a:ln w="12700">
            <a:solidFill>
              <a:srgbClr val="D8E0EA"/>
            </a:solidFill>
            <a:prstDash val="solid"/>
          </a:ln>
        </p:spPr>
      </p:sp>
      <p:sp>
        <p:nvSpPr>
          <p:cNvPr id="15" name="Shape 13"/>
          <p:cNvSpPr/>
          <p:nvPr/>
        </p:nvSpPr>
        <p:spPr>
          <a:xfrm>
            <a:off x="749808" y="4315968"/>
            <a:ext cx="384048" cy="384048"/>
          </a:xfrm>
          <a:prstGeom prst="roundRect">
            <a:avLst>
              <a:gd name="adj" fmla="val 50000"/>
            </a:avLst>
          </a:prstGeom>
          <a:solidFill>
            <a:srgbClr val="B23A2E"/>
          </a:solidFill>
          <a:ln/>
        </p:spPr>
      </p:sp>
      <p:sp>
        <p:nvSpPr>
          <p:cNvPr id="16" name="Text 14"/>
          <p:cNvSpPr/>
          <p:nvPr/>
        </p:nvSpPr>
        <p:spPr>
          <a:xfrm>
            <a:off x="749808" y="43159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80160" y="42976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Flutterwave setup — now the gateway</a:t>
            </a:r>
            <a:endParaRPr lang="en-US" dirty="0"/>
          </a:p>
        </p:txBody>
      </p:sp>
      <p:sp>
        <p:nvSpPr>
          <p:cNvPr id="18" name="Text 16"/>
          <p:cNvSpPr/>
          <p:nvPr/>
        </p:nvSpPr>
        <p:spPr>
          <a:xfrm>
            <a:off x="749808" y="48280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Verification is under way; its document asks are ones OE Group can meet sooner than Paystack's.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Becomes the one gateway for Naira and foreign currency; no real money moves until it clears.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Verification in progress. FX checkout and ledger are built and verified; Naira routing and payouts are new build work before cutover.</a:t>
            </a:r>
            <a:endParaRPr lang="en-US" sz="1200" dirty="0"/>
          </a:p>
        </p:txBody>
      </p:sp>
      <p:sp>
        <p:nvSpPr>
          <p:cNvPr id="19" name="Shape 17"/>
          <p:cNvSpPr/>
          <p:nvPr/>
        </p:nvSpPr>
        <p:spPr>
          <a:xfrm>
            <a:off x="6199632" y="4114800"/>
            <a:ext cx="5486400" cy="2331720"/>
          </a:xfrm>
          <a:prstGeom prst="roundRect">
            <a:avLst>
              <a:gd name="adj" fmla="val 3529"/>
            </a:avLst>
          </a:prstGeom>
          <a:solidFill>
            <a:srgbClr val="FFFFFF"/>
          </a:solidFill>
          <a:ln w="12700">
            <a:solidFill>
              <a:srgbClr val="D8E0EA"/>
            </a:solidFill>
            <a:prstDash val="solid"/>
          </a:ln>
        </p:spPr>
      </p:sp>
      <p:sp>
        <p:nvSpPr>
          <p:cNvPr id="20" name="Shape 18"/>
          <p:cNvSpPr/>
          <p:nvPr/>
        </p:nvSpPr>
        <p:spPr>
          <a:xfrm>
            <a:off x="6400800" y="4315968"/>
            <a:ext cx="384048" cy="384048"/>
          </a:xfrm>
          <a:prstGeom prst="roundRect">
            <a:avLst>
              <a:gd name="adj" fmla="val 50000"/>
            </a:avLst>
          </a:prstGeom>
          <a:solidFill>
            <a:srgbClr val="B23A2E"/>
          </a:solidFill>
          <a:ln/>
        </p:spPr>
      </p:sp>
      <p:sp>
        <p:nvSpPr>
          <p:cNvPr id="21" name="Text 19"/>
          <p:cNvSpPr/>
          <p:nvPr/>
        </p:nvSpPr>
        <p:spPr>
          <a:xfrm>
            <a:off x="6400800" y="43159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2" name="Text 20"/>
          <p:cNvSpPr/>
          <p:nvPr/>
        </p:nvSpPr>
        <p:spPr>
          <a:xfrm>
            <a:off x="6931152" y="42976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OEA email-domain routing</a:t>
            </a:r>
            <a:endParaRPr lang="en-US" dirty="0"/>
          </a:p>
        </p:txBody>
      </p:sp>
      <p:sp>
        <p:nvSpPr>
          <p:cNvPr id="23" name="Text 21"/>
          <p:cNvSpPr/>
          <p:nvPr/>
        </p:nvSpPr>
        <p:spPr>
          <a:xfrm>
            <a:off x="6400800" y="48280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No access to OEA's email host, so the branded sending records cannot be created.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OEA cannot yet send branded email from its own domain.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Requesting host access from OEA; sending is configured and waiting on the DNS records.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14">
    <p:bg>
      <p:bgPr>
        <a:solidFill>
          <a:srgbClr val="0A1B2E"/>
        </a:solidFill>
        <a:effectLst/>
      </p:bgPr>
    </p:bg>
    <p:spTree>
      <p:nvGrpSpPr>
        <p:cNvPr id="1" name=""/>
        <p:cNvGrpSpPr/>
        <p:nvPr/>
      </p:nvGrpSpPr>
      <p:grpSpPr>
        <a:xfrm>
          <a:off x="0" y="0"/>
          <a:ext cx="0" cy="0"/>
          <a:chOff x="0" y="0"/>
          <a:chExt cx="0" cy="0"/>
        </a:xfrm>
      </p:grpSpPr>
      <p:sp>
        <p:nvSpPr>
          <p:cNvPr id="2" name="Text 0"/>
          <p:cNvSpPr/>
          <p:nvPr/>
        </p:nvSpPr>
        <p:spPr>
          <a:xfrm>
            <a:off x="640080" y="548640"/>
            <a:ext cx="10972800" cy="36576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ROADBLOCK #5 · DISCOVERED DURING THE BUILD</a:t>
            </a:r>
            <a:endParaRPr lang="en-US" sz="1200" dirty="0"/>
          </a:p>
        </p:txBody>
      </p:sp>
      <p:sp>
        <p:nvSpPr>
          <p:cNvPr id="3" name="Text 1"/>
          <p:cNvSpPr/>
          <p:nvPr/>
        </p:nvSpPr>
        <p:spPr>
          <a:xfrm>
            <a:off x="621792" y="960120"/>
            <a:ext cx="109728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near-miss with TFML's live business email</a:t>
            </a:r>
            <a:endParaRPr lang="en-US" sz="3000" dirty="0"/>
          </a:p>
        </p:txBody>
      </p:sp>
      <p:sp>
        <p:nvSpPr>
          <p:cNvPr id="4" name="Shape 2"/>
          <p:cNvSpPr/>
          <p:nvPr/>
        </p:nvSpPr>
        <p:spPr>
          <a:xfrm>
            <a:off x="640080" y="1965960"/>
            <a:ext cx="10881360" cy="1325880"/>
          </a:xfrm>
          <a:prstGeom prst="roundRect">
            <a:avLst>
              <a:gd name="adj" fmla="val 6897"/>
            </a:avLst>
          </a:prstGeom>
          <a:solidFill>
            <a:srgbClr val="0E2942"/>
          </a:solidFill>
          <a:ln/>
        </p:spPr>
      </p:sp>
      <p:sp>
        <p:nvSpPr>
          <p:cNvPr id="5" name="Shape 3"/>
          <p:cNvSpPr/>
          <p:nvPr/>
        </p:nvSpPr>
        <p:spPr>
          <a:xfrm>
            <a:off x="868680" y="2221992"/>
            <a:ext cx="1234440" cy="310896"/>
          </a:xfrm>
          <a:prstGeom prst="roundRect">
            <a:avLst>
              <a:gd name="adj" fmla="val 50000"/>
            </a:avLst>
          </a:prstGeom>
          <a:solidFill>
            <a:srgbClr val="B23A2E"/>
          </a:solidFill>
          <a:ln/>
        </p:spPr>
      </p:sp>
      <p:sp>
        <p:nvSpPr>
          <p:cNvPr id="6" name="Text 4"/>
          <p:cNvSpPr/>
          <p:nvPr/>
        </p:nvSpPr>
        <p:spPr>
          <a:xfrm>
            <a:off x="868680" y="2221992"/>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ISSUE</a:t>
            </a:r>
            <a:endParaRPr lang="en-US" sz="1000" dirty="0"/>
          </a:p>
        </p:txBody>
      </p:sp>
      <p:sp>
        <p:nvSpPr>
          <p:cNvPr id="7" name="Text 5"/>
          <p:cNvSpPr/>
          <p:nvPr/>
        </p:nvSpPr>
        <p:spPr>
          <a:xfrm>
            <a:off x="2331720" y="2112264"/>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Two problems surfaced while wiring email. The master brief carried the wrong TFML domain (tfmconsultant.com, which does not exist — the real one is tfmlconsultant.com). And adding email sending to the main domain would have pushed its sender records past a strict technical limit.</a:t>
            </a:r>
            <a:endParaRPr lang="en-US" sz="1350" dirty="0"/>
          </a:p>
        </p:txBody>
      </p:sp>
      <p:sp>
        <p:nvSpPr>
          <p:cNvPr id="8" name="Shape 6"/>
          <p:cNvSpPr/>
          <p:nvPr/>
        </p:nvSpPr>
        <p:spPr>
          <a:xfrm>
            <a:off x="640080" y="3447288"/>
            <a:ext cx="10881360" cy="1325880"/>
          </a:xfrm>
          <a:prstGeom prst="roundRect">
            <a:avLst>
              <a:gd name="adj" fmla="val 6897"/>
            </a:avLst>
          </a:prstGeom>
          <a:solidFill>
            <a:srgbClr val="0E2942"/>
          </a:solidFill>
          <a:ln/>
        </p:spPr>
      </p:sp>
      <p:sp>
        <p:nvSpPr>
          <p:cNvPr id="9" name="Shape 7"/>
          <p:cNvSpPr/>
          <p:nvPr/>
        </p:nvSpPr>
        <p:spPr>
          <a:xfrm>
            <a:off x="868680" y="3703320"/>
            <a:ext cx="1234440" cy="310896"/>
          </a:xfrm>
          <a:prstGeom prst="roundRect">
            <a:avLst>
              <a:gd name="adj" fmla="val 50000"/>
            </a:avLst>
          </a:prstGeom>
          <a:solidFill>
            <a:srgbClr val="B5680A"/>
          </a:solidFill>
          <a:ln/>
        </p:spPr>
      </p:sp>
      <p:sp>
        <p:nvSpPr>
          <p:cNvPr id="10" name="Text 8"/>
          <p:cNvSpPr/>
          <p:nvPr/>
        </p:nvSpPr>
        <p:spPr>
          <a:xfrm>
            <a:off x="868680" y="3703320"/>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p>
        </p:txBody>
      </p:sp>
      <p:sp>
        <p:nvSpPr>
          <p:cNvPr id="11" name="Text 9"/>
          <p:cNvSpPr/>
          <p:nvPr/>
        </p:nvSpPr>
        <p:spPr>
          <a:xfrm>
            <a:off x="2331720" y="3593592"/>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Under TFML's existing strict mail policy, crossing that limit would have caused genuine staff email to be rejected outright — not merely spam-foldered. A routine feature could have disrupted live business email across the company.</a:t>
            </a:r>
            <a:endParaRPr lang="en-US" sz="1350" dirty="0"/>
          </a:p>
        </p:txBody>
      </p:sp>
      <p:sp>
        <p:nvSpPr>
          <p:cNvPr id="12" name="Shape 10"/>
          <p:cNvSpPr/>
          <p:nvPr/>
        </p:nvSpPr>
        <p:spPr>
          <a:xfrm>
            <a:off x="640080" y="4928616"/>
            <a:ext cx="10881360" cy="1325880"/>
          </a:xfrm>
          <a:prstGeom prst="roundRect">
            <a:avLst>
              <a:gd name="adj" fmla="val 6897"/>
            </a:avLst>
          </a:prstGeom>
          <a:solidFill>
            <a:srgbClr val="0E2942"/>
          </a:solidFill>
          <a:ln/>
        </p:spPr>
      </p:sp>
      <p:sp>
        <p:nvSpPr>
          <p:cNvPr id="13" name="Shape 11"/>
          <p:cNvSpPr/>
          <p:nvPr/>
        </p:nvSpPr>
        <p:spPr>
          <a:xfrm>
            <a:off x="868680" y="5184648"/>
            <a:ext cx="1234440" cy="310896"/>
          </a:xfrm>
          <a:prstGeom prst="roundRect">
            <a:avLst>
              <a:gd name="adj" fmla="val 50000"/>
            </a:avLst>
          </a:prstGeom>
          <a:solidFill>
            <a:srgbClr val="1F7A4D"/>
          </a:solidFill>
          <a:ln/>
        </p:spPr>
      </p:sp>
      <p:sp>
        <p:nvSpPr>
          <p:cNvPr id="14" name="Text 12"/>
          <p:cNvSpPr/>
          <p:nvPr/>
        </p:nvSpPr>
        <p:spPr>
          <a:xfrm>
            <a:off x="868680" y="5184648"/>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p>
        </p:txBody>
      </p:sp>
      <p:sp>
        <p:nvSpPr>
          <p:cNvPr id="15" name="Text 13"/>
          <p:cNvSpPr/>
          <p:nvPr/>
        </p:nvSpPr>
        <p:spPr>
          <a:xfrm>
            <a:off x="2331720" y="5074920"/>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Resolved. The domain was corrected at source, and each brand now sends from a dedicated, isolated sub-domain that leaves the main mail records untouched. Verified live: the main records are byte-for-byte unchanged and mail still delivers under full protection.</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15">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8595360" y="-1280160"/>
            <a:ext cx="5486400" cy="5486400"/>
          </a:xfrm>
          <a:prstGeom prst="roundRect">
            <a:avLst>
              <a:gd name="adj" fmla="val 6667"/>
            </a:avLst>
          </a:prstGeom>
          <a:solidFill>
            <a:srgbClr val="003366"/>
          </a:solidFill>
          <a:ln/>
        </p:spPr>
      </p:sp>
      <p:sp>
        <p:nvSpPr>
          <p:cNvPr id="3" name="Text 1"/>
          <p:cNvSpPr/>
          <p:nvPr/>
        </p:nvSpPr>
        <p:spPr>
          <a:xfrm>
            <a:off x="640080" y="548640"/>
            <a:ext cx="100584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Where we are, and what's next</a:t>
            </a:r>
            <a:endParaRPr lang="en-US" sz="3200" dirty="0"/>
          </a:p>
        </p:txBody>
      </p:sp>
      <p:sp>
        <p:nvSpPr>
          <p:cNvPr id="4" name="Shape 2"/>
          <p:cNvSpPr/>
          <p:nvPr/>
        </p:nvSpPr>
        <p:spPr>
          <a:xfrm>
            <a:off x="640080" y="1554480"/>
            <a:ext cx="3383280" cy="1600200"/>
          </a:xfrm>
          <a:prstGeom prst="roundRect">
            <a:avLst>
              <a:gd name="adj" fmla="val 6857"/>
            </a:avLst>
          </a:prstGeom>
          <a:solidFill>
            <a:srgbClr val="0E2942"/>
          </a:solidFill>
          <a:ln/>
        </p:spPr>
      </p:sp>
      <p:sp>
        <p:nvSpPr>
          <p:cNvPr id="5" name="Text 3"/>
          <p:cNvSpPr/>
          <p:nvPr/>
        </p:nvSpPr>
        <p:spPr>
          <a:xfrm>
            <a:off x="6858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15</a:t>
            </a:r>
            <a:endParaRPr lang="en-US" sz="5200" dirty="0"/>
          </a:p>
        </p:txBody>
      </p:sp>
      <p:sp>
        <p:nvSpPr>
          <p:cNvPr id="6" name="Text 4"/>
          <p:cNvSpPr/>
          <p:nvPr/>
        </p:nvSpPr>
        <p:spPr>
          <a:xfrm>
            <a:off x="6858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stages complete</a:t>
            </a:r>
            <a:endParaRPr lang="en-US" sz="1300" dirty="0"/>
          </a:p>
        </p:txBody>
      </p:sp>
      <p:sp>
        <p:nvSpPr>
          <p:cNvPr id="7" name="Text 5"/>
          <p:cNvSpPr/>
          <p:nvPr/>
        </p:nvSpPr>
        <p:spPr>
          <a:xfrm>
            <a:off x="6858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of 16 on the roadmap</a:t>
            </a:r>
            <a:endParaRPr lang="en-US" sz="1100" dirty="0"/>
          </a:p>
        </p:txBody>
      </p:sp>
      <p:sp>
        <p:nvSpPr>
          <p:cNvPr id="8" name="Shape 6"/>
          <p:cNvSpPr/>
          <p:nvPr/>
        </p:nvSpPr>
        <p:spPr>
          <a:xfrm>
            <a:off x="4297680" y="1554480"/>
            <a:ext cx="3383280" cy="1600200"/>
          </a:xfrm>
          <a:prstGeom prst="roundRect">
            <a:avLst>
              <a:gd name="adj" fmla="val 6857"/>
            </a:avLst>
          </a:prstGeom>
          <a:solidFill>
            <a:srgbClr val="0E2942"/>
          </a:solidFill>
          <a:ln/>
        </p:spPr>
      </p:sp>
      <p:sp>
        <p:nvSpPr>
          <p:cNvPr id="9" name="Text 7"/>
          <p:cNvSpPr/>
          <p:nvPr/>
        </p:nvSpPr>
        <p:spPr>
          <a:xfrm>
            <a:off x="43434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3</a:t>
            </a:r>
            <a:endParaRPr lang="en-US" sz="5200" dirty="0"/>
          </a:p>
        </p:txBody>
      </p:sp>
      <p:sp>
        <p:nvSpPr>
          <p:cNvPr id="10" name="Text 8"/>
          <p:cNvSpPr/>
          <p:nvPr/>
        </p:nvSpPr>
        <p:spPr>
          <a:xfrm>
            <a:off x="43434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money tracks live</a:t>
            </a:r>
            <a:endParaRPr lang="en-US" sz="1300" dirty="0"/>
          </a:p>
        </p:txBody>
      </p:sp>
      <p:sp>
        <p:nvSpPr>
          <p:cNvPr id="11" name="Text 9"/>
          <p:cNvSpPr/>
          <p:nvPr/>
        </p:nvSpPr>
        <p:spPr>
          <a:xfrm>
            <a:off x="43434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ledger · collect · remit</a:t>
            </a:r>
            <a:endParaRPr lang="en-US" sz="1100" dirty="0"/>
          </a:p>
        </p:txBody>
      </p:sp>
      <p:sp>
        <p:nvSpPr>
          <p:cNvPr id="12" name="Shape 10"/>
          <p:cNvSpPr/>
          <p:nvPr/>
        </p:nvSpPr>
        <p:spPr>
          <a:xfrm>
            <a:off x="7955280" y="1554480"/>
            <a:ext cx="3383280" cy="1600200"/>
          </a:xfrm>
          <a:prstGeom prst="roundRect">
            <a:avLst>
              <a:gd name="adj" fmla="val 6857"/>
            </a:avLst>
          </a:prstGeom>
          <a:solidFill>
            <a:srgbClr val="0E2942"/>
          </a:solidFill>
          <a:ln/>
        </p:spPr>
      </p:sp>
      <p:sp>
        <p:nvSpPr>
          <p:cNvPr id="13" name="Text 11"/>
          <p:cNvSpPr/>
          <p:nvPr/>
        </p:nvSpPr>
        <p:spPr>
          <a:xfrm>
            <a:off x="80010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1</a:t>
            </a:r>
            <a:endParaRPr lang="en-US" sz="5200" dirty="0"/>
          </a:p>
        </p:txBody>
      </p:sp>
      <p:sp>
        <p:nvSpPr>
          <p:cNvPr id="14" name="Text 12"/>
          <p:cNvSpPr/>
          <p:nvPr/>
        </p:nvSpPr>
        <p:spPr>
          <a:xfrm>
            <a:off x="80010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known money defects</a:t>
            </a:r>
            <a:endParaRPr lang="en-US" sz="1300" dirty="0"/>
          </a:p>
        </p:txBody>
      </p:sp>
      <p:sp>
        <p:nvSpPr>
          <p:cNvPr id="15" name="Text 13"/>
          <p:cNvSpPr/>
          <p:nvPr/>
        </p:nvSpPr>
        <p:spPr>
          <a:xfrm>
            <a:off x="80010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1 open (SC-budget race) · vendor-score gate fixed 6 Aug.</a:t>
            </a:r>
            <a:endParaRPr lang="en-US" sz="1100" dirty="0"/>
          </a:p>
        </p:txBody>
      </p:sp>
      <p:sp>
        <p:nvSpPr>
          <p:cNvPr id="16" name="Text 14"/>
          <p:cNvSpPr/>
          <p:nvPr/>
        </p:nvSpPr>
        <p:spPr>
          <a:xfrm>
            <a:off x="640080" y="3474720"/>
            <a:ext cx="10058400" cy="320040"/>
          </a:xfrm>
          <a:prstGeom prst="rect">
            <a:avLst/>
          </a:prstGeom>
          <a:noFill/>
          <a:ln/>
        </p:spPr>
        <p:txBody>
          <a:bodyPr wrap="square" rtlCol="0" anchor="ctr"/>
          <a:lstStyle/>
          <a:p>
            <a:pPr marL="0" indent="0">
              <a:buNone/>
            </a:pPr>
            <a:r>
              <a:rPr lang="en-US" sz="1300" b="1" dirty="0">
                <a:solidFill>
                  <a:srgbClr val="C08A1E"/>
                </a:solidFill>
                <a:latin typeface="Calibri" pitchFamily="34" charset="0"/>
                <a:ea typeface="Calibri" pitchFamily="34" charset="-122"/>
                <a:cs typeface="Calibri" pitchFamily="34" charset="-120"/>
              </a:rPr>
              <a:t>Current stage</a:t>
            </a:r>
            <a:endParaRPr lang="en-US" sz="1300" dirty="0"/>
          </a:p>
        </p:txBody>
      </p:sp>
      <p:sp>
        <p:nvSpPr>
          <p:cNvPr id="17" name="Text 15"/>
          <p:cNvSpPr/>
          <p:nvPr/>
        </p:nvSpPr>
        <p:spPr>
          <a:xfrm>
            <a:off x="658368" y="3794760"/>
            <a:ext cx="10881360" cy="914400"/>
          </a:xfrm>
          <a:prstGeom prst="rect">
            <a:avLst/>
          </a:prstGeom>
          <a:noFill/>
          <a:ln/>
        </p:spPr>
        <p:txBody>
          <a:bodyPr wrap="square" rtlCol="0" anchor="ctr"/>
          <a:lstStyle/>
          <a:p>
            <a:pPr marL="0" indent="0">
              <a:lnSpc>
                <a:spcPct val="115000"/>
              </a:lnSpc>
              <a:buNone/>
            </a:pPr>
            <a:r>
              <a:rPr lang="en-US" sz="1400" dirty="0">
                <a:solidFill>
                  <a:srgbClr val="D8E5F5"/>
                </a:solidFill>
                <a:latin typeface="Calibri" pitchFamily="34" charset="0"/>
                <a:ea typeface="Calibri" pitchFamily="34" charset="-122"/>
                <a:cs typeface="Calibri" pitchFamily="34" charset="-120"/>
              </a:rPr>
              <a:t>Five more tracks have landed since: OEA applicants can now apply, be reviewed and approved straight into a tenancy; leases, rent billing and the rent roll are live with self-raising demands and renewal notices; the interactive analytics console answers the board’s own questions live; and a vendor’s score now comes from a checklist and a clock, not a free-typed guess. The foundation and full money-path tracks remain complete and verified against the real gateway.</a:t>
            </a:r>
            <a:endParaRPr lang="en-US" sz="1400" dirty="0"/>
          </a:p>
        </p:txBody>
      </p:sp>
      <p:sp>
        <p:nvSpPr>
          <p:cNvPr id="18" name="Text 16"/>
          <p:cNvSpPr/>
          <p:nvPr/>
        </p:nvSpPr>
        <p:spPr>
          <a:xfrm>
            <a:off x="640080" y="4846320"/>
            <a:ext cx="10058400" cy="320040"/>
          </a:xfrm>
          <a:prstGeom prst="rect">
            <a:avLst/>
          </a:prstGeom>
          <a:noFill/>
          <a:ln/>
        </p:spPr>
        <p:txBody>
          <a:bodyPr wrap="square" rtlCol="0" anchor="ctr"/>
          <a:lstStyle/>
          <a:p>
            <a:pPr marL="0" indent="0">
              <a:buNone/>
            </a:pPr>
            <a:r>
              <a:rPr lang="en-US" sz="1300" b="1" dirty="0">
                <a:solidFill>
                  <a:srgbClr val="C08A1E"/>
                </a:solidFill>
                <a:latin typeface="Calibri" pitchFamily="34" charset="0"/>
                <a:ea typeface="Calibri" pitchFamily="34" charset="-122"/>
                <a:cs typeface="Calibri" pitchFamily="34" charset="-120"/>
              </a:rPr>
              <a:t>The immediate next step</a:t>
            </a:r>
            <a:endParaRPr lang="en-US" sz="1300" dirty="0"/>
          </a:p>
        </p:txBody>
      </p:sp>
      <p:sp>
        <p:nvSpPr>
          <p:cNvPr id="19" name="Text 17"/>
          <p:cNvSpPr/>
          <p:nvPr/>
        </p:nvSpPr>
        <p:spPr>
          <a:xfrm>
            <a:off x="658368" y="5166360"/>
            <a:ext cx="10881360" cy="1097280"/>
          </a:xfrm>
          <a:prstGeom prst="rect">
            <a:avLst/>
          </a:prstGeom>
          <a:noFill/>
          <a:ln/>
        </p:spPr>
        <p:txBody>
          <a:bodyPr wrap="square" rtlCol="0" anchor="t"/>
          <a:lstStyle/>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Day 12 — Security, compliance, UAT and go-live.  </a:t>
            </a:r>
            <a:r>
              <a:rPr lang="en-US" sz="1400" dirty="0">
                <a:solidFill>
                  <a:srgbClr val="D8E5F5"/>
                </a:solidFill>
                <a:latin typeface="Calibri" pitchFamily="34" charset="0"/>
                <a:ea typeface="Calibri" pitchFamily="34" charset="-122"/>
                <a:cs typeface="Calibri" pitchFamily="34" charset="-120"/>
              </a:rPr>
              <a:t>The production security pass, NDPA compliance pack and multi-role UAT are underway. Of Monday’s two audit findings, the vendor-score/payment-gate defect was fixed 6 Aug with a regression test; a billing-race guard on SC budgets remains open. Go-live still needs the board: DPO designation, processor DPAs, live payment keys and the go/no-go after a clean UAT.</a:t>
            </a:r>
            <a:endParaRPr lang="en-US" sz="1400" dirty="0"/>
          </a:p>
        </p:txBody>
      </p:sp>
      <p:sp>
        <p:nvSpPr>
          <p:cNvPr id="20" name="Text 18"/>
          <p:cNvSpPr/>
          <p:nvPr/>
        </p:nvSpPr>
        <p:spPr>
          <a:xfrm>
            <a:off x="640080" y="6446520"/>
            <a:ext cx="10881360" cy="274320"/>
          </a:xfrm>
          <a:prstGeom prst="rect">
            <a:avLst/>
          </a:prstGeom>
          <a:noFill/>
          <a:ln/>
        </p:spPr>
        <p:txBody>
          <a:bodyPr wrap="square" rtlCol="0" anchor="ctr"/>
          <a:lstStyle/>
          <a:p>
            <a:pPr marL="0" indent="0">
              <a:buNone/>
            </a:pPr>
            <a:r>
              <a:rPr lang="en-US" sz="1000" dirty="0">
                <a:solidFill>
                  <a:srgbClr val="6E86A2"/>
                </a:solidFill>
                <a:latin typeface="Calibri" pitchFamily="34" charset="0"/>
                <a:ea typeface="Calibri" pitchFamily="34" charset="-122"/>
                <a:cs typeface="Calibri" pitchFamily="34" charset="-120"/>
              </a:rPr>
              <a:t>Board Confidential  ·  5 August 2026</a:t>
            </a:r>
            <a:endParaRPr lang="en-US" sz="10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B2E"/>
        </a:solidFill>
        <a:effectLst/>
      </p:bgPr>
    </p:bg>
    <p:spTree>
      <p:nvGrpSpPr>
        <p:cNvPr id="1" name=""/>
        <p:cNvGrpSpPr/>
        <p:nvPr/>
      </p:nvGrpSpPr>
      <p:grpSpPr/>
      <p:sp>
        <p:nvSpPr>
          <p:cNvPr id="2" name="Rectangle 1"/>
          <p:cNvSpPr/>
          <p:nvPr/>
        </p:nvSpPr>
        <p:spPr>
          <a:xfrm>
            <a:off x="8412480" y="0"/>
            <a:ext cx="3776472" cy="68580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68680" y="914400"/>
            <a:ext cx="6400800" cy="274320"/>
          </a:xfrm>
          <a:prstGeom prst="rect">
            <a:avLst/>
          </a:prstGeom>
          <a:noFill/>
        </p:spPr>
        <p:txBody>
          <a:bodyPr wrap="square" lIns="0" rIns="0" tIns="0" bIns="0" anchor="t">
            <a:spAutoFit/>
          </a:bodyPr>
          <a:lstStyle/>
          <a:p>
            <a:pPr algn="l"/>
            <a:r>
              <a:rPr sz="1000" b="1" i="0" spc="300">
                <a:solidFill>
                  <a:srgbClr val="C08A1E"/>
                </a:solidFill>
                <a:latin typeface="Calibri"/>
              </a:rPr>
              <a:t>PRODUCTION READINESS  ·  23 SEPTEMBER 2026</a:t>
            </a:r>
          </a:p>
        </p:txBody>
      </p:sp>
      <p:sp>
        <p:nvSpPr>
          <p:cNvPr id="4" name="TextBox 3"/>
          <p:cNvSpPr txBox="1"/>
          <p:nvPr/>
        </p:nvSpPr>
        <p:spPr>
          <a:xfrm>
            <a:off x="868680" y="1920240"/>
            <a:ext cx="7132320" cy="914400"/>
          </a:xfrm>
          <a:prstGeom prst="rect">
            <a:avLst/>
          </a:prstGeom>
          <a:noFill/>
        </p:spPr>
        <p:txBody>
          <a:bodyPr wrap="square" lIns="0" rIns="0" tIns="0" bIns="0" anchor="t">
            <a:spAutoFit/>
          </a:bodyPr>
          <a:lstStyle/>
          <a:p>
            <a:pPr algn="l"/>
            <a:r>
              <a:rPr sz="4000" b="1" i="0">
                <a:solidFill>
                  <a:srgbClr val="FFFFFF"/>
                </a:solidFill>
                <a:latin typeface="Cambria"/>
              </a:rPr>
              <a:t>Cutover to production</a:t>
            </a:r>
          </a:p>
        </p:txBody>
      </p:sp>
      <p:sp>
        <p:nvSpPr>
          <p:cNvPr id="5" name="TextBox 4"/>
          <p:cNvSpPr txBox="1"/>
          <p:nvPr/>
        </p:nvSpPr>
        <p:spPr>
          <a:xfrm>
            <a:off x="868680" y="3017520"/>
            <a:ext cx="6949440" cy="1828800"/>
          </a:xfrm>
          <a:prstGeom prst="rect">
            <a:avLst/>
          </a:prstGeom>
          <a:noFill/>
        </p:spPr>
        <p:txBody>
          <a:bodyPr wrap="square" lIns="0" rIns="0" tIns="0" bIns="0" anchor="t">
            <a:spAutoFit/>
          </a:bodyPr>
          <a:lstStyle/>
          <a:p>
            <a:pPr algn="l">
              <a:spcAft>
                <a:spcPts val="1000"/>
              </a:spcAft>
            </a:pPr>
            <a:r>
              <a:rPr sz="1600" b="0" i="0">
                <a:solidFill>
                  <a:srgbClr val="9FB4CC"/>
                </a:solidFill>
                <a:latin typeface="Calibri"/>
              </a:rPr>
              <a:t>The build is finished and production exists — empty, by design. What remains is a rehearsed, sequenced cutover on our side and a set of external items on the board's.</a:t>
            </a:r>
          </a:p>
          <a:p>
            <a:pPr algn="l">
              <a:spcAft>
                <a:spcPts val="1000"/>
              </a:spcAft>
            </a:pPr>
            <a:r>
              <a:rPr sz="1600" b="0" i="0">
                <a:solidFill>
                  <a:srgbClr val="9FB4CC"/>
                </a:solidFill>
                <a:latin typeface="Calibri"/>
              </a:rPr>
              <a:t>This section sets out both, why verification takes the time it does, and what it needs from the board: two uninterrupted working days.</a:t>
            </a:r>
          </a:p>
        </p:txBody>
      </p:sp>
      <p:sp>
        <p:nvSpPr>
          <p:cNvPr id="6" name="TextBox 5"/>
          <p:cNvSpPr txBox="1"/>
          <p:nvPr/>
        </p:nvSpPr>
        <p:spPr>
          <a:xfrm>
            <a:off x="8869680" y="1325880"/>
            <a:ext cx="3017520" cy="640080"/>
          </a:xfrm>
          <a:prstGeom prst="rect">
            <a:avLst/>
          </a:prstGeom>
          <a:noFill/>
        </p:spPr>
        <p:txBody>
          <a:bodyPr wrap="square" lIns="0" rIns="0" tIns="0" bIns="0" anchor="t">
            <a:spAutoFit/>
          </a:bodyPr>
          <a:lstStyle/>
          <a:p>
            <a:pPr algn="l"/>
            <a:r>
              <a:rPr sz="3400" b="1" i="0">
                <a:solidFill>
                  <a:srgbClr val="C08A1E"/>
                </a:solidFill>
                <a:latin typeface="Cambria"/>
              </a:rPr>
              <a:t>124/124</a:t>
            </a:r>
          </a:p>
        </p:txBody>
      </p:sp>
      <p:sp>
        <p:nvSpPr>
          <p:cNvPr id="7" name="TextBox 6"/>
          <p:cNvSpPr txBox="1"/>
          <p:nvPr/>
        </p:nvSpPr>
        <p:spPr>
          <a:xfrm>
            <a:off x="8869680" y="1984248"/>
            <a:ext cx="3017520" cy="320040"/>
          </a:xfrm>
          <a:prstGeom prst="rect">
            <a:avLst/>
          </a:prstGeom>
          <a:noFill/>
        </p:spPr>
        <p:txBody>
          <a:bodyPr wrap="square" lIns="0" rIns="0" tIns="0" bIns="0" anchor="t">
            <a:spAutoFit/>
          </a:bodyPr>
          <a:lstStyle/>
          <a:p>
            <a:pPr algn="l"/>
            <a:r>
              <a:rPr sz="1200" b="0" i="0">
                <a:solidFill>
                  <a:srgbClr val="D8E5F5"/>
                </a:solidFill>
                <a:latin typeface="Calibri"/>
              </a:rPr>
              <a:t>verification suites passing</a:t>
            </a:r>
          </a:p>
        </p:txBody>
      </p:sp>
      <p:sp>
        <p:nvSpPr>
          <p:cNvPr id="8" name="TextBox 7"/>
          <p:cNvSpPr txBox="1"/>
          <p:nvPr/>
        </p:nvSpPr>
        <p:spPr>
          <a:xfrm>
            <a:off x="8869680" y="2834639"/>
            <a:ext cx="3017520" cy="640080"/>
          </a:xfrm>
          <a:prstGeom prst="rect">
            <a:avLst/>
          </a:prstGeom>
          <a:noFill/>
        </p:spPr>
        <p:txBody>
          <a:bodyPr wrap="square" lIns="0" rIns="0" tIns="0" bIns="0" anchor="t">
            <a:spAutoFit/>
          </a:bodyPr>
          <a:lstStyle/>
          <a:p>
            <a:pPr algn="l"/>
            <a:r>
              <a:rPr sz="3400" b="1" i="0">
                <a:solidFill>
                  <a:srgbClr val="C08A1E"/>
                </a:solidFill>
                <a:latin typeface="Cambria"/>
              </a:rPr>
              <a:t>0300</a:t>
            </a:r>
          </a:p>
        </p:txBody>
      </p:sp>
      <p:sp>
        <p:nvSpPr>
          <p:cNvPr id="9" name="TextBox 8"/>
          <p:cNvSpPr txBox="1"/>
          <p:nvPr/>
        </p:nvSpPr>
        <p:spPr>
          <a:xfrm>
            <a:off x="8869680" y="3493007"/>
            <a:ext cx="3017520" cy="320040"/>
          </a:xfrm>
          <a:prstGeom prst="rect">
            <a:avLst/>
          </a:prstGeom>
          <a:noFill/>
        </p:spPr>
        <p:txBody>
          <a:bodyPr wrap="square" lIns="0" rIns="0" tIns="0" bIns="0" anchor="t">
            <a:spAutoFit/>
          </a:bodyPr>
          <a:lstStyle/>
          <a:p>
            <a:pPr algn="l"/>
            <a:r>
              <a:rPr sz="1200" b="0" i="0">
                <a:solidFill>
                  <a:srgbClr val="D8E5F5"/>
                </a:solidFill>
                <a:latin typeface="Calibri"/>
              </a:rPr>
              <a:t>production schema, empty</a:t>
            </a:r>
          </a:p>
        </p:txBody>
      </p:sp>
      <p:sp>
        <p:nvSpPr>
          <p:cNvPr id="10" name="TextBox 9"/>
          <p:cNvSpPr txBox="1"/>
          <p:nvPr/>
        </p:nvSpPr>
        <p:spPr>
          <a:xfrm>
            <a:off x="8869680" y="4343400"/>
            <a:ext cx="3017520" cy="640080"/>
          </a:xfrm>
          <a:prstGeom prst="rect">
            <a:avLst/>
          </a:prstGeom>
          <a:noFill/>
        </p:spPr>
        <p:txBody>
          <a:bodyPr wrap="square" lIns="0" rIns="0" tIns="0" bIns="0" anchor="t">
            <a:spAutoFit/>
          </a:bodyPr>
          <a:lstStyle/>
          <a:p>
            <a:pPr algn="l"/>
            <a:r>
              <a:rPr sz="3400" b="1" i="0">
                <a:solidFill>
                  <a:srgbClr val="C08A1E"/>
                </a:solidFill>
                <a:latin typeface="Cambria"/>
              </a:rPr>
              <a:t>2 days</a:t>
            </a:r>
          </a:p>
        </p:txBody>
      </p:sp>
      <p:sp>
        <p:nvSpPr>
          <p:cNvPr id="11" name="TextBox 10"/>
          <p:cNvSpPr txBox="1"/>
          <p:nvPr/>
        </p:nvSpPr>
        <p:spPr>
          <a:xfrm>
            <a:off x="8869680" y="5001768"/>
            <a:ext cx="3017520" cy="320040"/>
          </a:xfrm>
          <a:prstGeom prst="rect">
            <a:avLst/>
          </a:prstGeom>
          <a:noFill/>
        </p:spPr>
        <p:txBody>
          <a:bodyPr wrap="square" lIns="0" rIns="0" tIns="0" bIns="0" anchor="t">
            <a:spAutoFit/>
          </a:bodyPr>
          <a:lstStyle/>
          <a:p>
            <a:pPr algn="l"/>
            <a:r>
              <a:rPr sz="1200" b="0" i="0">
                <a:solidFill>
                  <a:srgbClr val="D8E5F5"/>
                </a:solidFill>
                <a:latin typeface="Calibri"/>
              </a:rPr>
              <a:t>to production-ready</a:t>
            </a:r>
          </a:p>
        </p:txBody>
      </p:sp>
      <p:sp>
        <p:nvSpPr>
          <p:cNvPr id="12" name="TextBox 11"/>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6E86A2"/>
                </a:solidFill>
                <a:latin typeface="Calibri"/>
              </a:rPr>
              <a:t>Board Confidential  ·  23 September 2026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The road to go-live — eight stages</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Measured against the go-live tracker on 23 September. Stages 0–2 run in parallel; 3 → 6 are strictly sequential.</a:t>
            </a:r>
          </a:p>
        </p:txBody>
      </p:sp>
      <p:sp>
        <p:nvSpPr>
          <p:cNvPr id="4" name="Rounded Rectangle 3"/>
          <p:cNvSpPr/>
          <p:nvPr/>
        </p:nvSpPr>
        <p:spPr>
          <a:xfrm>
            <a:off x="548640" y="1783080"/>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2011680"/>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0</a:t>
            </a:r>
          </a:p>
        </p:txBody>
      </p:sp>
      <p:sp>
        <p:nvSpPr>
          <p:cNvPr id="6" name="Rounded Rectangle 5"/>
          <p:cNvSpPr/>
          <p:nvPr/>
        </p:nvSpPr>
        <p:spPr>
          <a:xfrm>
            <a:off x="1874519" y="2112264"/>
            <a:ext cx="1097280" cy="274320"/>
          </a:xfrm>
          <a:prstGeom prst="roundRect">
            <a:avLst>
              <a:gd name="adj" fmla="val 50000"/>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DONE</a:t>
            </a:r>
          </a:p>
        </p:txBody>
      </p:sp>
      <p:sp>
        <p:nvSpPr>
          <p:cNvPr id="7" name="TextBox 6"/>
          <p:cNvSpPr txBox="1"/>
          <p:nvPr/>
        </p:nvSpPr>
        <p:spPr>
          <a:xfrm>
            <a:off x="777240" y="2679191"/>
            <a:ext cx="2194560" cy="411480"/>
          </a:xfrm>
          <a:prstGeom prst="rect">
            <a:avLst/>
          </a:prstGeom>
          <a:noFill/>
        </p:spPr>
        <p:txBody>
          <a:bodyPr wrap="square" lIns="0" rIns="0" tIns="0" bIns="0" anchor="t">
            <a:spAutoFit/>
          </a:bodyPr>
          <a:lstStyle/>
          <a:p>
            <a:pPr algn="l"/>
            <a:r>
              <a:rPr sz="1500" b="1" i="0">
                <a:solidFill>
                  <a:srgbClr val="003366"/>
                </a:solidFill>
                <a:latin typeface="Cambria"/>
              </a:rPr>
              <a:t>Freeze the candidate</a:t>
            </a:r>
          </a:p>
        </p:txBody>
      </p:sp>
      <p:sp>
        <p:nvSpPr>
          <p:cNvPr id="8" name="TextBox 7"/>
          <p:cNvSpPr txBox="1"/>
          <p:nvPr/>
        </p:nvSpPr>
        <p:spPr>
          <a:xfrm>
            <a:off x="777240" y="3264408"/>
            <a:ext cx="2194560" cy="457200"/>
          </a:xfrm>
          <a:prstGeom prst="rect">
            <a:avLst/>
          </a:prstGeom>
          <a:noFill/>
        </p:spPr>
        <p:txBody>
          <a:bodyPr wrap="square" lIns="0" rIns="0" tIns="0" bIns="0" anchor="t">
            <a:spAutoFit/>
          </a:bodyPr>
          <a:lstStyle/>
          <a:p>
            <a:pPr algn="l"/>
            <a:r>
              <a:rPr sz="1150" b="0" i="0">
                <a:solidFill>
                  <a:srgbClr val="1C2B3A"/>
                </a:solidFill>
                <a:latin typeface="Calibri"/>
              </a:rPr>
              <a:t>rc3 tagged · 124/124 suites · secrets scan clean</a:t>
            </a:r>
          </a:p>
        </p:txBody>
      </p:sp>
      <p:sp>
        <p:nvSpPr>
          <p:cNvPr id="9" name="Rounded Rectangle 8"/>
          <p:cNvSpPr/>
          <p:nvPr/>
        </p:nvSpPr>
        <p:spPr>
          <a:xfrm>
            <a:off x="3383280" y="1783080"/>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611880" y="2011680"/>
            <a:ext cx="502920" cy="50292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1</a:t>
            </a:r>
          </a:p>
        </p:txBody>
      </p:sp>
      <p:sp>
        <p:nvSpPr>
          <p:cNvPr id="11" name="Rounded Rectangle 10"/>
          <p:cNvSpPr/>
          <p:nvPr/>
        </p:nvSpPr>
        <p:spPr>
          <a:xfrm>
            <a:off x="4709159" y="2112264"/>
            <a:ext cx="1097280" cy="274320"/>
          </a:xfrm>
          <a:prstGeom prst="roundRect">
            <a:avLst>
              <a:gd name="adj" fmla="val 50000"/>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2 OF 12</a:t>
            </a:r>
          </a:p>
        </p:txBody>
      </p:sp>
      <p:sp>
        <p:nvSpPr>
          <p:cNvPr id="12" name="TextBox 11"/>
          <p:cNvSpPr txBox="1"/>
          <p:nvPr/>
        </p:nvSpPr>
        <p:spPr>
          <a:xfrm>
            <a:off x="3611880" y="2679191"/>
            <a:ext cx="2194560" cy="411480"/>
          </a:xfrm>
          <a:prstGeom prst="rect">
            <a:avLst/>
          </a:prstGeom>
          <a:noFill/>
        </p:spPr>
        <p:txBody>
          <a:bodyPr wrap="square" lIns="0" rIns="0" tIns="0" bIns="0" anchor="t">
            <a:spAutoFit/>
          </a:bodyPr>
          <a:lstStyle/>
          <a:p>
            <a:pPr algn="l"/>
            <a:r>
              <a:rPr sz="1500" b="1" i="0">
                <a:solidFill>
                  <a:srgbClr val="003366"/>
                </a:solidFill>
                <a:latin typeface="Cambria"/>
              </a:rPr>
              <a:t>External long poles</a:t>
            </a:r>
          </a:p>
        </p:txBody>
      </p:sp>
      <p:sp>
        <p:nvSpPr>
          <p:cNvPr id="13" name="TextBox 12"/>
          <p:cNvSpPr txBox="1"/>
          <p:nvPr/>
        </p:nvSpPr>
        <p:spPr>
          <a:xfrm>
            <a:off x="3611880" y="3264408"/>
            <a:ext cx="2194560" cy="457200"/>
          </a:xfrm>
          <a:prstGeom prst="rect">
            <a:avLst/>
          </a:prstGeom>
          <a:noFill/>
        </p:spPr>
        <p:txBody>
          <a:bodyPr wrap="square" lIns="0" rIns="0" tIns="0" bIns="0" anchor="t">
            <a:spAutoFit/>
          </a:bodyPr>
          <a:lstStyle/>
          <a:p>
            <a:pPr algn="l"/>
            <a:r>
              <a:rPr sz="1150" b="0" i="0">
                <a:solidFill>
                  <a:srgbClr val="1C2B3A"/>
                </a:solidFill>
                <a:latin typeface="Calibri"/>
              </a:rPr>
              <a:t>Board-owned: DPAs, Flutterwave verification, bank account</a:t>
            </a:r>
          </a:p>
        </p:txBody>
      </p:sp>
      <p:sp>
        <p:nvSpPr>
          <p:cNvPr id="14" name="Rounded Rectangle 13"/>
          <p:cNvSpPr/>
          <p:nvPr/>
        </p:nvSpPr>
        <p:spPr>
          <a:xfrm>
            <a:off x="6217920" y="1783080"/>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46520" y="2011680"/>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2</a:t>
            </a:r>
          </a:p>
        </p:txBody>
      </p:sp>
      <p:sp>
        <p:nvSpPr>
          <p:cNvPr id="16" name="Rounded Rectangle 15"/>
          <p:cNvSpPr/>
          <p:nvPr/>
        </p:nvSpPr>
        <p:spPr>
          <a:xfrm>
            <a:off x="7543800" y="2112264"/>
            <a:ext cx="1097280" cy="274320"/>
          </a:xfrm>
          <a:prstGeom prst="roundRect">
            <a:avLst>
              <a:gd name="adj" fmla="val 50000"/>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7 OF 12</a:t>
            </a:r>
          </a:p>
        </p:txBody>
      </p:sp>
      <p:sp>
        <p:nvSpPr>
          <p:cNvPr id="17" name="TextBox 16"/>
          <p:cNvSpPr txBox="1"/>
          <p:nvPr/>
        </p:nvSpPr>
        <p:spPr>
          <a:xfrm>
            <a:off x="6446520" y="2679191"/>
            <a:ext cx="2194560" cy="411480"/>
          </a:xfrm>
          <a:prstGeom prst="rect">
            <a:avLst/>
          </a:prstGeom>
          <a:noFill/>
        </p:spPr>
        <p:txBody>
          <a:bodyPr wrap="square" lIns="0" rIns="0" tIns="0" bIns="0" anchor="t">
            <a:spAutoFit/>
          </a:bodyPr>
          <a:lstStyle/>
          <a:p>
            <a:pPr algn="l"/>
            <a:r>
              <a:rPr sz="1500" b="1" i="0">
                <a:solidFill>
                  <a:srgbClr val="003366"/>
                </a:solidFill>
                <a:latin typeface="Cambria"/>
              </a:rPr>
              <a:t>Close technical gaps</a:t>
            </a:r>
          </a:p>
        </p:txBody>
      </p:sp>
      <p:sp>
        <p:nvSpPr>
          <p:cNvPr id="18" name="TextBox 17"/>
          <p:cNvSpPr txBox="1"/>
          <p:nvPr/>
        </p:nvSpPr>
        <p:spPr>
          <a:xfrm>
            <a:off x="6446520" y="3264408"/>
            <a:ext cx="2194560" cy="457200"/>
          </a:xfrm>
          <a:prstGeom prst="rect">
            <a:avLst/>
          </a:prstGeom>
          <a:noFill/>
        </p:spPr>
        <p:txBody>
          <a:bodyPr wrap="square" lIns="0" rIns="0" tIns="0" bIns="0" anchor="t">
            <a:spAutoFit/>
          </a:bodyPr>
          <a:lstStyle/>
          <a:p>
            <a:pPr algn="l"/>
            <a:r>
              <a:rPr sz="1150" b="0" i="0">
                <a:solidFill>
                  <a:srgbClr val="1C2B3A"/>
                </a:solidFill>
                <a:latin typeface="Calibri"/>
              </a:rPr>
              <a:t>New: switch the payment gateway to Flutterwave</a:t>
            </a:r>
          </a:p>
        </p:txBody>
      </p:sp>
      <p:sp>
        <p:nvSpPr>
          <p:cNvPr id="19" name="Rounded Rectangle 18"/>
          <p:cNvSpPr/>
          <p:nvPr/>
        </p:nvSpPr>
        <p:spPr>
          <a:xfrm>
            <a:off x="9052560" y="1783080"/>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281160" y="2011680"/>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3</a:t>
            </a:r>
          </a:p>
        </p:txBody>
      </p:sp>
      <p:sp>
        <p:nvSpPr>
          <p:cNvPr id="21" name="Rounded Rectangle 20"/>
          <p:cNvSpPr/>
          <p:nvPr/>
        </p:nvSpPr>
        <p:spPr>
          <a:xfrm>
            <a:off x="10378440" y="2112264"/>
            <a:ext cx="1097280" cy="274320"/>
          </a:xfrm>
          <a:prstGeom prst="roundRect">
            <a:avLst>
              <a:gd name="adj" fmla="val 50000"/>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4 OF 6</a:t>
            </a:r>
          </a:p>
        </p:txBody>
      </p:sp>
      <p:sp>
        <p:nvSpPr>
          <p:cNvPr id="22" name="TextBox 21"/>
          <p:cNvSpPr txBox="1"/>
          <p:nvPr/>
        </p:nvSpPr>
        <p:spPr>
          <a:xfrm>
            <a:off x="9281160" y="2679191"/>
            <a:ext cx="2194560" cy="411480"/>
          </a:xfrm>
          <a:prstGeom prst="rect">
            <a:avLst/>
          </a:prstGeom>
          <a:noFill/>
        </p:spPr>
        <p:txBody>
          <a:bodyPr wrap="square" lIns="0" rIns="0" tIns="0" bIns="0" anchor="t">
            <a:spAutoFit/>
          </a:bodyPr>
          <a:lstStyle/>
          <a:p>
            <a:pPr algn="l"/>
            <a:r>
              <a:rPr sz="1500" b="1" i="0">
                <a:solidFill>
                  <a:srgbClr val="003366"/>
                </a:solidFill>
                <a:latin typeface="Cambria"/>
              </a:rPr>
              <a:t>Provision production, empty</a:t>
            </a:r>
          </a:p>
        </p:txBody>
      </p:sp>
      <p:sp>
        <p:nvSpPr>
          <p:cNvPr id="23" name="TextBox 22"/>
          <p:cNvSpPr txBox="1"/>
          <p:nvPr/>
        </p:nvSpPr>
        <p:spPr>
          <a:xfrm>
            <a:off x="9281160" y="3264408"/>
            <a:ext cx="2194560" cy="457200"/>
          </a:xfrm>
          <a:prstGeom prst="rect">
            <a:avLst/>
          </a:prstGeom>
          <a:noFill/>
        </p:spPr>
        <p:txBody>
          <a:bodyPr wrap="square" lIns="0" rIns="0" tIns="0" bIns="0" anchor="t">
            <a:spAutoFit/>
          </a:bodyPr>
          <a:lstStyle/>
          <a:p>
            <a:pPr algn="l"/>
            <a:r>
              <a:rPr sz="1150" b="0" i="0">
                <a:solidFill>
                  <a:srgbClr val="1C2B3A"/>
                </a:solidFill>
                <a:latin typeface="Calibri"/>
              </a:rPr>
              <a:t>Created, schema 0300, proven empty by query</a:t>
            </a:r>
          </a:p>
        </p:txBody>
      </p:sp>
      <p:sp>
        <p:nvSpPr>
          <p:cNvPr id="24" name="Rounded Rectangle 23"/>
          <p:cNvSpPr/>
          <p:nvPr/>
        </p:nvSpPr>
        <p:spPr>
          <a:xfrm>
            <a:off x="548640" y="3995928"/>
            <a:ext cx="2651760" cy="2011680"/>
          </a:xfrm>
          <a:prstGeom prst="roundRect">
            <a:avLst>
              <a:gd name="adj" fmla="val 6000"/>
            </a:avLst>
          </a:prstGeom>
          <a:solidFill>
            <a:srgbClr val="EAF1F9"/>
          </a:solidFill>
          <a:ln w="952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77240" y="4224528"/>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4</a:t>
            </a:r>
          </a:p>
        </p:txBody>
      </p:sp>
      <p:sp>
        <p:nvSpPr>
          <p:cNvPr id="26" name="Rounded Rectangle 25"/>
          <p:cNvSpPr/>
          <p:nvPr/>
        </p:nvSpPr>
        <p:spPr>
          <a:xfrm>
            <a:off x="1874519" y="4325112"/>
            <a:ext cx="1097280" cy="27432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NEXT</a:t>
            </a:r>
          </a:p>
        </p:txBody>
      </p:sp>
      <p:sp>
        <p:nvSpPr>
          <p:cNvPr id="27" name="TextBox 26"/>
          <p:cNvSpPr txBox="1"/>
          <p:nvPr/>
        </p:nvSpPr>
        <p:spPr>
          <a:xfrm>
            <a:off x="777240" y="4892040"/>
            <a:ext cx="2194560" cy="411480"/>
          </a:xfrm>
          <a:prstGeom prst="rect">
            <a:avLst/>
          </a:prstGeom>
          <a:noFill/>
        </p:spPr>
        <p:txBody>
          <a:bodyPr wrap="square" lIns="0" rIns="0" tIns="0" bIns="0" anchor="t">
            <a:spAutoFit/>
          </a:bodyPr>
          <a:lstStyle/>
          <a:p>
            <a:pPr algn="l"/>
            <a:r>
              <a:rPr sz="1500" b="1" i="0">
                <a:solidFill>
                  <a:srgbClr val="003366"/>
                </a:solidFill>
                <a:latin typeface="Cambria"/>
              </a:rPr>
              <a:t>Dress rehearsal on staging</a:t>
            </a:r>
          </a:p>
        </p:txBody>
      </p:sp>
      <p:sp>
        <p:nvSpPr>
          <p:cNvPr id="28" name="TextBox 27"/>
          <p:cNvSpPr txBox="1"/>
          <p:nvPr/>
        </p:nvSpPr>
        <p:spPr>
          <a:xfrm>
            <a:off x="777240" y="5477256"/>
            <a:ext cx="2194560" cy="457200"/>
          </a:xfrm>
          <a:prstGeom prst="rect">
            <a:avLst/>
          </a:prstGeom>
          <a:noFill/>
        </p:spPr>
        <p:txBody>
          <a:bodyPr wrap="square" lIns="0" rIns="0" tIns="0" bIns="0" anchor="t">
            <a:spAutoFit/>
          </a:bodyPr>
          <a:lstStyle/>
          <a:p>
            <a:pPr algn="l"/>
            <a:r>
              <a:rPr sz="1150" b="0" i="0">
                <a:solidFill>
                  <a:srgbClr val="1C2B3A"/>
                </a:solidFill>
                <a:latin typeface="Calibri"/>
              </a:rPr>
              <a:t>Whole cutover run first on staging, timed</a:t>
            </a:r>
          </a:p>
        </p:txBody>
      </p:sp>
      <p:sp>
        <p:nvSpPr>
          <p:cNvPr id="29" name="Rounded Rectangle 28"/>
          <p:cNvSpPr/>
          <p:nvPr/>
        </p:nvSpPr>
        <p:spPr>
          <a:xfrm>
            <a:off x="3383280" y="3995928"/>
            <a:ext cx="2651760" cy="2011680"/>
          </a:xfrm>
          <a:prstGeom prst="roundRect">
            <a:avLst>
              <a:gd name="adj" fmla="val 6000"/>
            </a:avLst>
          </a:prstGeom>
          <a:solidFill>
            <a:srgbClr val="EAF1F9"/>
          </a:solidFill>
          <a:ln w="952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3611880" y="4224528"/>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5</a:t>
            </a:r>
          </a:p>
        </p:txBody>
      </p:sp>
      <p:sp>
        <p:nvSpPr>
          <p:cNvPr id="31" name="Rounded Rectangle 30"/>
          <p:cNvSpPr/>
          <p:nvPr/>
        </p:nvSpPr>
        <p:spPr>
          <a:xfrm>
            <a:off x="4709159" y="4325112"/>
            <a:ext cx="1097280" cy="274320"/>
          </a:xfrm>
          <a:prstGeom prst="roundRect">
            <a:avLst>
              <a:gd name="adj" fmla="val 50000"/>
            </a:avLst>
          </a:prstGeom>
          <a:solidFill>
            <a:srgbClr val="7A8A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NOT STARTED</a:t>
            </a:r>
          </a:p>
        </p:txBody>
      </p:sp>
      <p:sp>
        <p:nvSpPr>
          <p:cNvPr id="32" name="TextBox 31"/>
          <p:cNvSpPr txBox="1"/>
          <p:nvPr/>
        </p:nvSpPr>
        <p:spPr>
          <a:xfrm>
            <a:off x="3611880" y="4892040"/>
            <a:ext cx="2194560" cy="411480"/>
          </a:xfrm>
          <a:prstGeom prst="rect">
            <a:avLst/>
          </a:prstGeom>
          <a:noFill/>
        </p:spPr>
        <p:txBody>
          <a:bodyPr wrap="square" lIns="0" rIns="0" tIns="0" bIns="0" anchor="t">
            <a:spAutoFit/>
          </a:bodyPr>
          <a:lstStyle/>
          <a:p>
            <a:pPr algn="l"/>
            <a:r>
              <a:rPr sz="1500" b="1" i="0">
                <a:solidFill>
                  <a:srgbClr val="003366"/>
                </a:solidFill>
                <a:latin typeface="Cambria"/>
              </a:rPr>
              <a:t>Cutover</a:t>
            </a:r>
          </a:p>
        </p:txBody>
      </p:sp>
      <p:sp>
        <p:nvSpPr>
          <p:cNvPr id="33" name="TextBox 32"/>
          <p:cNvSpPr txBox="1"/>
          <p:nvPr/>
        </p:nvSpPr>
        <p:spPr>
          <a:xfrm>
            <a:off x="3611880" y="5477256"/>
            <a:ext cx="2194560" cy="457200"/>
          </a:xfrm>
          <a:prstGeom prst="rect">
            <a:avLst/>
          </a:prstGeom>
          <a:noFill/>
        </p:spPr>
        <p:txBody>
          <a:bodyPr wrap="square" lIns="0" rIns="0" tIns="0" bIns="0" anchor="t">
            <a:spAutoFit/>
          </a:bodyPr>
          <a:lstStyle/>
          <a:p>
            <a:pPr algn="l"/>
            <a:r>
              <a:rPr sz="1150" b="0" i="0">
                <a:solidFill>
                  <a:srgbClr val="1C2B3A"/>
                </a:solidFill>
                <a:latin typeface="Calibri"/>
              </a:rPr>
              <a:t>Ten steps, one sitting, verified one by one</a:t>
            </a:r>
          </a:p>
        </p:txBody>
      </p:sp>
      <p:sp>
        <p:nvSpPr>
          <p:cNvPr id="34" name="Rounded Rectangle 33"/>
          <p:cNvSpPr/>
          <p:nvPr/>
        </p:nvSpPr>
        <p:spPr>
          <a:xfrm>
            <a:off x="6217920" y="3995928"/>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46520" y="4224528"/>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6</a:t>
            </a:r>
          </a:p>
        </p:txBody>
      </p:sp>
      <p:sp>
        <p:nvSpPr>
          <p:cNvPr id="36" name="Rounded Rectangle 35"/>
          <p:cNvSpPr/>
          <p:nvPr/>
        </p:nvSpPr>
        <p:spPr>
          <a:xfrm>
            <a:off x="7543800" y="4325112"/>
            <a:ext cx="1097280" cy="274320"/>
          </a:xfrm>
          <a:prstGeom prst="roundRect">
            <a:avLst>
              <a:gd name="adj" fmla="val 50000"/>
            </a:avLst>
          </a:prstGeom>
          <a:solidFill>
            <a:srgbClr val="7A8A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NOT STARTED</a:t>
            </a:r>
          </a:p>
        </p:txBody>
      </p:sp>
      <p:sp>
        <p:nvSpPr>
          <p:cNvPr id="37" name="TextBox 36"/>
          <p:cNvSpPr txBox="1"/>
          <p:nvPr/>
        </p:nvSpPr>
        <p:spPr>
          <a:xfrm>
            <a:off x="6446520" y="4892040"/>
            <a:ext cx="2194560" cy="411480"/>
          </a:xfrm>
          <a:prstGeom prst="rect">
            <a:avLst/>
          </a:prstGeom>
          <a:noFill/>
        </p:spPr>
        <p:txBody>
          <a:bodyPr wrap="square" lIns="0" rIns="0" tIns="0" bIns="0" anchor="t">
            <a:spAutoFit/>
          </a:bodyPr>
          <a:lstStyle/>
          <a:p>
            <a:pPr algn="l"/>
            <a:r>
              <a:rPr sz="1500" b="1" i="0">
                <a:solidFill>
                  <a:srgbClr val="003366"/>
                </a:solidFill>
                <a:latin typeface="Cambria"/>
              </a:rPr>
              <a:t>Prove it, then open it</a:t>
            </a:r>
          </a:p>
        </p:txBody>
      </p:sp>
      <p:sp>
        <p:nvSpPr>
          <p:cNvPr id="38" name="TextBox 37"/>
          <p:cNvSpPr txBox="1"/>
          <p:nvPr/>
        </p:nvSpPr>
        <p:spPr>
          <a:xfrm>
            <a:off x="6446520" y="5477256"/>
            <a:ext cx="2194560" cy="457200"/>
          </a:xfrm>
          <a:prstGeom prst="rect">
            <a:avLst/>
          </a:prstGeom>
          <a:noFill/>
        </p:spPr>
        <p:txBody>
          <a:bodyPr wrap="square" lIns="0" rIns="0" tIns="0" bIns="0" anchor="t">
            <a:spAutoFit/>
          </a:bodyPr>
          <a:lstStyle/>
          <a:p>
            <a:pPr algn="l"/>
            <a:r>
              <a:rPr sz="1150" b="0" i="0">
                <a:solidFill>
                  <a:srgbClr val="1C2B3A"/>
                </a:solidFill>
                <a:latin typeface="Calibri"/>
              </a:rPr>
              <a:t>Security pass, staff UAT, board go/no-go</a:t>
            </a:r>
          </a:p>
        </p:txBody>
      </p:sp>
      <p:sp>
        <p:nvSpPr>
          <p:cNvPr id="39" name="Rounded Rectangle 38"/>
          <p:cNvSpPr/>
          <p:nvPr/>
        </p:nvSpPr>
        <p:spPr>
          <a:xfrm>
            <a:off x="9052560" y="3995928"/>
            <a:ext cx="2651760" cy="201168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9281160" y="4224528"/>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7</a:t>
            </a:r>
          </a:p>
        </p:txBody>
      </p:sp>
      <p:sp>
        <p:nvSpPr>
          <p:cNvPr id="41" name="Rounded Rectangle 40"/>
          <p:cNvSpPr/>
          <p:nvPr/>
        </p:nvSpPr>
        <p:spPr>
          <a:xfrm>
            <a:off x="10378440" y="4325112"/>
            <a:ext cx="1097280" cy="274320"/>
          </a:xfrm>
          <a:prstGeom prst="roundRect">
            <a:avLst>
              <a:gd name="adj" fmla="val 50000"/>
            </a:avLst>
          </a:prstGeom>
          <a:solidFill>
            <a:srgbClr val="7A8A9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AFTER GO-LIVE</a:t>
            </a:r>
          </a:p>
        </p:txBody>
      </p:sp>
      <p:sp>
        <p:nvSpPr>
          <p:cNvPr id="42" name="TextBox 41"/>
          <p:cNvSpPr txBox="1"/>
          <p:nvPr/>
        </p:nvSpPr>
        <p:spPr>
          <a:xfrm>
            <a:off x="9281160" y="4892040"/>
            <a:ext cx="2194560" cy="411480"/>
          </a:xfrm>
          <a:prstGeom prst="rect">
            <a:avLst/>
          </a:prstGeom>
          <a:noFill/>
        </p:spPr>
        <p:txBody>
          <a:bodyPr wrap="square" lIns="0" rIns="0" tIns="0" bIns="0" anchor="t">
            <a:spAutoFit/>
          </a:bodyPr>
          <a:lstStyle/>
          <a:p>
            <a:pPr algn="l"/>
            <a:r>
              <a:rPr sz="1500" b="1" i="0">
                <a:solidFill>
                  <a:srgbClr val="003366"/>
                </a:solidFill>
                <a:latin typeface="Cambria"/>
              </a:rPr>
              <a:t>Operate</a:t>
            </a:r>
          </a:p>
        </p:txBody>
      </p:sp>
      <p:sp>
        <p:nvSpPr>
          <p:cNvPr id="43" name="TextBox 42"/>
          <p:cNvSpPr txBox="1"/>
          <p:nvPr/>
        </p:nvSpPr>
        <p:spPr>
          <a:xfrm>
            <a:off x="9281160" y="5477256"/>
            <a:ext cx="2194560" cy="457200"/>
          </a:xfrm>
          <a:prstGeom prst="rect">
            <a:avLst/>
          </a:prstGeom>
          <a:noFill/>
        </p:spPr>
        <p:txBody>
          <a:bodyPr wrap="square" lIns="0" rIns="0" tIns="0" bIns="0" anchor="t">
            <a:spAutoFit/>
          </a:bodyPr>
          <a:lstStyle/>
          <a:p>
            <a:pPr algn="l"/>
            <a:r>
              <a:rPr sz="1150" b="0" i="0">
                <a:solidFill>
                  <a:srgbClr val="1C2B3A"/>
                </a:solidFill>
                <a:latin typeface="Calibri"/>
              </a:rPr>
              <a:t>Daily bank reconciliation, guides, monitoring</a:t>
            </a:r>
          </a:p>
        </p:txBody>
      </p:sp>
      <p:sp>
        <p:nvSpPr>
          <p:cNvPr id="44" name="TextBox 43"/>
          <p:cNvSpPr txBox="1"/>
          <p:nvPr/>
        </p:nvSpPr>
        <p:spPr>
          <a:xfrm>
            <a:off x="548640" y="6172200"/>
            <a:ext cx="11064240" cy="274320"/>
          </a:xfrm>
          <a:prstGeom prst="rect">
            <a:avLst/>
          </a:prstGeom>
          <a:noFill/>
        </p:spPr>
        <p:txBody>
          <a:bodyPr wrap="square" lIns="0" rIns="0" tIns="0" bIns="0" anchor="t">
            <a:spAutoFit/>
          </a:bodyPr>
          <a:lstStyle/>
          <a:p>
            <a:pPr algn="l"/>
            <a:r>
              <a:rPr sz="1200" b="1" i="0">
                <a:solidFill>
                  <a:srgbClr val="003366"/>
                </a:solidFill>
                <a:latin typeface="Calibri"/>
              </a:rPr>
              <a:t>The two days requested cover stages 4 and 5 </a:t>
            </a:r>
            <a:r>
              <a:rPr sz="1200" b="0" i="0">
                <a:solidFill>
                  <a:srgbClr val="1C2B3A"/>
                </a:solidFill>
                <a:latin typeface="Calibri"/>
              </a:rPr>
              <a:t>(outlined), and open stage 6. Stage 1 is the board's, and runs alongside.</a:t>
            </a:r>
          </a:p>
        </p:txBody>
      </p:sp>
      <p:sp>
        <p:nvSpPr>
          <p:cNvPr id="45" name="TextBox 44"/>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7A8A9B"/>
                </a:solidFill>
                <a:latin typeface="Calibri"/>
              </a:rPr>
              <a:t>Board Confidential  ·  23 September 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Production exists — and it is provably empty</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Every figure below is from a committed query or run log, not a status report.</a:t>
            </a:r>
          </a:p>
        </p:txBody>
      </p:sp>
      <p:sp>
        <p:nvSpPr>
          <p:cNvPr id="4" name="Rounded Rectangle 3"/>
          <p:cNvSpPr/>
          <p:nvPr/>
        </p:nvSpPr>
        <p:spPr>
          <a:xfrm>
            <a:off x="548640" y="1783080"/>
            <a:ext cx="2651760" cy="2834640"/>
          </a:xfrm>
          <a:prstGeom prst="roundRect">
            <a:avLst>
              <a:gd name="adj" fmla="val 5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2011680"/>
            <a:ext cx="2194560" cy="868680"/>
          </a:xfrm>
          <a:prstGeom prst="rect">
            <a:avLst/>
          </a:prstGeom>
          <a:noFill/>
        </p:spPr>
        <p:txBody>
          <a:bodyPr wrap="square" lIns="0" rIns="0" tIns="0" bIns="0" anchor="t">
            <a:spAutoFit/>
          </a:bodyPr>
          <a:lstStyle/>
          <a:p>
            <a:pPr algn="ctr"/>
            <a:r>
              <a:rPr sz="3600" b="1" i="0">
                <a:solidFill>
                  <a:srgbClr val="1F7A4D"/>
                </a:solidFill>
                <a:latin typeface="Cambria"/>
              </a:rPr>
              <a:t>124/124</a:t>
            </a:r>
          </a:p>
        </p:txBody>
      </p:sp>
      <p:sp>
        <p:nvSpPr>
          <p:cNvPr id="6" name="TextBox 5"/>
          <p:cNvSpPr txBox="1"/>
          <p:nvPr/>
        </p:nvSpPr>
        <p:spPr>
          <a:xfrm>
            <a:off x="777240" y="2926080"/>
            <a:ext cx="2194560" cy="365760"/>
          </a:xfrm>
          <a:prstGeom prst="rect">
            <a:avLst/>
          </a:prstGeom>
          <a:noFill/>
        </p:spPr>
        <p:txBody>
          <a:bodyPr wrap="square" lIns="0" rIns="0" tIns="0" bIns="0" anchor="t">
            <a:spAutoFit/>
          </a:bodyPr>
          <a:lstStyle/>
          <a:p>
            <a:pPr algn="ctr"/>
            <a:r>
              <a:rPr sz="1300" b="1" i="0">
                <a:solidFill>
                  <a:srgbClr val="003366"/>
                </a:solidFill>
                <a:latin typeface="Calibri"/>
              </a:rPr>
              <a:t>verification suites passed</a:t>
            </a:r>
          </a:p>
        </p:txBody>
      </p:sp>
      <p:sp>
        <p:nvSpPr>
          <p:cNvPr id="7" name="TextBox 6"/>
          <p:cNvSpPr txBox="1"/>
          <p:nvPr/>
        </p:nvSpPr>
        <p:spPr>
          <a:xfrm>
            <a:off x="777240" y="3383280"/>
            <a:ext cx="2194560" cy="1097280"/>
          </a:xfrm>
          <a:prstGeom prst="rect">
            <a:avLst/>
          </a:prstGeom>
          <a:noFill/>
        </p:spPr>
        <p:txBody>
          <a:bodyPr wrap="square" lIns="0" rIns="0" tIns="0" bIns="0" anchor="t">
            <a:spAutoFit/>
          </a:bodyPr>
          <a:lstStyle/>
          <a:p>
            <a:pPr algn="ctr"/>
            <a:r>
              <a:rPr sz="1150" b="0" i="0">
                <a:solidFill>
                  <a:srgbClr val="1C2B3A"/>
                </a:solidFill>
                <a:latin typeface="Calibri"/>
              </a:rPr>
              <a:t>Release candidate rc3, 21 Sept — the first clean sweep of the full suite</a:t>
            </a:r>
          </a:p>
        </p:txBody>
      </p:sp>
      <p:sp>
        <p:nvSpPr>
          <p:cNvPr id="8" name="Rounded Rectangle 7"/>
          <p:cNvSpPr/>
          <p:nvPr/>
        </p:nvSpPr>
        <p:spPr>
          <a:xfrm>
            <a:off x="3383280" y="1783080"/>
            <a:ext cx="2651760" cy="2834640"/>
          </a:xfrm>
          <a:prstGeom prst="roundRect">
            <a:avLst>
              <a:gd name="adj" fmla="val 5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11880" y="2011680"/>
            <a:ext cx="2194560" cy="868680"/>
          </a:xfrm>
          <a:prstGeom prst="rect">
            <a:avLst/>
          </a:prstGeom>
          <a:noFill/>
        </p:spPr>
        <p:txBody>
          <a:bodyPr wrap="square" lIns="0" rIns="0" tIns="0" bIns="0" anchor="t">
            <a:spAutoFit/>
          </a:bodyPr>
          <a:lstStyle/>
          <a:p>
            <a:pPr algn="ctr"/>
            <a:r>
              <a:rPr sz="3600" b="1" i="0">
                <a:solidFill>
                  <a:srgbClr val="1F7A4D"/>
                </a:solidFill>
                <a:latin typeface="Cambria"/>
              </a:rPr>
              <a:t>0300</a:t>
            </a:r>
          </a:p>
        </p:txBody>
      </p:sp>
      <p:sp>
        <p:nvSpPr>
          <p:cNvPr id="10" name="TextBox 9"/>
          <p:cNvSpPr txBox="1"/>
          <p:nvPr/>
        </p:nvSpPr>
        <p:spPr>
          <a:xfrm>
            <a:off x="3611880" y="2926080"/>
            <a:ext cx="2194560" cy="365760"/>
          </a:xfrm>
          <a:prstGeom prst="rect">
            <a:avLst/>
          </a:prstGeom>
          <a:noFill/>
        </p:spPr>
        <p:txBody>
          <a:bodyPr wrap="square" lIns="0" rIns="0" tIns="0" bIns="0" anchor="t">
            <a:spAutoFit/>
          </a:bodyPr>
          <a:lstStyle/>
          <a:p>
            <a:pPr algn="ctr"/>
            <a:r>
              <a:rPr sz="1300" b="1" i="0">
                <a:solidFill>
                  <a:srgbClr val="003366"/>
                </a:solidFill>
                <a:latin typeface="Calibri"/>
              </a:rPr>
              <a:t>production schema version</a:t>
            </a:r>
          </a:p>
        </p:txBody>
      </p:sp>
      <p:sp>
        <p:nvSpPr>
          <p:cNvPr id="11" name="TextBox 10"/>
          <p:cNvSpPr txBox="1"/>
          <p:nvPr/>
        </p:nvSpPr>
        <p:spPr>
          <a:xfrm>
            <a:off x="3611880" y="3383280"/>
            <a:ext cx="2194560" cy="1097280"/>
          </a:xfrm>
          <a:prstGeom prst="rect">
            <a:avLst/>
          </a:prstGeom>
          <a:noFill/>
        </p:spPr>
        <p:txBody>
          <a:bodyPr wrap="square" lIns="0" rIns="0" tIns="0" bIns="0" anchor="t">
            <a:spAutoFit/>
          </a:bodyPr>
          <a:lstStyle/>
          <a:p>
            <a:pPr algn="ctr"/>
            <a:r>
              <a:rPr sz="1150" b="0" i="0">
                <a:solidFill>
                  <a:srgbClr val="1C2B3A"/>
                </a:solidFill>
                <a:latin typeface="Calibri"/>
              </a:rPr>
              <a:t>321 migrations applied, schema only — the production database is never seeded</a:t>
            </a:r>
          </a:p>
        </p:txBody>
      </p:sp>
      <p:sp>
        <p:nvSpPr>
          <p:cNvPr id="12" name="Rounded Rectangle 11"/>
          <p:cNvSpPr/>
          <p:nvPr/>
        </p:nvSpPr>
        <p:spPr>
          <a:xfrm>
            <a:off x="6217920" y="1783080"/>
            <a:ext cx="2651760" cy="2834640"/>
          </a:xfrm>
          <a:prstGeom prst="roundRect">
            <a:avLst>
              <a:gd name="adj" fmla="val 5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46520" y="2011680"/>
            <a:ext cx="2194560" cy="868680"/>
          </a:xfrm>
          <a:prstGeom prst="rect">
            <a:avLst/>
          </a:prstGeom>
          <a:noFill/>
        </p:spPr>
        <p:txBody>
          <a:bodyPr wrap="square" lIns="0" rIns="0" tIns="0" bIns="0" anchor="t">
            <a:spAutoFit/>
          </a:bodyPr>
          <a:lstStyle/>
          <a:p>
            <a:pPr algn="ctr"/>
            <a:r>
              <a:rPr sz="3600" b="1" i="0">
                <a:solidFill>
                  <a:srgbClr val="1F7A4D"/>
                </a:solidFill>
                <a:latin typeface="Cambria"/>
              </a:rPr>
              <a:t>7 / 7</a:t>
            </a:r>
          </a:p>
        </p:txBody>
      </p:sp>
      <p:sp>
        <p:nvSpPr>
          <p:cNvPr id="14" name="TextBox 13"/>
          <p:cNvSpPr txBox="1"/>
          <p:nvPr/>
        </p:nvSpPr>
        <p:spPr>
          <a:xfrm>
            <a:off x="6446520" y="2926080"/>
            <a:ext cx="2194560" cy="365760"/>
          </a:xfrm>
          <a:prstGeom prst="rect">
            <a:avLst/>
          </a:prstGeom>
          <a:noFill/>
        </p:spPr>
        <p:txBody>
          <a:bodyPr wrap="square" lIns="0" rIns="0" tIns="0" bIns="0" anchor="t">
            <a:spAutoFit/>
          </a:bodyPr>
          <a:lstStyle/>
          <a:p>
            <a:pPr algn="ctr"/>
            <a:r>
              <a:rPr sz="1300" b="1" i="0">
                <a:solidFill>
                  <a:srgbClr val="003366"/>
                </a:solidFill>
                <a:latin typeface="Calibri"/>
              </a:rPr>
              <a:t>storage buckets verified</a:t>
            </a:r>
          </a:p>
        </p:txBody>
      </p:sp>
      <p:sp>
        <p:nvSpPr>
          <p:cNvPr id="15" name="TextBox 14"/>
          <p:cNvSpPr txBox="1"/>
          <p:nvPr/>
        </p:nvSpPr>
        <p:spPr>
          <a:xfrm>
            <a:off x="6446520" y="3383280"/>
            <a:ext cx="2194560" cy="1097280"/>
          </a:xfrm>
          <a:prstGeom prst="rect">
            <a:avLst/>
          </a:prstGeom>
          <a:noFill/>
        </p:spPr>
        <p:txBody>
          <a:bodyPr wrap="square" lIns="0" rIns="0" tIns="0" bIns="0" anchor="t">
            <a:spAutoFit/>
          </a:bodyPr>
          <a:lstStyle/>
          <a:p>
            <a:pPr algn="ctr"/>
            <a:r>
              <a:rPr sz="1150" b="0" i="0">
                <a:solidFill>
                  <a:srgbClr val="1C2B3A"/>
                </a:solidFill>
                <a:latin typeface="Calibri"/>
              </a:rPr>
              <a:t>Six private (IDs, home photos, KYC, bank evidence); org logos public by design</a:t>
            </a:r>
          </a:p>
        </p:txBody>
      </p:sp>
      <p:sp>
        <p:nvSpPr>
          <p:cNvPr id="16" name="Rounded Rectangle 15"/>
          <p:cNvSpPr/>
          <p:nvPr/>
        </p:nvSpPr>
        <p:spPr>
          <a:xfrm>
            <a:off x="9052560" y="1783080"/>
            <a:ext cx="2651760" cy="2834640"/>
          </a:xfrm>
          <a:prstGeom prst="roundRect">
            <a:avLst>
              <a:gd name="adj" fmla="val 5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81160" y="2011680"/>
            <a:ext cx="2194560" cy="868680"/>
          </a:xfrm>
          <a:prstGeom prst="rect">
            <a:avLst/>
          </a:prstGeom>
          <a:noFill/>
        </p:spPr>
        <p:txBody>
          <a:bodyPr wrap="square" lIns="0" rIns="0" tIns="0" bIns="0" anchor="t">
            <a:spAutoFit/>
          </a:bodyPr>
          <a:lstStyle/>
          <a:p>
            <a:pPr algn="ctr"/>
            <a:r>
              <a:rPr sz="3600" b="1" i="0">
                <a:solidFill>
                  <a:srgbClr val="003366"/>
                </a:solidFill>
                <a:latin typeface="Cambria"/>
              </a:rPr>
              <a:t>0</a:t>
            </a:r>
          </a:p>
        </p:txBody>
      </p:sp>
      <p:sp>
        <p:nvSpPr>
          <p:cNvPr id="18" name="TextBox 17"/>
          <p:cNvSpPr txBox="1"/>
          <p:nvPr/>
        </p:nvSpPr>
        <p:spPr>
          <a:xfrm>
            <a:off x="9281160" y="2926080"/>
            <a:ext cx="2194560" cy="365760"/>
          </a:xfrm>
          <a:prstGeom prst="rect">
            <a:avLst/>
          </a:prstGeom>
          <a:noFill/>
        </p:spPr>
        <p:txBody>
          <a:bodyPr wrap="square" lIns="0" rIns="0" tIns="0" bIns="0" anchor="t">
            <a:spAutoFit/>
          </a:bodyPr>
          <a:lstStyle/>
          <a:p>
            <a:pPr algn="ctr"/>
            <a:r>
              <a:rPr sz="1300" b="1" i="0">
                <a:solidFill>
                  <a:srgbClr val="003366"/>
                </a:solidFill>
                <a:latin typeface="Calibri"/>
              </a:rPr>
              <a:t>rows of personal data or money</a:t>
            </a:r>
          </a:p>
        </p:txBody>
      </p:sp>
      <p:sp>
        <p:nvSpPr>
          <p:cNvPr id="19" name="TextBox 18"/>
          <p:cNvSpPr txBox="1"/>
          <p:nvPr/>
        </p:nvSpPr>
        <p:spPr>
          <a:xfrm>
            <a:off x="9281160" y="3383280"/>
            <a:ext cx="2194560" cy="1097280"/>
          </a:xfrm>
          <a:prstGeom prst="rect">
            <a:avLst/>
          </a:prstGeom>
          <a:noFill/>
        </p:spPr>
        <p:txBody>
          <a:bodyPr wrap="square" lIns="0" rIns="0" tIns="0" bIns="0" anchor="t">
            <a:spAutoFit/>
          </a:bodyPr>
          <a:lstStyle/>
          <a:p>
            <a:pPr algn="ctr"/>
            <a:r>
              <a:rPr sz="1150" b="0" i="0">
                <a:solidFill>
                  <a:srgbClr val="1C2B3A"/>
                </a:solidFill>
                <a:latin typeface="Calibri"/>
              </a:rPr>
              <a:t>No person, payment, lease or ledger entry has reached production</a:t>
            </a:r>
          </a:p>
        </p:txBody>
      </p:sp>
      <p:sp>
        <p:nvSpPr>
          <p:cNvPr id="20" name="Rounded Rectangle 19"/>
          <p:cNvSpPr/>
          <p:nvPr/>
        </p:nvSpPr>
        <p:spPr>
          <a:xfrm>
            <a:off x="548640" y="4892040"/>
            <a:ext cx="11064240" cy="1097280"/>
          </a:xfrm>
          <a:prstGeom prst="roundRect">
            <a:avLst>
              <a:gd name="adj" fmla="val 6000"/>
            </a:avLst>
          </a:prstGeom>
          <a:solidFill>
            <a:srgbClr val="EA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5074920"/>
            <a:ext cx="10424160" cy="1005840"/>
          </a:xfrm>
          <a:prstGeom prst="rect">
            <a:avLst/>
          </a:prstGeom>
          <a:noFill/>
        </p:spPr>
        <p:txBody>
          <a:bodyPr wrap="square" lIns="0" rIns="0" tIns="0" bIns="0" anchor="t">
            <a:spAutoFit/>
          </a:bodyPr>
          <a:lstStyle/>
          <a:p>
            <a:pPr algn="l"/>
            <a:r>
              <a:rPr sz="1300" b="1" i="0">
                <a:solidFill>
                  <a:srgbClr val="003366"/>
                </a:solidFill>
                <a:latin typeface="Calibri"/>
              </a:rPr>
              <a:t>Why empty matters. </a:t>
            </a:r>
            <a:r>
              <a:rPr sz="1300" b="0" i="0">
                <a:solidFill>
                  <a:srgbClr val="1C2B3A"/>
                </a:solidFill>
                <a:latin typeface="Calibri"/>
              </a:rPr>
              <a:t>Every real organisation, person and property will arrive through the real onboarding screens, never through test data. It is also the claim the 13 processor agreements rely on: no personal data has touched production. The audit trail and the ledger are append-only, so a mistake made here cannot be deleted afterwards — which is why it is proven by query now, while it is cheap.</a:t>
            </a:r>
          </a:p>
        </p:txBody>
      </p:sp>
      <p:sp>
        <p:nvSpPr>
          <p:cNvPr id="22" name="TextBox 21"/>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7A8A9B"/>
                </a:solidFill>
                <a:latin typeface="Calibri"/>
              </a:rPr>
              <a:t>Board Confidential  ·  23 September 2026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Cutover day: ten steps, one sitting</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Stage 5 of the go-live plan. Each step is verified before the next starts — never batched.</a:t>
            </a:r>
          </a:p>
        </p:txBody>
      </p:sp>
      <p:sp>
        <p:nvSpPr>
          <p:cNvPr id="4" name="Rounded Rectangle 3"/>
          <p:cNvSpPr/>
          <p:nvPr/>
        </p:nvSpPr>
        <p:spPr>
          <a:xfrm>
            <a:off x="548640" y="1737360"/>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31520" y="1901952"/>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1</a:t>
            </a:r>
          </a:p>
        </p:txBody>
      </p:sp>
      <p:sp>
        <p:nvSpPr>
          <p:cNvPr id="6" name="TextBox 5"/>
          <p:cNvSpPr txBox="1"/>
          <p:nvPr/>
        </p:nvSpPr>
        <p:spPr>
          <a:xfrm>
            <a:off x="1417319" y="1856231"/>
            <a:ext cx="4389120" cy="292608"/>
          </a:xfrm>
          <a:prstGeom prst="rect">
            <a:avLst/>
          </a:prstGeom>
          <a:noFill/>
        </p:spPr>
        <p:txBody>
          <a:bodyPr wrap="square" lIns="0" rIns="0" tIns="0" bIns="0" anchor="t">
            <a:spAutoFit/>
          </a:bodyPr>
          <a:lstStyle/>
          <a:p>
            <a:pPr algn="l"/>
            <a:r>
              <a:rPr sz="1400" b="1" i="0">
                <a:solidFill>
                  <a:srgbClr val="003366"/>
                </a:solidFill>
                <a:latin typeface="Calibri"/>
              </a:rPr>
              <a:t>Confirm the target</a:t>
            </a:r>
          </a:p>
        </p:txBody>
      </p:sp>
      <p:sp>
        <p:nvSpPr>
          <p:cNvPr id="7" name="TextBox 6"/>
          <p:cNvSpPr txBox="1"/>
          <p:nvPr/>
        </p:nvSpPr>
        <p:spPr>
          <a:xfrm>
            <a:off x="1417319" y="2167128"/>
            <a:ext cx="4389120" cy="347472"/>
          </a:xfrm>
          <a:prstGeom prst="rect">
            <a:avLst/>
          </a:prstGeom>
          <a:noFill/>
        </p:spPr>
        <p:txBody>
          <a:bodyPr wrap="square" lIns="0" rIns="0" tIns="0" bIns="0" anchor="t">
            <a:spAutoFit/>
          </a:bodyPr>
          <a:lstStyle/>
          <a:p>
            <a:pPr algn="l"/>
            <a:r>
              <a:rPr sz="1100" b="0" i="0">
                <a:solidFill>
                  <a:srgbClr val="1C2B3A"/>
                </a:solidFill>
                <a:latin typeface="Calibri"/>
              </a:rPr>
              <a:t>Read the production project reference back aloud — every time</a:t>
            </a:r>
          </a:p>
        </p:txBody>
      </p:sp>
      <p:sp>
        <p:nvSpPr>
          <p:cNvPr id="8" name="Rounded Rectangle 7"/>
          <p:cNvSpPr/>
          <p:nvPr/>
        </p:nvSpPr>
        <p:spPr>
          <a:xfrm>
            <a:off x="548640" y="2633472"/>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2798064"/>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2</a:t>
            </a:r>
          </a:p>
        </p:txBody>
      </p:sp>
      <p:sp>
        <p:nvSpPr>
          <p:cNvPr id="10" name="TextBox 9"/>
          <p:cNvSpPr txBox="1"/>
          <p:nvPr/>
        </p:nvSpPr>
        <p:spPr>
          <a:xfrm>
            <a:off x="1417319" y="2752344"/>
            <a:ext cx="4389120" cy="292608"/>
          </a:xfrm>
          <a:prstGeom prst="rect">
            <a:avLst/>
          </a:prstGeom>
          <a:noFill/>
        </p:spPr>
        <p:txBody>
          <a:bodyPr wrap="square" lIns="0" rIns="0" tIns="0" bIns="0" anchor="t">
            <a:spAutoFit/>
          </a:bodyPr>
          <a:lstStyle/>
          <a:p>
            <a:pPr algn="l"/>
            <a:r>
              <a:rPr sz="1400" b="1" i="0">
                <a:solidFill>
                  <a:srgbClr val="003366"/>
                </a:solidFill>
                <a:latin typeface="Calibri"/>
              </a:rPr>
              <a:t>Deploy the release candidate</a:t>
            </a:r>
          </a:p>
        </p:txBody>
      </p:sp>
      <p:sp>
        <p:nvSpPr>
          <p:cNvPr id="11" name="TextBox 10"/>
          <p:cNvSpPr txBox="1"/>
          <p:nvPr/>
        </p:nvSpPr>
        <p:spPr>
          <a:xfrm>
            <a:off x="1417319" y="3063239"/>
            <a:ext cx="4389120" cy="347472"/>
          </a:xfrm>
          <a:prstGeom prst="rect">
            <a:avLst/>
          </a:prstGeom>
          <a:noFill/>
        </p:spPr>
        <p:txBody>
          <a:bodyPr wrap="square" lIns="0" rIns="0" tIns="0" bIns="0" anchor="t">
            <a:spAutoFit/>
          </a:bodyPr>
          <a:lstStyle/>
          <a:p>
            <a:pPr algn="l"/>
            <a:r>
              <a:rPr sz="1100" b="0" i="0">
                <a:solidFill>
                  <a:srgbClr val="1C2B3A"/>
                </a:solidFill>
                <a:latin typeface="Calibri"/>
              </a:rPr>
              <a:t>The frozen, verified build — never “the tag plus one small fix”</a:t>
            </a:r>
          </a:p>
        </p:txBody>
      </p:sp>
      <p:sp>
        <p:nvSpPr>
          <p:cNvPr id="12" name="Rounded Rectangle 11"/>
          <p:cNvSpPr/>
          <p:nvPr/>
        </p:nvSpPr>
        <p:spPr>
          <a:xfrm>
            <a:off x="548640" y="3529584"/>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3694176"/>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3</a:t>
            </a:r>
          </a:p>
        </p:txBody>
      </p:sp>
      <p:sp>
        <p:nvSpPr>
          <p:cNvPr id="14" name="TextBox 13"/>
          <p:cNvSpPr txBox="1"/>
          <p:nvPr/>
        </p:nvSpPr>
        <p:spPr>
          <a:xfrm>
            <a:off x="1417319" y="3648456"/>
            <a:ext cx="4389120" cy="292608"/>
          </a:xfrm>
          <a:prstGeom prst="rect">
            <a:avLst/>
          </a:prstGeom>
          <a:noFill/>
        </p:spPr>
        <p:txBody>
          <a:bodyPr wrap="square" lIns="0" rIns="0" tIns="0" bIns="0" anchor="t">
            <a:spAutoFit/>
          </a:bodyPr>
          <a:lstStyle/>
          <a:p>
            <a:pPr algn="l"/>
            <a:r>
              <a:rPr sz="1400" b="1" i="0">
                <a:solidFill>
                  <a:srgbClr val="003366"/>
                </a:solidFill>
                <a:latin typeface="Calibri"/>
              </a:rPr>
              <a:t>Set every variable</a:t>
            </a:r>
          </a:p>
        </p:txBody>
      </p:sp>
      <p:sp>
        <p:nvSpPr>
          <p:cNvPr id="15" name="TextBox 14"/>
          <p:cNvSpPr txBox="1"/>
          <p:nvPr/>
        </p:nvSpPr>
        <p:spPr>
          <a:xfrm>
            <a:off x="1417319" y="3959352"/>
            <a:ext cx="4389120" cy="347472"/>
          </a:xfrm>
          <a:prstGeom prst="rect">
            <a:avLst/>
          </a:prstGeom>
          <a:noFill/>
        </p:spPr>
        <p:txBody>
          <a:bodyPr wrap="square" lIns="0" rIns="0" tIns="0" bIns="0" anchor="t">
            <a:spAutoFit/>
          </a:bodyPr>
          <a:lstStyle/>
          <a:p>
            <a:pPr algn="l"/>
            <a:r>
              <a:rPr sz="1100" b="0" i="0">
                <a:solidFill>
                  <a:srgbClr val="1C2B3A"/>
                </a:solidFill>
                <a:latin typeface="Calibri"/>
              </a:rPr>
              <a:t>Live Flutterwave keys only; the gateway label on screen must read LIVE</a:t>
            </a:r>
          </a:p>
        </p:txBody>
      </p:sp>
      <p:sp>
        <p:nvSpPr>
          <p:cNvPr id="16" name="Rounded Rectangle 15"/>
          <p:cNvSpPr/>
          <p:nvPr/>
        </p:nvSpPr>
        <p:spPr>
          <a:xfrm>
            <a:off x="548640" y="4425696"/>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31520" y="4590288"/>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4</a:t>
            </a:r>
          </a:p>
        </p:txBody>
      </p:sp>
      <p:sp>
        <p:nvSpPr>
          <p:cNvPr id="18" name="TextBox 17"/>
          <p:cNvSpPr txBox="1"/>
          <p:nvPr/>
        </p:nvSpPr>
        <p:spPr>
          <a:xfrm>
            <a:off x="1417319" y="4544568"/>
            <a:ext cx="4389120" cy="292608"/>
          </a:xfrm>
          <a:prstGeom prst="rect">
            <a:avLst/>
          </a:prstGeom>
          <a:noFill/>
        </p:spPr>
        <p:txBody>
          <a:bodyPr wrap="square" lIns="0" rIns="0" tIns="0" bIns="0" anchor="t">
            <a:spAutoFit/>
          </a:bodyPr>
          <a:lstStyle/>
          <a:p>
            <a:pPr algn="l"/>
            <a:r>
              <a:rPr sz="1400" b="1" i="0">
                <a:solidFill>
                  <a:srgbClr val="003366"/>
                </a:solidFill>
                <a:latin typeface="Calibri"/>
              </a:rPr>
              <a:t>Create the first operator admin</a:t>
            </a:r>
          </a:p>
        </p:txBody>
      </p:sp>
      <p:sp>
        <p:nvSpPr>
          <p:cNvPr id="19" name="TextBox 18"/>
          <p:cNvSpPr txBox="1"/>
          <p:nvPr/>
        </p:nvSpPr>
        <p:spPr>
          <a:xfrm>
            <a:off x="1417319" y="4855464"/>
            <a:ext cx="4389120" cy="347472"/>
          </a:xfrm>
          <a:prstGeom prst="rect">
            <a:avLst/>
          </a:prstGeom>
          <a:noFill/>
        </p:spPr>
        <p:txBody>
          <a:bodyPr wrap="square" lIns="0" rIns="0" tIns="0" bIns="0" anchor="t">
            <a:spAutoFit/>
          </a:bodyPr>
          <a:lstStyle/>
          <a:p>
            <a:pPr algn="l"/>
            <a:r>
              <a:rPr sz="1100" b="0" i="0">
                <a:solidFill>
                  <a:srgbClr val="1C2B3A"/>
                </a:solidFill>
                <a:latin typeface="Calibri"/>
              </a:rPr>
              <a:t>One account, by script; password changed and MFA on before anything else</a:t>
            </a:r>
          </a:p>
        </p:txBody>
      </p:sp>
      <p:sp>
        <p:nvSpPr>
          <p:cNvPr id="20" name="Rounded Rectangle 19"/>
          <p:cNvSpPr/>
          <p:nvPr/>
        </p:nvSpPr>
        <p:spPr>
          <a:xfrm>
            <a:off x="548640" y="5321808"/>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31520" y="5486400"/>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5</a:t>
            </a:r>
          </a:p>
        </p:txBody>
      </p:sp>
      <p:sp>
        <p:nvSpPr>
          <p:cNvPr id="22" name="TextBox 21"/>
          <p:cNvSpPr txBox="1"/>
          <p:nvPr/>
        </p:nvSpPr>
        <p:spPr>
          <a:xfrm>
            <a:off x="1417319" y="5440680"/>
            <a:ext cx="4389120" cy="292608"/>
          </a:xfrm>
          <a:prstGeom prst="rect">
            <a:avLst/>
          </a:prstGeom>
          <a:noFill/>
        </p:spPr>
        <p:txBody>
          <a:bodyPr wrap="square" lIns="0" rIns="0" tIns="0" bIns="0" anchor="t">
            <a:spAutoFit/>
          </a:bodyPr>
          <a:lstStyle/>
          <a:p>
            <a:pPr algn="l"/>
            <a:r>
              <a:rPr sz="1400" b="1" i="0">
                <a:solidFill>
                  <a:srgbClr val="003366"/>
                </a:solidFill>
                <a:latin typeface="Calibri"/>
              </a:rPr>
              <a:t>Re-point the chat channels</a:t>
            </a:r>
          </a:p>
        </p:txBody>
      </p:sp>
      <p:sp>
        <p:nvSpPr>
          <p:cNvPr id="23" name="TextBox 22"/>
          <p:cNvSpPr txBox="1"/>
          <p:nvPr/>
        </p:nvSpPr>
        <p:spPr>
          <a:xfrm>
            <a:off x="1417319" y="5751576"/>
            <a:ext cx="4389120" cy="347472"/>
          </a:xfrm>
          <a:prstGeom prst="rect">
            <a:avLst/>
          </a:prstGeom>
          <a:noFill/>
        </p:spPr>
        <p:txBody>
          <a:bodyPr wrap="square" lIns="0" rIns="0" tIns="0" bIns="0" anchor="t">
            <a:spAutoFit/>
          </a:bodyPr>
          <a:lstStyle/>
          <a:p>
            <a:pPr algn="l"/>
            <a:r>
              <a:rPr sz="1100" b="0" i="0">
                <a:solidFill>
                  <a:srgbClr val="1C2B3A"/>
                </a:solidFill>
                <a:latin typeface="Calibri"/>
              </a:rPr>
              <a:t>Both WhatsApp numbers and both Telegram bots, to production</a:t>
            </a:r>
          </a:p>
        </p:txBody>
      </p:sp>
      <p:sp>
        <p:nvSpPr>
          <p:cNvPr id="24" name="Rounded Rectangle 23"/>
          <p:cNvSpPr/>
          <p:nvPr/>
        </p:nvSpPr>
        <p:spPr>
          <a:xfrm>
            <a:off x="6172200" y="1737360"/>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355080" y="1901952"/>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6</a:t>
            </a:r>
          </a:p>
        </p:txBody>
      </p:sp>
      <p:sp>
        <p:nvSpPr>
          <p:cNvPr id="26" name="TextBox 25"/>
          <p:cNvSpPr txBox="1"/>
          <p:nvPr/>
        </p:nvSpPr>
        <p:spPr>
          <a:xfrm>
            <a:off x="7040880" y="1856231"/>
            <a:ext cx="4389120" cy="292608"/>
          </a:xfrm>
          <a:prstGeom prst="rect">
            <a:avLst/>
          </a:prstGeom>
          <a:noFill/>
        </p:spPr>
        <p:txBody>
          <a:bodyPr wrap="square" lIns="0" rIns="0" tIns="0" bIns="0" anchor="t">
            <a:spAutoFit/>
          </a:bodyPr>
          <a:lstStyle/>
          <a:p>
            <a:pPr algn="l"/>
            <a:r>
              <a:rPr sz="1400" b="1" i="0">
                <a:solidFill>
                  <a:srgbClr val="003366"/>
                </a:solidFill>
                <a:latin typeface="Calibri"/>
              </a:rPr>
              <a:t>Point Flutterwave at production</a:t>
            </a:r>
          </a:p>
        </p:txBody>
      </p:sp>
      <p:sp>
        <p:nvSpPr>
          <p:cNvPr id="27" name="TextBox 26"/>
          <p:cNvSpPr txBox="1"/>
          <p:nvPr/>
        </p:nvSpPr>
        <p:spPr>
          <a:xfrm>
            <a:off x="7040880" y="2167128"/>
            <a:ext cx="4389120" cy="347472"/>
          </a:xfrm>
          <a:prstGeom prst="rect">
            <a:avLst/>
          </a:prstGeom>
          <a:noFill/>
        </p:spPr>
        <p:txBody>
          <a:bodyPr wrap="square" lIns="0" rIns="0" tIns="0" bIns="0" anchor="t">
            <a:spAutoFit/>
          </a:bodyPr>
          <a:lstStyle/>
          <a:p>
            <a:pPr algn="l"/>
            <a:r>
              <a:rPr sz="1100" b="0" i="0">
                <a:solidFill>
                  <a:srgbClr val="1C2B3A"/>
                </a:solidFill>
                <a:latin typeface="Calibri"/>
              </a:rPr>
              <a:t>Webhook address and secret hash set in the Flutterwave dashboard</a:t>
            </a:r>
          </a:p>
        </p:txBody>
      </p:sp>
      <p:sp>
        <p:nvSpPr>
          <p:cNvPr id="28" name="Rounded Rectangle 27"/>
          <p:cNvSpPr/>
          <p:nvPr/>
        </p:nvSpPr>
        <p:spPr>
          <a:xfrm>
            <a:off x="6172200" y="2633472"/>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355080" y="2798064"/>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7</a:t>
            </a:r>
          </a:p>
        </p:txBody>
      </p:sp>
      <p:sp>
        <p:nvSpPr>
          <p:cNvPr id="30" name="TextBox 29"/>
          <p:cNvSpPr txBox="1"/>
          <p:nvPr/>
        </p:nvSpPr>
        <p:spPr>
          <a:xfrm>
            <a:off x="7040880" y="2752344"/>
            <a:ext cx="4389120" cy="292608"/>
          </a:xfrm>
          <a:prstGeom prst="rect">
            <a:avLst/>
          </a:prstGeom>
          <a:noFill/>
        </p:spPr>
        <p:txBody>
          <a:bodyPr wrap="square" lIns="0" rIns="0" tIns="0" bIns="0" anchor="t">
            <a:spAutoFit/>
          </a:bodyPr>
          <a:lstStyle/>
          <a:p>
            <a:pPr algn="l"/>
            <a:r>
              <a:rPr sz="1400" b="1" i="0">
                <a:solidFill>
                  <a:srgbClr val="003366"/>
                </a:solidFill>
                <a:latin typeface="Calibri"/>
              </a:rPr>
              <a:t>Move the three portal domains</a:t>
            </a:r>
          </a:p>
        </p:txBody>
      </p:sp>
      <p:sp>
        <p:nvSpPr>
          <p:cNvPr id="31" name="TextBox 30"/>
          <p:cNvSpPr txBox="1"/>
          <p:nvPr/>
        </p:nvSpPr>
        <p:spPr>
          <a:xfrm>
            <a:off x="7040880" y="3063239"/>
            <a:ext cx="4389120" cy="347472"/>
          </a:xfrm>
          <a:prstGeom prst="rect">
            <a:avLst/>
          </a:prstGeom>
          <a:noFill/>
        </p:spPr>
        <p:txBody>
          <a:bodyPr wrap="square" lIns="0" rIns="0" tIns="0" bIns="0" anchor="t">
            <a:spAutoFit/>
          </a:bodyPr>
          <a:lstStyle/>
          <a:p>
            <a:pPr algn="l"/>
            <a:r>
              <a:rPr sz="1100" b="0" i="0">
                <a:solidFill>
                  <a:srgbClr val="1C2B3A"/>
                </a:solidFill>
                <a:latin typeface="Calibri"/>
              </a:rPr>
              <a:t>tfmlportal.com, oeaportal.com, portal.tfmlconsultant.com — moved, never aliased</a:t>
            </a:r>
          </a:p>
        </p:txBody>
      </p:sp>
      <p:sp>
        <p:nvSpPr>
          <p:cNvPr id="32" name="Rounded Rectangle 31"/>
          <p:cNvSpPr/>
          <p:nvPr/>
        </p:nvSpPr>
        <p:spPr>
          <a:xfrm>
            <a:off x="6172200" y="3529584"/>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355080" y="3694176"/>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8</a:t>
            </a:r>
          </a:p>
        </p:txBody>
      </p:sp>
      <p:sp>
        <p:nvSpPr>
          <p:cNvPr id="34" name="TextBox 33"/>
          <p:cNvSpPr txBox="1"/>
          <p:nvPr/>
        </p:nvSpPr>
        <p:spPr>
          <a:xfrm>
            <a:off x="7040880" y="3648456"/>
            <a:ext cx="4389120" cy="292608"/>
          </a:xfrm>
          <a:prstGeom prst="rect">
            <a:avLst/>
          </a:prstGeom>
          <a:noFill/>
        </p:spPr>
        <p:txBody>
          <a:bodyPr wrap="square" lIns="0" rIns="0" tIns="0" bIns="0" anchor="t">
            <a:spAutoFit/>
          </a:bodyPr>
          <a:lstStyle/>
          <a:p>
            <a:pPr algn="l"/>
            <a:r>
              <a:rPr sz="1400" b="1" i="0">
                <a:solidFill>
                  <a:srgbClr val="003366"/>
                </a:solidFill>
                <a:latin typeface="Calibri"/>
              </a:rPr>
              <a:t>Bind each organisation’s domain</a:t>
            </a:r>
          </a:p>
        </p:txBody>
      </p:sp>
      <p:sp>
        <p:nvSpPr>
          <p:cNvPr id="35" name="TextBox 34"/>
          <p:cNvSpPr txBox="1"/>
          <p:nvPr/>
        </p:nvSpPr>
        <p:spPr>
          <a:xfrm>
            <a:off x="7040880" y="3959352"/>
            <a:ext cx="4389120" cy="347472"/>
          </a:xfrm>
          <a:prstGeom prst="rect">
            <a:avLst/>
          </a:prstGeom>
          <a:noFill/>
        </p:spPr>
        <p:txBody>
          <a:bodyPr wrap="square" lIns="0" rIns="0" tIns="0" bIns="0" anchor="t">
            <a:spAutoFit/>
          </a:bodyPr>
          <a:lstStyle/>
          <a:p>
            <a:pPr algn="l"/>
            <a:r>
              <a:rPr sz="1100" b="0" i="0">
                <a:solidFill>
                  <a:srgbClr val="1C2B3A"/>
                </a:solidFill>
                <a:latin typeface="Calibri"/>
              </a:rPr>
              <a:t>So every invitation, receipt and link carries its own brand</a:t>
            </a:r>
          </a:p>
        </p:txBody>
      </p:sp>
      <p:sp>
        <p:nvSpPr>
          <p:cNvPr id="36" name="Rounded Rectangle 35"/>
          <p:cNvSpPr/>
          <p:nvPr/>
        </p:nvSpPr>
        <p:spPr>
          <a:xfrm>
            <a:off x="6172200" y="4425696"/>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355080" y="4590288"/>
            <a:ext cx="493776" cy="493776"/>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9</a:t>
            </a:r>
          </a:p>
        </p:txBody>
      </p:sp>
      <p:sp>
        <p:nvSpPr>
          <p:cNvPr id="38" name="TextBox 37"/>
          <p:cNvSpPr txBox="1"/>
          <p:nvPr/>
        </p:nvSpPr>
        <p:spPr>
          <a:xfrm>
            <a:off x="7040880" y="4544568"/>
            <a:ext cx="4389120" cy="292608"/>
          </a:xfrm>
          <a:prstGeom prst="rect">
            <a:avLst/>
          </a:prstGeom>
          <a:noFill/>
        </p:spPr>
        <p:txBody>
          <a:bodyPr wrap="square" lIns="0" rIns="0" tIns="0" bIns="0" anchor="t">
            <a:spAutoFit/>
          </a:bodyPr>
          <a:lstStyle/>
          <a:p>
            <a:pPr algn="l"/>
            <a:r>
              <a:rPr sz="1400" b="1" i="0">
                <a:solidFill>
                  <a:srgbClr val="003366"/>
                </a:solidFill>
                <a:latin typeface="Calibri"/>
              </a:rPr>
              <a:t>Prove which build answers</a:t>
            </a:r>
          </a:p>
        </p:txBody>
      </p:sp>
      <p:sp>
        <p:nvSpPr>
          <p:cNvPr id="39" name="TextBox 38"/>
          <p:cNvSpPr txBox="1"/>
          <p:nvPr/>
        </p:nvSpPr>
        <p:spPr>
          <a:xfrm>
            <a:off x="7040880" y="4855464"/>
            <a:ext cx="4389120" cy="347472"/>
          </a:xfrm>
          <a:prstGeom prst="rect">
            <a:avLst/>
          </a:prstGeom>
          <a:noFill/>
        </p:spPr>
        <p:txBody>
          <a:bodyPr wrap="square" lIns="0" rIns="0" tIns="0" bIns="0" anchor="t">
            <a:spAutoFit/>
          </a:bodyPr>
          <a:lstStyle/>
          <a:p>
            <a:pPr algn="l"/>
            <a:r>
              <a:rPr sz="1100" b="0" i="0">
                <a:solidFill>
                  <a:srgbClr val="1C2B3A"/>
                </a:solidFill>
                <a:latin typeface="Calibri"/>
              </a:rPr>
              <a:t>All three hostnames must return the same deployment id — content, not status code</a:t>
            </a:r>
          </a:p>
        </p:txBody>
      </p:sp>
      <p:sp>
        <p:nvSpPr>
          <p:cNvPr id="40" name="Rounded Rectangle 39"/>
          <p:cNvSpPr/>
          <p:nvPr/>
        </p:nvSpPr>
        <p:spPr>
          <a:xfrm>
            <a:off x="6172200" y="5321808"/>
            <a:ext cx="5440680" cy="822960"/>
          </a:xfrm>
          <a:prstGeom prst="roundRect">
            <a:avLst>
              <a:gd name="adj" fmla="val 10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355080" y="5486400"/>
            <a:ext cx="493776" cy="49377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mbria"/>
              </a:rPr>
              <a:t>10</a:t>
            </a:r>
          </a:p>
        </p:txBody>
      </p:sp>
      <p:sp>
        <p:nvSpPr>
          <p:cNvPr id="42" name="TextBox 41"/>
          <p:cNvSpPr txBox="1"/>
          <p:nvPr/>
        </p:nvSpPr>
        <p:spPr>
          <a:xfrm>
            <a:off x="7040880" y="5440680"/>
            <a:ext cx="4389120" cy="292608"/>
          </a:xfrm>
          <a:prstGeom prst="rect">
            <a:avLst/>
          </a:prstGeom>
          <a:noFill/>
        </p:spPr>
        <p:txBody>
          <a:bodyPr wrap="square" lIns="0" rIns="0" tIns="0" bIns="0" anchor="t">
            <a:spAutoFit/>
          </a:bodyPr>
          <a:lstStyle/>
          <a:p>
            <a:pPr algn="l"/>
            <a:r>
              <a:rPr sz="1400" b="1" i="0">
                <a:solidFill>
                  <a:srgbClr val="003366"/>
                </a:solidFill>
                <a:latin typeface="Calibri"/>
              </a:rPr>
              <a:t>Verify production</a:t>
            </a:r>
          </a:p>
        </p:txBody>
      </p:sp>
      <p:sp>
        <p:nvSpPr>
          <p:cNvPr id="43" name="TextBox 42"/>
          <p:cNvSpPr txBox="1"/>
          <p:nvPr/>
        </p:nvSpPr>
        <p:spPr>
          <a:xfrm>
            <a:off x="7040880" y="5751576"/>
            <a:ext cx="4389120" cy="347472"/>
          </a:xfrm>
          <a:prstGeom prst="rect">
            <a:avLst/>
          </a:prstGeom>
          <a:noFill/>
        </p:spPr>
        <p:txBody>
          <a:bodyPr wrap="square" lIns="0" rIns="0" tIns="0" bIns="0" anchor="t">
            <a:spAutoFit/>
          </a:bodyPr>
          <a:lstStyle/>
          <a:p>
            <a:pPr algn="l"/>
            <a:r>
              <a:rPr sz="1100" b="0" i="0">
                <a:solidFill>
                  <a:srgbClr val="1C2B3A"/>
                </a:solidFill>
                <a:latin typeface="Calibri"/>
              </a:rPr>
              <a:t>Full suite against production, then re-prove it is still empty</a:t>
            </a:r>
          </a:p>
        </p:txBody>
      </p:sp>
      <p:sp>
        <p:nvSpPr>
          <p:cNvPr id="44" name="TextBox 43"/>
          <p:cNvSpPr txBox="1"/>
          <p:nvPr/>
        </p:nvSpPr>
        <p:spPr>
          <a:xfrm>
            <a:off x="548640" y="6236208"/>
            <a:ext cx="11064240" cy="274320"/>
          </a:xfrm>
          <a:prstGeom prst="rect">
            <a:avLst/>
          </a:prstGeom>
          <a:noFill/>
        </p:spPr>
        <p:txBody>
          <a:bodyPr wrap="square" lIns="0" rIns="0" tIns="0" bIns="0" anchor="t">
            <a:spAutoFit/>
          </a:bodyPr>
          <a:lstStyle/>
          <a:p>
            <a:pPr algn="l"/>
            <a:r>
              <a:rPr sz="1200" b="1" i="0">
                <a:solidFill>
                  <a:srgbClr val="003366"/>
                </a:solidFill>
                <a:latin typeface="Calibri"/>
              </a:rPr>
              <a:t>One person driving, one reading the steps aloud. </a:t>
            </a:r>
            <a:r>
              <a:rPr sz="1200" b="0" i="0">
                <a:solidFill>
                  <a:srgbClr val="1C2B3A"/>
                </a:solidFill>
                <a:latin typeface="Calibri"/>
              </a:rPr>
              <a:t>Every step is rehearsed on staging first, and the rehearsal’s real durations become the runbook.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Payment gateway: Flutterwave replaces Paystack</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Paystack’s verification asks cannot be met yet; Flutterwave’s can, and one account covers both Naira and foreign currency.</a:t>
            </a:r>
          </a:p>
        </p:txBody>
      </p:sp>
      <p:sp>
        <p:nvSpPr>
          <p:cNvPr id="4" name="Rounded Rectangle 3"/>
          <p:cNvSpPr/>
          <p:nvPr/>
        </p:nvSpPr>
        <p:spPr>
          <a:xfrm>
            <a:off x="548640" y="1783080"/>
            <a:ext cx="5440680" cy="2880360"/>
          </a:xfrm>
          <a:prstGeom prst="roundRect">
            <a:avLst>
              <a:gd name="adj" fmla="val 4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822959" y="1965960"/>
            <a:ext cx="2377440" cy="292608"/>
          </a:xfrm>
          <a:prstGeom prst="roundRect">
            <a:avLst>
              <a:gd name="adj" fmla="val 50000"/>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ALREADY BUILT</a:t>
            </a:r>
          </a:p>
        </p:txBody>
      </p:sp>
      <p:sp>
        <p:nvSpPr>
          <p:cNvPr id="6" name="Oval 5"/>
          <p:cNvSpPr/>
          <p:nvPr/>
        </p:nvSpPr>
        <p:spPr>
          <a:xfrm>
            <a:off x="868680" y="2532888"/>
            <a:ext cx="128016" cy="12801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7" name="TextBox 6"/>
          <p:cNvSpPr txBox="1"/>
          <p:nvPr/>
        </p:nvSpPr>
        <p:spPr>
          <a:xfrm>
            <a:off x="1143000" y="2468880"/>
            <a:ext cx="4663440" cy="365760"/>
          </a:xfrm>
          <a:prstGeom prst="rect">
            <a:avLst/>
          </a:prstGeom>
          <a:noFill/>
        </p:spPr>
        <p:txBody>
          <a:bodyPr wrap="square" lIns="0" rIns="0" tIns="0" bIns="0" anchor="t">
            <a:spAutoFit/>
          </a:bodyPr>
          <a:lstStyle/>
          <a:p>
            <a:pPr algn="l"/>
            <a:r>
              <a:rPr sz="1250" b="0" i="0">
                <a:solidFill>
                  <a:srgbClr val="1C2B3A"/>
                </a:solidFill>
                <a:latin typeface="Calibri"/>
              </a:rPr>
              <a:t>Flutterwave checkout and server-side payment verification</a:t>
            </a:r>
          </a:p>
        </p:txBody>
      </p:sp>
      <p:sp>
        <p:nvSpPr>
          <p:cNvPr id="8" name="Oval 7"/>
          <p:cNvSpPr/>
          <p:nvPr/>
        </p:nvSpPr>
        <p:spPr>
          <a:xfrm>
            <a:off x="868680" y="2953512"/>
            <a:ext cx="128016" cy="12801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9" name="TextBox 8"/>
          <p:cNvSpPr txBox="1"/>
          <p:nvPr/>
        </p:nvSpPr>
        <p:spPr>
          <a:xfrm>
            <a:off x="1143000" y="2889504"/>
            <a:ext cx="4663440" cy="365760"/>
          </a:xfrm>
          <a:prstGeom prst="rect">
            <a:avLst/>
          </a:prstGeom>
          <a:noFill/>
        </p:spPr>
        <p:txBody>
          <a:bodyPr wrap="square" lIns="0" rIns="0" tIns="0" bIns="0" anchor="t">
            <a:spAutoFit/>
          </a:bodyPr>
          <a:lstStyle/>
          <a:p>
            <a:pPr algn="l"/>
            <a:r>
              <a:rPr sz="1250" b="0" i="0">
                <a:solidFill>
                  <a:srgbClr val="1C2B3A"/>
                </a:solidFill>
                <a:latin typeface="Calibri"/>
              </a:rPr>
              <a:t>Signed webhook from Flutterwave, checked before anything posts</a:t>
            </a:r>
          </a:p>
        </p:txBody>
      </p:sp>
      <p:sp>
        <p:nvSpPr>
          <p:cNvPr id="10" name="Oval 9"/>
          <p:cNvSpPr/>
          <p:nvPr/>
        </p:nvSpPr>
        <p:spPr>
          <a:xfrm>
            <a:off x="868680" y="3374136"/>
            <a:ext cx="128016" cy="12801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1" name="TextBox 10"/>
          <p:cNvSpPr txBox="1"/>
          <p:nvPr/>
        </p:nvSpPr>
        <p:spPr>
          <a:xfrm>
            <a:off x="1143000" y="3310128"/>
            <a:ext cx="4663440" cy="365760"/>
          </a:xfrm>
          <a:prstGeom prst="rect">
            <a:avLst/>
          </a:prstGeom>
          <a:noFill/>
        </p:spPr>
        <p:txBody>
          <a:bodyPr wrap="square" lIns="0" rIns="0" tIns="0" bIns="0" anchor="t">
            <a:spAutoFit/>
          </a:bodyPr>
          <a:lstStyle/>
          <a:p>
            <a:pPr algn="l"/>
            <a:r>
              <a:rPr sz="1250" b="0" i="0">
                <a:solidFill>
                  <a:srgbClr val="1C2B3A"/>
                </a:solidFill>
                <a:latin typeface="Calibri"/>
              </a:rPr>
              <a:t>Each organisation’s own Flutterwave key, stored encrypted</a:t>
            </a:r>
          </a:p>
        </p:txBody>
      </p:sp>
      <p:sp>
        <p:nvSpPr>
          <p:cNvPr id="12" name="Oval 11"/>
          <p:cNvSpPr/>
          <p:nvPr/>
        </p:nvSpPr>
        <p:spPr>
          <a:xfrm>
            <a:off x="868680" y="3794760"/>
            <a:ext cx="128016" cy="12801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3" name="TextBox 12"/>
          <p:cNvSpPr txBox="1"/>
          <p:nvPr/>
        </p:nvSpPr>
        <p:spPr>
          <a:xfrm>
            <a:off x="1143000" y="3730752"/>
            <a:ext cx="4663440" cy="365760"/>
          </a:xfrm>
          <a:prstGeom prst="rect">
            <a:avLst/>
          </a:prstGeom>
          <a:noFill/>
        </p:spPr>
        <p:txBody>
          <a:bodyPr wrap="square" lIns="0" rIns="0" tIns="0" bIns="0" anchor="t">
            <a:spAutoFit/>
          </a:bodyPr>
          <a:lstStyle/>
          <a:p>
            <a:pPr algn="l"/>
            <a:r>
              <a:rPr sz="1250" b="0" i="0">
                <a:solidFill>
                  <a:srgbClr val="1C2B3A"/>
                </a:solidFill>
                <a:latin typeface="Calibri"/>
              </a:rPr>
              <a:t>Separate foreign-currency ledger, proven by 21 checks</a:t>
            </a:r>
          </a:p>
        </p:txBody>
      </p:sp>
      <p:sp>
        <p:nvSpPr>
          <p:cNvPr id="14" name="Oval 13"/>
          <p:cNvSpPr/>
          <p:nvPr/>
        </p:nvSpPr>
        <p:spPr>
          <a:xfrm>
            <a:off x="868680" y="4215384"/>
            <a:ext cx="128016" cy="128016"/>
          </a:xfrm>
          <a:prstGeom prst="ellipse">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5" name="TextBox 14"/>
          <p:cNvSpPr txBox="1"/>
          <p:nvPr/>
        </p:nvSpPr>
        <p:spPr>
          <a:xfrm>
            <a:off x="1143000" y="4151376"/>
            <a:ext cx="4663440" cy="365760"/>
          </a:xfrm>
          <a:prstGeom prst="rect">
            <a:avLst/>
          </a:prstGeom>
          <a:noFill/>
        </p:spPr>
        <p:txBody>
          <a:bodyPr wrap="square" lIns="0" rIns="0" tIns="0" bIns="0" anchor="t">
            <a:spAutoFit/>
          </a:bodyPr>
          <a:lstStyle/>
          <a:p>
            <a:pPr algn="l"/>
            <a:r>
              <a:rPr sz="1250" b="0" i="0">
                <a:solidFill>
                  <a:srgbClr val="1C2B3A"/>
                </a:solidFill>
                <a:latin typeface="Calibri"/>
              </a:rPr>
              <a:t>Payout by recorded bank transfer — needs no gateway at all</a:t>
            </a:r>
          </a:p>
        </p:txBody>
      </p:sp>
      <p:sp>
        <p:nvSpPr>
          <p:cNvPr id="16" name="Rounded Rectangle 15"/>
          <p:cNvSpPr/>
          <p:nvPr/>
        </p:nvSpPr>
        <p:spPr>
          <a:xfrm>
            <a:off x="6172200" y="1783080"/>
            <a:ext cx="5440680" cy="2880360"/>
          </a:xfrm>
          <a:prstGeom prst="roundRect">
            <a:avLst>
              <a:gd name="adj" fmla="val 4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446520" y="1965960"/>
            <a:ext cx="2377440" cy="292608"/>
          </a:xfrm>
          <a:prstGeom prst="roundRect">
            <a:avLst>
              <a:gd name="adj" fmla="val 50000"/>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TO BUILD BEFORE THE TWO DAYS</a:t>
            </a:r>
          </a:p>
        </p:txBody>
      </p:sp>
      <p:sp>
        <p:nvSpPr>
          <p:cNvPr id="18" name="Oval 17"/>
          <p:cNvSpPr/>
          <p:nvPr/>
        </p:nvSpPr>
        <p:spPr>
          <a:xfrm>
            <a:off x="6492240" y="2532888"/>
            <a:ext cx="128016" cy="12801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9" name="TextBox 18"/>
          <p:cNvSpPr txBox="1"/>
          <p:nvPr/>
        </p:nvSpPr>
        <p:spPr>
          <a:xfrm>
            <a:off x="6766560" y="2468880"/>
            <a:ext cx="4663440" cy="365760"/>
          </a:xfrm>
          <a:prstGeom prst="rect">
            <a:avLst/>
          </a:prstGeom>
          <a:noFill/>
        </p:spPr>
        <p:txBody>
          <a:bodyPr wrap="square" lIns="0" rIns="0" tIns="0" bIns="0" anchor="t">
            <a:spAutoFit/>
          </a:bodyPr>
          <a:lstStyle/>
          <a:p>
            <a:pPr algn="l"/>
            <a:r>
              <a:rPr sz="1250" b="0" i="0">
                <a:solidFill>
                  <a:srgbClr val="1C2B3A"/>
                </a:solidFill>
                <a:latin typeface="Calibri"/>
              </a:rPr>
              <a:t>Route Naira to Flutterwave — today Naira always goes to Paystack</a:t>
            </a:r>
          </a:p>
        </p:txBody>
      </p:sp>
      <p:sp>
        <p:nvSpPr>
          <p:cNvPr id="20" name="Oval 19"/>
          <p:cNvSpPr/>
          <p:nvPr/>
        </p:nvSpPr>
        <p:spPr>
          <a:xfrm>
            <a:off x="6492240" y="2953512"/>
            <a:ext cx="128016" cy="12801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1" name="TextBox 20"/>
          <p:cNvSpPr txBox="1"/>
          <p:nvPr/>
        </p:nvSpPr>
        <p:spPr>
          <a:xfrm>
            <a:off x="6766560" y="2889504"/>
            <a:ext cx="4663440" cy="365760"/>
          </a:xfrm>
          <a:prstGeom prst="rect">
            <a:avLst/>
          </a:prstGeom>
          <a:noFill/>
        </p:spPr>
        <p:txBody>
          <a:bodyPr wrap="square" lIns="0" rIns="0" tIns="0" bIns="0" anchor="t">
            <a:spAutoFit/>
          </a:bodyPr>
          <a:lstStyle/>
          <a:p>
            <a:pPr algn="l"/>
            <a:r>
              <a:rPr sz="1250" b="0" i="0">
                <a:solidFill>
                  <a:srgbClr val="1C2B3A"/>
                </a:solidFill>
                <a:latin typeface="Calibri"/>
              </a:rPr>
              <a:t>Automated payouts through Flutterwave — today it only collects</a:t>
            </a:r>
          </a:p>
        </p:txBody>
      </p:sp>
      <p:sp>
        <p:nvSpPr>
          <p:cNvPr id="22" name="Oval 21"/>
          <p:cNvSpPr/>
          <p:nvPr/>
        </p:nvSpPr>
        <p:spPr>
          <a:xfrm>
            <a:off x="6492240" y="3374136"/>
            <a:ext cx="128016" cy="12801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3" name="TextBox 22"/>
          <p:cNvSpPr txBox="1"/>
          <p:nvPr/>
        </p:nvSpPr>
        <p:spPr>
          <a:xfrm>
            <a:off x="6766560" y="3310128"/>
            <a:ext cx="4663440" cy="365760"/>
          </a:xfrm>
          <a:prstGeom prst="rect">
            <a:avLst/>
          </a:prstGeom>
          <a:noFill/>
        </p:spPr>
        <p:txBody>
          <a:bodyPr wrap="square" lIns="0" rIns="0" tIns="0" bIns="0" anchor="t">
            <a:spAutoFit/>
          </a:bodyPr>
          <a:lstStyle/>
          <a:p>
            <a:pPr algn="l"/>
            <a:r>
              <a:rPr sz="1250" b="0" i="0">
                <a:solidFill>
                  <a:srgbClr val="1C2B3A"/>
                </a:solidFill>
                <a:latin typeface="Calibri"/>
              </a:rPr>
              <a:t>Bank list and account-name check through Flutterwave</a:t>
            </a:r>
          </a:p>
        </p:txBody>
      </p:sp>
      <p:sp>
        <p:nvSpPr>
          <p:cNvPr id="24" name="Oval 23"/>
          <p:cNvSpPr/>
          <p:nvPr/>
        </p:nvSpPr>
        <p:spPr>
          <a:xfrm>
            <a:off x="6492240" y="3794760"/>
            <a:ext cx="128016" cy="12801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5" name="TextBox 24"/>
          <p:cNvSpPr txBox="1"/>
          <p:nvPr/>
        </p:nvSpPr>
        <p:spPr>
          <a:xfrm>
            <a:off x="6766560" y="3730752"/>
            <a:ext cx="4663440" cy="365760"/>
          </a:xfrm>
          <a:prstGeom prst="rect">
            <a:avLst/>
          </a:prstGeom>
          <a:noFill/>
        </p:spPr>
        <p:txBody>
          <a:bodyPr wrap="square" lIns="0" rIns="0" tIns="0" bIns="0" anchor="t">
            <a:spAutoFit/>
          </a:bodyPr>
          <a:lstStyle/>
          <a:p>
            <a:pPr algn="l"/>
            <a:r>
              <a:rPr sz="1250" b="0" i="0">
                <a:solidFill>
                  <a:srgbClr val="1C2B3A"/>
                </a:solidFill>
                <a:latin typeface="Calibri"/>
              </a:rPr>
              <a:t>Money suites re-run on Flutterwave test keys, then a new candidate</a:t>
            </a:r>
          </a:p>
        </p:txBody>
      </p:sp>
      <p:sp>
        <p:nvSpPr>
          <p:cNvPr id="26" name="Oval 25"/>
          <p:cNvSpPr/>
          <p:nvPr/>
        </p:nvSpPr>
        <p:spPr>
          <a:xfrm>
            <a:off x="6492240" y="4215384"/>
            <a:ext cx="128016" cy="128016"/>
          </a:xfrm>
          <a:prstGeom prst="ellipse">
            <a:avLst/>
          </a:prstGeom>
          <a:solidFill>
            <a:srgbClr val="B5680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7" name="TextBox 26"/>
          <p:cNvSpPr txBox="1"/>
          <p:nvPr/>
        </p:nvSpPr>
        <p:spPr>
          <a:xfrm>
            <a:off x="6766560" y="4151376"/>
            <a:ext cx="4663440" cy="365760"/>
          </a:xfrm>
          <a:prstGeom prst="rect">
            <a:avLst/>
          </a:prstGeom>
          <a:noFill/>
        </p:spPr>
        <p:txBody>
          <a:bodyPr wrap="square" lIns="0" rIns="0" tIns="0" bIns="0" anchor="t">
            <a:spAutoFit/>
          </a:bodyPr>
          <a:lstStyle/>
          <a:p>
            <a:pPr algn="l"/>
            <a:r>
              <a:rPr sz="1250" b="0" i="0">
                <a:solidFill>
                  <a:srgbClr val="1C2B3A"/>
                </a:solidFill>
                <a:latin typeface="Calibri"/>
              </a:rPr>
              <a:t>Paystack code kept but switched off — no key, no traffic</a:t>
            </a:r>
          </a:p>
        </p:txBody>
      </p:sp>
      <p:sp>
        <p:nvSpPr>
          <p:cNvPr id="28" name="Rounded Rectangle 27"/>
          <p:cNvSpPr/>
          <p:nvPr/>
        </p:nvSpPr>
        <p:spPr>
          <a:xfrm>
            <a:off x="548640" y="4846320"/>
            <a:ext cx="5440680" cy="1481328"/>
          </a:xfrm>
          <a:prstGeom prst="roundRect">
            <a:avLst>
              <a:gd name="adj" fmla="val 6000"/>
            </a:avLst>
          </a:prstGeom>
          <a:solidFill>
            <a:srgbClr val="EAF1F9"/>
          </a:solidFill>
          <a:ln w="952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2959" y="4956048"/>
            <a:ext cx="2743200" cy="228600"/>
          </a:xfrm>
          <a:prstGeom prst="rect">
            <a:avLst/>
          </a:prstGeom>
          <a:noFill/>
        </p:spPr>
        <p:txBody>
          <a:bodyPr wrap="square" lIns="0" rIns="0" tIns="0" bIns="0" anchor="t">
            <a:spAutoFit/>
          </a:bodyPr>
          <a:lstStyle/>
          <a:p>
            <a:pPr algn="l"/>
            <a:r>
              <a:rPr sz="950" b="1" i="0" spc="150">
                <a:solidFill>
                  <a:srgbClr val="C08A1E"/>
                </a:solidFill>
                <a:latin typeface="Calibri"/>
              </a:rPr>
              <a:t>A  ·  RECOMMENDED</a:t>
            </a:r>
          </a:p>
        </p:txBody>
      </p:sp>
      <p:sp>
        <p:nvSpPr>
          <p:cNvPr id="30" name="TextBox 29"/>
          <p:cNvSpPr txBox="1"/>
          <p:nvPr/>
        </p:nvSpPr>
        <p:spPr>
          <a:xfrm>
            <a:off x="822959" y="5193792"/>
            <a:ext cx="4937760" cy="274320"/>
          </a:xfrm>
          <a:prstGeom prst="rect">
            <a:avLst/>
          </a:prstGeom>
          <a:noFill/>
        </p:spPr>
        <p:txBody>
          <a:bodyPr wrap="square" lIns="0" rIns="0" tIns="0" bIns="0" anchor="t">
            <a:spAutoFit/>
          </a:bodyPr>
          <a:lstStyle/>
          <a:p>
            <a:pPr algn="l"/>
            <a:r>
              <a:rPr sz="1350" b="1" i="0">
                <a:solidFill>
                  <a:srgbClr val="003366"/>
                </a:solidFill>
                <a:latin typeface="Calibri"/>
              </a:rPr>
              <a:t>Collections on Flutterwave; payouts by bank transfer</a:t>
            </a:r>
          </a:p>
        </p:txBody>
      </p:sp>
      <p:sp>
        <p:nvSpPr>
          <p:cNvPr id="31" name="TextBox 30"/>
          <p:cNvSpPr txBox="1"/>
          <p:nvPr/>
        </p:nvSpPr>
        <p:spPr>
          <a:xfrm>
            <a:off x="822959" y="5486400"/>
            <a:ext cx="4937760" cy="566928"/>
          </a:xfrm>
          <a:prstGeom prst="rect">
            <a:avLst/>
          </a:prstGeom>
          <a:noFill/>
        </p:spPr>
        <p:txBody>
          <a:bodyPr wrap="square" lIns="0" rIns="0" tIns="0" bIns="0" anchor="t">
            <a:spAutoFit/>
          </a:bodyPr>
          <a:lstStyle/>
          <a:p>
            <a:pPr algn="l"/>
            <a:r>
              <a:rPr sz="1050" b="0" i="0">
                <a:solidFill>
                  <a:srgbClr val="1C2B3A"/>
                </a:solidFill>
                <a:latin typeface="Calibri"/>
              </a:rPr>
              <a:t>Naira and FX collections go live on Flutterwave. Vendors and landlords are paid by recorded bank transfer through the same three-desk approval; automated Flutterwave payouts follow as the first post-go-live item.</a:t>
            </a:r>
          </a:p>
        </p:txBody>
      </p:sp>
      <p:sp>
        <p:nvSpPr>
          <p:cNvPr id="32" name="TextBox 31"/>
          <p:cNvSpPr txBox="1"/>
          <p:nvPr/>
        </p:nvSpPr>
        <p:spPr>
          <a:xfrm>
            <a:off x="822959" y="6053328"/>
            <a:ext cx="4937760" cy="228600"/>
          </a:xfrm>
          <a:prstGeom prst="rect">
            <a:avLst/>
          </a:prstGeom>
          <a:noFill/>
        </p:spPr>
        <p:txBody>
          <a:bodyPr wrap="square" lIns="0" rIns="0" tIns="0" bIns="0" anchor="t">
            <a:spAutoFit/>
          </a:bodyPr>
          <a:lstStyle/>
          <a:p>
            <a:pPr algn="l"/>
            <a:r>
              <a:rPr sz="1050" b="1" i="0">
                <a:solidFill>
                  <a:srgbClr val="B5680A"/>
                </a:solidFill>
                <a:latin typeface="Calibri"/>
              </a:rPr>
              <a:t>≈ 1 day build + a full verification run, before Day 1</a:t>
            </a:r>
          </a:p>
        </p:txBody>
      </p:sp>
      <p:sp>
        <p:nvSpPr>
          <p:cNvPr id="33" name="Rounded Rectangle 32"/>
          <p:cNvSpPr/>
          <p:nvPr/>
        </p:nvSpPr>
        <p:spPr>
          <a:xfrm>
            <a:off x="6172200" y="4846320"/>
            <a:ext cx="5440680" cy="1481328"/>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46520" y="4956048"/>
            <a:ext cx="2743200" cy="228600"/>
          </a:xfrm>
          <a:prstGeom prst="rect">
            <a:avLst/>
          </a:prstGeom>
          <a:noFill/>
        </p:spPr>
        <p:txBody>
          <a:bodyPr wrap="square" lIns="0" rIns="0" tIns="0" bIns="0" anchor="t">
            <a:spAutoFit/>
          </a:bodyPr>
          <a:lstStyle/>
          <a:p>
            <a:pPr algn="l"/>
            <a:r>
              <a:rPr sz="950" b="1" i="0" spc="150">
                <a:solidFill>
                  <a:srgbClr val="7A8A9B"/>
                </a:solidFill>
                <a:latin typeface="Calibri"/>
              </a:rPr>
              <a:t>B</a:t>
            </a:r>
          </a:p>
        </p:txBody>
      </p:sp>
      <p:sp>
        <p:nvSpPr>
          <p:cNvPr id="35" name="TextBox 34"/>
          <p:cNvSpPr txBox="1"/>
          <p:nvPr/>
        </p:nvSpPr>
        <p:spPr>
          <a:xfrm>
            <a:off x="6446520" y="5193792"/>
            <a:ext cx="4937760" cy="274320"/>
          </a:xfrm>
          <a:prstGeom prst="rect">
            <a:avLst/>
          </a:prstGeom>
          <a:noFill/>
        </p:spPr>
        <p:txBody>
          <a:bodyPr wrap="square" lIns="0" rIns="0" tIns="0" bIns="0" anchor="t">
            <a:spAutoFit/>
          </a:bodyPr>
          <a:lstStyle/>
          <a:p>
            <a:pPr algn="l"/>
            <a:r>
              <a:rPr sz="1350" b="1" i="0">
                <a:solidFill>
                  <a:srgbClr val="003366"/>
                </a:solidFill>
                <a:latin typeface="Calibri"/>
              </a:rPr>
              <a:t>Everything on Flutterwave, including automated payouts</a:t>
            </a:r>
          </a:p>
        </p:txBody>
      </p:sp>
      <p:sp>
        <p:nvSpPr>
          <p:cNvPr id="36" name="TextBox 35"/>
          <p:cNvSpPr txBox="1"/>
          <p:nvPr/>
        </p:nvSpPr>
        <p:spPr>
          <a:xfrm>
            <a:off x="6446520" y="5486400"/>
            <a:ext cx="4937760" cy="566928"/>
          </a:xfrm>
          <a:prstGeom prst="rect">
            <a:avLst/>
          </a:prstGeom>
          <a:noFill/>
        </p:spPr>
        <p:txBody>
          <a:bodyPr wrap="square" lIns="0" rIns="0" tIns="0" bIns="0" anchor="t">
            <a:spAutoFit/>
          </a:bodyPr>
          <a:lstStyle/>
          <a:p>
            <a:pPr algn="l"/>
            <a:r>
              <a:rPr sz="1050" b="0" i="0">
                <a:solidFill>
                  <a:srgbClr val="1C2B3A"/>
                </a:solidFill>
                <a:latin typeface="Calibri"/>
              </a:rPr>
              <a:t>Adds the payout integration, its status callbacks and the account-name check before go-live, with its own test cycle on the money path.</a:t>
            </a:r>
          </a:p>
        </p:txBody>
      </p:sp>
      <p:sp>
        <p:nvSpPr>
          <p:cNvPr id="37" name="TextBox 36"/>
          <p:cNvSpPr txBox="1"/>
          <p:nvPr/>
        </p:nvSpPr>
        <p:spPr>
          <a:xfrm>
            <a:off x="6446520" y="6053328"/>
            <a:ext cx="4937760" cy="228600"/>
          </a:xfrm>
          <a:prstGeom prst="rect">
            <a:avLst/>
          </a:prstGeom>
          <a:noFill/>
        </p:spPr>
        <p:txBody>
          <a:bodyPr wrap="square" lIns="0" rIns="0" tIns="0" bIns="0" anchor="t">
            <a:spAutoFit/>
          </a:bodyPr>
          <a:lstStyle/>
          <a:p>
            <a:pPr algn="l"/>
            <a:r>
              <a:rPr sz="1050" b="1" i="0">
                <a:solidFill>
                  <a:srgbClr val="B5680A"/>
                </a:solidFill>
                <a:latin typeface="Calibri"/>
              </a:rPr>
              <a:t>≈ 2–3 days build + verification, before Day 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Why verification takes the time it does</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124 automated suites prove the money, access and privacy rules against a real database. They run one after another.</a:t>
            </a:r>
          </a:p>
        </p:txBody>
      </p:sp>
      <p:sp>
        <p:nvSpPr>
          <p:cNvPr id="4" name="Rounded Rectangle 3"/>
          <p:cNvSpPr/>
          <p:nvPr/>
        </p:nvSpPr>
        <p:spPr>
          <a:xfrm>
            <a:off x="548640" y="1737360"/>
            <a:ext cx="5394960" cy="4434840"/>
          </a:xfrm>
          <a:prstGeom prst="roundRect">
            <a:avLst>
              <a:gd name="adj" fmla="val 4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874519"/>
            <a:ext cx="4937760" cy="320040"/>
          </a:xfrm>
          <a:prstGeom prst="rect">
            <a:avLst/>
          </a:prstGeom>
          <a:noFill/>
        </p:spPr>
        <p:txBody>
          <a:bodyPr wrap="square" lIns="0" rIns="0" tIns="0" bIns="0" anchor="t">
            <a:spAutoFit/>
          </a:bodyPr>
          <a:lstStyle/>
          <a:p>
            <a:pPr algn="l"/>
            <a:r>
              <a:rPr sz="1400" b="1" i="0">
                <a:solidFill>
                  <a:srgbClr val="003366"/>
                </a:solidFill>
                <a:latin typeface="Calibri"/>
              </a:rPr>
              <a:t>Minutes per full verification run</a:t>
            </a:r>
          </a:p>
        </p:txBody>
      </p:sp>
      <p:sp>
        <p:nvSpPr>
          <p:cNvPr id="6" name="TextBox 5"/>
          <p:cNvSpPr txBox="1"/>
          <p:nvPr/>
        </p:nvSpPr>
        <p:spPr>
          <a:xfrm>
            <a:off x="777240" y="2194560"/>
            <a:ext cx="4937760" cy="274320"/>
          </a:xfrm>
          <a:prstGeom prst="rect">
            <a:avLst/>
          </a:prstGeom>
          <a:noFill/>
        </p:spPr>
        <p:txBody>
          <a:bodyPr wrap="square" lIns="0" rIns="0" tIns="0" bIns="0" anchor="t">
            <a:spAutoFit/>
          </a:bodyPr>
          <a:lstStyle/>
          <a:p>
            <a:pPr algn="l"/>
            <a:r>
              <a:rPr sz="1050" b="0" i="0">
                <a:solidFill>
                  <a:srgbClr val="7A8A9B"/>
                </a:solidFill>
                <a:latin typeface="Calibri"/>
              </a:rPr>
              <a:t>From the committed run logs, 19–21 September</a:t>
            </a:r>
          </a:p>
        </p:txBody>
      </p:sp>
      <p:graphicFrame>
        <p:nvGraphicFramePr>
          <p:cNvPr id="7" name="Chart 6"/>
          <p:cNvGraphicFramePr>
            <a:graphicFrameLocks noGrp="1"/>
          </p:cNvGraphicFramePr>
          <p:nvPr/>
        </p:nvGraphicFramePr>
        <p:xfrm>
          <a:off x="731520" y="2560320"/>
          <a:ext cx="5029200" cy="3474720"/>
        </p:xfrm>
        <a:graphic>
          <a:graphicData uri="http://schemas.openxmlformats.org/drawingml/2006/chart">
            <c:chart xmlns:c="http://schemas.openxmlformats.org/drawingml/2006/chart" r:id="rId2"/>
          </a:graphicData>
        </a:graphic>
      </p:graphicFrame>
      <p:sp>
        <p:nvSpPr>
          <p:cNvPr id="8" name="TextBox 7"/>
          <p:cNvSpPr txBox="1"/>
          <p:nvPr/>
        </p:nvSpPr>
        <p:spPr>
          <a:xfrm>
            <a:off x="6263640" y="1737360"/>
            <a:ext cx="5349240" cy="274320"/>
          </a:xfrm>
          <a:prstGeom prst="rect">
            <a:avLst/>
          </a:prstGeom>
          <a:noFill/>
        </p:spPr>
        <p:txBody>
          <a:bodyPr wrap="square" lIns="0" rIns="0" tIns="0" bIns="0" anchor="t">
            <a:spAutoFit/>
          </a:bodyPr>
          <a:lstStyle/>
          <a:p>
            <a:pPr algn="l"/>
            <a:r>
              <a:rPr sz="1400" b="1" i="0">
                <a:solidFill>
                  <a:srgbClr val="003366"/>
                </a:solidFill>
                <a:latin typeface="Calibri"/>
              </a:rPr>
              <a:t>Every fix restarts the clock</a:t>
            </a:r>
          </a:p>
        </p:txBody>
      </p:sp>
      <p:sp>
        <p:nvSpPr>
          <p:cNvPr id="9" name="TextBox 8"/>
          <p:cNvSpPr txBox="1"/>
          <p:nvPr/>
        </p:nvSpPr>
        <p:spPr>
          <a:xfrm>
            <a:off x="6263640" y="2039112"/>
            <a:ext cx="5349240" cy="731520"/>
          </a:xfrm>
          <a:prstGeom prst="rect">
            <a:avLst/>
          </a:prstGeom>
          <a:noFill/>
        </p:spPr>
        <p:txBody>
          <a:bodyPr wrap="square" lIns="0" rIns="0" tIns="0" bIns="0" anchor="t">
            <a:spAutoFit/>
          </a:bodyPr>
          <a:lstStyle/>
          <a:p>
            <a:pPr algn="l"/>
            <a:r>
              <a:rPr sz="1150" b="0" i="0">
                <a:solidFill>
                  <a:srgbClr val="1C2B3A"/>
                </a:solidFill>
                <a:latin typeface="Calibri"/>
              </a:rPr>
              <a:t>A change after the tag retires the candidate. A new one is cut and every gate re-runs: types, lint, build, 124 suites, secrets scan. rc3 is already superseded, and the Flutterwave switch needs its own candidate.</a:t>
            </a:r>
          </a:p>
        </p:txBody>
      </p:sp>
      <p:sp>
        <p:nvSpPr>
          <p:cNvPr id="10" name="TextBox 9"/>
          <p:cNvSpPr txBox="1"/>
          <p:nvPr/>
        </p:nvSpPr>
        <p:spPr>
          <a:xfrm>
            <a:off x="6263640" y="2834639"/>
            <a:ext cx="5349240" cy="274320"/>
          </a:xfrm>
          <a:prstGeom prst="rect">
            <a:avLst/>
          </a:prstGeom>
          <a:noFill/>
        </p:spPr>
        <p:txBody>
          <a:bodyPr wrap="square" lIns="0" rIns="0" tIns="0" bIns="0" anchor="t">
            <a:spAutoFit/>
          </a:bodyPr>
          <a:lstStyle/>
          <a:p>
            <a:pPr algn="l"/>
            <a:r>
              <a:rPr sz="1400" b="1" i="0">
                <a:solidFill>
                  <a:srgbClr val="003366"/>
                </a:solidFill>
                <a:latin typeface="Calibri"/>
              </a:rPr>
              <a:t>A rehearsal that finds something is repeated</a:t>
            </a:r>
          </a:p>
        </p:txBody>
      </p:sp>
      <p:sp>
        <p:nvSpPr>
          <p:cNvPr id="11" name="TextBox 10"/>
          <p:cNvSpPr txBox="1"/>
          <p:nvPr/>
        </p:nvSpPr>
        <p:spPr>
          <a:xfrm>
            <a:off x="6263640" y="3136391"/>
            <a:ext cx="5349240" cy="731520"/>
          </a:xfrm>
          <a:prstGeom prst="rect">
            <a:avLst/>
          </a:prstGeom>
          <a:noFill/>
        </p:spPr>
        <p:txBody>
          <a:bodyPr wrap="square" lIns="0" rIns="0" tIns="0" bIns="0" anchor="t">
            <a:spAutoFit/>
          </a:bodyPr>
          <a:lstStyle/>
          <a:p>
            <a:pPr algn="l"/>
            <a:r>
              <a:rPr sz="1150" b="0" i="0">
                <a:solidFill>
                  <a:srgbClr val="1C2B3A"/>
                </a:solidFill>
                <a:latin typeface="Calibri"/>
              </a:rPr>
              <a:t>Findings fixed during the staging rehearsal mean a new candidate and a second rehearsal. Shipping an untested fix is not an option on the money path.</a:t>
            </a:r>
          </a:p>
        </p:txBody>
      </p:sp>
      <p:sp>
        <p:nvSpPr>
          <p:cNvPr id="12" name="TextBox 11"/>
          <p:cNvSpPr txBox="1"/>
          <p:nvPr/>
        </p:nvSpPr>
        <p:spPr>
          <a:xfrm>
            <a:off x="6263640" y="3931920"/>
            <a:ext cx="5349240" cy="274320"/>
          </a:xfrm>
          <a:prstGeom prst="rect">
            <a:avLst/>
          </a:prstGeom>
          <a:noFill/>
        </p:spPr>
        <p:txBody>
          <a:bodyPr wrap="square" lIns="0" rIns="0" tIns="0" bIns="0" anchor="t">
            <a:spAutoFit/>
          </a:bodyPr>
          <a:lstStyle/>
          <a:p>
            <a:pPr algn="l"/>
            <a:r>
              <a:rPr sz="1400" b="1" i="0">
                <a:solidFill>
                  <a:srgbClr val="003366"/>
                </a:solidFill>
                <a:latin typeface="Calibri"/>
              </a:rPr>
              <a:t>Production is verified again after cutover</a:t>
            </a:r>
          </a:p>
        </p:txBody>
      </p:sp>
      <p:sp>
        <p:nvSpPr>
          <p:cNvPr id="13" name="TextBox 12"/>
          <p:cNvSpPr txBox="1"/>
          <p:nvPr/>
        </p:nvSpPr>
        <p:spPr>
          <a:xfrm>
            <a:off x="6263640" y="4233672"/>
            <a:ext cx="5349240" cy="731520"/>
          </a:xfrm>
          <a:prstGeom prst="rect">
            <a:avLst/>
          </a:prstGeom>
          <a:noFill/>
        </p:spPr>
        <p:txBody>
          <a:bodyPr wrap="square" lIns="0" rIns="0" tIns="0" bIns="0" anchor="t">
            <a:spAutoFit/>
          </a:bodyPr>
          <a:lstStyle/>
          <a:p>
            <a:pPr algn="l"/>
            <a:r>
              <a:rPr sz="1150" b="0" i="0">
                <a:solidFill>
                  <a:srgbClr val="1C2B3A"/>
                </a:solidFill>
                <a:latin typeface="Calibri"/>
              </a:rPr>
              <a:t>The full suite runs against production itself, then the database is re-proven empty.</a:t>
            </a:r>
          </a:p>
        </p:txBody>
      </p:sp>
      <p:sp>
        <p:nvSpPr>
          <p:cNvPr id="14" name="TextBox 13"/>
          <p:cNvSpPr txBox="1"/>
          <p:nvPr/>
        </p:nvSpPr>
        <p:spPr>
          <a:xfrm>
            <a:off x="6263640" y="5029200"/>
            <a:ext cx="5349240" cy="274320"/>
          </a:xfrm>
          <a:prstGeom prst="rect">
            <a:avLst/>
          </a:prstGeom>
          <a:noFill/>
        </p:spPr>
        <p:txBody>
          <a:bodyPr wrap="square" lIns="0" rIns="0" tIns="0" bIns="0" anchor="t">
            <a:spAutoFit/>
          </a:bodyPr>
          <a:lstStyle/>
          <a:p>
            <a:pPr algn="l"/>
            <a:r>
              <a:rPr sz="1400" b="1" i="0">
                <a:solidFill>
                  <a:srgbClr val="003366"/>
                </a:solidFill>
                <a:latin typeface="Calibri"/>
              </a:rPr>
              <a:t>Some waits are not ours</a:t>
            </a:r>
          </a:p>
        </p:txBody>
      </p:sp>
      <p:sp>
        <p:nvSpPr>
          <p:cNvPr id="15" name="TextBox 14"/>
          <p:cNvSpPr txBox="1"/>
          <p:nvPr/>
        </p:nvSpPr>
        <p:spPr>
          <a:xfrm>
            <a:off x="6263640" y="5330952"/>
            <a:ext cx="5349240" cy="731520"/>
          </a:xfrm>
          <a:prstGeom prst="rect">
            <a:avLst/>
          </a:prstGeom>
          <a:noFill/>
        </p:spPr>
        <p:txBody>
          <a:bodyPr wrap="square" lIns="0" rIns="0" tIns="0" bIns="0" anchor="t">
            <a:spAutoFit/>
          </a:bodyPr>
          <a:lstStyle/>
          <a:p>
            <a:pPr algn="l"/>
            <a:r>
              <a:rPr sz="1150" b="0" i="0">
                <a:solidFill>
                  <a:srgbClr val="1C2B3A"/>
                </a:solidFill>
                <a:latin typeface="Calibri"/>
              </a:rPr>
              <a:t>Flutterwave’s business verification, domain moves and webhook registration all complete on a third party’s clock.</a:t>
            </a:r>
          </a:p>
        </p:txBody>
      </p:sp>
      <p:sp>
        <p:nvSpPr>
          <p:cNvPr id="16" name="TextBox 15"/>
          <p:cNvSpPr txBox="1"/>
          <p:nvPr/>
        </p:nvSpPr>
        <p:spPr>
          <a:xfrm>
            <a:off x="548640" y="6263640"/>
            <a:ext cx="11064240" cy="274320"/>
          </a:xfrm>
          <a:prstGeom prst="rect">
            <a:avLst/>
          </a:prstGeom>
          <a:noFill/>
        </p:spPr>
        <p:txBody>
          <a:bodyPr wrap="square" lIns="0" rIns="0" tIns="0" bIns="0" anchor="t">
            <a:spAutoFit/>
          </a:bodyPr>
          <a:lstStyle/>
          <a:p>
            <a:pPr algn="l"/>
            <a:r>
              <a:rPr sz="1250" b="1" i="0">
                <a:solidFill>
                  <a:srgbClr val="B5680A"/>
                </a:solidFill>
                <a:latin typeface="Calibri"/>
              </a:rPr>
              <a:t>rc2 alone needed three full runs — 3.4 hours of verification — before it could be signed off.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B2E"/>
        </a:solidFill>
        <a:effectLst/>
      </p:bgPr>
    </p:bg>
    <p:spTree>
      <p:nvGrpSpPr>
        <p:cNvPr id="1" name=""/>
        <p:cNvGrpSpPr/>
        <p:nvPr/>
      </p:nvGrpSpPr>
      <p:grpSpPr/>
      <p:sp>
        <p:nvSpPr>
          <p:cNvPr id="2" name="TextBox 1"/>
          <p:cNvSpPr txBox="1"/>
          <p:nvPr/>
        </p:nvSpPr>
        <p:spPr>
          <a:xfrm>
            <a:off x="548640" y="411480"/>
            <a:ext cx="7315200" cy="274320"/>
          </a:xfrm>
          <a:prstGeom prst="rect">
            <a:avLst/>
          </a:prstGeom>
          <a:noFill/>
        </p:spPr>
        <p:txBody>
          <a:bodyPr wrap="square" lIns="0" rIns="0" tIns="0" bIns="0" anchor="t">
            <a:spAutoFit/>
          </a:bodyPr>
          <a:lstStyle/>
          <a:p>
            <a:pPr algn="l"/>
            <a:r>
              <a:rPr sz="1000" b="1" i="0" spc="300">
                <a:solidFill>
                  <a:srgbClr val="C08A1E"/>
                </a:solidFill>
                <a:latin typeface="Calibri"/>
              </a:rPr>
              <a:t>THE REQUEST</a:t>
            </a:r>
          </a:p>
        </p:txBody>
      </p:sp>
      <p:sp>
        <p:nvSpPr>
          <p:cNvPr id="3" name="TextBox 2"/>
          <p:cNvSpPr txBox="1"/>
          <p:nvPr/>
        </p:nvSpPr>
        <p:spPr>
          <a:xfrm>
            <a:off x="548640" y="731520"/>
            <a:ext cx="11064240" cy="731520"/>
          </a:xfrm>
          <a:prstGeom prst="rect">
            <a:avLst/>
          </a:prstGeom>
          <a:noFill/>
        </p:spPr>
        <p:txBody>
          <a:bodyPr wrap="square" lIns="0" rIns="0" tIns="0" bIns="0" anchor="t">
            <a:spAutoFit/>
          </a:bodyPr>
          <a:lstStyle/>
          <a:p>
            <a:pPr algn="l"/>
            <a:r>
              <a:rPr sz="3600" b="1" i="0">
                <a:solidFill>
                  <a:srgbClr val="FFFFFF"/>
                </a:solidFill>
                <a:latin typeface="Cambria"/>
              </a:rPr>
              <a:t>Two uninterrupted working days</a:t>
            </a:r>
          </a:p>
        </p:txBody>
      </p:sp>
      <p:sp>
        <p:nvSpPr>
          <p:cNvPr id="4" name="TextBox 3"/>
          <p:cNvSpPr txBox="1"/>
          <p:nvPr/>
        </p:nvSpPr>
        <p:spPr>
          <a:xfrm>
            <a:off x="548640" y="1463040"/>
            <a:ext cx="11064240" cy="365760"/>
          </a:xfrm>
          <a:prstGeom prst="rect">
            <a:avLst/>
          </a:prstGeom>
          <a:noFill/>
        </p:spPr>
        <p:txBody>
          <a:bodyPr wrap="square" lIns="0" rIns="0" tIns="0" bIns="0" anchor="t">
            <a:spAutoFit/>
          </a:bodyPr>
          <a:lstStyle/>
          <a:p>
            <a:pPr algn="l"/>
            <a:r>
              <a:rPr sz="1500" b="0" i="0">
                <a:solidFill>
                  <a:srgbClr val="9FB4CC"/>
                </a:solidFill>
                <a:latin typeface="Calibri"/>
              </a:rPr>
              <a:t>Released from regular ICT duties, back to back, to take the platform from verified build to production-ready.</a:t>
            </a:r>
          </a:p>
        </p:txBody>
      </p:sp>
      <p:sp>
        <p:nvSpPr>
          <p:cNvPr id="5" name="Rounded Rectangle 4"/>
          <p:cNvSpPr/>
          <p:nvPr/>
        </p:nvSpPr>
        <p:spPr>
          <a:xfrm>
            <a:off x="548640" y="2148840"/>
            <a:ext cx="5440680" cy="3931920"/>
          </a:xfrm>
          <a:prstGeom prst="roundRect">
            <a:avLst>
              <a:gd name="adj" fmla="val 4000"/>
            </a:avLst>
          </a:prstGeom>
          <a:solidFill>
            <a:srgbClr val="0E29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2377440"/>
            <a:ext cx="1828800" cy="274320"/>
          </a:xfrm>
          <a:prstGeom prst="rect">
            <a:avLst/>
          </a:prstGeom>
          <a:noFill/>
        </p:spPr>
        <p:txBody>
          <a:bodyPr wrap="square" lIns="0" rIns="0" tIns="0" bIns="0" anchor="t">
            <a:spAutoFit/>
          </a:bodyPr>
          <a:lstStyle/>
          <a:p>
            <a:pPr algn="l"/>
            <a:r>
              <a:rPr sz="1100" b="1" i="0" spc="200">
                <a:solidFill>
                  <a:srgbClr val="C08A1E"/>
                </a:solidFill>
                <a:latin typeface="Calibri"/>
              </a:rPr>
              <a:t>DAY 1</a:t>
            </a:r>
          </a:p>
        </p:txBody>
      </p:sp>
      <p:sp>
        <p:nvSpPr>
          <p:cNvPr id="7" name="TextBox 6"/>
          <p:cNvSpPr txBox="1"/>
          <p:nvPr/>
        </p:nvSpPr>
        <p:spPr>
          <a:xfrm>
            <a:off x="868680" y="2651760"/>
            <a:ext cx="3657600" cy="457200"/>
          </a:xfrm>
          <a:prstGeom prst="rect">
            <a:avLst/>
          </a:prstGeom>
          <a:noFill/>
        </p:spPr>
        <p:txBody>
          <a:bodyPr wrap="square" lIns="0" rIns="0" tIns="0" bIns="0" anchor="t">
            <a:spAutoFit/>
          </a:bodyPr>
          <a:lstStyle/>
          <a:p>
            <a:pPr algn="l"/>
            <a:r>
              <a:rPr sz="2200" b="1" i="0">
                <a:solidFill>
                  <a:srgbClr val="FFFFFF"/>
                </a:solidFill>
                <a:latin typeface="Cambria"/>
              </a:rPr>
              <a:t>Rehearse on staging</a:t>
            </a:r>
          </a:p>
        </p:txBody>
      </p:sp>
      <p:sp>
        <p:nvSpPr>
          <p:cNvPr id="8" name="Rounded Rectangle 7"/>
          <p:cNvSpPr/>
          <p:nvPr/>
        </p:nvSpPr>
        <p:spPr>
          <a:xfrm>
            <a:off x="4526279" y="2487168"/>
            <a:ext cx="1143000" cy="292608"/>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Stage 4</a:t>
            </a:r>
          </a:p>
        </p:txBody>
      </p:sp>
      <p:sp>
        <p:nvSpPr>
          <p:cNvPr id="9" name="Oval 8"/>
          <p:cNvSpPr/>
          <p:nvPr/>
        </p:nvSpPr>
        <p:spPr>
          <a:xfrm>
            <a:off x="868680" y="3346704"/>
            <a:ext cx="146304" cy="146304"/>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0" name="TextBox 9"/>
          <p:cNvSpPr txBox="1"/>
          <p:nvPr/>
        </p:nvSpPr>
        <p:spPr>
          <a:xfrm>
            <a:off x="1188719" y="3291840"/>
            <a:ext cx="4526280" cy="640080"/>
          </a:xfrm>
          <a:prstGeom prst="rect">
            <a:avLst/>
          </a:prstGeom>
          <a:noFill/>
        </p:spPr>
        <p:txBody>
          <a:bodyPr wrap="square" lIns="0" rIns="0" tIns="0" bIns="0" anchor="t">
            <a:spAutoFit/>
          </a:bodyPr>
          <a:lstStyle/>
          <a:p>
            <a:pPr algn="l"/>
            <a:r>
              <a:rPr sz="1300" b="0" i="0">
                <a:solidFill>
                  <a:srgbClr val="D8E5F5"/>
                </a:solidFill>
                <a:latin typeface="Calibri"/>
              </a:rPr>
              <a:t>Cut rc4, carrying the Flutterwave switch, and re-run every gate</a:t>
            </a:r>
          </a:p>
        </p:txBody>
      </p:sp>
      <p:sp>
        <p:nvSpPr>
          <p:cNvPr id="11" name="Oval 10"/>
          <p:cNvSpPr/>
          <p:nvPr/>
        </p:nvSpPr>
        <p:spPr>
          <a:xfrm>
            <a:off x="868680" y="4023359"/>
            <a:ext cx="146304" cy="146304"/>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2" name="TextBox 11"/>
          <p:cNvSpPr txBox="1"/>
          <p:nvPr/>
        </p:nvSpPr>
        <p:spPr>
          <a:xfrm>
            <a:off x="1188719" y="3968496"/>
            <a:ext cx="4526280" cy="640080"/>
          </a:xfrm>
          <a:prstGeom prst="rect">
            <a:avLst/>
          </a:prstGeom>
          <a:noFill/>
        </p:spPr>
        <p:txBody>
          <a:bodyPr wrap="square" lIns="0" rIns="0" tIns="0" bIns="0" anchor="t">
            <a:spAutoFit/>
          </a:bodyPr>
          <a:lstStyle/>
          <a:p>
            <a:pPr algn="l"/>
            <a:r>
              <a:rPr sz="1300" b="0" i="0">
                <a:solidFill>
                  <a:srgbClr val="D8E5F5"/>
                </a:solidFill>
                <a:latin typeface="Calibri"/>
              </a:rPr>
              <a:t>Bring staging to rc4; run the whole cutover, timed — the real runbook</a:t>
            </a:r>
          </a:p>
        </p:txBody>
      </p:sp>
      <p:sp>
        <p:nvSpPr>
          <p:cNvPr id="13" name="Oval 12"/>
          <p:cNvSpPr/>
          <p:nvPr/>
        </p:nvSpPr>
        <p:spPr>
          <a:xfrm>
            <a:off x="868680" y="4700016"/>
            <a:ext cx="146304" cy="146304"/>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4" name="TextBox 13"/>
          <p:cNvSpPr txBox="1"/>
          <p:nvPr/>
        </p:nvSpPr>
        <p:spPr>
          <a:xfrm>
            <a:off x="1188719" y="4645152"/>
            <a:ext cx="4526280" cy="640080"/>
          </a:xfrm>
          <a:prstGeom prst="rect">
            <a:avLst/>
          </a:prstGeom>
          <a:noFill/>
        </p:spPr>
        <p:txBody>
          <a:bodyPr wrap="square" lIns="0" rIns="0" tIns="0" bIns="0" anchor="t">
            <a:spAutoFit/>
          </a:bodyPr>
          <a:lstStyle/>
          <a:p>
            <a:pPr algn="l"/>
            <a:r>
              <a:rPr sz="1300" b="0" i="0">
                <a:solidFill>
                  <a:srgbClr val="D8E5F5"/>
                </a:solidFill>
                <a:latin typeface="Calibri"/>
              </a:rPr>
              <a:t>Money path end to end on Flutterwave test keys: collection → ledger → three-desk approval → payout → receipt</a:t>
            </a:r>
          </a:p>
        </p:txBody>
      </p:sp>
      <p:sp>
        <p:nvSpPr>
          <p:cNvPr id="15" name="Oval 14"/>
          <p:cNvSpPr/>
          <p:nvPr/>
        </p:nvSpPr>
        <p:spPr>
          <a:xfrm>
            <a:off x="868680" y="5376672"/>
            <a:ext cx="146304" cy="146304"/>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16" name="TextBox 15"/>
          <p:cNvSpPr txBox="1"/>
          <p:nvPr/>
        </p:nvSpPr>
        <p:spPr>
          <a:xfrm>
            <a:off x="1188719" y="5321808"/>
            <a:ext cx="4526280" cy="640080"/>
          </a:xfrm>
          <a:prstGeom prst="rect">
            <a:avLst/>
          </a:prstGeom>
          <a:noFill/>
        </p:spPr>
        <p:txBody>
          <a:bodyPr wrap="square" lIns="0" rIns="0" tIns="0" bIns="0" anchor="t">
            <a:spAutoFit/>
          </a:bodyPr>
          <a:lstStyle/>
          <a:p>
            <a:pPr algn="l"/>
            <a:r>
              <a:rPr sz="1300" b="0" i="0">
                <a:solidFill>
                  <a:srgbClr val="D8E5F5"/>
                </a:solidFill>
                <a:latin typeface="Calibri"/>
              </a:rPr>
              <a:t>Rehearse the rollback: revert to the previous deployment</a:t>
            </a:r>
          </a:p>
        </p:txBody>
      </p:sp>
      <p:sp>
        <p:nvSpPr>
          <p:cNvPr id="17" name="Rounded Rectangle 16"/>
          <p:cNvSpPr/>
          <p:nvPr/>
        </p:nvSpPr>
        <p:spPr>
          <a:xfrm>
            <a:off x="6172200" y="2148840"/>
            <a:ext cx="5440680" cy="3931920"/>
          </a:xfrm>
          <a:prstGeom prst="roundRect">
            <a:avLst>
              <a:gd name="adj" fmla="val 4000"/>
            </a:avLst>
          </a:prstGeom>
          <a:solidFill>
            <a:srgbClr val="0E29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92240" y="2377440"/>
            <a:ext cx="1828800" cy="274320"/>
          </a:xfrm>
          <a:prstGeom prst="rect">
            <a:avLst/>
          </a:prstGeom>
          <a:noFill/>
        </p:spPr>
        <p:txBody>
          <a:bodyPr wrap="square" lIns="0" rIns="0" tIns="0" bIns="0" anchor="t">
            <a:spAutoFit/>
          </a:bodyPr>
          <a:lstStyle/>
          <a:p>
            <a:pPr algn="l"/>
            <a:r>
              <a:rPr sz="1100" b="1" i="0" spc="200">
                <a:solidFill>
                  <a:srgbClr val="C08A1E"/>
                </a:solidFill>
                <a:latin typeface="Calibri"/>
              </a:rPr>
              <a:t>DAY 2</a:t>
            </a:r>
          </a:p>
        </p:txBody>
      </p:sp>
      <p:sp>
        <p:nvSpPr>
          <p:cNvPr id="19" name="TextBox 18"/>
          <p:cNvSpPr txBox="1"/>
          <p:nvPr/>
        </p:nvSpPr>
        <p:spPr>
          <a:xfrm>
            <a:off x="6492240" y="2651760"/>
            <a:ext cx="3657600" cy="457200"/>
          </a:xfrm>
          <a:prstGeom prst="rect">
            <a:avLst/>
          </a:prstGeom>
          <a:noFill/>
        </p:spPr>
        <p:txBody>
          <a:bodyPr wrap="square" lIns="0" rIns="0" tIns="0" bIns="0" anchor="t">
            <a:spAutoFit/>
          </a:bodyPr>
          <a:lstStyle/>
          <a:p>
            <a:pPr algn="l"/>
            <a:r>
              <a:rPr sz="2200" b="1" i="0">
                <a:solidFill>
                  <a:srgbClr val="FFFFFF"/>
                </a:solidFill>
                <a:latin typeface="Cambria"/>
              </a:rPr>
              <a:t>Cut over and prove it</a:t>
            </a:r>
          </a:p>
        </p:txBody>
      </p:sp>
      <p:sp>
        <p:nvSpPr>
          <p:cNvPr id="20" name="Rounded Rectangle 19"/>
          <p:cNvSpPr/>
          <p:nvPr/>
        </p:nvSpPr>
        <p:spPr>
          <a:xfrm>
            <a:off x="10149840" y="2487168"/>
            <a:ext cx="1143000" cy="292608"/>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Stages 5 – 6</a:t>
            </a:r>
          </a:p>
        </p:txBody>
      </p:sp>
      <p:sp>
        <p:nvSpPr>
          <p:cNvPr id="21" name="Oval 20"/>
          <p:cNvSpPr/>
          <p:nvPr/>
        </p:nvSpPr>
        <p:spPr>
          <a:xfrm>
            <a:off x="6492240" y="3346704"/>
            <a:ext cx="146304" cy="146304"/>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2" name="TextBox 21"/>
          <p:cNvSpPr txBox="1"/>
          <p:nvPr/>
        </p:nvSpPr>
        <p:spPr>
          <a:xfrm>
            <a:off x="6812280" y="3291840"/>
            <a:ext cx="4526280" cy="640080"/>
          </a:xfrm>
          <a:prstGeom prst="rect">
            <a:avLst/>
          </a:prstGeom>
          <a:noFill/>
        </p:spPr>
        <p:txBody>
          <a:bodyPr wrap="square" lIns="0" rIns="0" tIns="0" bIns="0" anchor="t">
            <a:spAutoFit/>
          </a:bodyPr>
          <a:lstStyle/>
          <a:p>
            <a:pPr algn="l"/>
            <a:r>
              <a:rPr sz="1300" b="0" i="0">
                <a:solidFill>
                  <a:srgbClr val="D8E5F5"/>
                </a:solidFill>
                <a:latin typeface="Calibri"/>
              </a:rPr>
              <a:t>The ten cutover steps on production, verified one at a time</a:t>
            </a:r>
          </a:p>
        </p:txBody>
      </p:sp>
      <p:sp>
        <p:nvSpPr>
          <p:cNvPr id="23" name="Oval 22"/>
          <p:cNvSpPr/>
          <p:nvPr/>
        </p:nvSpPr>
        <p:spPr>
          <a:xfrm>
            <a:off x="6492240" y="4023359"/>
            <a:ext cx="146304" cy="146304"/>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4" name="TextBox 23"/>
          <p:cNvSpPr txBox="1"/>
          <p:nvPr/>
        </p:nvSpPr>
        <p:spPr>
          <a:xfrm>
            <a:off x="6812280" y="3968496"/>
            <a:ext cx="4526280" cy="640080"/>
          </a:xfrm>
          <a:prstGeom prst="rect">
            <a:avLst/>
          </a:prstGeom>
          <a:noFill/>
        </p:spPr>
        <p:txBody>
          <a:bodyPr wrap="square" lIns="0" rIns="0" tIns="0" bIns="0" anchor="t">
            <a:spAutoFit/>
          </a:bodyPr>
          <a:lstStyle/>
          <a:p>
            <a:pPr algn="l"/>
            <a:r>
              <a:rPr sz="1300" b="0" i="0">
                <a:solidFill>
                  <a:srgbClr val="D8E5F5"/>
                </a:solidFill>
                <a:latin typeface="Calibri"/>
              </a:rPr>
              <a:t>Full suite against production; re-prove it is empty</a:t>
            </a:r>
          </a:p>
        </p:txBody>
      </p:sp>
      <p:sp>
        <p:nvSpPr>
          <p:cNvPr id="25" name="Oval 24"/>
          <p:cNvSpPr/>
          <p:nvPr/>
        </p:nvSpPr>
        <p:spPr>
          <a:xfrm>
            <a:off x="6492240" y="4700016"/>
            <a:ext cx="146304" cy="146304"/>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6" name="TextBox 25"/>
          <p:cNvSpPr txBox="1"/>
          <p:nvPr/>
        </p:nvSpPr>
        <p:spPr>
          <a:xfrm>
            <a:off x="6812280" y="4645152"/>
            <a:ext cx="4526280" cy="640080"/>
          </a:xfrm>
          <a:prstGeom prst="rect">
            <a:avLst/>
          </a:prstGeom>
          <a:noFill/>
        </p:spPr>
        <p:txBody>
          <a:bodyPr wrap="square" lIns="0" rIns="0" tIns="0" bIns="0" anchor="t">
            <a:spAutoFit/>
          </a:bodyPr>
          <a:lstStyle/>
          <a:p>
            <a:pPr algn="l"/>
            <a:r>
              <a:rPr sz="1300" b="0" i="0">
                <a:solidFill>
                  <a:srgbClr val="D8E5F5"/>
                </a:solidFill>
                <a:latin typeface="Calibri"/>
              </a:rPr>
              <a:t>Security scan (passive and active), load and rate-limit tests — the one window before client data</a:t>
            </a:r>
          </a:p>
        </p:txBody>
      </p:sp>
      <p:sp>
        <p:nvSpPr>
          <p:cNvPr id="27" name="Oval 26"/>
          <p:cNvSpPr/>
          <p:nvPr/>
        </p:nvSpPr>
        <p:spPr>
          <a:xfrm>
            <a:off x="6492240" y="5376672"/>
            <a:ext cx="146304" cy="146304"/>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FFFFFF"/>
                </a:solidFill>
                <a:latin typeface="Cambria"/>
              </a:rPr>
              <a:t/>
            </a:r>
          </a:p>
        </p:txBody>
      </p:sp>
      <p:sp>
        <p:nvSpPr>
          <p:cNvPr id="28" name="TextBox 27"/>
          <p:cNvSpPr txBox="1"/>
          <p:nvPr/>
        </p:nvSpPr>
        <p:spPr>
          <a:xfrm>
            <a:off x="6812280" y="5321808"/>
            <a:ext cx="4526280" cy="640080"/>
          </a:xfrm>
          <a:prstGeom prst="rect">
            <a:avLst/>
          </a:prstGeom>
          <a:noFill/>
        </p:spPr>
        <p:txBody>
          <a:bodyPr wrap="square" lIns="0" rIns="0" tIns="0" bIns="0" anchor="t">
            <a:spAutoFit/>
          </a:bodyPr>
          <a:lstStyle/>
          <a:p>
            <a:pPr algn="l"/>
            <a:r>
              <a:rPr sz="1300" b="0" i="0">
                <a:solidFill>
                  <a:srgbClr val="D8E5F5"/>
                </a:solidFill>
                <a:latin typeface="Calibri"/>
              </a:rPr>
              <a:t>Hand over to the board: staff UAT and the go/no-go decision</a:t>
            </a:r>
          </a:p>
        </p:txBody>
      </p:sp>
      <p:sp>
        <p:nvSpPr>
          <p:cNvPr id="29" name="TextBox 28"/>
          <p:cNvSpPr txBox="1"/>
          <p:nvPr/>
        </p:nvSpPr>
        <p:spPr>
          <a:xfrm>
            <a:off x="548640" y="6263640"/>
            <a:ext cx="11064240" cy="274320"/>
          </a:xfrm>
          <a:prstGeom prst="rect">
            <a:avLst/>
          </a:prstGeom>
          <a:noFill/>
        </p:spPr>
        <p:txBody>
          <a:bodyPr wrap="square" lIns="0" rIns="0" tIns="0" bIns="0" anchor="t">
            <a:spAutoFit/>
          </a:bodyPr>
          <a:lstStyle/>
          <a:p>
            <a:pPr algn="l"/>
            <a:r>
              <a:rPr sz="1200" b="0" i="1">
                <a:solidFill>
                  <a:srgbClr val="9FB4CC"/>
                </a:solidFill>
                <a:latin typeface="Calibri"/>
              </a:rPr>
              <a:t>Outcome: a production platform ready for the board’s UAT and go/no-go — not yet open to clients until the board’s own items are closed.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Why two days — and why uninterrupted</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Estimated time budget, once the Flutterwave build has landed. The staging rehearsal replaces these estimates with measured durations.</a:t>
            </a:r>
          </a:p>
        </p:txBody>
      </p:sp>
      <p:sp>
        <p:nvSpPr>
          <p:cNvPr id="4" name="Rounded Rectangle 3"/>
          <p:cNvSpPr/>
          <p:nvPr/>
        </p:nvSpPr>
        <p:spPr>
          <a:xfrm>
            <a:off x="548640" y="1737360"/>
            <a:ext cx="5852160" cy="4526280"/>
          </a:xfrm>
          <a:prstGeom prst="roundRect">
            <a:avLst>
              <a:gd name="adj" fmla="val 4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874519"/>
            <a:ext cx="4114800" cy="274320"/>
          </a:xfrm>
          <a:prstGeom prst="rect">
            <a:avLst/>
          </a:prstGeom>
          <a:noFill/>
        </p:spPr>
        <p:txBody>
          <a:bodyPr wrap="square" lIns="0" rIns="0" tIns="0" bIns="0" anchor="t">
            <a:spAutoFit/>
          </a:bodyPr>
          <a:lstStyle/>
          <a:p>
            <a:pPr algn="l"/>
            <a:r>
              <a:rPr sz="1100" b="1" i="0">
                <a:solidFill>
                  <a:srgbClr val="7A8A9B"/>
                </a:solidFill>
                <a:latin typeface="Calibri"/>
              </a:rPr>
              <a:t>Activity</a:t>
            </a:r>
          </a:p>
        </p:txBody>
      </p:sp>
      <p:sp>
        <p:nvSpPr>
          <p:cNvPr id="6" name="TextBox 5"/>
          <p:cNvSpPr txBox="1"/>
          <p:nvPr/>
        </p:nvSpPr>
        <p:spPr>
          <a:xfrm>
            <a:off x="4937760" y="1874519"/>
            <a:ext cx="1188720" cy="274320"/>
          </a:xfrm>
          <a:prstGeom prst="rect">
            <a:avLst/>
          </a:prstGeom>
          <a:noFill/>
        </p:spPr>
        <p:txBody>
          <a:bodyPr wrap="square" lIns="0" rIns="0" tIns="0" bIns="0" anchor="t">
            <a:spAutoFit/>
          </a:bodyPr>
          <a:lstStyle/>
          <a:p>
            <a:pPr algn="r"/>
            <a:r>
              <a:rPr sz="1100" b="1" i="0">
                <a:solidFill>
                  <a:srgbClr val="7A8A9B"/>
                </a:solidFill>
                <a:latin typeface="Calibri"/>
              </a:rPr>
              <a:t>Hours</a:t>
            </a:r>
          </a:p>
        </p:txBody>
      </p:sp>
      <p:sp>
        <p:nvSpPr>
          <p:cNvPr id="7" name="TextBox 6"/>
          <p:cNvSpPr txBox="1"/>
          <p:nvPr/>
        </p:nvSpPr>
        <p:spPr>
          <a:xfrm>
            <a:off x="822960" y="2212848"/>
            <a:ext cx="4114800" cy="365760"/>
          </a:xfrm>
          <a:prstGeom prst="rect">
            <a:avLst/>
          </a:prstGeom>
          <a:noFill/>
        </p:spPr>
        <p:txBody>
          <a:bodyPr wrap="square" lIns="0" rIns="0" tIns="0" bIns="0" anchor="t">
            <a:spAutoFit/>
          </a:bodyPr>
          <a:lstStyle/>
          <a:p>
            <a:pPr algn="l"/>
            <a:r>
              <a:rPr sz="1250" b="0" i="0">
                <a:solidFill>
                  <a:srgbClr val="1C2B3A"/>
                </a:solidFill>
                <a:latin typeface="Calibri"/>
              </a:rPr>
              <a:t>Cut rc4; types, lint, production build</a:t>
            </a:r>
          </a:p>
        </p:txBody>
      </p:sp>
      <p:sp>
        <p:nvSpPr>
          <p:cNvPr id="8" name="TextBox 7"/>
          <p:cNvSpPr txBox="1"/>
          <p:nvPr/>
        </p:nvSpPr>
        <p:spPr>
          <a:xfrm>
            <a:off x="4937760" y="2212848"/>
            <a:ext cx="1188720" cy="365760"/>
          </a:xfrm>
          <a:prstGeom prst="rect">
            <a:avLst/>
          </a:prstGeom>
          <a:noFill/>
        </p:spPr>
        <p:txBody>
          <a:bodyPr wrap="square" lIns="0" rIns="0" tIns="0" bIns="0" anchor="t">
            <a:spAutoFit/>
          </a:bodyPr>
          <a:lstStyle/>
          <a:p>
            <a:pPr algn="r"/>
            <a:r>
              <a:rPr sz="1250" b="1" i="0">
                <a:solidFill>
                  <a:srgbClr val="1C2B3A"/>
                </a:solidFill>
                <a:latin typeface="Calibri"/>
              </a:rPr>
              <a:t>0.5</a:t>
            </a:r>
          </a:p>
        </p:txBody>
      </p:sp>
      <p:sp>
        <p:nvSpPr>
          <p:cNvPr id="9" name="Rectangle 8"/>
          <p:cNvSpPr/>
          <p:nvPr/>
        </p:nvSpPr>
        <p:spPr>
          <a:xfrm>
            <a:off x="822960" y="2606040"/>
            <a:ext cx="5303520"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60" y="2660904"/>
            <a:ext cx="4114800" cy="365760"/>
          </a:xfrm>
          <a:prstGeom prst="rect">
            <a:avLst/>
          </a:prstGeom>
          <a:noFill/>
        </p:spPr>
        <p:txBody>
          <a:bodyPr wrap="square" lIns="0" rIns="0" tIns="0" bIns="0" anchor="t">
            <a:spAutoFit/>
          </a:bodyPr>
          <a:lstStyle/>
          <a:p>
            <a:pPr algn="l"/>
            <a:r>
              <a:rPr sz="1250" b="1" i="0">
                <a:solidFill>
                  <a:srgbClr val="1C2B3A"/>
                </a:solidFill>
                <a:latin typeface="Calibri"/>
              </a:rPr>
              <a:t>Full verification run on rc4</a:t>
            </a:r>
          </a:p>
        </p:txBody>
      </p:sp>
      <p:sp>
        <p:nvSpPr>
          <p:cNvPr id="11" name="TextBox 10"/>
          <p:cNvSpPr txBox="1"/>
          <p:nvPr/>
        </p:nvSpPr>
        <p:spPr>
          <a:xfrm>
            <a:off x="4937760" y="2660904"/>
            <a:ext cx="1188720" cy="365760"/>
          </a:xfrm>
          <a:prstGeom prst="rect">
            <a:avLst/>
          </a:prstGeom>
          <a:noFill/>
        </p:spPr>
        <p:txBody>
          <a:bodyPr wrap="square" lIns="0" rIns="0" tIns="0" bIns="0" anchor="t">
            <a:spAutoFit/>
          </a:bodyPr>
          <a:lstStyle/>
          <a:p>
            <a:pPr algn="r"/>
            <a:r>
              <a:rPr sz="1250" b="1" i="0">
                <a:solidFill>
                  <a:srgbClr val="B5680A"/>
                </a:solidFill>
                <a:latin typeface="Calibri"/>
              </a:rPr>
              <a:t>1 – 1.5</a:t>
            </a:r>
          </a:p>
        </p:txBody>
      </p:sp>
      <p:sp>
        <p:nvSpPr>
          <p:cNvPr id="12" name="Rectangle 11"/>
          <p:cNvSpPr/>
          <p:nvPr/>
        </p:nvSpPr>
        <p:spPr>
          <a:xfrm>
            <a:off x="822960" y="3054096"/>
            <a:ext cx="5303520"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3108960"/>
            <a:ext cx="4114800" cy="365760"/>
          </a:xfrm>
          <a:prstGeom prst="rect">
            <a:avLst/>
          </a:prstGeom>
          <a:noFill/>
        </p:spPr>
        <p:txBody>
          <a:bodyPr wrap="square" lIns="0" rIns="0" tIns="0" bIns="0" anchor="t">
            <a:spAutoFit/>
          </a:bodyPr>
          <a:lstStyle/>
          <a:p>
            <a:pPr algn="l"/>
            <a:r>
              <a:rPr sz="1250" b="0" i="0">
                <a:solidFill>
                  <a:srgbClr val="1C2B3A"/>
                </a:solidFill>
                <a:latin typeface="Calibri"/>
              </a:rPr>
              <a:t>Staging on rc4; timed cutover rehearsal</a:t>
            </a:r>
          </a:p>
        </p:txBody>
      </p:sp>
      <p:sp>
        <p:nvSpPr>
          <p:cNvPr id="14" name="TextBox 13"/>
          <p:cNvSpPr txBox="1"/>
          <p:nvPr/>
        </p:nvSpPr>
        <p:spPr>
          <a:xfrm>
            <a:off x="4937760" y="3108960"/>
            <a:ext cx="1188720" cy="365760"/>
          </a:xfrm>
          <a:prstGeom prst="rect">
            <a:avLst/>
          </a:prstGeom>
          <a:noFill/>
        </p:spPr>
        <p:txBody>
          <a:bodyPr wrap="square" lIns="0" rIns="0" tIns="0" bIns="0" anchor="t">
            <a:spAutoFit/>
          </a:bodyPr>
          <a:lstStyle/>
          <a:p>
            <a:pPr algn="r"/>
            <a:r>
              <a:rPr sz="1250" b="1" i="0">
                <a:solidFill>
                  <a:srgbClr val="1C2B3A"/>
                </a:solidFill>
                <a:latin typeface="Calibri"/>
              </a:rPr>
              <a:t>3</a:t>
            </a:r>
          </a:p>
        </p:txBody>
      </p:sp>
      <p:sp>
        <p:nvSpPr>
          <p:cNvPr id="15" name="Rectangle 14"/>
          <p:cNvSpPr/>
          <p:nvPr/>
        </p:nvSpPr>
        <p:spPr>
          <a:xfrm>
            <a:off x="822960" y="3502152"/>
            <a:ext cx="5303520"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2960" y="3557016"/>
            <a:ext cx="4114800" cy="365760"/>
          </a:xfrm>
          <a:prstGeom prst="rect">
            <a:avLst/>
          </a:prstGeom>
          <a:noFill/>
        </p:spPr>
        <p:txBody>
          <a:bodyPr wrap="square" lIns="0" rIns="0" tIns="0" bIns="0" anchor="t">
            <a:spAutoFit/>
          </a:bodyPr>
          <a:lstStyle/>
          <a:p>
            <a:pPr algn="l"/>
            <a:r>
              <a:rPr sz="1250" b="0" i="0">
                <a:solidFill>
                  <a:srgbClr val="1C2B3A"/>
                </a:solidFill>
                <a:latin typeface="Calibri"/>
              </a:rPr>
              <a:t>Money path on Flutterwave, and rollback</a:t>
            </a:r>
          </a:p>
        </p:txBody>
      </p:sp>
      <p:sp>
        <p:nvSpPr>
          <p:cNvPr id="17" name="TextBox 16"/>
          <p:cNvSpPr txBox="1"/>
          <p:nvPr/>
        </p:nvSpPr>
        <p:spPr>
          <a:xfrm>
            <a:off x="4937760" y="3557016"/>
            <a:ext cx="1188720" cy="365760"/>
          </a:xfrm>
          <a:prstGeom prst="rect">
            <a:avLst/>
          </a:prstGeom>
          <a:noFill/>
        </p:spPr>
        <p:txBody>
          <a:bodyPr wrap="square" lIns="0" rIns="0" tIns="0" bIns="0" anchor="t">
            <a:spAutoFit/>
          </a:bodyPr>
          <a:lstStyle/>
          <a:p>
            <a:pPr algn="r"/>
            <a:r>
              <a:rPr sz="1250" b="1" i="0">
                <a:solidFill>
                  <a:srgbClr val="1C2B3A"/>
                </a:solidFill>
                <a:latin typeface="Calibri"/>
              </a:rPr>
              <a:t>2</a:t>
            </a:r>
          </a:p>
        </p:txBody>
      </p:sp>
      <p:sp>
        <p:nvSpPr>
          <p:cNvPr id="18" name="Rectangle 17"/>
          <p:cNvSpPr/>
          <p:nvPr/>
        </p:nvSpPr>
        <p:spPr>
          <a:xfrm>
            <a:off x="822960" y="3950208"/>
            <a:ext cx="5303520"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960" y="4005072"/>
            <a:ext cx="4114800" cy="365760"/>
          </a:xfrm>
          <a:prstGeom prst="rect">
            <a:avLst/>
          </a:prstGeom>
          <a:noFill/>
        </p:spPr>
        <p:txBody>
          <a:bodyPr wrap="square" lIns="0" rIns="0" tIns="0" bIns="0" anchor="t">
            <a:spAutoFit/>
          </a:bodyPr>
          <a:lstStyle/>
          <a:p>
            <a:pPr algn="l"/>
            <a:r>
              <a:rPr sz="1250" b="0" i="0">
                <a:solidFill>
                  <a:srgbClr val="1C2B3A"/>
                </a:solidFill>
                <a:latin typeface="Calibri"/>
              </a:rPr>
              <a:t>Production cutover — ten steps</a:t>
            </a:r>
          </a:p>
        </p:txBody>
      </p:sp>
      <p:sp>
        <p:nvSpPr>
          <p:cNvPr id="20" name="TextBox 19"/>
          <p:cNvSpPr txBox="1"/>
          <p:nvPr/>
        </p:nvSpPr>
        <p:spPr>
          <a:xfrm>
            <a:off x="4937760" y="4005072"/>
            <a:ext cx="1188720" cy="365760"/>
          </a:xfrm>
          <a:prstGeom prst="rect">
            <a:avLst/>
          </a:prstGeom>
          <a:noFill/>
        </p:spPr>
        <p:txBody>
          <a:bodyPr wrap="square" lIns="0" rIns="0" tIns="0" bIns="0" anchor="t">
            <a:spAutoFit/>
          </a:bodyPr>
          <a:lstStyle/>
          <a:p>
            <a:pPr algn="r"/>
            <a:r>
              <a:rPr sz="1250" b="1" i="0">
                <a:solidFill>
                  <a:srgbClr val="1C2B3A"/>
                </a:solidFill>
                <a:latin typeface="Calibri"/>
              </a:rPr>
              <a:t>3</a:t>
            </a:r>
          </a:p>
        </p:txBody>
      </p:sp>
      <p:sp>
        <p:nvSpPr>
          <p:cNvPr id="21" name="Rectangle 20"/>
          <p:cNvSpPr/>
          <p:nvPr/>
        </p:nvSpPr>
        <p:spPr>
          <a:xfrm>
            <a:off x="822960" y="4398264"/>
            <a:ext cx="5303520"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4453128"/>
            <a:ext cx="4114800" cy="365760"/>
          </a:xfrm>
          <a:prstGeom prst="rect">
            <a:avLst/>
          </a:prstGeom>
          <a:noFill/>
        </p:spPr>
        <p:txBody>
          <a:bodyPr wrap="square" lIns="0" rIns="0" tIns="0" bIns="0" anchor="t">
            <a:spAutoFit/>
          </a:bodyPr>
          <a:lstStyle/>
          <a:p>
            <a:pPr algn="l"/>
            <a:r>
              <a:rPr sz="1250" b="1" i="0">
                <a:solidFill>
                  <a:srgbClr val="1C2B3A"/>
                </a:solidFill>
                <a:latin typeface="Calibri"/>
              </a:rPr>
              <a:t>Full verification against production</a:t>
            </a:r>
          </a:p>
        </p:txBody>
      </p:sp>
      <p:sp>
        <p:nvSpPr>
          <p:cNvPr id="23" name="TextBox 22"/>
          <p:cNvSpPr txBox="1"/>
          <p:nvPr/>
        </p:nvSpPr>
        <p:spPr>
          <a:xfrm>
            <a:off x="4937760" y="4453128"/>
            <a:ext cx="1188720" cy="365760"/>
          </a:xfrm>
          <a:prstGeom prst="rect">
            <a:avLst/>
          </a:prstGeom>
          <a:noFill/>
        </p:spPr>
        <p:txBody>
          <a:bodyPr wrap="square" lIns="0" rIns="0" tIns="0" bIns="0" anchor="t">
            <a:spAutoFit/>
          </a:bodyPr>
          <a:lstStyle/>
          <a:p>
            <a:pPr algn="r"/>
            <a:r>
              <a:rPr sz="1250" b="1" i="0">
                <a:solidFill>
                  <a:srgbClr val="B5680A"/>
                </a:solidFill>
                <a:latin typeface="Calibri"/>
              </a:rPr>
              <a:t>1 – 1.5</a:t>
            </a:r>
          </a:p>
        </p:txBody>
      </p:sp>
      <p:sp>
        <p:nvSpPr>
          <p:cNvPr id="24" name="Rectangle 23"/>
          <p:cNvSpPr/>
          <p:nvPr/>
        </p:nvSpPr>
        <p:spPr>
          <a:xfrm>
            <a:off x="822960" y="4846320"/>
            <a:ext cx="5303520"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2960" y="4901184"/>
            <a:ext cx="4114800" cy="365760"/>
          </a:xfrm>
          <a:prstGeom prst="rect">
            <a:avLst/>
          </a:prstGeom>
          <a:noFill/>
        </p:spPr>
        <p:txBody>
          <a:bodyPr wrap="square" lIns="0" rIns="0" tIns="0" bIns="0" anchor="t">
            <a:spAutoFit/>
          </a:bodyPr>
          <a:lstStyle/>
          <a:p>
            <a:pPr algn="l"/>
            <a:r>
              <a:rPr sz="1250" b="0" i="0">
                <a:solidFill>
                  <a:srgbClr val="1C2B3A"/>
                </a:solidFill>
                <a:latin typeface="Calibri"/>
              </a:rPr>
              <a:t>Security scan, load and rate-limit tests</a:t>
            </a:r>
          </a:p>
        </p:txBody>
      </p:sp>
      <p:sp>
        <p:nvSpPr>
          <p:cNvPr id="26" name="TextBox 25"/>
          <p:cNvSpPr txBox="1"/>
          <p:nvPr/>
        </p:nvSpPr>
        <p:spPr>
          <a:xfrm>
            <a:off x="4937760" y="4901184"/>
            <a:ext cx="1188720" cy="365760"/>
          </a:xfrm>
          <a:prstGeom prst="rect">
            <a:avLst/>
          </a:prstGeom>
          <a:noFill/>
        </p:spPr>
        <p:txBody>
          <a:bodyPr wrap="square" lIns="0" rIns="0" tIns="0" bIns="0" anchor="t">
            <a:spAutoFit/>
          </a:bodyPr>
          <a:lstStyle/>
          <a:p>
            <a:pPr algn="r"/>
            <a:r>
              <a:rPr sz="1250" b="1" i="0">
                <a:solidFill>
                  <a:srgbClr val="1C2B3A"/>
                </a:solidFill>
                <a:latin typeface="Calibri"/>
              </a:rPr>
              <a:t>2</a:t>
            </a:r>
          </a:p>
        </p:txBody>
      </p:sp>
      <p:sp>
        <p:nvSpPr>
          <p:cNvPr id="27" name="Rectangle 26"/>
          <p:cNvSpPr/>
          <p:nvPr/>
        </p:nvSpPr>
        <p:spPr>
          <a:xfrm>
            <a:off x="822960" y="5294376"/>
            <a:ext cx="5303520"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349240"/>
            <a:ext cx="4114800" cy="365760"/>
          </a:xfrm>
          <a:prstGeom prst="rect">
            <a:avLst/>
          </a:prstGeom>
          <a:noFill/>
        </p:spPr>
        <p:txBody>
          <a:bodyPr wrap="square" lIns="0" rIns="0" tIns="0" bIns="0" anchor="t">
            <a:spAutoFit/>
          </a:bodyPr>
          <a:lstStyle/>
          <a:p>
            <a:pPr algn="l"/>
            <a:r>
              <a:rPr sz="1250" b="1" i="0">
                <a:solidFill>
                  <a:srgbClr val="1C2B3A"/>
                </a:solidFill>
                <a:latin typeface="Calibri"/>
              </a:rPr>
              <a:t>Contingency: one fix → new candidate → re-verify</a:t>
            </a:r>
          </a:p>
        </p:txBody>
      </p:sp>
      <p:sp>
        <p:nvSpPr>
          <p:cNvPr id="29" name="TextBox 28"/>
          <p:cNvSpPr txBox="1"/>
          <p:nvPr/>
        </p:nvSpPr>
        <p:spPr>
          <a:xfrm>
            <a:off x="4937760" y="5349240"/>
            <a:ext cx="1188720" cy="365760"/>
          </a:xfrm>
          <a:prstGeom prst="rect">
            <a:avLst/>
          </a:prstGeom>
          <a:noFill/>
        </p:spPr>
        <p:txBody>
          <a:bodyPr wrap="square" lIns="0" rIns="0" tIns="0" bIns="0" anchor="t">
            <a:spAutoFit/>
          </a:bodyPr>
          <a:lstStyle/>
          <a:p>
            <a:pPr algn="r"/>
            <a:r>
              <a:rPr sz="1250" b="1" i="0">
                <a:solidFill>
                  <a:srgbClr val="B5680A"/>
                </a:solidFill>
                <a:latin typeface="Calibri"/>
              </a:rPr>
              <a:t>1.5</a:t>
            </a:r>
          </a:p>
        </p:txBody>
      </p:sp>
      <p:sp>
        <p:nvSpPr>
          <p:cNvPr id="30" name="Rectangle 29"/>
          <p:cNvSpPr/>
          <p:nvPr/>
        </p:nvSpPr>
        <p:spPr>
          <a:xfrm>
            <a:off x="822960" y="5742432"/>
            <a:ext cx="5303520"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2960" y="5870448"/>
            <a:ext cx="4114800" cy="365760"/>
          </a:xfrm>
          <a:prstGeom prst="rect">
            <a:avLst/>
          </a:prstGeom>
          <a:noFill/>
        </p:spPr>
        <p:txBody>
          <a:bodyPr wrap="square" lIns="0" rIns="0" tIns="0" bIns="0" anchor="t">
            <a:spAutoFit/>
          </a:bodyPr>
          <a:lstStyle/>
          <a:p>
            <a:pPr algn="l"/>
            <a:r>
              <a:rPr sz="1500" b="1" i="0">
                <a:solidFill>
                  <a:srgbClr val="003366"/>
                </a:solidFill>
                <a:latin typeface="Cambria"/>
              </a:rPr>
              <a:t>Total</a:t>
            </a:r>
          </a:p>
        </p:txBody>
      </p:sp>
      <p:sp>
        <p:nvSpPr>
          <p:cNvPr id="32" name="TextBox 31"/>
          <p:cNvSpPr txBox="1"/>
          <p:nvPr/>
        </p:nvSpPr>
        <p:spPr>
          <a:xfrm>
            <a:off x="4023360" y="5870448"/>
            <a:ext cx="2103120" cy="365760"/>
          </a:xfrm>
          <a:prstGeom prst="rect">
            <a:avLst/>
          </a:prstGeom>
          <a:noFill/>
        </p:spPr>
        <p:txBody>
          <a:bodyPr wrap="square" lIns="0" rIns="0" tIns="0" bIns="0" anchor="t">
            <a:spAutoFit/>
          </a:bodyPr>
          <a:lstStyle/>
          <a:p>
            <a:pPr algn="r"/>
            <a:r>
              <a:rPr sz="1500" b="1" i="0">
                <a:solidFill>
                  <a:srgbClr val="003366"/>
                </a:solidFill>
                <a:latin typeface="Cambria"/>
              </a:rPr>
              <a:t>≈ 14 – 15 h</a:t>
            </a:r>
          </a:p>
        </p:txBody>
      </p:sp>
      <p:sp>
        <p:nvSpPr>
          <p:cNvPr id="33" name="Oval 32"/>
          <p:cNvSpPr/>
          <p:nvPr/>
        </p:nvSpPr>
        <p:spPr>
          <a:xfrm>
            <a:off x="6720840" y="1783080"/>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1</a:t>
            </a:r>
          </a:p>
        </p:txBody>
      </p:sp>
      <p:sp>
        <p:nvSpPr>
          <p:cNvPr id="34" name="TextBox 33"/>
          <p:cNvSpPr txBox="1"/>
          <p:nvPr/>
        </p:nvSpPr>
        <p:spPr>
          <a:xfrm>
            <a:off x="7406640" y="1737360"/>
            <a:ext cx="4206240" cy="320040"/>
          </a:xfrm>
          <a:prstGeom prst="rect">
            <a:avLst/>
          </a:prstGeom>
          <a:noFill/>
        </p:spPr>
        <p:txBody>
          <a:bodyPr wrap="square" lIns="0" rIns="0" tIns="0" bIns="0" anchor="t">
            <a:spAutoFit/>
          </a:bodyPr>
          <a:lstStyle/>
          <a:p>
            <a:pPr algn="l"/>
            <a:r>
              <a:rPr sz="1400" b="1" i="0">
                <a:solidFill>
                  <a:srgbClr val="003366"/>
                </a:solidFill>
                <a:latin typeface="Calibri"/>
              </a:rPr>
              <a:t>Up to a third of it is waiting on verification</a:t>
            </a:r>
          </a:p>
        </p:txBody>
      </p:sp>
      <p:sp>
        <p:nvSpPr>
          <p:cNvPr id="35" name="TextBox 34"/>
          <p:cNvSpPr txBox="1"/>
          <p:nvPr/>
        </p:nvSpPr>
        <p:spPr>
          <a:xfrm>
            <a:off x="7406640" y="2084831"/>
            <a:ext cx="4206240" cy="1005840"/>
          </a:xfrm>
          <a:prstGeom prst="rect">
            <a:avLst/>
          </a:prstGeom>
          <a:noFill/>
        </p:spPr>
        <p:txBody>
          <a:bodyPr wrap="square" lIns="0" rIns="0" tIns="0" bIns="0" anchor="t">
            <a:spAutoFit/>
          </a:bodyPr>
          <a:lstStyle/>
          <a:p>
            <a:pPr algn="l"/>
            <a:r>
              <a:rPr sz="1150" b="0" i="0">
                <a:solidFill>
                  <a:srgbClr val="1C2B3A"/>
                </a:solidFill>
                <a:latin typeface="Calibri"/>
              </a:rPr>
              <a:t>Roughly 3.5–4.5 of those hours are suite runs that cannot be shortened or run in parallel against one database without producing false failures.</a:t>
            </a:r>
          </a:p>
        </p:txBody>
      </p:sp>
      <p:sp>
        <p:nvSpPr>
          <p:cNvPr id="36" name="Oval 35"/>
          <p:cNvSpPr/>
          <p:nvPr/>
        </p:nvSpPr>
        <p:spPr>
          <a:xfrm>
            <a:off x="6720840" y="3291839"/>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2</a:t>
            </a:r>
          </a:p>
        </p:txBody>
      </p:sp>
      <p:sp>
        <p:nvSpPr>
          <p:cNvPr id="37" name="TextBox 36"/>
          <p:cNvSpPr txBox="1"/>
          <p:nvPr/>
        </p:nvSpPr>
        <p:spPr>
          <a:xfrm>
            <a:off x="7406640" y="3246120"/>
            <a:ext cx="4206240" cy="320040"/>
          </a:xfrm>
          <a:prstGeom prst="rect">
            <a:avLst/>
          </a:prstGeom>
          <a:noFill/>
        </p:spPr>
        <p:txBody>
          <a:bodyPr wrap="square" lIns="0" rIns="0" tIns="0" bIns="0" anchor="t">
            <a:spAutoFit/>
          </a:bodyPr>
          <a:lstStyle/>
          <a:p>
            <a:pPr algn="l"/>
            <a:r>
              <a:rPr sz="1400" b="1" i="0">
                <a:solidFill>
                  <a:srgbClr val="003366"/>
                </a:solidFill>
                <a:latin typeface="Calibri"/>
              </a:rPr>
              <a:t>Interruptions are how the incidents happened</a:t>
            </a:r>
          </a:p>
        </p:txBody>
      </p:sp>
      <p:sp>
        <p:nvSpPr>
          <p:cNvPr id="38" name="TextBox 37"/>
          <p:cNvSpPr txBox="1"/>
          <p:nvPr/>
        </p:nvSpPr>
        <p:spPr>
          <a:xfrm>
            <a:off x="7406640" y="3593591"/>
            <a:ext cx="4206240" cy="1005840"/>
          </a:xfrm>
          <a:prstGeom prst="rect">
            <a:avLst/>
          </a:prstGeom>
          <a:noFill/>
        </p:spPr>
        <p:txBody>
          <a:bodyPr wrap="square" lIns="0" rIns="0" tIns="0" bIns="0" anchor="t">
            <a:spAutoFit/>
          </a:bodyPr>
          <a:lstStyle/>
          <a:p>
            <a:pPr algn="l"/>
            <a:r>
              <a:rPr sz="1150" b="0" i="0">
                <a:solidFill>
                  <a:srgbClr val="1C2B3A"/>
                </a:solidFill>
                <a:latin typeface="Calibri"/>
              </a:rPr>
              <a:t>Two incidents in seven days came from a tool left pointing at the wrong environment. Switching to support work mid-cutover is exactly that risk.</a:t>
            </a:r>
          </a:p>
        </p:txBody>
      </p:sp>
      <p:sp>
        <p:nvSpPr>
          <p:cNvPr id="39" name="Oval 38"/>
          <p:cNvSpPr/>
          <p:nvPr/>
        </p:nvSpPr>
        <p:spPr>
          <a:xfrm>
            <a:off x="6720840" y="4800599"/>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3</a:t>
            </a:r>
          </a:p>
        </p:txBody>
      </p:sp>
      <p:sp>
        <p:nvSpPr>
          <p:cNvPr id="40" name="TextBox 39"/>
          <p:cNvSpPr txBox="1"/>
          <p:nvPr/>
        </p:nvSpPr>
        <p:spPr>
          <a:xfrm>
            <a:off x="7406640" y="4754879"/>
            <a:ext cx="4206240" cy="320040"/>
          </a:xfrm>
          <a:prstGeom prst="rect">
            <a:avLst/>
          </a:prstGeom>
          <a:noFill/>
        </p:spPr>
        <p:txBody>
          <a:bodyPr wrap="square" lIns="0" rIns="0" tIns="0" bIns="0" anchor="t">
            <a:spAutoFit/>
          </a:bodyPr>
          <a:lstStyle/>
          <a:p>
            <a:pPr algn="l"/>
            <a:r>
              <a:rPr sz="1400" b="1" i="0">
                <a:solidFill>
                  <a:srgbClr val="003366"/>
                </a:solidFill>
                <a:latin typeface="Calibri"/>
              </a:rPr>
              <a:t>A half-finished cutover is worse than none</a:t>
            </a:r>
          </a:p>
        </p:txBody>
      </p:sp>
      <p:sp>
        <p:nvSpPr>
          <p:cNvPr id="41" name="TextBox 40"/>
          <p:cNvSpPr txBox="1"/>
          <p:nvPr/>
        </p:nvSpPr>
        <p:spPr>
          <a:xfrm>
            <a:off x="7406640" y="5102351"/>
            <a:ext cx="4206240" cy="1005840"/>
          </a:xfrm>
          <a:prstGeom prst="rect">
            <a:avLst/>
          </a:prstGeom>
          <a:noFill/>
        </p:spPr>
        <p:txBody>
          <a:bodyPr wrap="square" lIns="0" rIns="0" tIns="0" bIns="0" anchor="t">
            <a:spAutoFit/>
          </a:bodyPr>
          <a:lstStyle/>
          <a:p>
            <a:pPr algn="l"/>
            <a:r>
              <a:rPr sz="1150" b="0" i="0">
                <a:solidFill>
                  <a:srgbClr val="1C2B3A"/>
                </a:solidFill>
                <a:latin typeface="Calibri"/>
              </a:rPr>
              <a:t>Domains, webhooks and databases would point at different environments, and the active security scan has a single window — before any client data exists.</a:t>
            </a:r>
          </a:p>
        </p:txBody>
      </p:sp>
      <p:sp>
        <p:nvSpPr>
          <p:cNvPr id="42" name="TextBox 41"/>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7A8A9B"/>
                </a:solidFill>
                <a:latin typeface="Calibri"/>
              </a:rPr>
              <a:t>Board Confidential  ·  23 September 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lIns="0" rIns="0" tIns="0" bIns="0" anchor="t">
            <a:spAutoFit/>
          </a:bodyPr>
          <a:lstStyle/>
          <a:p>
            <a:pPr algn="l"/>
            <a:r>
              <a:rPr sz="3200" b="1" i="0">
                <a:solidFill>
                  <a:srgbClr val="003366"/>
                </a:solidFill>
                <a:latin typeface="Cambria"/>
              </a:rPr>
              <a:t>What two days cannot do — the board’s items</a:t>
            </a:r>
          </a:p>
        </p:txBody>
      </p:sp>
      <p:sp>
        <p:nvSpPr>
          <p:cNvPr id="3" name="TextBox 2"/>
          <p:cNvSpPr txBox="1"/>
          <p:nvPr/>
        </p:nvSpPr>
        <p:spPr>
          <a:xfrm>
            <a:off x="548640" y="1097280"/>
            <a:ext cx="11064240" cy="365760"/>
          </a:xfrm>
          <a:prstGeom prst="rect">
            <a:avLst/>
          </a:prstGeom>
          <a:noFill/>
        </p:spPr>
        <p:txBody>
          <a:bodyPr wrap="square" lIns="0" rIns="0" tIns="0" bIns="0" anchor="t">
            <a:spAutoFit/>
          </a:bodyPr>
          <a:lstStyle/>
          <a:p>
            <a:pPr algn="l"/>
            <a:r>
              <a:rPr sz="1400" b="0" i="0">
                <a:solidFill>
                  <a:srgbClr val="7A8A9B"/>
                </a:solidFill>
                <a:latin typeface="Calibri"/>
              </a:rPr>
              <a:t>The two days make the platform ready. These make it lawful and safe to use. They run in parallel, and several have external lead times.</a:t>
            </a:r>
          </a:p>
        </p:txBody>
      </p:sp>
      <p:sp>
        <p:nvSpPr>
          <p:cNvPr id="4" name="Rounded Rectangle 3"/>
          <p:cNvSpPr/>
          <p:nvPr/>
        </p:nvSpPr>
        <p:spPr>
          <a:xfrm>
            <a:off x="548640" y="178308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947672"/>
            <a:ext cx="2148839" cy="548640"/>
          </a:xfrm>
          <a:prstGeom prst="rect">
            <a:avLst/>
          </a:prstGeom>
          <a:noFill/>
        </p:spPr>
        <p:txBody>
          <a:bodyPr wrap="square" lIns="0" rIns="0" tIns="0" bIns="0" anchor="t">
            <a:spAutoFit/>
          </a:bodyPr>
          <a:lstStyle/>
          <a:p>
            <a:pPr algn="l"/>
            <a:r>
              <a:rPr sz="1300" b="1" i="0">
                <a:solidFill>
                  <a:srgbClr val="003366"/>
                </a:solidFill>
                <a:latin typeface="Calibri"/>
              </a:rPr>
              <a:t>13 processor agreements signed</a:t>
            </a:r>
          </a:p>
        </p:txBody>
      </p:sp>
      <p:sp>
        <p:nvSpPr>
          <p:cNvPr id="6" name="Rounded Rectangle 5"/>
          <p:cNvSpPr/>
          <p:nvPr/>
        </p:nvSpPr>
        <p:spPr>
          <a:xfrm>
            <a:off x="2971800" y="1965960"/>
            <a:ext cx="960120" cy="256032"/>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LEGAL + DPO</a:t>
            </a:r>
          </a:p>
        </p:txBody>
      </p:sp>
      <p:sp>
        <p:nvSpPr>
          <p:cNvPr id="7" name="TextBox 6"/>
          <p:cNvSpPr txBox="1"/>
          <p:nvPr/>
        </p:nvSpPr>
        <p:spPr>
          <a:xfrm>
            <a:off x="777240" y="2560320"/>
            <a:ext cx="3108960" cy="411480"/>
          </a:xfrm>
          <a:prstGeom prst="rect">
            <a:avLst/>
          </a:prstGeom>
          <a:noFill/>
        </p:spPr>
        <p:txBody>
          <a:bodyPr wrap="square" lIns="0" rIns="0" tIns="0" bIns="0" anchor="t">
            <a:spAutoFit/>
          </a:bodyPr>
          <a:lstStyle/>
          <a:p>
            <a:pPr algn="l"/>
            <a:r>
              <a:rPr sz="1100" b="1" i="0">
                <a:solidFill>
                  <a:srgbClr val="B23A2E"/>
                </a:solidFill>
                <a:latin typeface="Calibri"/>
              </a:rPr>
              <a:t>Hard gate: no real personal data before</a:t>
            </a:r>
          </a:p>
        </p:txBody>
      </p:sp>
      <p:sp>
        <p:nvSpPr>
          <p:cNvPr id="8" name="Rounded Rectangle 7"/>
          <p:cNvSpPr/>
          <p:nvPr/>
        </p:nvSpPr>
        <p:spPr>
          <a:xfrm>
            <a:off x="4297679" y="178308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26279" y="1947672"/>
            <a:ext cx="2148839" cy="548640"/>
          </a:xfrm>
          <a:prstGeom prst="rect">
            <a:avLst/>
          </a:prstGeom>
          <a:noFill/>
        </p:spPr>
        <p:txBody>
          <a:bodyPr wrap="square" lIns="0" rIns="0" tIns="0" bIns="0" anchor="t">
            <a:spAutoFit/>
          </a:bodyPr>
          <a:lstStyle/>
          <a:p>
            <a:pPr algn="l"/>
            <a:r>
              <a:rPr sz="1300" b="1" i="0">
                <a:solidFill>
                  <a:srgbClr val="003366"/>
                </a:solidFill>
                <a:latin typeface="Calibri"/>
              </a:rPr>
              <a:t>Privacy notice reviewed and published</a:t>
            </a:r>
          </a:p>
        </p:txBody>
      </p:sp>
      <p:sp>
        <p:nvSpPr>
          <p:cNvPr id="10" name="Rounded Rectangle 9"/>
          <p:cNvSpPr/>
          <p:nvPr/>
        </p:nvSpPr>
        <p:spPr>
          <a:xfrm>
            <a:off x="6720840" y="1965960"/>
            <a:ext cx="960120" cy="256032"/>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LEGAL</a:t>
            </a:r>
          </a:p>
        </p:txBody>
      </p:sp>
      <p:sp>
        <p:nvSpPr>
          <p:cNvPr id="11" name="TextBox 10"/>
          <p:cNvSpPr txBox="1"/>
          <p:nvPr/>
        </p:nvSpPr>
        <p:spPr>
          <a:xfrm>
            <a:off x="4526279" y="2560320"/>
            <a:ext cx="3108960" cy="411480"/>
          </a:xfrm>
          <a:prstGeom prst="rect">
            <a:avLst/>
          </a:prstGeom>
          <a:noFill/>
        </p:spPr>
        <p:txBody>
          <a:bodyPr wrap="square" lIns="0" rIns="0" tIns="0" bIns="0" anchor="t">
            <a:spAutoFit/>
          </a:bodyPr>
          <a:lstStyle/>
          <a:p>
            <a:pPr algn="l"/>
            <a:r>
              <a:rPr sz="1100" b="0" i="0">
                <a:solidFill>
                  <a:srgbClr val="1C2B3A"/>
                </a:solidFill>
                <a:latin typeface="Calibri"/>
              </a:rPr>
              <a:t>Must carry the automated document-check line</a:t>
            </a:r>
          </a:p>
        </p:txBody>
      </p:sp>
      <p:sp>
        <p:nvSpPr>
          <p:cNvPr id="12" name="Rounded Rectangle 11"/>
          <p:cNvSpPr/>
          <p:nvPr/>
        </p:nvSpPr>
        <p:spPr>
          <a:xfrm>
            <a:off x="8046719" y="178308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75319" y="1947672"/>
            <a:ext cx="2148839" cy="548640"/>
          </a:xfrm>
          <a:prstGeom prst="rect">
            <a:avLst/>
          </a:prstGeom>
          <a:noFill/>
        </p:spPr>
        <p:txBody>
          <a:bodyPr wrap="square" lIns="0" rIns="0" tIns="0" bIns="0" anchor="t">
            <a:spAutoFit/>
          </a:bodyPr>
          <a:lstStyle/>
          <a:p>
            <a:pPr algn="l"/>
            <a:r>
              <a:rPr sz="1300" b="1" i="0">
                <a:solidFill>
                  <a:srgbClr val="003366"/>
                </a:solidFill>
                <a:latin typeface="Calibri"/>
              </a:rPr>
              <a:t>NDPC threshold; DPO registered and published</a:t>
            </a:r>
          </a:p>
        </p:txBody>
      </p:sp>
      <p:sp>
        <p:nvSpPr>
          <p:cNvPr id="14" name="Rounded Rectangle 13"/>
          <p:cNvSpPr/>
          <p:nvPr/>
        </p:nvSpPr>
        <p:spPr>
          <a:xfrm>
            <a:off x="10469880" y="1965960"/>
            <a:ext cx="960120" cy="256032"/>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LEGAL</a:t>
            </a:r>
          </a:p>
        </p:txBody>
      </p:sp>
      <p:sp>
        <p:nvSpPr>
          <p:cNvPr id="15" name="TextBox 14"/>
          <p:cNvSpPr txBox="1"/>
          <p:nvPr/>
        </p:nvSpPr>
        <p:spPr>
          <a:xfrm>
            <a:off x="8275319" y="2560320"/>
            <a:ext cx="3108960" cy="411480"/>
          </a:xfrm>
          <a:prstGeom prst="rect">
            <a:avLst/>
          </a:prstGeom>
          <a:noFill/>
        </p:spPr>
        <p:txBody>
          <a:bodyPr wrap="square" lIns="0" rIns="0" tIns="0" bIns="0" anchor="t">
            <a:spAutoFit/>
          </a:bodyPr>
          <a:lstStyle/>
          <a:p>
            <a:pPr algn="l"/>
            <a:r>
              <a:rPr sz="1100" b="0" i="0">
                <a:solidFill>
                  <a:srgbClr val="1C2B3A"/>
                </a:solidFill>
                <a:latin typeface="Calibri"/>
              </a:rPr>
              <a:t>1–3 weeks</a:t>
            </a:r>
          </a:p>
        </p:txBody>
      </p:sp>
      <p:sp>
        <p:nvSpPr>
          <p:cNvPr id="16" name="Rounded Rectangle 15"/>
          <p:cNvSpPr/>
          <p:nvPr/>
        </p:nvSpPr>
        <p:spPr>
          <a:xfrm>
            <a:off x="548640" y="324612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3410712"/>
            <a:ext cx="2148839" cy="548640"/>
          </a:xfrm>
          <a:prstGeom prst="rect">
            <a:avLst/>
          </a:prstGeom>
          <a:noFill/>
        </p:spPr>
        <p:txBody>
          <a:bodyPr wrap="square" lIns="0" rIns="0" tIns="0" bIns="0" anchor="t">
            <a:spAutoFit/>
          </a:bodyPr>
          <a:lstStyle/>
          <a:p>
            <a:pPr algn="l"/>
            <a:r>
              <a:rPr sz="1300" b="1" i="0">
                <a:solidFill>
                  <a:srgbClr val="003366"/>
                </a:solidFill>
                <a:latin typeface="Calibri"/>
              </a:rPr>
              <a:t>Flutterwave verification and live keys</a:t>
            </a:r>
          </a:p>
        </p:txBody>
      </p:sp>
      <p:sp>
        <p:nvSpPr>
          <p:cNvPr id="18" name="Rounded Rectangle 17"/>
          <p:cNvSpPr/>
          <p:nvPr/>
        </p:nvSpPr>
        <p:spPr>
          <a:xfrm>
            <a:off x="2971800" y="3429000"/>
            <a:ext cx="960120" cy="256032"/>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FINANCE</a:t>
            </a:r>
          </a:p>
        </p:txBody>
      </p:sp>
      <p:sp>
        <p:nvSpPr>
          <p:cNvPr id="19" name="TextBox 18"/>
          <p:cNvSpPr txBox="1"/>
          <p:nvPr/>
        </p:nvSpPr>
        <p:spPr>
          <a:xfrm>
            <a:off x="777240" y="4023359"/>
            <a:ext cx="3108960" cy="411480"/>
          </a:xfrm>
          <a:prstGeom prst="rect">
            <a:avLst/>
          </a:prstGeom>
          <a:noFill/>
        </p:spPr>
        <p:txBody>
          <a:bodyPr wrap="square" lIns="0" rIns="0" tIns="0" bIns="0" anchor="t">
            <a:spAutoFit/>
          </a:bodyPr>
          <a:lstStyle/>
          <a:p>
            <a:pPr algn="l"/>
            <a:r>
              <a:rPr sz="1100" b="1" i="0">
                <a:solidFill>
                  <a:srgbClr val="B23A2E"/>
                </a:solidFill>
                <a:latin typeface="Calibri"/>
              </a:rPr>
              <a:t>Hard gate: no real money before</a:t>
            </a:r>
          </a:p>
        </p:txBody>
      </p:sp>
      <p:sp>
        <p:nvSpPr>
          <p:cNvPr id="20" name="Rounded Rectangle 19"/>
          <p:cNvSpPr/>
          <p:nvPr/>
        </p:nvSpPr>
        <p:spPr>
          <a:xfrm>
            <a:off x="4297679" y="324612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26279" y="3410712"/>
            <a:ext cx="2148839" cy="548640"/>
          </a:xfrm>
          <a:prstGeom prst="rect">
            <a:avLst/>
          </a:prstGeom>
          <a:noFill/>
        </p:spPr>
        <p:txBody>
          <a:bodyPr wrap="square" lIns="0" rIns="0" tIns="0" bIns="0" anchor="t">
            <a:spAutoFit/>
          </a:bodyPr>
          <a:lstStyle/>
          <a:p>
            <a:pPr algn="l"/>
            <a:r>
              <a:rPr sz="1300" b="1" i="0">
                <a:solidFill>
                  <a:srgbClr val="003366"/>
                </a:solidFill>
                <a:latin typeface="Calibri"/>
              </a:rPr>
              <a:t>Segregated client-funds bank account</a:t>
            </a:r>
          </a:p>
        </p:txBody>
      </p:sp>
      <p:sp>
        <p:nvSpPr>
          <p:cNvPr id="22" name="Rounded Rectangle 21"/>
          <p:cNvSpPr/>
          <p:nvPr/>
        </p:nvSpPr>
        <p:spPr>
          <a:xfrm>
            <a:off x="6720840" y="3429000"/>
            <a:ext cx="960120" cy="256032"/>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FINANCE</a:t>
            </a:r>
          </a:p>
        </p:txBody>
      </p:sp>
      <p:sp>
        <p:nvSpPr>
          <p:cNvPr id="23" name="TextBox 22"/>
          <p:cNvSpPr txBox="1"/>
          <p:nvPr/>
        </p:nvSpPr>
        <p:spPr>
          <a:xfrm>
            <a:off x="4526279" y="4023359"/>
            <a:ext cx="3108960" cy="411480"/>
          </a:xfrm>
          <a:prstGeom prst="rect">
            <a:avLst/>
          </a:prstGeom>
          <a:noFill/>
        </p:spPr>
        <p:txBody>
          <a:bodyPr wrap="square" lIns="0" rIns="0" tIns="0" bIns="0" anchor="t">
            <a:spAutoFit/>
          </a:bodyPr>
          <a:lstStyle/>
          <a:p>
            <a:pPr algn="l"/>
            <a:r>
              <a:rPr sz="1100" b="0" i="0">
                <a:solidFill>
                  <a:srgbClr val="1C2B3A"/>
                </a:solidFill>
                <a:latin typeface="Calibri"/>
              </a:rPr>
              <a:t>Needed for daily bank reconciliation</a:t>
            </a:r>
          </a:p>
        </p:txBody>
      </p:sp>
      <p:sp>
        <p:nvSpPr>
          <p:cNvPr id="24" name="Rounded Rectangle 23"/>
          <p:cNvSpPr/>
          <p:nvPr/>
        </p:nvSpPr>
        <p:spPr>
          <a:xfrm>
            <a:off x="8046719" y="3246120"/>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75319" y="3410712"/>
            <a:ext cx="2148839" cy="548640"/>
          </a:xfrm>
          <a:prstGeom prst="rect">
            <a:avLst/>
          </a:prstGeom>
          <a:noFill/>
        </p:spPr>
        <p:txBody>
          <a:bodyPr wrap="square" lIns="0" rIns="0" tIns="0" bIns="0" anchor="t">
            <a:spAutoFit/>
          </a:bodyPr>
          <a:lstStyle/>
          <a:p>
            <a:pPr algn="l"/>
            <a:r>
              <a:rPr sz="1300" b="1" i="0">
                <a:solidFill>
                  <a:srgbClr val="003366"/>
                </a:solidFill>
                <a:latin typeface="Calibri"/>
              </a:rPr>
              <a:t>Minute the switch to Flutterwave</a:t>
            </a:r>
          </a:p>
        </p:txBody>
      </p:sp>
      <p:sp>
        <p:nvSpPr>
          <p:cNvPr id="26" name="Rounded Rectangle 25"/>
          <p:cNvSpPr/>
          <p:nvPr/>
        </p:nvSpPr>
        <p:spPr>
          <a:xfrm>
            <a:off x="10469880" y="3429000"/>
            <a:ext cx="960120" cy="256032"/>
          </a:xfrm>
          <a:prstGeom prst="roundRect">
            <a:avLst>
              <a:gd name="adj" fmla="val 50000"/>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BOARD</a:t>
            </a:r>
          </a:p>
        </p:txBody>
      </p:sp>
      <p:sp>
        <p:nvSpPr>
          <p:cNvPr id="27" name="TextBox 26"/>
          <p:cNvSpPr txBox="1"/>
          <p:nvPr/>
        </p:nvSpPr>
        <p:spPr>
          <a:xfrm>
            <a:off x="8275319" y="4023359"/>
            <a:ext cx="3108960" cy="411480"/>
          </a:xfrm>
          <a:prstGeom prst="rect">
            <a:avLst/>
          </a:prstGeom>
          <a:noFill/>
        </p:spPr>
        <p:txBody>
          <a:bodyPr wrap="square" lIns="0" rIns="0" tIns="0" bIns="0" anchor="t">
            <a:spAutoFit/>
          </a:bodyPr>
          <a:lstStyle/>
          <a:p>
            <a:pPr algn="l"/>
            <a:r>
              <a:rPr sz="1100" b="0" i="0">
                <a:solidFill>
                  <a:srgbClr val="1C2B3A"/>
                </a:solidFill>
                <a:latin typeface="Calibri"/>
              </a:rPr>
              <a:t>Amends locked decision 4 (Paystack + Flutterwave)</a:t>
            </a:r>
          </a:p>
        </p:txBody>
      </p:sp>
      <p:sp>
        <p:nvSpPr>
          <p:cNvPr id="28" name="Rounded Rectangle 27"/>
          <p:cNvSpPr/>
          <p:nvPr/>
        </p:nvSpPr>
        <p:spPr>
          <a:xfrm>
            <a:off x="548640" y="4709159"/>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873751"/>
            <a:ext cx="2148839" cy="548640"/>
          </a:xfrm>
          <a:prstGeom prst="rect">
            <a:avLst/>
          </a:prstGeom>
          <a:noFill/>
        </p:spPr>
        <p:txBody>
          <a:bodyPr wrap="square" lIns="0" rIns="0" tIns="0" bIns="0" anchor="t">
            <a:spAutoFit/>
          </a:bodyPr>
          <a:lstStyle/>
          <a:p>
            <a:pPr algn="l"/>
            <a:r>
              <a:rPr sz="1300" b="1" i="0">
                <a:solidFill>
                  <a:srgbClr val="003366"/>
                </a:solidFill>
                <a:latin typeface="Calibri"/>
              </a:rPr>
              <a:t>Collect special-category data at all?</a:t>
            </a:r>
          </a:p>
        </p:txBody>
      </p:sp>
      <p:sp>
        <p:nvSpPr>
          <p:cNvPr id="30" name="Rounded Rectangle 29"/>
          <p:cNvSpPr/>
          <p:nvPr/>
        </p:nvSpPr>
        <p:spPr>
          <a:xfrm>
            <a:off x="2971800" y="4892040"/>
            <a:ext cx="960120" cy="256032"/>
          </a:xfrm>
          <a:prstGeom prst="roundRect">
            <a:avLst>
              <a:gd name="adj" fmla="val 50000"/>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BOARD</a:t>
            </a:r>
          </a:p>
        </p:txBody>
      </p:sp>
      <p:sp>
        <p:nvSpPr>
          <p:cNvPr id="31" name="TextBox 30"/>
          <p:cNvSpPr txBox="1"/>
          <p:nvPr/>
        </p:nvSpPr>
        <p:spPr>
          <a:xfrm>
            <a:off x="777240" y="5486399"/>
            <a:ext cx="3108960" cy="411480"/>
          </a:xfrm>
          <a:prstGeom prst="rect">
            <a:avLst/>
          </a:prstGeom>
          <a:noFill/>
        </p:spPr>
        <p:txBody>
          <a:bodyPr wrap="square" lIns="0" rIns="0" tIns="0" bIns="0" anchor="t">
            <a:spAutoFit/>
          </a:bodyPr>
          <a:lstStyle/>
          <a:p>
            <a:pPr algn="l"/>
            <a:r>
              <a:rPr sz="1100" b="0" i="0">
                <a:solidFill>
                  <a:srgbClr val="1C2B3A"/>
                </a:solidFill>
                <a:latin typeface="Calibri"/>
              </a:rPr>
              <a:t>Cleanest NDPA position is not to</a:t>
            </a:r>
          </a:p>
        </p:txBody>
      </p:sp>
      <p:sp>
        <p:nvSpPr>
          <p:cNvPr id="32" name="Rounded Rectangle 31"/>
          <p:cNvSpPr/>
          <p:nvPr/>
        </p:nvSpPr>
        <p:spPr>
          <a:xfrm>
            <a:off x="4297679" y="4709159"/>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26279" y="4873751"/>
            <a:ext cx="2148839" cy="548640"/>
          </a:xfrm>
          <a:prstGeom prst="rect">
            <a:avLst/>
          </a:prstGeom>
          <a:noFill/>
        </p:spPr>
        <p:txBody>
          <a:bodyPr wrap="square" lIns="0" rIns="0" tIns="0" bIns="0" anchor="t">
            <a:spAutoFit/>
          </a:bodyPr>
          <a:lstStyle/>
          <a:p>
            <a:pPr algn="l"/>
            <a:r>
              <a:rPr sz="1300" b="1" i="0">
                <a:solidFill>
                  <a:srgbClr val="003366"/>
                </a:solidFill>
                <a:latin typeface="Calibri"/>
              </a:rPr>
              <a:t>External penetration test booked</a:t>
            </a:r>
          </a:p>
        </p:txBody>
      </p:sp>
      <p:sp>
        <p:nvSpPr>
          <p:cNvPr id="34" name="Rounded Rectangle 33"/>
          <p:cNvSpPr/>
          <p:nvPr/>
        </p:nvSpPr>
        <p:spPr>
          <a:xfrm>
            <a:off x="6720840" y="4892040"/>
            <a:ext cx="960120" cy="256032"/>
          </a:xfrm>
          <a:prstGeom prst="roundRect">
            <a:avLst>
              <a:gd name="adj" fmla="val 50000"/>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BOARD</a:t>
            </a:r>
          </a:p>
        </p:txBody>
      </p:sp>
      <p:sp>
        <p:nvSpPr>
          <p:cNvPr id="35" name="TextBox 34"/>
          <p:cNvSpPr txBox="1"/>
          <p:nvPr/>
        </p:nvSpPr>
        <p:spPr>
          <a:xfrm>
            <a:off x="4526279" y="5486399"/>
            <a:ext cx="3108960" cy="411480"/>
          </a:xfrm>
          <a:prstGeom prst="rect">
            <a:avLst/>
          </a:prstGeom>
          <a:noFill/>
        </p:spPr>
        <p:txBody>
          <a:bodyPr wrap="square" lIns="0" rIns="0" tIns="0" bIns="0" anchor="t">
            <a:spAutoFit/>
          </a:bodyPr>
          <a:lstStyle/>
          <a:p>
            <a:pPr algn="l"/>
            <a:r>
              <a:rPr sz="1100" b="0" i="0">
                <a:solidFill>
                  <a:srgbClr val="1C2B3A"/>
                </a:solidFill>
                <a:latin typeface="Calibri"/>
              </a:rPr>
              <a:t>Only window: after cutover, before clients</a:t>
            </a:r>
          </a:p>
        </p:txBody>
      </p:sp>
      <p:sp>
        <p:nvSpPr>
          <p:cNvPr id="36" name="Rounded Rectangle 35"/>
          <p:cNvSpPr/>
          <p:nvPr/>
        </p:nvSpPr>
        <p:spPr>
          <a:xfrm>
            <a:off x="8046719" y="4709159"/>
            <a:ext cx="3566160" cy="1280160"/>
          </a:xfrm>
          <a:prstGeom prst="roundRect">
            <a:avLst>
              <a:gd name="adj" fmla="val 6000"/>
            </a:avLst>
          </a:prstGeom>
          <a:solidFill>
            <a:srgbClr val="FFFFFF"/>
          </a:solidFill>
          <a:ln w="9525">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75319" y="4873751"/>
            <a:ext cx="2148839" cy="548640"/>
          </a:xfrm>
          <a:prstGeom prst="rect">
            <a:avLst/>
          </a:prstGeom>
          <a:noFill/>
        </p:spPr>
        <p:txBody>
          <a:bodyPr wrap="square" lIns="0" rIns="0" tIns="0" bIns="0" anchor="t">
            <a:spAutoFit/>
          </a:bodyPr>
          <a:lstStyle/>
          <a:p>
            <a:pPr algn="l"/>
            <a:r>
              <a:rPr sz="1300" b="1" i="0">
                <a:solidFill>
                  <a:srgbClr val="003366"/>
                </a:solidFill>
                <a:latin typeface="Calibri"/>
              </a:rPr>
              <a:t>Go-live date and go/no-go slot set</a:t>
            </a:r>
          </a:p>
        </p:txBody>
      </p:sp>
      <p:sp>
        <p:nvSpPr>
          <p:cNvPr id="38" name="Rounded Rectangle 37"/>
          <p:cNvSpPr/>
          <p:nvPr/>
        </p:nvSpPr>
        <p:spPr>
          <a:xfrm>
            <a:off x="10469880" y="4892040"/>
            <a:ext cx="960120" cy="256032"/>
          </a:xfrm>
          <a:prstGeom prst="roundRect">
            <a:avLst>
              <a:gd name="adj" fmla="val 50000"/>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libri"/>
              </a:rPr>
              <a:t>BOARD</a:t>
            </a:r>
          </a:p>
        </p:txBody>
      </p:sp>
      <p:sp>
        <p:nvSpPr>
          <p:cNvPr id="39" name="TextBox 38"/>
          <p:cNvSpPr txBox="1"/>
          <p:nvPr/>
        </p:nvSpPr>
        <p:spPr>
          <a:xfrm>
            <a:off x="8275319" y="5486399"/>
            <a:ext cx="3108960" cy="411480"/>
          </a:xfrm>
          <a:prstGeom prst="rect">
            <a:avLst/>
          </a:prstGeom>
          <a:noFill/>
        </p:spPr>
        <p:txBody>
          <a:bodyPr wrap="square" lIns="0" rIns="0" tIns="0" bIns="0" anchor="t">
            <a:spAutoFit/>
          </a:bodyPr>
          <a:lstStyle/>
          <a:p>
            <a:pPr algn="l"/>
            <a:r>
              <a:rPr sz="1100" b="0" i="0">
                <a:solidFill>
                  <a:srgbClr val="1C2B3A"/>
                </a:solidFill>
                <a:latin typeface="Calibri"/>
              </a:rPr>
              <a:t>Everything else is scheduled from this</a:t>
            </a:r>
          </a:p>
        </p:txBody>
      </p:sp>
      <p:sp>
        <p:nvSpPr>
          <p:cNvPr id="40" name="TextBox 39"/>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7A8A9B"/>
                </a:solidFill>
                <a:latin typeface="Calibri"/>
              </a:rPr>
              <a:t>Board Confidential  ·  23 September 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B2E"/>
        </a:solidFill>
        <a:effectLst/>
      </p:bgPr>
    </p:bg>
    <p:spTree>
      <p:nvGrpSpPr>
        <p:cNvPr id="1" name=""/>
        <p:cNvGrpSpPr/>
        <p:nvPr/>
      </p:nvGrpSpPr>
      <p:grpSpPr/>
      <p:sp>
        <p:nvSpPr>
          <p:cNvPr id="2" name="Rectangle 1"/>
          <p:cNvSpPr/>
          <p:nvPr/>
        </p:nvSpPr>
        <p:spPr>
          <a:xfrm>
            <a:off x="8778240" y="0"/>
            <a:ext cx="3410712" cy="68580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502920"/>
            <a:ext cx="7863840" cy="731520"/>
          </a:xfrm>
          <a:prstGeom prst="rect">
            <a:avLst/>
          </a:prstGeom>
          <a:noFill/>
        </p:spPr>
        <p:txBody>
          <a:bodyPr wrap="square" lIns="0" rIns="0" tIns="0" bIns="0" anchor="t">
            <a:spAutoFit/>
          </a:bodyPr>
          <a:lstStyle/>
          <a:p>
            <a:pPr algn="l"/>
            <a:r>
              <a:rPr sz="3400" b="1" i="0">
                <a:solidFill>
                  <a:srgbClr val="FFFFFF"/>
                </a:solidFill>
                <a:latin typeface="Cambria"/>
              </a:rPr>
              <a:t>Decisions requested today</a:t>
            </a:r>
          </a:p>
        </p:txBody>
      </p:sp>
      <p:sp>
        <p:nvSpPr>
          <p:cNvPr id="4" name="TextBox 3"/>
          <p:cNvSpPr txBox="1"/>
          <p:nvPr/>
        </p:nvSpPr>
        <p:spPr>
          <a:xfrm>
            <a:off x="548640" y="1234440"/>
            <a:ext cx="7863840" cy="365760"/>
          </a:xfrm>
          <a:prstGeom prst="rect">
            <a:avLst/>
          </a:prstGeom>
          <a:noFill/>
        </p:spPr>
        <p:txBody>
          <a:bodyPr wrap="square" lIns="0" rIns="0" tIns="0" bIns="0" anchor="t">
            <a:spAutoFit/>
          </a:bodyPr>
          <a:lstStyle/>
          <a:p>
            <a:pPr algn="l"/>
            <a:r>
              <a:rPr sz="1400" b="0" i="0">
                <a:solidFill>
                  <a:srgbClr val="9FB4CC"/>
                </a:solidFill>
                <a:latin typeface="Calibri"/>
              </a:rPr>
              <a:t>Where we are: built, verified, and provisioned. What is left is sequenced work — and time to do it properly.</a:t>
            </a:r>
          </a:p>
        </p:txBody>
      </p:sp>
      <p:sp>
        <p:nvSpPr>
          <p:cNvPr id="5" name="Oval 4"/>
          <p:cNvSpPr/>
          <p:nvPr/>
        </p:nvSpPr>
        <p:spPr>
          <a:xfrm>
            <a:off x="548640" y="1801368"/>
            <a:ext cx="548640" cy="54864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1B2E"/>
                </a:solidFill>
                <a:latin typeface="Cambria"/>
              </a:rPr>
              <a:t>1</a:t>
            </a:r>
          </a:p>
        </p:txBody>
      </p:sp>
      <p:sp>
        <p:nvSpPr>
          <p:cNvPr id="6" name="TextBox 5"/>
          <p:cNvSpPr txBox="1"/>
          <p:nvPr/>
        </p:nvSpPr>
        <p:spPr>
          <a:xfrm>
            <a:off x="1325880" y="1783080"/>
            <a:ext cx="7132320" cy="365760"/>
          </a:xfrm>
          <a:prstGeom prst="rect">
            <a:avLst/>
          </a:prstGeom>
          <a:noFill/>
        </p:spPr>
        <p:txBody>
          <a:bodyPr wrap="square" lIns="0" rIns="0" tIns="0" bIns="0" anchor="t">
            <a:spAutoFit/>
          </a:bodyPr>
          <a:lstStyle/>
          <a:p>
            <a:pPr algn="l"/>
            <a:r>
              <a:rPr sz="1700" b="1" i="0">
                <a:solidFill>
                  <a:srgbClr val="FFFFFF"/>
                </a:solidFill>
                <a:latin typeface="Calibri"/>
              </a:rPr>
              <a:t>Approve Flutterwave as the single gateway</a:t>
            </a:r>
          </a:p>
        </p:txBody>
      </p:sp>
      <p:sp>
        <p:nvSpPr>
          <p:cNvPr id="7" name="TextBox 6"/>
          <p:cNvSpPr txBox="1"/>
          <p:nvPr/>
        </p:nvSpPr>
        <p:spPr>
          <a:xfrm>
            <a:off x="1325880" y="2148840"/>
            <a:ext cx="7132320" cy="502920"/>
          </a:xfrm>
          <a:prstGeom prst="rect">
            <a:avLst/>
          </a:prstGeom>
          <a:noFill/>
        </p:spPr>
        <p:txBody>
          <a:bodyPr wrap="square" lIns="0" rIns="0" tIns="0" bIns="0" anchor="t">
            <a:spAutoFit/>
          </a:bodyPr>
          <a:lstStyle/>
          <a:p>
            <a:pPr algn="l"/>
            <a:r>
              <a:rPr sz="1200" b="0" i="0">
                <a:solidFill>
                  <a:srgbClr val="D8E5F5"/>
                </a:solidFill>
                <a:latin typeface="Calibri"/>
              </a:rPr>
              <a:t>for Naira and foreign-currency collections; payouts by recorded bank transfer until Flutterwave payouts are built.</a:t>
            </a:r>
          </a:p>
        </p:txBody>
      </p:sp>
      <p:sp>
        <p:nvSpPr>
          <p:cNvPr id="8" name="Oval 7"/>
          <p:cNvSpPr/>
          <p:nvPr/>
        </p:nvSpPr>
        <p:spPr>
          <a:xfrm>
            <a:off x="548640" y="2697479"/>
            <a:ext cx="548640" cy="54864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1B2E"/>
                </a:solidFill>
                <a:latin typeface="Cambria"/>
              </a:rPr>
              <a:t>2</a:t>
            </a:r>
          </a:p>
        </p:txBody>
      </p:sp>
      <p:sp>
        <p:nvSpPr>
          <p:cNvPr id="9" name="TextBox 8"/>
          <p:cNvSpPr txBox="1"/>
          <p:nvPr/>
        </p:nvSpPr>
        <p:spPr>
          <a:xfrm>
            <a:off x="1325880" y="2679191"/>
            <a:ext cx="7132320" cy="365760"/>
          </a:xfrm>
          <a:prstGeom prst="rect">
            <a:avLst/>
          </a:prstGeom>
          <a:noFill/>
        </p:spPr>
        <p:txBody>
          <a:bodyPr wrap="square" lIns="0" rIns="0" tIns="0" bIns="0" anchor="t">
            <a:spAutoFit/>
          </a:bodyPr>
          <a:lstStyle/>
          <a:p>
            <a:pPr algn="l"/>
            <a:r>
              <a:rPr sz="1700" b="1" i="0">
                <a:solidFill>
                  <a:srgbClr val="FFFFFF"/>
                </a:solidFill>
                <a:latin typeface="Calibri"/>
              </a:rPr>
              <a:t>Approve two consecutive working days</a:t>
            </a:r>
          </a:p>
        </p:txBody>
      </p:sp>
      <p:sp>
        <p:nvSpPr>
          <p:cNvPr id="10" name="TextBox 9"/>
          <p:cNvSpPr txBox="1"/>
          <p:nvPr/>
        </p:nvSpPr>
        <p:spPr>
          <a:xfrm>
            <a:off x="1325880" y="3044951"/>
            <a:ext cx="7132320" cy="502920"/>
          </a:xfrm>
          <a:prstGeom prst="rect">
            <a:avLst/>
          </a:prstGeom>
          <a:noFill/>
        </p:spPr>
        <p:txBody>
          <a:bodyPr wrap="square" lIns="0" rIns="0" tIns="0" bIns="0" anchor="t">
            <a:spAutoFit/>
          </a:bodyPr>
          <a:lstStyle/>
          <a:p>
            <a:pPr algn="l"/>
            <a:r>
              <a:rPr sz="1200" b="0" i="0">
                <a:solidFill>
                  <a:srgbClr val="D8E5F5"/>
                </a:solidFill>
                <a:latin typeface="Calibri"/>
              </a:rPr>
              <a:t>released from regular ICT duties for the staging rehearsal and production cutover — dates fixed at this meeting.</a:t>
            </a:r>
          </a:p>
        </p:txBody>
      </p:sp>
      <p:sp>
        <p:nvSpPr>
          <p:cNvPr id="11" name="Oval 10"/>
          <p:cNvSpPr/>
          <p:nvPr/>
        </p:nvSpPr>
        <p:spPr>
          <a:xfrm>
            <a:off x="548640" y="3593591"/>
            <a:ext cx="548640" cy="54864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1B2E"/>
                </a:solidFill>
                <a:latin typeface="Cambria"/>
              </a:rPr>
              <a:t>3</a:t>
            </a:r>
          </a:p>
        </p:txBody>
      </p:sp>
      <p:sp>
        <p:nvSpPr>
          <p:cNvPr id="12" name="TextBox 11"/>
          <p:cNvSpPr txBox="1"/>
          <p:nvPr/>
        </p:nvSpPr>
        <p:spPr>
          <a:xfrm>
            <a:off x="1325880" y="3575303"/>
            <a:ext cx="7132320" cy="365760"/>
          </a:xfrm>
          <a:prstGeom prst="rect">
            <a:avLst/>
          </a:prstGeom>
          <a:noFill/>
        </p:spPr>
        <p:txBody>
          <a:bodyPr wrap="square" lIns="0" rIns="0" tIns="0" bIns="0" anchor="t">
            <a:spAutoFit/>
          </a:bodyPr>
          <a:lstStyle/>
          <a:p>
            <a:pPr algn="l"/>
            <a:r>
              <a:rPr sz="1700" b="1" i="0">
                <a:solidFill>
                  <a:srgbClr val="FFFFFF"/>
                </a:solidFill>
                <a:latin typeface="Calibri"/>
              </a:rPr>
              <a:t>Treat verification time as scheduled work</a:t>
            </a:r>
          </a:p>
        </p:txBody>
      </p:sp>
      <p:sp>
        <p:nvSpPr>
          <p:cNvPr id="13" name="TextBox 12"/>
          <p:cNvSpPr txBox="1"/>
          <p:nvPr/>
        </p:nvSpPr>
        <p:spPr>
          <a:xfrm>
            <a:off x="1325880" y="3941063"/>
            <a:ext cx="7132320" cy="502920"/>
          </a:xfrm>
          <a:prstGeom prst="rect">
            <a:avLst/>
          </a:prstGeom>
          <a:noFill/>
        </p:spPr>
        <p:txBody>
          <a:bodyPr wrap="square" lIns="0" rIns="0" tIns="0" bIns="0" anchor="t">
            <a:spAutoFit/>
          </a:bodyPr>
          <a:lstStyle/>
          <a:p>
            <a:pPr algn="l"/>
            <a:r>
              <a:rPr sz="1200" b="0" i="0">
                <a:solidFill>
                  <a:srgbClr val="D8E5F5"/>
                </a:solidFill>
                <a:latin typeface="Calibri"/>
              </a:rPr>
              <a:t>about an hour per full run, repeated after every fix. It is the evidence the board’s controls hold, not a delay.</a:t>
            </a:r>
          </a:p>
        </p:txBody>
      </p:sp>
      <p:sp>
        <p:nvSpPr>
          <p:cNvPr id="14" name="Oval 13"/>
          <p:cNvSpPr/>
          <p:nvPr/>
        </p:nvSpPr>
        <p:spPr>
          <a:xfrm>
            <a:off x="548640" y="4489703"/>
            <a:ext cx="548640" cy="54864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1B2E"/>
                </a:solidFill>
                <a:latin typeface="Cambria"/>
              </a:rPr>
              <a:t>4</a:t>
            </a:r>
          </a:p>
        </p:txBody>
      </p:sp>
      <p:sp>
        <p:nvSpPr>
          <p:cNvPr id="15" name="TextBox 14"/>
          <p:cNvSpPr txBox="1"/>
          <p:nvPr/>
        </p:nvSpPr>
        <p:spPr>
          <a:xfrm>
            <a:off x="1325880" y="4471416"/>
            <a:ext cx="7132320" cy="365760"/>
          </a:xfrm>
          <a:prstGeom prst="rect">
            <a:avLst/>
          </a:prstGeom>
          <a:noFill/>
        </p:spPr>
        <p:txBody>
          <a:bodyPr wrap="square" lIns="0" rIns="0" tIns="0" bIns="0" anchor="t">
            <a:spAutoFit/>
          </a:bodyPr>
          <a:lstStyle/>
          <a:p>
            <a:pPr algn="l"/>
            <a:r>
              <a:rPr sz="1700" b="1" i="0">
                <a:solidFill>
                  <a:srgbClr val="FFFFFF"/>
                </a:solidFill>
                <a:latin typeface="Calibri"/>
              </a:rPr>
              <a:t>Set the go-live date and go/no-go slot</a:t>
            </a:r>
          </a:p>
        </p:txBody>
      </p:sp>
      <p:sp>
        <p:nvSpPr>
          <p:cNvPr id="16" name="TextBox 15"/>
          <p:cNvSpPr txBox="1"/>
          <p:nvPr/>
        </p:nvSpPr>
        <p:spPr>
          <a:xfrm>
            <a:off x="1325880" y="4837176"/>
            <a:ext cx="7132320" cy="502920"/>
          </a:xfrm>
          <a:prstGeom prst="rect">
            <a:avLst/>
          </a:prstGeom>
          <a:noFill/>
        </p:spPr>
        <p:txBody>
          <a:bodyPr wrap="square" lIns="0" rIns="0" tIns="0" bIns="0" anchor="t">
            <a:spAutoFit/>
          </a:bodyPr>
          <a:lstStyle/>
          <a:p>
            <a:pPr algn="l"/>
            <a:r>
              <a:rPr sz="1200" b="0" i="0">
                <a:solidFill>
                  <a:srgbClr val="D8E5F5"/>
                </a:solidFill>
                <a:latin typeface="Calibri"/>
              </a:rPr>
              <a:t>so the external items can be scheduled back from a fixed point.</a:t>
            </a:r>
          </a:p>
        </p:txBody>
      </p:sp>
      <p:sp>
        <p:nvSpPr>
          <p:cNvPr id="17" name="Oval 16"/>
          <p:cNvSpPr/>
          <p:nvPr/>
        </p:nvSpPr>
        <p:spPr>
          <a:xfrm>
            <a:off x="548640" y="5385815"/>
            <a:ext cx="548640" cy="548640"/>
          </a:xfrm>
          <a:prstGeom prst="ellipse">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A1B2E"/>
                </a:solidFill>
                <a:latin typeface="Cambria"/>
              </a:rPr>
              <a:t>5</a:t>
            </a:r>
          </a:p>
        </p:txBody>
      </p:sp>
      <p:sp>
        <p:nvSpPr>
          <p:cNvPr id="18" name="TextBox 17"/>
          <p:cNvSpPr txBox="1"/>
          <p:nvPr/>
        </p:nvSpPr>
        <p:spPr>
          <a:xfrm>
            <a:off x="1325880" y="5367527"/>
            <a:ext cx="7132320" cy="365760"/>
          </a:xfrm>
          <a:prstGeom prst="rect">
            <a:avLst/>
          </a:prstGeom>
          <a:noFill/>
        </p:spPr>
        <p:txBody>
          <a:bodyPr wrap="square" lIns="0" rIns="0" tIns="0" bIns="0" anchor="t">
            <a:spAutoFit/>
          </a:bodyPr>
          <a:lstStyle/>
          <a:p>
            <a:pPr algn="l"/>
            <a:r>
              <a:rPr sz="1700" b="1" i="0">
                <a:solidFill>
                  <a:srgbClr val="FFFFFF"/>
                </a:solidFill>
                <a:latin typeface="Calibri"/>
              </a:rPr>
              <a:t>Name owners and dates for the external items</a:t>
            </a:r>
          </a:p>
        </p:txBody>
      </p:sp>
      <p:sp>
        <p:nvSpPr>
          <p:cNvPr id="19" name="TextBox 18"/>
          <p:cNvSpPr txBox="1"/>
          <p:nvPr/>
        </p:nvSpPr>
        <p:spPr>
          <a:xfrm>
            <a:off x="1325880" y="5733288"/>
            <a:ext cx="7132320" cy="502920"/>
          </a:xfrm>
          <a:prstGeom prst="rect">
            <a:avLst/>
          </a:prstGeom>
          <a:noFill/>
        </p:spPr>
        <p:txBody>
          <a:bodyPr wrap="square" lIns="0" rIns="0" tIns="0" bIns="0" anchor="t">
            <a:spAutoFit/>
          </a:bodyPr>
          <a:lstStyle/>
          <a:p>
            <a:pPr algn="l"/>
            <a:r>
              <a:rPr sz="1200" b="0" i="0">
                <a:solidFill>
                  <a:srgbClr val="D8E5F5"/>
                </a:solidFill>
                <a:latin typeface="Calibri"/>
              </a:rPr>
              <a:t>processor agreements, privacy notice, Flutterwave verification and the client-funds account.</a:t>
            </a:r>
          </a:p>
        </p:txBody>
      </p:sp>
      <p:sp>
        <p:nvSpPr>
          <p:cNvPr id="20" name="TextBox 19"/>
          <p:cNvSpPr txBox="1"/>
          <p:nvPr/>
        </p:nvSpPr>
        <p:spPr>
          <a:xfrm>
            <a:off x="9189720" y="1097280"/>
            <a:ext cx="2743200" cy="685800"/>
          </a:xfrm>
          <a:prstGeom prst="rect">
            <a:avLst/>
          </a:prstGeom>
          <a:noFill/>
        </p:spPr>
        <p:txBody>
          <a:bodyPr wrap="square" lIns="0" rIns="0" tIns="0" bIns="0" anchor="t">
            <a:spAutoFit/>
          </a:bodyPr>
          <a:lstStyle/>
          <a:p>
            <a:pPr algn="l"/>
            <a:r>
              <a:rPr sz="3600" b="1" i="0">
                <a:solidFill>
                  <a:srgbClr val="C08A1E"/>
                </a:solidFill>
                <a:latin typeface="Cambria"/>
              </a:rPr>
              <a:t>124/124</a:t>
            </a:r>
          </a:p>
        </p:txBody>
      </p:sp>
      <p:sp>
        <p:nvSpPr>
          <p:cNvPr id="21" name="TextBox 20"/>
          <p:cNvSpPr txBox="1"/>
          <p:nvPr/>
        </p:nvSpPr>
        <p:spPr>
          <a:xfrm>
            <a:off x="9189720" y="1810512"/>
            <a:ext cx="2743200" cy="320040"/>
          </a:xfrm>
          <a:prstGeom prst="rect">
            <a:avLst/>
          </a:prstGeom>
          <a:noFill/>
        </p:spPr>
        <p:txBody>
          <a:bodyPr wrap="square" lIns="0" rIns="0" tIns="0" bIns="0" anchor="t">
            <a:spAutoFit/>
          </a:bodyPr>
          <a:lstStyle/>
          <a:p>
            <a:pPr algn="l"/>
            <a:r>
              <a:rPr sz="1200" b="0" i="0">
                <a:solidFill>
                  <a:srgbClr val="D8E5F5"/>
                </a:solidFill>
                <a:latin typeface="Calibri"/>
              </a:rPr>
              <a:t>suites passing on rc3</a:t>
            </a:r>
          </a:p>
        </p:txBody>
      </p:sp>
      <p:sp>
        <p:nvSpPr>
          <p:cNvPr id="22" name="TextBox 21"/>
          <p:cNvSpPr txBox="1"/>
          <p:nvPr/>
        </p:nvSpPr>
        <p:spPr>
          <a:xfrm>
            <a:off x="9189720" y="2743200"/>
            <a:ext cx="2743200" cy="685800"/>
          </a:xfrm>
          <a:prstGeom prst="rect">
            <a:avLst/>
          </a:prstGeom>
          <a:noFill/>
        </p:spPr>
        <p:txBody>
          <a:bodyPr wrap="square" lIns="0" rIns="0" tIns="0" bIns="0" anchor="t">
            <a:spAutoFit/>
          </a:bodyPr>
          <a:lstStyle/>
          <a:p>
            <a:pPr algn="l"/>
            <a:r>
              <a:rPr sz="3600" b="1" i="0">
                <a:solidFill>
                  <a:srgbClr val="C08A1E"/>
                </a:solidFill>
                <a:latin typeface="Cambria"/>
              </a:rPr>
              <a:t>0300</a:t>
            </a:r>
          </a:p>
        </p:txBody>
      </p:sp>
      <p:sp>
        <p:nvSpPr>
          <p:cNvPr id="23" name="TextBox 22"/>
          <p:cNvSpPr txBox="1"/>
          <p:nvPr/>
        </p:nvSpPr>
        <p:spPr>
          <a:xfrm>
            <a:off x="9189720" y="3456432"/>
            <a:ext cx="2743200" cy="320040"/>
          </a:xfrm>
          <a:prstGeom prst="rect">
            <a:avLst/>
          </a:prstGeom>
          <a:noFill/>
        </p:spPr>
        <p:txBody>
          <a:bodyPr wrap="square" lIns="0" rIns="0" tIns="0" bIns="0" anchor="t">
            <a:spAutoFit/>
          </a:bodyPr>
          <a:lstStyle/>
          <a:p>
            <a:pPr algn="l"/>
            <a:r>
              <a:rPr sz="1200" b="0" i="0">
                <a:solidFill>
                  <a:srgbClr val="D8E5F5"/>
                </a:solidFill>
                <a:latin typeface="Calibri"/>
              </a:rPr>
              <a:t>production schema, empty</a:t>
            </a:r>
          </a:p>
        </p:txBody>
      </p:sp>
      <p:sp>
        <p:nvSpPr>
          <p:cNvPr id="24" name="TextBox 23"/>
          <p:cNvSpPr txBox="1"/>
          <p:nvPr/>
        </p:nvSpPr>
        <p:spPr>
          <a:xfrm>
            <a:off x="9189720" y="4389120"/>
            <a:ext cx="2743200" cy="685800"/>
          </a:xfrm>
          <a:prstGeom prst="rect">
            <a:avLst/>
          </a:prstGeom>
          <a:noFill/>
        </p:spPr>
        <p:txBody>
          <a:bodyPr wrap="square" lIns="0" rIns="0" tIns="0" bIns="0" anchor="t">
            <a:spAutoFit/>
          </a:bodyPr>
          <a:lstStyle/>
          <a:p>
            <a:pPr algn="l"/>
            <a:r>
              <a:rPr sz="3600" b="1" i="0">
                <a:solidFill>
                  <a:srgbClr val="C08A1E"/>
                </a:solidFill>
                <a:latin typeface="Cambria"/>
              </a:rPr>
              <a:t>2 days</a:t>
            </a:r>
          </a:p>
        </p:txBody>
      </p:sp>
      <p:sp>
        <p:nvSpPr>
          <p:cNvPr id="25" name="TextBox 24"/>
          <p:cNvSpPr txBox="1"/>
          <p:nvPr/>
        </p:nvSpPr>
        <p:spPr>
          <a:xfrm>
            <a:off x="9189720" y="5102352"/>
            <a:ext cx="2743200" cy="320040"/>
          </a:xfrm>
          <a:prstGeom prst="rect">
            <a:avLst/>
          </a:prstGeom>
          <a:noFill/>
        </p:spPr>
        <p:txBody>
          <a:bodyPr wrap="square" lIns="0" rIns="0" tIns="0" bIns="0" anchor="t">
            <a:spAutoFit/>
          </a:bodyPr>
          <a:lstStyle/>
          <a:p>
            <a:pPr algn="l"/>
            <a:r>
              <a:rPr sz="1200" b="0" i="0">
                <a:solidFill>
                  <a:srgbClr val="D8E5F5"/>
                </a:solidFill>
                <a:latin typeface="Calibri"/>
              </a:rPr>
              <a:t>to production-ready</a:t>
            </a:r>
          </a:p>
        </p:txBody>
      </p:sp>
      <p:sp>
        <p:nvSpPr>
          <p:cNvPr id="26" name="TextBox 25"/>
          <p:cNvSpPr txBox="1"/>
          <p:nvPr/>
        </p:nvSpPr>
        <p:spPr>
          <a:xfrm>
            <a:off x="548640" y="6446520"/>
            <a:ext cx="5486400" cy="228600"/>
          </a:xfrm>
          <a:prstGeom prst="rect">
            <a:avLst/>
          </a:prstGeom>
          <a:noFill/>
        </p:spPr>
        <p:txBody>
          <a:bodyPr wrap="square" lIns="0" rIns="0" tIns="0" bIns="0" anchor="t">
            <a:spAutoFit/>
          </a:bodyPr>
          <a:lstStyle/>
          <a:p>
            <a:pPr algn="l"/>
            <a:r>
              <a:rPr sz="900" b="0" i="0">
                <a:solidFill>
                  <a:srgbClr val="6E86A2"/>
                </a:solidFill>
                <a:latin typeface="Calibri"/>
              </a:rPr>
              <a:t>Board Confidential  ·  23 September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8288</TotalTime>
  <Words>5282</Words>
  <Application>Microsoft Office PowerPoint</Application>
  <PresentationFormat>Widescreen</PresentationFormat>
  <Paragraphs>719</Paragraphs>
  <Slides>31</Slides>
  <Notes>22</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Joseph Amapakabo</cp:lastModifiedBy>
  <cp:revision>10</cp:revision>
  <dcterms:created xsi:type="dcterms:W3CDTF">2026-07-28T16:33:45Z</dcterms:created>
  <dcterms:modified xsi:type="dcterms:W3CDTF">2026-08-07T13:25:58Z</dcterms:modified>
</cp:coreProperties>
</file>