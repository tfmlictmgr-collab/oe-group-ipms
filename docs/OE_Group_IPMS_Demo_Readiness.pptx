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readiness review, not a progress report. The build is functionally complete across all six modules; what follows is what the August board changed, what that cost, and the short list of things still owed before real client data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 outstanding suites: two exceed the parallel runner's time limit but pass when run on their own, one needs a running dev server, and one belongs to an uncommitted admin-fee migration from a separate workstream. None is a defect in this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17 (vendor self-service) was taken on 17 Aug and its UI has now been built — covered later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an auditor. The mechanism — correct rules composing into an unintended outcome, with tests that ratified it — is the failure mode worth watching for, not the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was named 'Job sign-off and approval for payment'. The second half made 'Requires Tier 2' appear above a stage no tier applies to, and invited the reading that an FM is the first of three approvers rather than the person whose evidence the approvers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 thread: every one was found because something enumerated the rule rather than checking the diff. That is the practice worth funding, not the individual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asks. Everything else on the outstanding list is work already scheduled and not a decision the board needs to make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94360"/>
            <a:ext cx="10881360" cy="27432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BOARD CONFIDENTIAL · OE GROUP IPMS</a:t>
            </a:r>
            <a:endParaRPr lang="en-US" sz="1200" dirty="0"/>
          </a:p>
        </p:txBody>
      </p:sp>
      <p:sp>
        <p:nvSpPr>
          <p:cNvPr id="3" name="Text 1"/>
          <p:cNvSpPr/>
          <p:nvPr/>
        </p:nvSpPr>
        <p:spPr>
          <a:xfrm>
            <a:off x="640080" y="914400"/>
            <a:ext cx="1088136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Demo Readiness</a:t>
            </a:r>
            <a:endParaRPr lang="en-US" sz="4000" dirty="0"/>
          </a:p>
        </p:txBody>
      </p:sp>
      <p:sp>
        <p:nvSpPr>
          <p:cNvPr id="4" name="Text 2"/>
          <p:cNvSpPr/>
          <p:nvPr/>
        </p:nvSpPr>
        <p:spPr>
          <a:xfrm>
            <a:off x="640080" y="2057400"/>
            <a:ext cx="7863840" cy="8229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Where the unified property &amp; facilities platform stands, what changed at the August board, and what is still owed before go-live.</a:t>
            </a:r>
            <a:endParaRPr lang="en-US" sz="1500" dirty="0"/>
          </a:p>
        </p:txBody>
      </p:sp>
      <p:sp>
        <p:nvSpPr>
          <p:cNvPr id="5" name="Text 3"/>
          <p:cNvSpPr/>
          <p:nvPr/>
        </p:nvSpPr>
        <p:spPr>
          <a:xfrm>
            <a:off x="640080" y="3017520"/>
            <a:ext cx="786384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24 August 2026  ·  Master Build Prompt v3.5</a:t>
            </a:r>
            <a:endParaRPr lang="en-US" sz="1200" dirty="0"/>
          </a:p>
        </p:txBody>
      </p:sp>
      <p:sp>
        <p:nvSpPr>
          <p:cNvPr id="6" name="Shape 4"/>
          <p:cNvSpPr/>
          <p:nvPr/>
        </p:nvSpPr>
        <p:spPr>
          <a:xfrm>
            <a:off x="640080" y="3977640"/>
            <a:ext cx="3383280" cy="1051560"/>
          </a:xfrm>
          <a:prstGeom prst="roundRect">
            <a:avLst>
              <a:gd name="adj" fmla="val 6957"/>
            </a:avLst>
          </a:prstGeom>
          <a:solidFill>
            <a:srgbClr val="2C3A72"/>
          </a:solidFill>
          <a:ln w="12700">
            <a:solidFill>
              <a:srgbClr val="3E4F8E"/>
            </a:solidFill>
            <a:prstDash val="solid"/>
          </a:ln>
        </p:spPr>
      </p:sp>
      <p:sp>
        <p:nvSpPr>
          <p:cNvPr id="7" name="Text 5"/>
          <p:cNvSpPr/>
          <p:nvPr/>
        </p:nvSpPr>
        <p:spPr>
          <a:xfrm>
            <a:off x="868680" y="4160520"/>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All 6 AURA modules</a:t>
            </a:r>
            <a:endParaRPr lang="en-US" sz="1400" dirty="0"/>
          </a:p>
        </p:txBody>
      </p:sp>
      <p:sp>
        <p:nvSpPr>
          <p:cNvPr id="8" name="Text 6"/>
          <p:cNvSpPr/>
          <p:nvPr/>
        </p:nvSpPr>
        <p:spPr>
          <a:xfrm>
            <a:off x="868680" y="4462272"/>
            <a:ext cx="292608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built and verified</a:t>
            </a:r>
            <a:endParaRPr lang="en-US" sz="1100" dirty="0"/>
          </a:p>
        </p:txBody>
      </p:sp>
      <p:sp>
        <p:nvSpPr>
          <p:cNvPr id="9" name="Shape 7"/>
          <p:cNvSpPr/>
          <p:nvPr/>
        </p:nvSpPr>
        <p:spPr>
          <a:xfrm>
            <a:off x="4297680" y="3977640"/>
            <a:ext cx="3383280" cy="1051560"/>
          </a:xfrm>
          <a:prstGeom prst="roundRect">
            <a:avLst>
              <a:gd name="adj" fmla="val 6957"/>
            </a:avLst>
          </a:prstGeom>
          <a:solidFill>
            <a:srgbClr val="2C3A72"/>
          </a:solidFill>
          <a:ln w="12700">
            <a:solidFill>
              <a:srgbClr val="3E4F8E"/>
            </a:solidFill>
            <a:prstDash val="solid"/>
          </a:ln>
        </p:spPr>
      </p:sp>
      <p:sp>
        <p:nvSpPr>
          <p:cNvPr id="10" name="Text 8"/>
          <p:cNvSpPr/>
          <p:nvPr/>
        </p:nvSpPr>
        <p:spPr>
          <a:xfrm>
            <a:off x="868680" y="4160520"/>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Dev + staging</a:t>
            </a:r>
            <a:endParaRPr lang="en-US" sz="1400" dirty="0"/>
          </a:p>
        </p:txBody>
      </p:sp>
      <p:sp>
        <p:nvSpPr>
          <p:cNvPr id="11" name="Text 9"/>
          <p:cNvSpPr/>
          <p:nvPr/>
        </p:nvSpPr>
        <p:spPr>
          <a:xfrm>
            <a:off x="868680" y="4462272"/>
            <a:ext cx="292608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level at migration 0190</a:t>
            </a:r>
            <a:endParaRPr lang="en-US" sz="1100" dirty="0"/>
          </a:p>
        </p:txBody>
      </p:sp>
      <p:sp>
        <p:nvSpPr>
          <p:cNvPr id="12" name="Shape 10"/>
          <p:cNvSpPr/>
          <p:nvPr/>
        </p:nvSpPr>
        <p:spPr>
          <a:xfrm>
            <a:off x="7955280" y="3977640"/>
            <a:ext cx="3383280" cy="1051560"/>
          </a:xfrm>
          <a:prstGeom prst="roundRect">
            <a:avLst>
              <a:gd name="adj" fmla="val 6957"/>
            </a:avLst>
          </a:prstGeom>
          <a:solidFill>
            <a:srgbClr val="2C3A72"/>
          </a:solidFill>
          <a:ln w="12700">
            <a:solidFill>
              <a:srgbClr val="3E4F8E"/>
            </a:solidFill>
            <a:prstDash val="solid"/>
          </a:ln>
        </p:spPr>
      </p:sp>
      <p:sp>
        <p:nvSpPr>
          <p:cNvPr id="13" name="Text 11"/>
          <p:cNvSpPr/>
          <p:nvPr/>
        </p:nvSpPr>
        <p:spPr>
          <a:xfrm>
            <a:off x="868680" y="4160520"/>
            <a:ext cx="292608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90 verification suites</a:t>
            </a:r>
            <a:endParaRPr lang="en-US" sz="1400" dirty="0"/>
          </a:p>
        </p:txBody>
      </p:sp>
      <p:sp>
        <p:nvSpPr>
          <p:cNvPr id="14" name="Text 12"/>
          <p:cNvSpPr/>
          <p:nvPr/>
        </p:nvSpPr>
        <p:spPr>
          <a:xfrm>
            <a:off x="868680" y="4462272"/>
            <a:ext cx="292608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run against the live database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the build stands</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Counted from the live database and the verification suites, not from a plan.</a:t>
            </a:r>
            <a:endParaRPr lang="en-US" sz="1400" dirty="0"/>
          </a:p>
        </p:txBody>
      </p:sp>
      <p:sp>
        <p:nvSpPr>
          <p:cNvPr id="4" name="Text 2"/>
          <p:cNvSpPr/>
          <p:nvPr/>
        </p:nvSpPr>
        <p:spPr>
          <a:xfrm>
            <a:off x="640080" y="1737360"/>
            <a:ext cx="237744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209</a:t>
            </a:r>
            <a:endParaRPr lang="en-US" sz="4600" dirty="0"/>
          </a:p>
        </p:txBody>
      </p:sp>
      <p:sp>
        <p:nvSpPr>
          <p:cNvPr id="5" name="Text 3"/>
          <p:cNvSpPr/>
          <p:nvPr/>
        </p:nvSpPr>
        <p:spPr>
          <a:xfrm>
            <a:off x="640080" y="2487168"/>
            <a:ext cx="2377440" cy="27432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migrations applied</a:t>
            </a:r>
            <a:endParaRPr lang="en-US" sz="1250" dirty="0"/>
          </a:p>
        </p:txBody>
      </p:sp>
      <p:sp>
        <p:nvSpPr>
          <p:cNvPr id="6" name="Text 4"/>
          <p:cNvSpPr/>
          <p:nvPr/>
        </p:nvSpPr>
        <p:spPr>
          <a:xfrm>
            <a:off x="640080" y="2743200"/>
            <a:ext cx="2377440" cy="457200"/>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dev and staging identical</a:t>
            </a:r>
            <a:endParaRPr lang="en-US" sz="1050" dirty="0"/>
          </a:p>
        </p:txBody>
      </p:sp>
      <p:sp>
        <p:nvSpPr>
          <p:cNvPr id="7" name="Text 5"/>
          <p:cNvSpPr/>
          <p:nvPr/>
        </p:nvSpPr>
        <p:spPr>
          <a:xfrm>
            <a:off x="3566160" y="1737360"/>
            <a:ext cx="237744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13</a:t>
            </a:r>
            <a:endParaRPr lang="en-US" sz="4600" dirty="0"/>
          </a:p>
        </p:txBody>
      </p:sp>
      <p:sp>
        <p:nvSpPr>
          <p:cNvPr id="8" name="Text 6"/>
          <p:cNvSpPr/>
          <p:nvPr/>
        </p:nvSpPr>
        <p:spPr>
          <a:xfrm>
            <a:off x="3566160" y="2487168"/>
            <a:ext cx="2377440" cy="27432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roles, each scoped</a:t>
            </a:r>
            <a:endParaRPr lang="en-US" sz="1250" dirty="0"/>
          </a:p>
        </p:txBody>
      </p:sp>
      <p:sp>
        <p:nvSpPr>
          <p:cNvPr id="9" name="Text 7"/>
          <p:cNvSpPr/>
          <p:nvPr/>
        </p:nvSpPr>
        <p:spPr>
          <a:xfrm>
            <a:off x="3566160" y="2743200"/>
            <a:ext cx="2377440" cy="457200"/>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every one with a home screen</a:t>
            </a:r>
            <a:endParaRPr lang="en-US" sz="1050" dirty="0"/>
          </a:p>
        </p:txBody>
      </p:sp>
      <p:sp>
        <p:nvSpPr>
          <p:cNvPr id="10" name="Text 8"/>
          <p:cNvSpPr/>
          <p:nvPr/>
        </p:nvSpPr>
        <p:spPr>
          <a:xfrm>
            <a:off x="6492240" y="1737360"/>
            <a:ext cx="2377440" cy="777240"/>
          </a:xfrm>
          <a:prstGeom prst="rect">
            <a:avLst/>
          </a:prstGeom>
          <a:noFill/>
          <a:ln/>
        </p:spPr>
        <p:txBody>
          <a:bodyPr wrap="square" lIns="0" tIns="0" rIns="0" bIns="0" rtlCol="0" anchor="ctr"/>
          <a:lstStyle/>
          <a:p>
            <a:pPr indent="0" marL="0">
              <a:buNone/>
            </a:pPr>
            <a:r>
              <a:rPr lang="en-US" sz="4600" b="1" dirty="0">
                <a:solidFill>
                  <a:srgbClr val="1B7F5A"/>
                </a:solidFill>
                <a:latin typeface="Cambria" pitchFamily="34" charset="0"/>
                <a:ea typeface="Cambria" pitchFamily="34" charset="-122"/>
                <a:cs typeface="Cambria" pitchFamily="34" charset="-120"/>
              </a:rPr>
              <a:t>85</a:t>
            </a:r>
            <a:endParaRPr lang="en-US" sz="4600" dirty="0"/>
          </a:p>
        </p:txBody>
      </p:sp>
      <p:sp>
        <p:nvSpPr>
          <p:cNvPr id="11" name="Text 9"/>
          <p:cNvSpPr/>
          <p:nvPr/>
        </p:nvSpPr>
        <p:spPr>
          <a:xfrm>
            <a:off x="6492240" y="2487168"/>
            <a:ext cx="2377440" cy="27432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suites passing</a:t>
            </a:r>
            <a:endParaRPr lang="en-US" sz="1250" dirty="0"/>
          </a:p>
        </p:txBody>
      </p:sp>
      <p:sp>
        <p:nvSpPr>
          <p:cNvPr id="12" name="Text 10"/>
          <p:cNvSpPr/>
          <p:nvPr/>
        </p:nvSpPr>
        <p:spPr>
          <a:xfrm>
            <a:off x="6492240" y="2743200"/>
            <a:ext cx="2377440" cy="457200"/>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of 90 · 4 outstanding, 1 needs a running server</a:t>
            </a:r>
            <a:endParaRPr lang="en-US" sz="1050" dirty="0"/>
          </a:p>
        </p:txBody>
      </p:sp>
      <p:sp>
        <p:nvSpPr>
          <p:cNvPr id="13" name="Text 11"/>
          <p:cNvSpPr/>
          <p:nvPr/>
        </p:nvSpPr>
        <p:spPr>
          <a:xfrm>
            <a:off x="9418320" y="1737360"/>
            <a:ext cx="237744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3</a:t>
            </a:r>
            <a:endParaRPr lang="en-US" sz="4600" dirty="0"/>
          </a:p>
        </p:txBody>
      </p:sp>
      <p:sp>
        <p:nvSpPr>
          <p:cNvPr id="14" name="Text 12"/>
          <p:cNvSpPr/>
          <p:nvPr/>
        </p:nvSpPr>
        <p:spPr>
          <a:xfrm>
            <a:off x="9418320" y="2487168"/>
            <a:ext cx="2377440" cy="274320"/>
          </a:xfrm>
          <a:prstGeom prst="rect">
            <a:avLst/>
          </a:prstGeom>
          <a:noFill/>
          <a:ln/>
        </p:spPr>
        <p:txBody>
          <a:bodyPr wrap="square" lIns="0" tIns="0" rIns="0" bIns="0" rtlCol="0" anchor="ctr"/>
          <a:lstStyle/>
          <a:p>
            <a:pPr indent="0" marL="0">
              <a:buNone/>
            </a:pPr>
            <a:r>
              <a:rPr lang="en-US" sz="1250" b="1" dirty="0">
                <a:solidFill>
                  <a:srgbClr val="16233F"/>
                </a:solidFill>
                <a:latin typeface="Calibri" pitchFamily="34" charset="0"/>
                <a:ea typeface="Calibri" pitchFamily="34" charset="-122"/>
                <a:cs typeface="Calibri" pitchFamily="34" charset="-120"/>
              </a:rPr>
              <a:t>money tracks live</a:t>
            </a:r>
            <a:endParaRPr lang="en-US" sz="1250" dirty="0"/>
          </a:p>
        </p:txBody>
      </p:sp>
      <p:sp>
        <p:nvSpPr>
          <p:cNvPr id="15" name="Text 13"/>
          <p:cNvSpPr/>
          <p:nvPr/>
        </p:nvSpPr>
        <p:spPr>
          <a:xfrm>
            <a:off x="9418320" y="2743200"/>
            <a:ext cx="2377440" cy="457200"/>
          </a:xfrm>
          <a:prstGeom prst="rect">
            <a:avLst/>
          </a:prstGeom>
          <a:noFill/>
          <a:ln/>
        </p:spPr>
        <p:txBody>
          <a:bodyPr wrap="square" lIns="0" tIns="0" rIns="0" bIns="0" rtlCol="0" anchor="ctr"/>
          <a:lstStyle/>
          <a:p>
            <a:pPr indent="0" marL="0">
              <a:buNone/>
            </a:pPr>
            <a:r>
              <a:rPr lang="en-US" sz="1050" dirty="0">
                <a:solidFill>
                  <a:srgbClr val="5B6B8C"/>
                </a:solidFill>
                <a:latin typeface="Calibri" pitchFamily="34" charset="0"/>
                <a:ea typeface="Calibri" pitchFamily="34" charset="-122"/>
                <a:cs typeface="Calibri" pitchFamily="34" charset="-120"/>
              </a:rPr>
              <a:t>ledger · collect · remit</a:t>
            </a:r>
            <a:endParaRPr lang="en-US" sz="1050" dirty="0"/>
          </a:p>
        </p:txBody>
      </p:sp>
      <p:sp>
        <p:nvSpPr>
          <p:cNvPr id="16" name="Shape 14"/>
          <p:cNvSpPr/>
          <p:nvPr/>
        </p:nvSpPr>
        <p:spPr>
          <a:xfrm>
            <a:off x="640080" y="3657600"/>
            <a:ext cx="5394960" cy="2286000"/>
          </a:xfrm>
          <a:prstGeom prst="roundRect">
            <a:avLst>
              <a:gd name="adj" fmla="val 3200"/>
            </a:avLst>
          </a:prstGeom>
          <a:solidFill>
            <a:srgbClr val="F7F9FE"/>
          </a:solidFill>
          <a:ln w="12700">
            <a:solidFill>
              <a:srgbClr val="DFE6F5"/>
            </a:solidFill>
            <a:prstDash val="solid"/>
          </a:ln>
        </p:spPr>
      </p:sp>
      <p:sp>
        <p:nvSpPr>
          <p:cNvPr id="17" name="Text 15"/>
          <p:cNvSpPr/>
          <p:nvPr/>
        </p:nvSpPr>
        <p:spPr>
          <a:xfrm>
            <a:off x="896112" y="3858768"/>
            <a:ext cx="4882896" cy="219456"/>
          </a:xfrm>
          <a:prstGeom prst="rect">
            <a:avLst/>
          </a:prstGeom>
          <a:noFill/>
          <a:ln/>
        </p:spPr>
        <p:txBody>
          <a:bodyPr wrap="square" lIns="0" tIns="0" rIns="0" bIns="0" rtlCol="0" anchor="ctr"/>
          <a:lstStyle/>
          <a:p>
            <a:pPr indent="0" marL="0">
              <a:buNone/>
            </a:pPr>
            <a:r>
              <a:rPr lang="en-US" sz="1000" b="1" spc="150" kern="0" dirty="0">
                <a:solidFill>
                  <a:srgbClr val="1B7F5A"/>
                </a:solidFill>
                <a:latin typeface="Calibri" pitchFamily="34" charset="0"/>
                <a:ea typeface="Calibri" pitchFamily="34" charset="-122"/>
                <a:cs typeface="Calibri" pitchFamily="34" charset="-120"/>
              </a:rPr>
              <a:t>READY TO DEMONSTRATE</a:t>
            </a:r>
            <a:endParaRPr lang="en-US" sz="1000" dirty="0"/>
          </a:p>
        </p:txBody>
      </p:sp>
      <p:sp>
        <p:nvSpPr>
          <p:cNvPr id="18" name="Text 16"/>
          <p:cNvSpPr/>
          <p:nvPr/>
        </p:nvSpPr>
        <p:spPr>
          <a:xfrm>
            <a:off x="896112" y="4114800"/>
            <a:ext cx="488289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The end-to-end money path</a:t>
            </a:r>
            <a:endParaRPr lang="en-US" sz="1500" dirty="0"/>
          </a:p>
        </p:txBody>
      </p:sp>
      <p:sp>
        <p:nvSpPr>
          <p:cNvPr id="19" name="Text 17"/>
          <p:cNvSpPr/>
          <p:nvPr/>
        </p:nvSpPr>
        <p:spPr>
          <a:xfrm>
            <a:off x="896112" y="4526280"/>
            <a:ext cx="4882896" cy="118872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A tenant pays rent on their phone → the client-funds ledger splits the fee from the landlord's share → a contractor invoices against the job card → the invoice climbs three pairs of hands → finance releases it. Every step refuses to be skipped, and refuses in words a person can act on.</a:t>
            </a:r>
            <a:endParaRPr lang="en-US" sz="1150" dirty="0"/>
          </a:p>
        </p:txBody>
      </p:sp>
      <p:sp>
        <p:nvSpPr>
          <p:cNvPr id="20" name="Shape 18"/>
          <p:cNvSpPr/>
          <p:nvPr/>
        </p:nvSpPr>
        <p:spPr>
          <a:xfrm>
            <a:off x="6309360" y="3657600"/>
            <a:ext cx="5212080" cy="2286000"/>
          </a:xfrm>
          <a:prstGeom prst="roundRect">
            <a:avLst>
              <a:gd name="adj" fmla="val 3200"/>
            </a:avLst>
          </a:prstGeom>
          <a:solidFill>
            <a:srgbClr val="F7F9FE"/>
          </a:solidFill>
          <a:ln w="12700">
            <a:solidFill>
              <a:srgbClr val="DFE6F5"/>
            </a:solidFill>
            <a:prstDash val="solid"/>
          </a:ln>
        </p:spPr>
      </p:sp>
      <p:sp>
        <p:nvSpPr>
          <p:cNvPr id="21" name="Text 19"/>
          <p:cNvSpPr/>
          <p:nvPr/>
        </p:nvSpPr>
        <p:spPr>
          <a:xfrm>
            <a:off x="6565392" y="3858768"/>
            <a:ext cx="4700016" cy="219456"/>
          </a:xfrm>
          <a:prstGeom prst="rect">
            <a:avLst/>
          </a:prstGeom>
          <a:noFill/>
          <a:ln/>
        </p:spPr>
        <p:txBody>
          <a:bodyPr wrap="square" lIns="0" tIns="0" rIns="0" bIns="0" rtlCol="0" anchor="ctr"/>
          <a:lstStyle/>
          <a:p>
            <a:pPr indent="0" marL="0">
              <a:buNone/>
            </a:pPr>
            <a:r>
              <a:rPr lang="en-US" sz="1000" b="1" spc="150" kern="0" dirty="0">
                <a:solidFill>
                  <a:srgbClr val="B4690E"/>
                </a:solidFill>
                <a:latin typeface="Calibri" pitchFamily="34" charset="0"/>
                <a:ea typeface="Calibri" pitchFamily="34" charset="-122"/>
                <a:cs typeface="Calibri" pitchFamily="34" charset="-120"/>
              </a:rPr>
              <a:t>NEEDS A DECISION</a:t>
            </a:r>
            <a:endParaRPr lang="en-US" sz="1000" dirty="0"/>
          </a:p>
        </p:txBody>
      </p:sp>
      <p:sp>
        <p:nvSpPr>
          <p:cNvPr id="22" name="Text 20"/>
          <p:cNvSpPr/>
          <p:nvPr/>
        </p:nvSpPr>
        <p:spPr>
          <a:xfrm>
            <a:off x="6565392" y="4114800"/>
            <a:ext cx="470001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Before real data lands</a:t>
            </a:r>
            <a:endParaRPr lang="en-US" sz="1500" dirty="0"/>
          </a:p>
        </p:txBody>
      </p:sp>
      <p:sp>
        <p:nvSpPr>
          <p:cNvPr id="23" name="Text 21"/>
          <p:cNvSpPr/>
          <p:nvPr/>
        </p:nvSpPr>
        <p:spPr>
          <a:xfrm>
            <a:off x="6565392" y="4526280"/>
            <a:ext cx="4700016" cy="118872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Opening balances must be posted on the real cutover date. Approval thresholds are unset on TFML and OEA. Production is not yet provisioned. None of these are build work — they are the numbers and the go/no-go that only the board can supply.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the August board changed</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Four decisions, v3.4 → v3.5. Each one narrowed something that was too wide.</a:t>
            </a:r>
            <a:endParaRPr lang="en-US" sz="1400" dirty="0"/>
          </a:p>
        </p:txBody>
      </p:sp>
      <p:sp>
        <p:nvSpPr>
          <p:cNvPr id="4" name="Shape 2"/>
          <p:cNvSpPr/>
          <p:nvPr/>
        </p:nvSpPr>
        <p:spPr>
          <a:xfrm>
            <a:off x="640080" y="1764792"/>
            <a:ext cx="566928" cy="566928"/>
          </a:xfrm>
          <a:prstGeom prst="ellipse">
            <a:avLst/>
          </a:prstGeom>
          <a:solidFill>
            <a:srgbClr val="1E2761"/>
          </a:solidFill>
          <a:ln w="12700">
            <a:solidFill>
              <a:srgbClr val="1E2761"/>
            </a:solidFill>
            <a:prstDash val="solid"/>
          </a:ln>
        </p:spPr>
      </p:sp>
      <p:sp>
        <p:nvSpPr>
          <p:cNvPr id="5" name="Text 3"/>
          <p:cNvSpPr/>
          <p:nvPr/>
        </p:nvSpPr>
        <p:spPr>
          <a:xfrm>
            <a:off x="640080" y="17647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18</a:t>
            </a:r>
            <a:endParaRPr lang="en-US" sz="1600" dirty="0"/>
          </a:p>
        </p:txBody>
      </p:sp>
      <p:sp>
        <p:nvSpPr>
          <p:cNvPr id="6" name="Text 4"/>
          <p:cNvSpPr/>
          <p:nvPr/>
        </p:nvSpPr>
        <p:spPr>
          <a:xfrm>
            <a:off x="1417320" y="1691640"/>
            <a:ext cx="3931920"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FM and PM become two roles</a:t>
            </a:r>
            <a:endParaRPr lang="en-US" sz="1500" dirty="0"/>
          </a:p>
        </p:txBody>
      </p:sp>
      <p:sp>
        <p:nvSpPr>
          <p:cNvPr id="7" name="Text 5"/>
          <p:cNvSpPr/>
          <p:nvPr/>
        </p:nvSpPr>
        <p:spPr>
          <a:xfrm>
            <a:off x="5486400" y="1673352"/>
            <a:ext cx="6035040" cy="82296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OEA now employs facilities managers alongside property managers. One role wearing a brand-aware label could not tell them apart — they share a brand.</a:t>
            </a:r>
            <a:endParaRPr lang="en-US" sz="1150" dirty="0"/>
          </a:p>
        </p:txBody>
      </p:sp>
      <p:sp>
        <p:nvSpPr>
          <p:cNvPr id="8" name="Shape 6"/>
          <p:cNvSpPr/>
          <p:nvPr/>
        </p:nvSpPr>
        <p:spPr>
          <a:xfrm>
            <a:off x="640080" y="2953512"/>
            <a:ext cx="566928" cy="566928"/>
          </a:xfrm>
          <a:prstGeom prst="ellipse">
            <a:avLst/>
          </a:prstGeom>
          <a:solidFill>
            <a:srgbClr val="1E2761"/>
          </a:solidFill>
          <a:ln w="12700">
            <a:solidFill>
              <a:srgbClr val="1E2761"/>
            </a:solidFill>
            <a:prstDash val="solid"/>
          </a:ln>
        </p:spPr>
      </p:sp>
      <p:sp>
        <p:nvSpPr>
          <p:cNvPr id="9" name="Text 7"/>
          <p:cNvSpPr/>
          <p:nvPr/>
        </p:nvSpPr>
        <p:spPr>
          <a:xfrm>
            <a:off x="640080" y="295351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19</a:t>
            </a:r>
            <a:endParaRPr lang="en-US" sz="1600" dirty="0"/>
          </a:p>
        </p:txBody>
      </p:sp>
      <p:sp>
        <p:nvSpPr>
          <p:cNvPr id="10" name="Text 8"/>
          <p:cNvSpPr/>
          <p:nvPr/>
        </p:nvSpPr>
        <p:spPr>
          <a:xfrm>
            <a:off x="1417320" y="2880360"/>
            <a:ext cx="3931920"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 request reaches one desk</a:t>
            </a:r>
            <a:endParaRPr lang="en-US" sz="1500" dirty="0"/>
          </a:p>
        </p:txBody>
      </p:sp>
      <p:sp>
        <p:nvSpPr>
          <p:cNvPr id="11" name="Text 9"/>
          <p:cNvSpPr/>
          <p:nvPr/>
        </p:nvSpPr>
        <p:spPr>
          <a:xfrm>
            <a:off x="5486400" y="2862072"/>
            <a:ext cx="6035040" cy="82296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Finance stopped reading the operational queue. Landlords stopped seeing their tenants' complaints. Org-wide sight is three roles.</a:t>
            </a:r>
            <a:endParaRPr lang="en-US" sz="1150" dirty="0"/>
          </a:p>
        </p:txBody>
      </p:sp>
      <p:sp>
        <p:nvSpPr>
          <p:cNvPr id="12" name="Shape 10"/>
          <p:cNvSpPr/>
          <p:nvPr/>
        </p:nvSpPr>
        <p:spPr>
          <a:xfrm>
            <a:off x="640080" y="4142232"/>
            <a:ext cx="566928" cy="566928"/>
          </a:xfrm>
          <a:prstGeom prst="ellipse">
            <a:avLst/>
          </a:prstGeom>
          <a:solidFill>
            <a:srgbClr val="1E2761"/>
          </a:solidFill>
          <a:ln w="12700">
            <a:solidFill>
              <a:srgbClr val="1E2761"/>
            </a:solidFill>
            <a:prstDash val="solid"/>
          </a:ln>
        </p:spPr>
      </p:sp>
      <p:sp>
        <p:nvSpPr>
          <p:cNvPr id="13" name="Text 11"/>
          <p:cNvSpPr/>
          <p:nvPr/>
        </p:nvSpPr>
        <p:spPr>
          <a:xfrm>
            <a:off x="640080" y="414223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20</a:t>
            </a:r>
            <a:endParaRPr lang="en-US" sz="1600" dirty="0"/>
          </a:p>
        </p:txBody>
      </p:sp>
      <p:sp>
        <p:nvSpPr>
          <p:cNvPr id="14" name="Text 12"/>
          <p:cNvSpPr/>
          <p:nvPr/>
        </p:nvSpPr>
        <p:spPr>
          <a:xfrm>
            <a:off x="1417320" y="4069080"/>
            <a:ext cx="3931920"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 location is a state</a:t>
            </a:r>
            <a:endParaRPr lang="en-US" sz="1500" dirty="0"/>
          </a:p>
        </p:txBody>
      </p:sp>
      <p:sp>
        <p:nvSpPr>
          <p:cNvPr id="15" name="Text 13"/>
          <p:cNvSpPr/>
          <p:nvPr/>
        </p:nvSpPr>
        <p:spPr>
          <a:xfrm>
            <a:off x="5486400" y="4050792"/>
            <a:ext cx="6035040" cy="82296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36 states + FCT, offered as a list. 25 seeded cities was a sample, not a set — and free text produced three spellings of Port Harcourt.</a:t>
            </a:r>
            <a:endParaRPr lang="en-US" sz="1150" dirty="0"/>
          </a:p>
        </p:txBody>
      </p:sp>
      <p:sp>
        <p:nvSpPr>
          <p:cNvPr id="16" name="Shape 14"/>
          <p:cNvSpPr/>
          <p:nvPr/>
        </p:nvSpPr>
        <p:spPr>
          <a:xfrm>
            <a:off x="640080" y="5330952"/>
            <a:ext cx="566928" cy="566928"/>
          </a:xfrm>
          <a:prstGeom prst="ellipse">
            <a:avLst/>
          </a:prstGeom>
          <a:solidFill>
            <a:srgbClr val="1E2761"/>
          </a:solidFill>
          <a:ln w="12700">
            <a:solidFill>
              <a:srgbClr val="1E2761"/>
            </a:solidFill>
            <a:prstDash val="solid"/>
          </a:ln>
        </p:spPr>
      </p:sp>
      <p:sp>
        <p:nvSpPr>
          <p:cNvPr id="17" name="Text 15"/>
          <p:cNvSpPr/>
          <p:nvPr/>
        </p:nvSpPr>
        <p:spPr>
          <a:xfrm>
            <a:off x="640080" y="533095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21</a:t>
            </a:r>
            <a:endParaRPr lang="en-US" sz="1600" dirty="0"/>
          </a:p>
        </p:txBody>
      </p:sp>
      <p:sp>
        <p:nvSpPr>
          <p:cNvPr id="18" name="Text 16"/>
          <p:cNvSpPr/>
          <p:nvPr/>
        </p:nvSpPr>
        <p:spPr>
          <a:xfrm>
            <a:off x="1417320" y="5257800"/>
            <a:ext cx="3931920"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 generator is serviced by the hour</a:t>
            </a:r>
            <a:endParaRPr lang="en-US" sz="1500" dirty="0"/>
          </a:p>
        </p:txBody>
      </p:sp>
      <p:sp>
        <p:nvSpPr>
          <p:cNvPr id="19" name="Text 17"/>
          <p:cNvSpPr/>
          <p:nvPr/>
        </p:nvSpPr>
        <p:spPr>
          <a:xfrm>
            <a:off x="5486400" y="5239512"/>
            <a:ext cx="6035040" cy="82296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Running hours, not a calendar. A 500-hour interval is six weeks of grid instability or nine months of standby duty.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finding worth naming</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Nobody wrote this policy. It is what four correct rules added up to.</a:t>
            </a:r>
            <a:endParaRPr lang="en-US" sz="1400" dirty="0"/>
          </a:p>
        </p:txBody>
      </p:sp>
      <p:sp>
        <p:nvSpPr>
          <p:cNvPr id="4" name="Shape 2"/>
          <p:cNvSpPr/>
          <p:nvPr/>
        </p:nvSpPr>
        <p:spPr>
          <a:xfrm>
            <a:off x="640080" y="1783080"/>
            <a:ext cx="5394960" cy="1965960"/>
          </a:xfrm>
          <a:prstGeom prst="roundRect">
            <a:avLst>
              <a:gd name="adj" fmla="val 3721"/>
            </a:avLst>
          </a:prstGeom>
          <a:solidFill>
            <a:srgbClr val="F7F9FE"/>
          </a:solidFill>
          <a:ln w="12700">
            <a:solidFill>
              <a:srgbClr val="DFE6F5"/>
            </a:solidFill>
            <a:prstDash val="solid"/>
          </a:ln>
        </p:spPr>
      </p:sp>
      <p:sp>
        <p:nvSpPr>
          <p:cNvPr id="5" name="Text 3"/>
          <p:cNvSpPr/>
          <p:nvPr/>
        </p:nvSpPr>
        <p:spPr>
          <a:xfrm>
            <a:off x="896112" y="1984248"/>
            <a:ext cx="4882896" cy="219456"/>
          </a:xfrm>
          <a:prstGeom prst="rect">
            <a:avLst/>
          </a:prstGeom>
          <a:noFill/>
          <a:ln/>
        </p:spPr>
        <p:txBody>
          <a:bodyPr wrap="square" lIns="0" tIns="0" rIns="0" bIns="0" rtlCol="0" anchor="ctr"/>
          <a:lstStyle/>
          <a:p>
            <a:pPr indent="0" marL="0">
              <a:buNone/>
            </a:pPr>
            <a:r>
              <a:rPr lang="en-US" sz="1000" b="1" spc="150" kern="0" dirty="0">
                <a:solidFill>
                  <a:srgbClr val="B4690E"/>
                </a:solidFill>
                <a:latin typeface="Calibri" pitchFamily="34" charset="0"/>
                <a:ea typeface="Calibri" pitchFamily="34" charset="-122"/>
                <a:cs typeface="Calibri" pitchFamily="34" charset="-120"/>
              </a:rPr>
              <a:t>BEFORE</a:t>
            </a:r>
            <a:endParaRPr lang="en-US" sz="1000" dirty="0"/>
          </a:p>
        </p:txBody>
      </p:sp>
      <p:sp>
        <p:nvSpPr>
          <p:cNvPr id="6" name="Text 4"/>
          <p:cNvSpPr/>
          <p:nvPr/>
        </p:nvSpPr>
        <p:spPr>
          <a:xfrm>
            <a:off x="896112" y="2240280"/>
            <a:ext cx="488289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 landlord read every tenant complaint</a:t>
            </a:r>
            <a:endParaRPr lang="en-US" sz="1500" dirty="0"/>
          </a:p>
        </p:txBody>
      </p:sp>
      <p:sp>
        <p:nvSpPr>
          <p:cNvPr id="7" name="Text 5"/>
          <p:cNvSpPr/>
          <p:nvPr/>
        </p:nvSpPr>
        <p:spPr>
          <a:xfrm>
            <a:off x="896112" y="2651760"/>
            <a:ext cx="4882896" cy="86868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The place-scoping resolver answers for an owner exactly as it does for a manager — by design, and correctly, since an owner reaches their own statements and payments through it. The service-request rule simply never said which of the two it was for.</a:t>
            </a:r>
            <a:endParaRPr lang="en-US" sz="1150" dirty="0"/>
          </a:p>
        </p:txBody>
      </p:sp>
      <p:sp>
        <p:nvSpPr>
          <p:cNvPr id="8" name="Shape 6"/>
          <p:cNvSpPr/>
          <p:nvPr/>
        </p:nvSpPr>
        <p:spPr>
          <a:xfrm>
            <a:off x="6309360" y="1783080"/>
            <a:ext cx="5212080" cy="1965960"/>
          </a:xfrm>
          <a:prstGeom prst="roundRect">
            <a:avLst>
              <a:gd name="adj" fmla="val 3721"/>
            </a:avLst>
          </a:prstGeom>
          <a:solidFill>
            <a:srgbClr val="F7F9FE"/>
          </a:solidFill>
          <a:ln w="12700">
            <a:solidFill>
              <a:srgbClr val="DFE6F5"/>
            </a:solidFill>
            <a:prstDash val="solid"/>
          </a:ln>
        </p:spPr>
      </p:sp>
      <p:sp>
        <p:nvSpPr>
          <p:cNvPr id="9" name="Text 7"/>
          <p:cNvSpPr/>
          <p:nvPr/>
        </p:nvSpPr>
        <p:spPr>
          <a:xfrm>
            <a:off x="6565392" y="1984248"/>
            <a:ext cx="4700016" cy="219456"/>
          </a:xfrm>
          <a:prstGeom prst="rect">
            <a:avLst/>
          </a:prstGeom>
          <a:noFill/>
          <a:ln/>
        </p:spPr>
        <p:txBody>
          <a:bodyPr wrap="square" lIns="0" tIns="0" rIns="0" bIns="0" rtlCol="0" anchor="ctr"/>
          <a:lstStyle/>
          <a:p>
            <a:pPr indent="0" marL="0">
              <a:buNone/>
            </a:pPr>
            <a:r>
              <a:rPr lang="en-US" sz="1000" b="1" spc="150" kern="0" dirty="0">
                <a:solidFill>
                  <a:srgbClr val="1B7F5A"/>
                </a:solidFill>
                <a:latin typeface="Calibri" pitchFamily="34" charset="0"/>
                <a:ea typeface="Calibri" pitchFamily="34" charset="-122"/>
                <a:cs typeface="Calibri" pitchFamily="34" charset="-120"/>
              </a:rPr>
              <a:t>AFTER</a:t>
            </a:r>
            <a:endParaRPr lang="en-US" sz="1000" dirty="0"/>
          </a:p>
        </p:txBody>
      </p:sp>
      <p:sp>
        <p:nvSpPr>
          <p:cNvPr id="10" name="Text 8"/>
          <p:cNvSpPr/>
          <p:nvPr/>
        </p:nvSpPr>
        <p:spPr>
          <a:xfrm>
            <a:off x="6565392" y="2240280"/>
            <a:ext cx="470001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 landlord sees what they raised</a:t>
            </a:r>
            <a:endParaRPr lang="en-US" sz="1500" dirty="0"/>
          </a:p>
        </p:txBody>
      </p:sp>
      <p:sp>
        <p:nvSpPr>
          <p:cNvPr id="11" name="Text 9"/>
          <p:cNvSpPr/>
          <p:nvPr/>
        </p:nvSpPr>
        <p:spPr>
          <a:xfrm>
            <a:off x="6565392" y="2651760"/>
            <a:ext cx="4700016" cy="86868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The board's access matrix has always shown a dash in that cell. The scoping was right and the consumer was wrong, so the rule now states which roles it serves. Owners keep their payments, statements and portfolio in full.</a:t>
            </a:r>
            <a:endParaRPr lang="en-US" sz="1150" dirty="0"/>
          </a:p>
        </p:txBody>
      </p:sp>
      <p:sp>
        <p:nvSpPr>
          <p:cNvPr id="12" name="Shape 10"/>
          <p:cNvSpPr/>
          <p:nvPr/>
        </p:nvSpPr>
        <p:spPr>
          <a:xfrm>
            <a:off x="640080" y="4069080"/>
            <a:ext cx="10881360" cy="1920240"/>
          </a:xfrm>
          <a:prstGeom prst="roundRect">
            <a:avLst>
              <a:gd name="adj" fmla="val 3810"/>
            </a:avLst>
          </a:prstGeom>
          <a:solidFill>
            <a:srgbClr val="1E2761"/>
          </a:solidFill>
          <a:ln w="12700">
            <a:solidFill>
              <a:srgbClr val="1E2761"/>
            </a:solidFill>
            <a:prstDash val="solid"/>
          </a:ln>
        </p:spPr>
      </p:sp>
      <p:sp>
        <p:nvSpPr>
          <p:cNvPr id="13" name="Text 11"/>
          <p:cNvSpPr/>
          <p:nvPr/>
        </p:nvSpPr>
        <p:spPr>
          <a:xfrm>
            <a:off x="960120" y="4297680"/>
            <a:ext cx="1024128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it survived a year of testing</a:t>
            </a:r>
            <a:endParaRPr lang="en-US" sz="1600" dirty="0"/>
          </a:p>
        </p:txBody>
      </p:sp>
      <p:sp>
        <p:nvSpPr>
          <p:cNvPr id="14" name="Text 12"/>
          <p:cNvSpPr/>
          <p:nvPr/>
        </p:nvSpPr>
        <p:spPr>
          <a:xfrm>
            <a:off x="960120" y="4663440"/>
            <a:ext cx="10241280" cy="1097280"/>
          </a:xfrm>
          <a:prstGeom prst="rect">
            <a:avLst/>
          </a:prstGeom>
          <a:noFill/>
          <a:ln/>
        </p:spPr>
        <p:txBody>
          <a:bodyPr wrap="square" lIns="0" tIns="0" rIns="0" bIns="0" rtlCol="0" anchor="ctr"/>
          <a:lstStyle/>
          <a:p>
            <a:pPr indent="0" marL="0">
              <a:lnSpc>
                <a:spcPct val="115000"/>
              </a:lnSpc>
              <a:buNone/>
            </a:pPr>
            <a:r>
              <a:rPr lang="en-US" sz="1250" dirty="0">
                <a:solidFill>
                  <a:srgbClr val="CADCFC"/>
                </a:solidFill>
                <a:latin typeface="Calibri" pitchFamily="34" charset="0"/>
                <a:ea typeface="Calibri" pitchFamily="34" charset="-122"/>
                <a:cs typeface="Calibri" pitchFamily="34" charset="-120"/>
              </a:rPr>
              <a:t>Two verification suites asserted it as a feature. Both required a landlord to see some tickets, so both passed while describing the leak. A test that encodes the bug is worse than no test — it converts a defect into evidence of correctness. Both are now inverted, and a third suite was written that enumerates every role rather than checking the two that changed.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Who sees a service request</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Everyone sees what is specifically theirs. Nothing else.</a:t>
            </a:r>
            <a:endParaRPr lang="en-US" sz="1400" dirty="0"/>
          </a:p>
        </p:txBody>
      </p:sp>
      <p:sp>
        <p:nvSpPr>
          <p:cNvPr id="4" name="Shape 2"/>
          <p:cNvSpPr/>
          <p:nvPr/>
        </p:nvSpPr>
        <p:spPr>
          <a:xfrm>
            <a:off x="640080" y="1783080"/>
            <a:ext cx="2048256" cy="3291840"/>
          </a:xfrm>
          <a:prstGeom prst="roundRect">
            <a:avLst>
              <a:gd name="adj" fmla="val 3571"/>
            </a:avLst>
          </a:prstGeom>
          <a:solidFill>
            <a:srgbClr val="F7F9FE"/>
          </a:solidFill>
          <a:ln w="12700">
            <a:solidFill>
              <a:srgbClr val="DFE6F5"/>
            </a:solidFill>
            <a:prstDash val="solid"/>
          </a:ln>
        </p:spPr>
      </p:sp>
      <p:sp>
        <p:nvSpPr>
          <p:cNvPr id="5" name="Shape 3"/>
          <p:cNvSpPr/>
          <p:nvPr/>
        </p:nvSpPr>
        <p:spPr>
          <a:xfrm>
            <a:off x="1463040" y="2011680"/>
            <a:ext cx="402336" cy="402336"/>
          </a:xfrm>
          <a:prstGeom prst="ellipse">
            <a:avLst/>
          </a:prstGeom>
          <a:solidFill>
            <a:srgbClr val="1E2761"/>
          </a:solidFill>
          <a:ln w="12700">
            <a:solidFill>
              <a:srgbClr val="1E2761"/>
            </a:solidFill>
            <a:prstDash val="solid"/>
          </a:ln>
        </p:spPr>
      </p:sp>
      <p:sp>
        <p:nvSpPr>
          <p:cNvPr id="6" name="Text 4"/>
          <p:cNvSpPr/>
          <p:nvPr/>
        </p:nvSpPr>
        <p:spPr>
          <a:xfrm>
            <a:off x="1463040" y="20116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822960" y="2542032"/>
            <a:ext cx="1682496"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Raised it</a:t>
            </a:r>
            <a:endParaRPr lang="en-US" sz="1350" dirty="0"/>
          </a:p>
        </p:txBody>
      </p:sp>
      <p:sp>
        <p:nvSpPr>
          <p:cNvPr id="8" name="Text 6"/>
          <p:cNvSpPr/>
          <p:nvPr/>
        </p:nvSpPr>
        <p:spPr>
          <a:xfrm>
            <a:off x="822960" y="3017520"/>
            <a:ext cx="168249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Tenant, landlord, staff</a:t>
            </a:r>
            <a:endParaRPr lang="en-US" sz="1050" dirty="0"/>
          </a:p>
        </p:txBody>
      </p:sp>
      <p:sp>
        <p:nvSpPr>
          <p:cNvPr id="9" name="Text 7"/>
          <p:cNvSpPr/>
          <p:nvPr/>
        </p:nvSpPr>
        <p:spPr>
          <a:xfrm>
            <a:off x="822960" y="3566160"/>
            <a:ext cx="1682496" cy="1280160"/>
          </a:xfrm>
          <a:prstGeom prst="rect">
            <a:avLst/>
          </a:prstGeom>
          <a:noFill/>
          <a:ln/>
        </p:spPr>
        <p:txBody>
          <a:bodyPr wrap="square" lIns="0" tIns="0" rIns="0" bIns="0" rtlCol="0" anchor="ctr"/>
          <a:lstStyle/>
          <a:p>
            <a:pPr algn="ctr" indent="0" marL="0">
              <a:lnSpc>
                <a:spcPct val="110000"/>
              </a:lnSpc>
              <a:buNone/>
            </a:pPr>
            <a:r>
              <a:rPr lang="en-US" sz="1050" dirty="0">
                <a:solidFill>
                  <a:srgbClr val="5B6B8C"/>
                </a:solidFill>
                <a:latin typeface="Calibri" pitchFamily="34" charset="0"/>
                <a:ea typeface="Calibri" pitchFamily="34" charset="-122"/>
                <a:cs typeface="Calibri" pitchFamily="34" charset="-120"/>
              </a:rPr>
              <a:t>Anyone who reports a problem follows it to resolution.</a:t>
            </a:r>
            <a:endParaRPr lang="en-US" sz="1050" dirty="0"/>
          </a:p>
        </p:txBody>
      </p:sp>
      <p:sp>
        <p:nvSpPr>
          <p:cNvPr id="10" name="Shape 8"/>
          <p:cNvSpPr/>
          <p:nvPr/>
        </p:nvSpPr>
        <p:spPr>
          <a:xfrm>
            <a:off x="2871216" y="1783080"/>
            <a:ext cx="2048256" cy="3291840"/>
          </a:xfrm>
          <a:prstGeom prst="roundRect">
            <a:avLst>
              <a:gd name="adj" fmla="val 3571"/>
            </a:avLst>
          </a:prstGeom>
          <a:solidFill>
            <a:srgbClr val="F7F9FE"/>
          </a:solidFill>
          <a:ln w="12700">
            <a:solidFill>
              <a:srgbClr val="DFE6F5"/>
            </a:solidFill>
            <a:prstDash val="solid"/>
          </a:ln>
        </p:spPr>
      </p:sp>
      <p:sp>
        <p:nvSpPr>
          <p:cNvPr id="11" name="Shape 9"/>
          <p:cNvSpPr/>
          <p:nvPr/>
        </p:nvSpPr>
        <p:spPr>
          <a:xfrm>
            <a:off x="3694176" y="2011680"/>
            <a:ext cx="402336" cy="402336"/>
          </a:xfrm>
          <a:prstGeom prst="ellipse">
            <a:avLst/>
          </a:prstGeom>
          <a:solidFill>
            <a:srgbClr val="1E2761"/>
          </a:solidFill>
          <a:ln w="12700">
            <a:solidFill>
              <a:srgbClr val="1E2761"/>
            </a:solidFill>
            <a:prstDash val="solid"/>
          </a:ln>
        </p:spPr>
      </p:sp>
      <p:sp>
        <p:nvSpPr>
          <p:cNvPr id="12" name="Text 10"/>
          <p:cNvSpPr/>
          <p:nvPr/>
        </p:nvSpPr>
        <p:spPr>
          <a:xfrm>
            <a:off x="3694176" y="20116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p:nvPr/>
        </p:nvSpPr>
        <p:spPr>
          <a:xfrm>
            <a:off x="3054096" y="2542032"/>
            <a:ext cx="1682496"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Dispatched to them</a:t>
            </a:r>
            <a:endParaRPr lang="en-US" sz="1350" dirty="0"/>
          </a:p>
        </p:txBody>
      </p:sp>
      <p:sp>
        <p:nvSpPr>
          <p:cNvPr id="14" name="Text 12"/>
          <p:cNvSpPr/>
          <p:nvPr/>
        </p:nvSpPr>
        <p:spPr>
          <a:xfrm>
            <a:off x="3054096" y="3017520"/>
            <a:ext cx="168249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Ops staff, contractors</a:t>
            </a:r>
            <a:endParaRPr lang="en-US" sz="1050" dirty="0"/>
          </a:p>
        </p:txBody>
      </p:sp>
      <p:sp>
        <p:nvSpPr>
          <p:cNvPr id="15" name="Text 13"/>
          <p:cNvSpPr/>
          <p:nvPr/>
        </p:nvSpPr>
        <p:spPr>
          <a:xfrm>
            <a:off x="3054096" y="3566160"/>
            <a:ext cx="1682496" cy="1280160"/>
          </a:xfrm>
          <a:prstGeom prst="rect">
            <a:avLst/>
          </a:prstGeom>
          <a:noFill/>
          <a:ln/>
        </p:spPr>
        <p:txBody>
          <a:bodyPr wrap="square" lIns="0" tIns="0" rIns="0" bIns="0" rtlCol="0" anchor="ctr"/>
          <a:lstStyle/>
          <a:p>
            <a:pPr algn="ctr" indent="0" marL="0">
              <a:lnSpc>
                <a:spcPct val="110000"/>
              </a:lnSpc>
              <a:buNone/>
            </a:pPr>
            <a:r>
              <a:rPr lang="en-US" sz="1050" dirty="0">
                <a:solidFill>
                  <a:srgbClr val="5B6B8C"/>
                </a:solidFill>
                <a:latin typeface="Calibri" pitchFamily="34" charset="0"/>
                <a:ea typeface="Calibri" pitchFamily="34" charset="-122"/>
                <a:cs typeface="Calibri" pitchFamily="34" charset="-120"/>
              </a:rPr>
              <a:t>The job in their hand, and their company's other jobs.</a:t>
            </a:r>
            <a:endParaRPr lang="en-US" sz="1050" dirty="0"/>
          </a:p>
        </p:txBody>
      </p:sp>
      <p:sp>
        <p:nvSpPr>
          <p:cNvPr id="16" name="Shape 14"/>
          <p:cNvSpPr/>
          <p:nvPr/>
        </p:nvSpPr>
        <p:spPr>
          <a:xfrm>
            <a:off x="5102352" y="1783080"/>
            <a:ext cx="2048256" cy="3291840"/>
          </a:xfrm>
          <a:prstGeom prst="roundRect">
            <a:avLst>
              <a:gd name="adj" fmla="val 3571"/>
            </a:avLst>
          </a:prstGeom>
          <a:solidFill>
            <a:srgbClr val="F7F9FE"/>
          </a:solidFill>
          <a:ln w="12700">
            <a:solidFill>
              <a:srgbClr val="DFE6F5"/>
            </a:solidFill>
            <a:prstDash val="solid"/>
          </a:ln>
        </p:spPr>
      </p:sp>
      <p:sp>
        <p:nvSpPr>
          <p:cNvPr id="17" name="Shape 15"/>
          <p:cNvSpPr/>
          <p:nvPr/>
        </p:nvSpPr>
        <p:spPr>
          <a:xfrm>
            <a:off x="5925312" y="2011680"/>
            <a:ext cx="402336" cy="402336"/>
          </a:xfrm>
          <a:prstGeom prst="ellipse">
            <a:avLst/>
          </a:prstGeom>
          <a:solidFill>
            <a:srgbClr val="1E2761"/>
          </a:solidFill>
          <a:ln w="12700">
            <a:solidFill>
              <a:srgbClr val="1E2761"/>
            </a:solidFill>
            <a:prstDash val="solid"/>
          </a:ln>
        </p:spPr>
      </p:sp>
      <p:sp>
        <p:nvSpPr>
          <p:cNvPr id="18" name="Text 16"/>
          <p:cNvSpPr/>
          <p:nvPr/>
        </p:nvSpPr>
        <p:spPr>
          <a:xfrm>
            <a:off x="5925312" y="20116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5285232" y="2542032"/>
            <a:ext cx="1682496"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Their place</a:t>
            </a:r>
            <a:endParaRPr lang="en-US" sz="1350" dirty="0"/>
          </a:p>
        </p:txBody>
      </p:sp>
      <p:sp>
        <p:nvSpPr>
          <p:cNvPr id="20" name="Text 18"/>
          <p:cNvSpPr/>
          <p:nvPr/>
        </p:nvSpPr>
        <p:spPr>
          <a:xfrm>
            <a:off x="5285232" y="3017520"/>
            <a:ext cx="168249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FM · PM · Regional</a:t>
            </a:r>
            <a:endParaRPr lang="en-US" sz="1050" dirty="0"/>
          </a:p>
        </p:txBody>
      </p:sp>
      <p:sp>
        <p:nvSpPr>
          <p:cNvPr id="21" name="Text 19"/>
          <p:cNvSpPr/>
          <p:nvPr/>
        </p:nvSpPr>
        <p:spPr>
          <a:xfrm>
            <a:off x="5285232" y="3566160"/>
            <a:ext cx="1682496" cy="1280160"/>
          </a:xfrm>
          <a:prstGeom prst="rect">
            <a:avLst/>
          </a:prstGeom>
          <a:noFill/>
          <a:ln/>
        </p:spPr>
        <p:txBody>
          <a:bodyPr wrap="square" lIns="0" tIns="0" rIns="0" bIns="0" rtlCol="0" anchor="ctr"/>
          <a:lstStyle/>
          <a:p>
            <a:pPr algn="ctr" indent="0" marL="0">
              <a:lnSpc>
                <a:spcPct val="110000"/>
              </a:lnSpc>
              <a:buNone/>
            </a:pPr>
            <a:r>
              <a:rPr lang="en-US" sz="1050" dirty="0">
                <a:solidFill>
                  <a:srgbClr val="5B6B8C"/>
                </a:solidFill>
                <a:latin typeface="Calibri" pitchFamily="34" charset="0"/>
                <a:ea typeface="Calibri" pitchFamily="34" charset="-122"/>
                <a:cs typeface="Calibri" pitchFamily="34" charset="-120"/>
              </a:rPr>
              <a:t>Everything on properties they manage — triage depends on it.</a:t>
            </a:r>
            <a:endParaRPr lang="en-US" sz="1050" dirty="0"/>
          </a:p>
        </p:txBody>
      </p:sp>
      <p:sp>
        <p:nvSpPr>
          <p:cNvPr id="22" name="Shape 20"/>
          <p:cNvSpPr/>
          <p:nvPr/>
        </p:nvSpPr>
        <p:spPr>
          <a:xfrm>
            <a:off x="7333488" y="1783080"/>
            <a:ext cx="2048256" cy="3291840"/>
          </a:xfrm>
          <a:prstGeom prst="roundRect">
            <a:avLst>
              <a:gd name="adj" fmla="val 3571"/>
            </a:avLst>
          </a:prstGeom>
          <a:solidFill>
            <a:srgbClr val="F7F9FE"/>
          </a:solidFill>
          <a:ln w="12700">
            <a:solidFill>
              <a:srgbClr val="DFE6F5"/>
            </a:solidFill>
            <a:prstDash val="solid"/>
          </a:ln>
        </p:spPr>
      </p:sp>
      <p:sp>
        <p:nvSpPr>
          <p:cNvPr id="23" name="Shape 21"/>
          <p:cNvSpPr/>
          <p:nvPr/>
        </p:nvSpPr>
        <p:spPr>
          <a:xfrm>
            <a:off x="8156448" y="2011680"/>
            <a:ext cx="402336" cy="402336"/>
          </a:xfrm>
          <a:prstGeom prst="ellipse">
            <a:avLst/>
          </a:prstGeom>
          <a:solidFill>
            <a:srgbClr val="B4690E"/>
          </a:solidFill>
          <a:ln w="12700">
            <a:solidFill>
              <a:srgbClr val="B4690E"/>
            </a:solidFill>
            <a:prstDash val="solid"/>
          </a:ln>
        </p:spPr>
      </p:sp>
      <p:sp>
        <p:nvSpPr>
          <p:cNvPr id="24" name="Text 22"/>
          <p:cNvSpPr/>
          <p:nvPr/>
        </p:nvSpPr>
        <p:spPr>
          <a:xfrm>
            <a:off x="8156448" y="20116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5" name="Text 23"/>
          <p:cNvSpPr/>
          <p:nvPr/>
        </p:nvSpPr>
        <p:spPr>
          <a:xfrm>
            <a:off x="7516368" y="2542032"/>
            <a:ext cx="1682496"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Money at their desk</a:t>
            </a:r>
            <a:endParaRPr lang="en-US" sz="1350" dirty="0"/>
          </a:p>
        </p:txBody>
      </p:sp>
      <p:sp>
        <p:nvSpPr>
          <p:cNvPr id="26" name="Text 24"/>
          <p:cNvSpPr/>
          <p:nvPr/>
        </p:nvSpPr>
        <p:spPr>
          <a:xfrm>
            <a:off x="7516368" y="3017520"/>
            <a:ext cx="1682496" cy="502920"/>
          </a:xfrm>
          <a:prstGeom prst="rect">
            <a:avLst/>
          </a:prstGeom>
          <a:noFill/>
          <a:ln/>
        </p:spPr>
        <p:txBody>
          <a:bodyPr wrap="square" lIns="0" tIns="0" rIns="0" bIns="0" rtlCol="0" anchor="ctr"/>
          <a:lstStyle/>
          <a:p>
            <a:pPr algn="ctr" indent="0" marL="0">
              <a:buNone/>
            </a:pPr>
            <a:r>
              <a:rPr lang="en-US" sz="1050" b="1" dirty="0">
                <a:solidFill>
                  <a:srgbClr val="B4690E"/>
                </a:solidFill>
                <a:latin typeface="Calibri" pitchFamily="34" charset="0"/>
                <a:ea typeface="Calibri" pitchFamily="34" charset="-122"/>
                <a:cs typeface="Calibri" pitchFamily="34" charset="-120"/>
              </a:rPr>
              <a:t>Finance · Payment approver</a:t>
            </a:r>
            <a:endParaRPr lang="en-US" sz="1050" dirty="0"/>
          </a:p>
        </p:txBody>
      </p:sp>
      <p:sp>
        <p:nvSpPr>
          <p:cNvPr id="27" name="Text 25"/>
          <p:cNvSpPr/>
          <p:nvPr/>
        </p:nvSpPr>
        <p:spPr>
          <a:xfrm>
            <a:off x="7516368" y="3566160"/>
            <a:ext cx="1682496" cy="1280160"/>
          </a:xfrm>
          <a:prstGeom prst="rect">
            <a:avLst/>
          </a:prstGeom>
          <a:noFill/>
          <a:ln/>
        </p:spPr>
        <p:txBody>
          <a:bodyPr wrap="square" lIns="0" tIns="0" rIns="0" bIns="0" rtlCol="0" anchor="ctr"/>
          <a:lstStyle/>
          <a:p>
            <a:pPr algn="ctr" indent="0" marL="0">
              <a:lnSpc>
                <a:spcPct val="110000"/>
              </a:lnSpc>
              <a:buNone/>
            </a:pPr>
            <a:r>
              <a:rPr lang="en-US" sz="1050" dirty="0">
                <a:solidFill>
                  <a:srgbClr val="5B6B8C"/>
                </a:solidFill>
                <a:latin typeface="Calibri" pitchFamily="34" charset="0"/>
                <a:ea typeface="Calibri" pitchFamily="34" charset="-122"/>
                <a:cs typeface="Calibri" pitchFamily="34" charset="-120"/>
              </a:rPr>
              <a:t>Only once the payment attached to it has climbed to them.</a:t>
            </a:r>
            <a:endParaRPr lang="en-US" sz="1050" dirty="0"/>
          </a:p>
        </p:txBody>
      </p:sp>
      <p:sp>
        <p:nvSpPr>
          <p:cNvPr id="28" name="Shape 26"/>
          <p:cNvSpPr/>
          <p:nvPr/>
        </p:nvSpPr>
        <p:spPr>
          <a:xfrm>
            <a:off x="9564624" y="1783080"/>
            <a:ext cx="2048256" cy="3291840"/>
          </a:xfrm>
          <a:prstGeom prst="roundRect">
            <a:avLst>
              <a:gd name="adj" fmla="val 3571"/>
            </a:avLst>
          </a:prstGeom>
          <a:solidFill>
            <a:srgbClr val="F7F9FE"/>
          </a:solidFill>
          <a:ln w="12700">
            <a:solidFill>
              <a:srgbClr val="DFE6F5"/>
            </a:solidFill>
            <a:prstDash val="solid"/>
          </a:ln>
        </p:spPr>
      </p:sp>
      <p:sp>
        <p:nvSpPr>
          <p:cNvPr id="29" name="Shape 27"/>
          <p:cNvSpPr/>
          <p:nvPr/>
        </p:nvSpPr>
        <p:spPr>
          <a:xfrm>
            <a:off x="10387584" y="2011680"/>
            <a:ext cx="402336" cy="402336"/>
          </a:xfrm>
          <a:prstGeom prst="ellipse">
            <a:avLst/>
          </a:prstGeom>
          <a:solidFill>
            <a:srgbClr val="1B7F5A"/>
          </a:solidFill>
          <a:ln w="12700">
            <a:solidFill>
              <a:srgbClr val="1B7F5A"/>
            </a:solidFill>
            <a:prstDash val="solid"/>
          </a:ln>
        </p:spPr>
      </p:sp>
      <p:sp>
        <p:nvSpPr>
          <p:cNvPr id="30" name="Text 28"/>
          <p:cNvSpPr/>
          <p:nvPr/>
        </p:nvSpPr>
        <p:spPr>
          <a:xfrm>
            <a:off x="10387584" y="20116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1" name="Text 29"/>
          <p:cNvSpPr/>
          <p:nvPr/>
        </p:nvSpPr>
        <p:spPr>
          <a:xfrm>
            <a:off x="9747504" y="2542032"/>
            <a:ext cx="1682496"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Everything</a:t>
            </a:r>
            <a:endParaRPr lang="en-US" sz="1350" dirty="0"/>
          </a:p>
        </p:txBody>
      </p:sp>
      <p:sp>
        <p:nvSpPr>
          <p:cNvPr id="32" name="Text 30"/>
          <p:cNvSpPr/>
          <p:nvPr/>
        </p:nvSpPr>
        <p:spPr>
          <a:xfrm>
            <a:off x="9747504" y="3017520"/>
            <a:ext cx="1682496" cy="502920"/>
          </a:xfrm>
          <a:prstGeom prst="rect">
            <a:avLst/>
          </a:prstGeom>
          <a:noFill/>
          <a:ln/>
        </p:spPr>
        <p:txBody>
          <a:bodyPr wrap="square" lIns="0" tIns="0" rIns="0" bIns="0" rtlCol="0" anchor="ctr"/>
          <a:lstStyle/>
          <a:p>
            <a:pPr algn="ctr" indent="0" marL="0">
              <a:buNone/>
            </a:pPr>
            <a:r>
              <a:rPr lang="en-US" sz="1050" b="1" dirty="0">
                <a:solidFill>
                  <a:srgbClr val="1B7F5A"/>
                </a:solidFill>
                <a:latin typeface="Calibri" pitchFamily="34" charset="0"/>
                <a:ea typeface="Calibri" pitchFamily="34" charset="-122"/>
                <a:cs typeface="Calibri" pitchFamily="34" charset="-120"/>
              </a:rPr>
              <a:t>Admin · Executive · Payment auditor</a:t>
            </a:r>
            <a:endParaRPr lang="en-US" sz="1050" dirty="0"/>
          </a:p>
        </p:txBody>
      </p:sp>
      <p:sp>
        <p:nvSpPr>
          <p:cNvPr id="33" name="Text 31"/>
          <p:cNvSpPr/>
          <p:nvPr/>
        </p:nvSpPr>
        <p:spPr>
          <a:xfrm>
            <a:off x="9747504" y="3566160"/>
            <a:ext cx="1682496" cy="1280160"/>
          </a:xfrm>
          <a:prstGeom prst="rect">
            <a:avLst/>
          </a:prstGeom>
          <a:noFill/>
          <a:ln/>
        </p:spPr>
        <p:txBody>
          <a:bodyPr wrap="square" lIns="0" tIns="0" rIns="0" bIns="0" rtlCol="0" anchor="ctr"/>
          <a:lstStyle/>
          <a:p>
            <a:pPr algn="ctr" indent="0" marL="0">
              <a:lnSpc>
                <a:spcPct val="110000"/>
              </a:lnSpc>
              <a:buNone/>
            </a:pPr>
            <a:r>
              <a:rPr lang="en-US" sz="1050" dirty="0">
                <a:solidFill>
                  <a:srgbClr val="5B6B8C"/>
                </a:solidFill>
                <a:latin typeface="Calibri" pitchFamily="34" charset="0"/>
                <a:ea typeface="Calibri" pitchFamily="34" charset="-122"/>
                <a:cs typeface="Calibri" pitchFamily="34" charset="-120"/>
              </a:rPr>
              <a:t>The auditor is here because stage 2 checks the invoice against the job card.</a:t>
            </a:r>
            <a:endParaRPr lang="en-US" sz="1050" dirty="0"/>
          </a:p>
        </p:txBody>
      </p:sp>
      <p:sp>
        <p:nvSpPr>
          <p:cNvPr id="34" name="Text 32"/>
          <p:cNvSpPr/>
          <p:nvPr/>
        </p:nvSpPr>
        <p:spPr>
          <a:xfrm>
            <a:off x="640080" y="5349240"/>
            <a:ext cx="10881360" cy="548640"/>
          </a:xfrm>
          <a:prstGeom prst="rect">
            <a:avLst/>
          </a:prstGeom>
          <a:noFill/>
          <a:ln/>
        </p:spPr>
        <p:txBody>
          <a:bodyPr wrap="square" lIns="0" tIns="0" rIns="0" bIns="0" rtlCol="0" anchor="ctr"/>
          <a:lstStyle/>
          <a:p>
            <a:pPr indent="0" marL="0">
              <a:buNone/>
            </a:pPr>
            <a:r>
              <a:rPr lang="en-US" sz="1200" i="1" dirty="0">
                <a:solidFill>
                  <a:srgbClr val="5B6B8C"/>
                </a:solidFill>
                <a:latin typeface="Calibri" pitchFamily="34" charset="0"/>
                <a:ea typeface="Calibri" pitchFamily="34" charset="-122"/>
                <a:cs typeface="Calibri" pitchFamily="34" charset="-120"/>
              </a:rPr>
              <a:t>An FM/PM now lands on “Assigned to me”. The property-wide view stays one click away, because reviewing a fresh request before it is dispatched is their job and removing it would leave nobody able to triage.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Three pairs of hands, then finance</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Corrected this month: stage 1 was being called an approval, and it is not one.</a:t>
            </a:r>
            <a:endParaRPr lang="en-US" sz="1400" dirty="0"/>
          </a:p>
        </p:txBody>
      </p:sp>
      <p:sp>
        <p:nvSpPr>
          <p:cNvPr id="4" name="Shape 2"/>
          <p:cNvSpPr/>
          <p:nvPr/>
        </p:nvSpPr>
        <p:spPr>
          <a:xfrm>
            <a:off x="640080" y="1828800"/>
            <a:ext cx="2560320" cy="2651760"/>
          </a:xfrm>
          <a:prstGeom prst="roundRect">
            <a:avLst>
              <a:gd name="adj" fmla="val 2857"/>
            </a:avLst>
          </a:prstGeom>
          <a:solidFill>
            <a:srgbClr val="F7F9FE"/>
          </a:solidFill>
          <a:ln w="12700">
            <a:solidFill>
              <a:srgbClr val="DFE6F5"/>
            </a:solidFill>
            <a:prstDash val="solid"/>
          </a:ln>
        </p:spPr>
      </p:sp>
      <p:sp>
        <p:nvSpPr>
          <p:cNvPr id="5" name="Text 3"/>
          <p:cNvSpPr/>
          <p:nvPr/>
        </p:nvSpPr>
        <p:spPr>
          <a:xfrm>
            <a:off x="868680" y="2011680"/>
            <a:ext cx="457200" cy="4114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868680" y="2487168"/>
            <a:ext cx="2103120" cy="68580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Work completed</a:t>
            </a:r>
            <a:endParaRPr lang="en-US" sz="1400" dirty="0"/>
          </a:p>
          <a:p>
            <a:pPr indent="0" marL="0">
              <a:buNone/>
            </a:pPr>
            <a:r>
              <a:rPr lang="en-US" sz="1400" b="1" dirty="0">
                <a:solidFill>
                  <a:srgbClr val="16233F"/>
                </a:solidFill>
                <a:latin typeface="Cambria" pitchFamily="34" charset="0"/>
                <a:ea typeface="Cambria" pitchFamily="34" charset="-122"/>
                <a:cs typeface="Cambria" pitchFamily="34" charset="-120"/>
              </a:rPr>
              <a:t>and signed off</a:t>
            </a:r>
            <a:endParaRPr lang="en-US" sz="1400" dirty="0"/>
          </a:p>
        </p:txBody>
      </p:sp>
      <p:sp>
        <p:nvSpPr>
          <p:cNvPr id="7" name="Text 5"/>
          <p:cNvSpPr/>
          <p:nvPr/>
        </p:nvSpPr>
        <p:spPr>
          <a:xfrm>
            <a:off x="868680" y="3200400"/>
            <a:ext cx="21031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FM · PM · Regional</a:t>
            </a:r>
            <a:endParaRPr lang="en-US" sz="1050" dirty="0"/>
          </a:p>
        </p:txBody>
      </p:sp>
      <p:sp>
        <p:nvSpPr>
          <p:cNvPr id="8" name="Text 6"/>
          <p:cNvSpPr/>
          <p:nvPr/>
        </p:nvSpPr>
        <p:spPr>
          <a:xfrm>
            <a:off x="868680" y="3520440"/>
            <a:ext cx="2103120" cy="8229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Confirms the work was DONE. No spending limit, no tier.</a:t>
            </a:r>
            <a:endParaRPr lang="en-US" sz="1050" dirty="0"/>
          </a:p>
        </p:txBody>
      </p:sp>
      <p:sp>
        <p:nvSpPr>
          <p:cNvPr id="9" name="Shape 7"/>
          <p:cNvSpPr/>
          <p:nvPr/>
        </p:nvSpPr>
        <p:spPr>
          <a:xfrm>
            <a:off x="3438144" y="1828800"/>
            <a:ext cx="2560320" cy="2651760"/>
          </a:xfrm>
          <a:prstGeom prst="roundRect">
            <a:avLst>
              <a:gd name="adj" fmla="val 2857"/>
            </a:avLst>
          </a:prstGeom>
          <a:solidFill>
            <a:srgbClr val="F7F9FE"/>
          </a:solidFill>
          <a:ln w="12700">
            <a:solidFill>
              <a:srgbClr val="DFE6F5"/>
            </a:solidFill>
            <a:prstDash val="solid"/>
          </a:ln>
        </p:spPr>
      </p:sp>
      <p:sp>
        <p:nvSpPr>
          <p:cNvPr id="10" name="Text 8"/>
          <p:cNvSpPr/>
          <p:nvPr/>
        </p:nvSpPr>
        <p:spPr>
          <a:xfrm>
            <a:off x="3666744" y="2011680"/>
            <a:ext cx="457200" cy="4114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2</a:t>
            </a:r>
            <a:endParaRPr lang="en-US" sz="2400" dirty="0"/>
          </a:p>
        </p:txBody>
      </p:sp>
      <p:sp>
        <p:nvSpPr>
          <p:cNvPr id="11" name="Text 9"/>
          <p:cNvSpPr/>
          <p:nvPr/>
        </p:nvSpPr>
        <p:spPr>
          <a:xfrm>
            <a:off x="3666744" y="2487168"/>
            <a:ext cx="2103120" cy="68580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Audit</a:t>
            </a:r>
            <a:endParaRPr lang="en-US" sz="1400" dirty="0"/>
          </a:p>
          <a:p>
            <a:pPr indent="0" marL="0">
              <a:buNone/>
            </a:pPr>
            <a:r>
              <a:rPr lang="en-US" sz="1400" b="1" dirty="0">
                <a:solidFill>
                  <a:srgbClr val="16233F"/>
                </a:solidFill>
                <a:latin typeface="Cambria" pitchFamily="34" charset="0"/>
                <a:ea typeface="Cambria" pitchFamily="34" charset="-122"/>
                <a:cs typeface="Cambria" pitchFamily="34" charset="-120"/>
              </a:rPr>
              <a:t>verification</a:t>
            </a:r>
            <a:endParaRPr lang="en-US" sz="1400" dirty="0"/>
          </a:p>
        </p:txBody>
      </p:sp>
      <p:sp>
        <p:nvSpPr>
          <p:cNvPr id="12" name="Text 10"/>
          <p:cNvSpPr/>
          <p:nvPr/>
        </p:nvSpPr>
        <p:spPr>
          <a:xfrm>
            <a:off x="3666744" y="3200400"/>
            <a:ext cx="21031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Payment auditor</a:t>
            </a:r>
            <a:endParaRPr lang="en-US" sz="1050" dirty="0"/>
          </a:p>
        </p:txBody>
      </p:sp>
      <p:sp>
        <p:nvSpPr>
          <p:cNvPr id="13" name="Text 11"/>
          <p:cNvSpPr/>
          <p:nvPr/>
        </p:nvSpPr>
        <p:spPr>
          <a:xfrm>
            <a:off x="3666744" y="3520440"/>
            <a:ext cx="2103120" cy="8229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Checks the invoice against the job card and the evidence.</a:t>
            </a:r>
            <a:endParaRPr lang="en-US" sz="1050" dirty="0"/>
          </a:p>
        </p:txBody>
      </p:sp>
      <p:sp>
        <p:nvSpPr>
          <p:cNvPr id="14" name="Shape 12"/>
          <p:cNvSpPr/>
          <p:nvPr/>
        </p:nvSpPr>
        <p:spPr>
          <a:xfrm>
            <a:off x="6236208" y="1828800"/>
            <a:ext cx="2560320" cy="2651760"/>
          </a:xfrm>
          <a:prstGeom prst="roundRect">
            <a:avLst>
              <a:gd name="adj" fmla="val 2857"/>
            </a:avLst>
          </a:prstGeom>
          <a:solidFill>
            <a:srgbClr val="F7F9FE"/>
          </a:solidFill>
          <a:ln w="12700">
            <a:solidFill>
              <a:srgbClr val="DFE6F5"/>
            </a:solidFill>
            <a:prstDash val="solid"/>
          </a:ln>
        </p:spPr>
      </p:sp>
      <p:sp>
        <p:nvSpPr>
          <p:cNvPr id="15" name="Text 13"/>
          <p:cNvSpPr/>
          <p:nvPr/>
        </p:nvSpPr>
        <p:spPr>
          <a:xfrm>
            <a:off x="6464808" y="2011680"/>
            <a:ext cx="457200" cy="4114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3</a:t>
            </a:r>
            <a:endParaRPr lang="en-US" sz="2400" dirty="0"/>
          </a:p>
        </p:txBody>
      </p:sp>
      <p:sp>
        <p:nvSpPr>
          <p:cNvPr id="16" name="Text 14"/>
          <p:cNvSpPr/>
          <p:nvPr/>
        </p:nvSpPr>
        <p:spPr>
          <a:xfrm>
            <a:off x="6464808" y="2487168"/>
            <a:ext cx="2103120" cy="68580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Final</a:t>
            </a:r>
            <a:endParaRPr lang="en-US" sz="1400" dirty="0"/>
          </a:p>
          <a:p>
            <a:pPr indent="0" marL="0">
              <a:buNone/>
            </a:pPr>
            <a:r>
              <a:rPr lang="en-US" sz="1400" b="1" dirty="0">
                <a:solidFill>
                  <a:srgbClr val="16233F"/>
                </a:solidFill>
                <a:latin typeface="Cambria" pitchFamily="34" charset="0"/>
                <a:ea typeface="Cambria" pitchFamily="34" charset="-122"/>
                <a:cs typeface="Cambria" pitchFamily="34" charset="-120"/>
              </a:rPr>
              <a:t>approval</a:t>
            </a:r>
            <a:endParaRPr lang="en-US" sz="1400" dirty="0"/>
          </a:p>
        </p:txBody>
      </p:sp>
      <p:sp>
        <p:nvSpPr>
          <p:cNvPr id="17" name="Text 15"/>
          <p:cNvSpPr/>
          <p:nvPr/>
        </p:nvSpPr>
        <p:spPr>
          <a:xfrm>
            <a:off x="6464808" y="3200400"/>
            <a:ext cx="210312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Approver · Exec · Admin</a:t>
            </a:r>
            <a:endParaRPr lang="en-US" sz="1050" dirty="0"/>
          </a:p>
        </p:txBody>
      </p:sp>
      <p:sp>
        <p:nvSpPr>
          <p:cNvPr id="18" name="Text 16"/>
          <p:cNvSpPr/>
          <p:nvPr/>
        </p:nvSpPr>
        <p:spPr>
          <a:xfrm>
            <a:off x="6464808" y="3520440"/>
            <a:ext cx="2103120" cy="8229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The only stage bounded by an amount rather than a place.</a:t>
            </a:r>
            <a:endParaRPr lang="en-US" sz="1050" dirty="0"/>
          </a:p>
        </p:txBody>
      </p:sp>
      <p:sp>
        <p:nvSpPr>
          <p:cNvPr id="19" name="Shape 17"/>
          <p:cNvSpPr/>
          <p:nvPr/>
        </p:nvSpPr>
        <p:spPr>
          <a:xfrm>
            <a:off x="9034272" y="1828800"/>
            <a:ext cx="2560320" cy="2651760"/>
          </a:xfrm>
          <a:prstGeom prst="roundRect">
            <a:avLst>
              <a:gd name="adj" fmla="val 2857"/>
            </a:avLst>
          </a:prstGeom>
          <a:solidFill>
            <a:srgbClr val="EFF8F3"/>
          </a:solidFill>
          <a:ln w="12700">
            <a:solidFill>
              <a:srgbClr val="BFE3D0"/>
            </a:solidFill>
            <a:prstDash val="solid"/>
          </a:ln>
        </p:spPr>
      </p:sp>
      <p:sp>
        <p:nvSpPr>
          <p:cNvPr id="20" name="Text 18"/>
          <p:cNvSpPr/>
          <p:nvPr/>
        </p:nvSpPr>
        <p:spPr>
          <a:xfrm>
            <a:off x="9262872" y="2011680"/>
            <a:ext cx="457200" cy="411480"/>
          </a:xfrm>
          <a:prstGeom prst="rect">
            <a:avLst/>
          </a:prstGeom>
          <a:noFill/>
          <a:ln/>
        </p:spPr>
        <p:txBody>
          <a:bodyPr wrap="square" lIns="0" tIns="0" rIns="0" bIns="0" rtlCol="0" anchor="ctr"/>
          <a:lstStyle/>
          <a:p>
            <a:pPr indent="0" marL="0">
              <a:buNone/>
            </a:pPr>
            <a:r>
              <a:rPr lang="en-US" sz="2400" b="1" dirty="0">
                <a:solidFill>
                  <a:srgbClr val="1B7F5A"/>
                </a:solidFill>
                <a:latin typeface="Cambria" pitchFamily="34" charset="0"/>
                <a:ea typeface="Cambria" pitchFamily="34" charset="-122"/>
                <a:cs typeface="Cambria" pitchFamily="34" charset="-120"/>
              </a:rPr>
              <a:t>4</a:t>
            </a:r>
            <a:endParaRPr lang="en-US" sz="2400" dirty="0"/>
          </a:p>
        </p:txBody>
      </p:sp>
      <p:sp>
        <p:nvSpPr>
          <p:cNvPr id="21" name="Text 19"/>
          <p:cNvSpPr/>
          <p:nvPr/>
        </p:nvSpPr>
        <p:spPr>
          <a:xfrm>
            <a:off x="9262872" y="2487168"/>
            <a:ext cx="2103120" cy="68580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Release</a:t>
            </a:r>
            <a:endParaRPr lang="en-US" sz="1400" dirty="0"/>
          </a:p>
          <a:p>
            <a:pPr indent="0" marL="0">
              <a:buNone/>
            </a:pPr>
            <a:r>
              <a:rPr lang="en-US" sz="1400" b="1" dirty="0">
                <a:solidFill>
                  <a:srgbClr val="16233F"/>
                </a:solidFill>
                <a:latin typeface="Cambria" pitchFamily="34" charset="0"/>
                <a:ea typeface="Cambria" pitchFamily="34" charset="-122"/>
                <a:cs typeface="Cambria" pitchFamily="34" charset="-120"/>
              </a:rPr>
              <a:t>of funds</a:t>
            </a:r>
            <a:endParaRPr lang="en-US" sz="1400" dirty="0"/>
          </a:p>
        </p:txBody>
      </p:sp>
      <p:sp>
        <p:nvSpPr>
          <p:cNvPr id="22" name="Text 20"/>
          <p:cNvSpPr/>
          <p:nvPr/>
        </p:nvSpPr>
        <p:spPr>
          <a:xfrm>
            <a:off x="9262872" y="3200400"/>
            <a:ext cx="2103120" cy="274320"/>
          </a:xfrm>
          <a:prstGeom prst="rect">
            <a:avLst/>
          </a:prstGeom>
          <a:noFill/>
          <a:ln/>
        </p:spPr>
        <p:txBody>
          <a:bodyPr wrap="square" lIns="0" tIns="0" rIns="0" bIns="0" rtlCol="0" anchor="ctr"/>
          <a:lstStyle/>
          <a:p>
            <a:pPr indent="0" marL="0">
              <a:buNone/>
            </a:pPr>
            <a:r>
              <a:rPr lang="en-US" sz="1050" b="1" dirty="0">
                <a:solidFill>
                  <a:srgbClr val="1B7F5A"/>
                </a:solidFill>
                <a:latin typeface="Calibri" pitchFamily="34" charset="0"/>
                <a:ea typeface="Calibri" pitchFamily="34" charset="-122"/>
                <a:cs typeface="Calibri" pitchFamily="34" charset="-120"/>
              </a:rPr>
              <a:t>Finance approver only</a:t>
            </a:r>
            <a:endParaRPr lang="en-US" sz="1050" dirty="0"/>
          </a:p>
        </p:txBody>
      </p:sp>
      <p:sp>
        <p:nvSpPr>
          <p:cNvPr id="23" name="Text 21"/>
          <p:cNvSpPr/>
          <p:nvPr/>
        </p:nvSpPr>
        <p:spPr>
          <a:xfrm>
            <a:off x="9262872" y="3520440"/>
            <a:ext cx="2103120" cy="822960"/>
          </a:xfrm>
          <a:prstGeom prst="rect">
            <a:avLst/>
          </a:prstGeom>
          <a:noFill/>
          <a:ln/>
        </p:spPr>
        <p:txBody>
          <a:bodyPr wrap="square" lIns="0" tIns="0" rIns="0" bIns="0" rtlCol="0" anchor="ctr"/>
          <a:lstStyle/>
          <a:p>
            <a:pPr indent="0" marL="0">
              <a:lnSpc>
                <a:spcPct val="110000"/>
              </a:lnSpc>
              <a:buNone/>
            </a:pPr>
            <a:r>
              <a:rPr lang="en-US" sz="1050" dirty="0">
                <a:solidFill>
                  <a:srgbClr val="5B6B8C"/>
                </a:solidFill>
                <a:latin typeface="Calibri" pitchFamily="34" charset="0"/>
                <a:ea typeface="Calibri" pitchFamily="34" charset="-122"/>
                <a:cs typeface="Calibri" pitchFamily="34" charset="-120"/>
              </a:rPr>
              <a:t>Not an approval, and cannot stand in for a missing one.</a:t>
            </a:r>
            <a:endParaRPr lang="en-US" sz="1050" dirty="0"/>
          </a:p>
        </p:txBody>
      </p:sp>
      <p:sp>
        <p:nvSpPr>
          <p:cNvPr id="24" name="Shape 22"/>
          <p:cNvSpPr/>
          <p:nvPr/>
        </p:nvSpPr>
        <p:spPr>
          <a:xfrm>
            <a:off x="640080" y="4709160"/>
            <a:ext cx="5394960" cy="1417320"/>
          </a:xfrm>
          <a:prstGeom prst="roundRect">
            <a:avLst>
              <a:gd name="adj" fmla="val 5161"/>
            </a:avLst>
          </a:prstGeom>
          <a:solidFill>
            <a:srgbClr val="F7F9FE"/>
          </a:solidFill>
          <a:ln w="12700">
            <a:solidFill>
              <a:srgbClr val="DFE6F5"/>
            </a:solidFill>
            <a:prstDash val="solid"/>
          </a:ln>
        </p:spPr>
      </p:sp>
      <p:sp>
        <p:nvSpPr>
          <p:cNvPr id="25" name="Text 23"/>
          <p:cNvSpPr/>
          <p:nvPr/>
        </p:nvSpPr>
        <p:spPr>
          <a:xfrm>
            <a:off x="896112" y="4946904"/>
            <a:ext cx="488289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The approval ladder now has both rungs visible</a:t>
            </a:r>
            <a:endParaRPr lang="en-US" sz="1500" dirty="0"/>
          </a:p>
        </p:txBody>
      </p:sp>
      <p:sp>
        <p:nvSpPr>
          <p:cNvPr id="26" name="Text 24"/>
          <p:cNvSpPr/>
          <p:nvPr/>
        </p:nvSpPr>
        <p:spPr>
          <a:xfrm>
            <a:off x="896112" y="5367528"/>
            <a:ext cx="4882896" cy="521208"/>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The lower threshold had been read by the system and set by no screen, sitting at its default everywhere. Both are now editable, with a mandatory reason recorded against the organisation.</a:t>
            </a:r>
            <a:endParaRPr lang="en-US" sz="1150" dirty="0"/>
          </a:p>
        </p:txBody>
      </p:sp>
      <p:sp>
        <p:nvSpPr>
          <p:cNvPr id="27" name="Shape 25"/>
          <p:cNvSpPr/>
          <p:nvPr/>
        </p:nvSpPr>
        <p:spPr>
          <a:xfrm>
            <a:off x="6309360" y="4709160"/>
            <a:ext cx="5212080" cy="1417320"/>
          </a:xfrm>
          <a:prstGeom prst="roundRect">
            <a:avLst>
              <a:gd name="adj" fmla="val 5161"/>
            </a:avLst>
          </a:prstGeom>
          <a:solidFill>
            <a:srgbClr val="F7F9FE"/>
          </a:solidFill>
          <a:ln w="12700">
            <a:solidFill>
              <a:srgbClr val="DFE6F5"/>
            </a:solidFill>
            <a:prstDash val="solid"/>
          </a:ln>
        </p:spPr>
      </p:sp>
      <p:sp>
        <p:nvSpPr>
          <p:cNvPr id="28" name="Text 26"/>
          <p:cNvSpPr/>
          <p:nvPr/>
        </p:nvSpPr>
        <p:spPr>
          <a:xfrm>
            <a:off x="6565392" y="4946904"/>
            <a:ext cx="470001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The approver who could never approve</a:t>
            </a:r>
            <a:endParaRPr lang="en-US" sz="1500" dirty="0"/>
          </a:p>
        </p:txBody>
      </p:sp>
      <p:sp>
        <p:nvSpPr>
          <p:cNvPr id="29" name="Text 27"/>
          <p:cNvSpPr/>
          <p:nvPr/>
        </p:nvSpPr>
        <p:spPr>
          <a:xfrm>
            <a:off x="6565392" y="5367528"/>
            <a:ext cx="4700016" cy="521208"/>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A dead button offered an approval the system had already automated, and refused the one role that exists to give it. Removed — the chain is the only approval surface.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 contractor administers themselves</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The last thing owed on decision 17. The database has been ready since 17 August; the screens are now built.</a:t>
            </a:r>
            <a:endParaRPr lang="en-US" sz="1400" dirty="0"/>
          </a:p>
        </p:txBody>
      </p:sp>
      <p:sp>
        <p:nvSpPr>
          <p:cNvPr id="4" name="Shape 2"/>
          <p:cNvSpPr/>
          <p:nvPr/>
        </p:nvSpPr>
        <p:spPr>
          <a:xfrm>
            <a:off x="640080" y="1783080"/>
            <a:ext cx="3520440" cy="2194560"/>
          </a:xfrm>
          <a:prstGeom prst="roundRect">
            <a:avLst>
              <a:gd name="adj" fmla="val 3333"/>
            </a:avLst>
          </a:prstGeom>
          <a:solidFill>
            <a:srgbClr val="F7F9FE"/>
          </a:solidFill>
          <a:ln w="12700">
            <a:solidFill>
              <a:srgbClr val="DFE6F5"/>
            </a:solidFill>
            <a:prstDash val="solid"/>
          </a:ln>
        </p:spPr>
      </p:sp>
      <p:sp>
        <p:nvSpPr>
          <p:cNvPr id="5" name="Text 3"/>
          <p:cNvSpPr/>
          <p:nvPr/>
        </p:nvSpPr>
        <p:spPr>
          <a:xfrm>
            <a:off x="896112" y="1984248"/>
            <a:ext cx="3008376" cy="219456"/>
          </a:xfrm>
          <a:prstGeom prst="rect">
            <a:avLst/>
          </a:prstGeom>
          <a:noFill/>
          <a:ln/>
        </p:spPr>
        <p:txBody>
          <a:bodyPr wrap="square" lIns="0" tIns="0" rIns="0" bIns="0"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THE COMPANY</a:t>
            </a:r>
            <a:endParaRPr lang="en-US" sz="1000" dirty="0"/>
          </a:p>
        </p:txBody>
      </p:sp>
      <p:sp>
        <p:nvSpPr>
          <p:cNvPr id="6" name="Text 4"/>
          <p:cNvSpPr/>
          <p:nvPr/>
        </p:nvSpPr>
        <p:spPr>
          <a:xfrm>
            <a:off x="896112" y="2240280"/>
            <a:ext cx="300837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More than one login</a:t>
            </a:r>
            <a:endParaRPr lang="en-US" sz="1500" dirty="0"/>
          </a:p>
        </p:txBody>
      </p:sp>
      <p:sp>
        <p:nvSpPr>
          <p:cNvPr id="7" name="Text 5"/>
          <p:cNvSpPr/>
          <p:nvPr/>
        </p:nvSpPr>
        <p:spPr>
          <a:xfrm>
            <a:off x="896112" y="2651760"/>
            <a:ext cx="3008376" cy="109728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A contractor's cleaner, office manager and director are three people, not one shared password. Four fixed capabilities decide who may invoice, who may invite, who may sign contracts.</a:t>
            </a:r>
            <a:endParaRPr lang="en-US" sz="1150" dirty="0"/>
          </a:p>
        </p:txBody>
      </p:sp>
      <p:sp>
        <p:nvSpPr>
          <p:cNvPr id="8" name="Shape 6"/>
          <p:cNvSpPr/>
          <p:nvPr/>
        </p:nvSpPr>
        <p:spPr>
          <a:xfrm>
            <a:off x="4343400" y="1783080"/>
            <a:ext cx="3520440" cy="2194560"/>
          </a:xfrm>
          <a:prstGeom prst="roundRect">
            <a:avLst>
              <a:gd name="adj" fmla="val 3333"/>
            </a:avLst>
          </a:prstGeom>
          <a:solidFill>
            <a:srgbClr val="F7F9FE"/>
          </a:solidFill>
          <a:ln w="12700">
            <a:solidFill>
              <a:srgbClr val="DFE6F5"/>
            </a:solidFill>
            <a:prstDash val="solid"/>
          </a:ln>
        </p:spPr>
      </p:sp>
      <p:sp>
        <p:nvSpPr>
          <p:cNvPr id="9" name="Text 7"/>
          <p:cNvSpPr/>
          <p:nvPr/>
        </p:nvSpPr>
        <p:spPr>
          <a:xfrm>
            <a:off x="4599432" y="1984248"/>
            <a:ext cx="3008376" cy="219456"/>
          </a:xfrm>
          <a:prstGeom prst="rect">
            <a:avLst/>
          </a:prstGeom>
          <a:noFill/>
          <a:ln/>
        </p:spPr>
        <p:txBody>
          <a:bodyPr wrap="square" lIns="0" tIns="0" rIns="0" bIns="0"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THE PACK</a:t>
            </a:r>
            <a:endParaRPr lang="en-US" sz="1000" dirty="0"/>
          </a:p>
        </p:txBody>
      </p:sp>
      <p:sp>
        <p:nvSpPr>
          <p:cNvPr id="10" name="Text 8"/>
          <p:cNvSpPr/>
          <p:nvPr/>
        </p:nvSpPr>
        <p:spPr>
          <a:xfrm>
            <a:off x="4599432" y="2240280"/>
            <a:ext cx="300837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Registration in proportion</a:t>
            </a:r>
            <a:endParaRPr lang="en-US" sz="1500" dirty="0"/>
          </a:p>
        </p:txBody>
      </p:sp>
      <p:sp>
        <p:nvSpPr>
          <p:cNvPr id="11" name="Text 9"/>
          <p:cNvSpPr/>
          <p:nvPr/>
        </p:nvSpPr>
        <p:spPr>
          <a:xfrm>
            <a:off x="4599432" y="2651760"/>
            <a:ext cx="3008376" cy="109728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Standard asks for four documents; enhanced adds five more. A two-man contractor sees four. A thirteen-section form is how a small firm ends up unregistered, not how they get vetted harder.</a:t>
            </a:r>
            <a:endParaRPr lang="en-US" sz="1150" dirty="0"/>
          </a:p>
        </p:txBody>
      </p:sp>
      <p:sp>
        <p:nvSpPr>
          <p:cNvPr id="12" name="Shape 10"/>
          <p:cNvSpPr/>
          <p:nvPr/>
        </p:nvSpPr>
        <p:spPr>
          <a:xfrm>
            <a:off x="8046720" y="1783080"/>
            <a:ext cx="3474720" cy="2194560"/>
          </a:xfrm>
          <a:prstGeom prst="roundRect">
            <a:avLst>
              <a:gd name="adj" fmla="val 3333"/>
            </a:avLst>
          </a:prstGeom>
          <a:solidFill>
            <a:srgbClr val="F7F9FE"/>
          </a:solidFill>
          <a:ln w="12700">
            <a:solidFill>
              <a:srgbClr val="DFE6F5"/>
            </a:solidFill>
            <a:prstDash val="solid"/>
          </a:ln>
        </p:spPr>
      </p:sp>
      <p:sp>
        <p:nvSpPr>
          <p:cNvPr id="13" name="Text 11"/>
          <p:cNvSpPr/>
          <p:nvPr/>
        </p:nvSpPr>
        <p:spPr>
          <a:xfrm>
            <a:off x="8302752" y="1984248"/>
            <a:ext cx="2962656" cy="219456"/>
          </a:xfrm>
          <a:prstGeom prst="rect">
            <a:avLst/>
          </a:prstGeom>
          <a:noFill/>
          <a:ln/>
        </p:spPr>
        <p:txBody>
          <a:bodyPr wrap="square" lIns="0" tIns="0" rIns="0" bIns="0" rtlCol="0" anchor="ctr"/>
          <a:lstStyle/>
          <a:p>
            <a:pPr indent="0" marL="0">
              <a:buNone/>
            </a:pPr>
            <a:r>
              <a:rPr lang="en-US" sz="1000" b="1" spc="150" kern="0" dirty="0">
                <a:solidFill>
                  <a:srgbClr val="1B7F5A"/>
                </a:solidFill>
                <a:latin typeface="Calibri" pitchFamily="34" charset="0"/>
                <a:ea typeface="Calibri" pitchFamily="34" charset="-122"/>
                <a:cs typeface="Calibri" pitchFamily="34" charset="-120"/>
              </a:rPr>
              <a:t>THE MONEY</a:t>
            </a:r>
            <a:endParaRPr lang="en-US" sz="1000" dirty="0"/>
          </a:p>
        </p:txBody>
      </p:sp>
      <p:sp>
        <p:nvSpPr>
          <p:cNvPr id="14" name="Text 12"/>
          <p:cNvSpPr/>
          <p:nvPr/>
        </p:nvSpPr>
        <p:spPr>
          <a:xfrm>
            <a:off x="8302752" y="2240280"/>
            <a:ext cx="296265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Stated, never actionable</a:t>
            </a:r>
            <a:endParaRPr lang="en-US" sz="1500" dirty="0"/>
          </a:p>
        </p:txBody>
      </p:sp>
      <p:sp>
        <p:nvSpPr>
          <p:cNvPr id="15" name="Text 13"/>
          <p:cNvSpPr/>
          <p:nvPr/>
        </p:nvSpPr>
        <p:spPr>
          <a:xfrm>
            <a:off x="8302752" y="2651760"/>
            <a:ext cx="2962656" cy="109728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Last four digits plus the bank's own letter. No path exists from the registration into the payout system — finance reads the number off the evidence and registers it once with the gateway.</a:t>
            </a:r>
            <a:endParaRPr lang="en-US" sz="1150" dirty="0"/>
          </a:p>
        </p:txBody>
      </p:sp>
      <p:sp>
        <p:nvSpPr>
          <p:cNvPr id="16" name="Shape 14"/>
          <p:cNvSpPr/>
          <p:nvPr/>
        </p:nvSpPr>
        <p:spPr>
          <a:xfrm>
            <a:off x="640080" y="4251960"/>
            <a:ext cx="10881360" cy="1737360"/>
          </a:xfrm>
          <a:prstGeom prst="roundRect">
            <a:avLst>
              <a:gd name="adj" fmla="val 4211"/>
            </a:avLst>
          </a:prstGeom>
          <a:solidFill>
            <a:srgbClr val="FBF6EC"/>
          </a:solidFill>
          <a:ln w="12700">
            <a:solidFill>
              <a:srgbClr val="EBD9B4"/>
            </a:solidFill>
            <a:prstDash val="solid"/>
          </a:ln>
        </p:spPr>
      </p:sp>
      <p:sp>
        <p:nvSpPr>
          <p:cNvPr id="17" name="Text 15"/>
          <p:cNvSpPr/>
          <p:nvPr/>
        </p:nvSpPr>
        <p:spPr>
          <a:xfrm>
            <a:off x="960120" y="4480560"/>
            <a:ext cx="10241280" cy="320040"/>
          </a:xfrm>
          <a:prstGeom prst="rect">
            <a:avLst/>
          </a:prstGeom>
          <a:noFill/>
          <a:ln/>
        </p:spPr>
        <p:txBody>
          <a:bodyPr wrap="square" lIns="0" tIns="0" rIns="0" bIns="0" rtlCol="0" anchor="ctr"/>
          <a:lstStyle/>
          <a:p>
            <a:pPr indent="0" marL="0">
              <a:buNone/>
            </a:pPr>
            <a:r>
              <a:rPr lang="en-US" sz="1600" b="1" dirty="0">
                <a:solidFill>
                  <a:srgbClr val="B4690E"/>
                </a:solidFill>
                <a:latin typeface="Cambria" pitchFamily="34" charset="0"/>
                <a:ea typeface="Cambria" pitchFamily="34" charset="-122"/>
                <a:cs typeface="Cambria" pitchFamily="34" charset="-120"/>
              </a:rPr>
              <a:t>Registration does not gate a payment</a:t>
            </a:r>
            <a:endParaRPr lang="en-US" sz="1600" dirty="0"/>
          </a:p>
        </p:txBody>
      </p:sp>
      <p:sp>
        <p:nvSpPr>
          <p:cNvPr id="18" name="Text 16"/>
          <p:cNvSpPr/>
          <p:nvPr/>
        </p:nvSpPr>
        <p:spPr>
          <a:xfrm>
            <a:off x="960120" y="4846320"/>
            <a:ext cx="10241280" cy="914400"/>
          </a:xfrm>
          <a:prstGeom prst="rect">
            <a:avLst/>
          </a:prstGeom>
          <a:noFill/>
          <a:ln/>
        </p:spPr>
        <p:txBody>
          <a:bodyPr wrap="square" lIns="0" tIns="0" rIns="0" bIns="0" rtlCol="0" anchor="ctr"/>
          <a:lstStyle/>
          <a:p>
            <a:pPr indent="0" marL="0">
              <a:lnSpc>
                <a:spcPct val="115000"/>
              </a:lnSpc>
              <a:buNone/>
            </a:pPr>
            <a:r>
              <a:rPr lang="en-US" sz="1250" dirty="0">
                <a:solidFill>
                  <a:srgbClr val="6B5322"/>
                </a:solidFill>
                <a:latin typeface="Calibri" pitchFamily="34" charset="0"/>
                <a:ea typeface="Calibri" pitchFamily="34" charset="-122"/>
                <a:cs typeface="Calibri" pitchFamily="34" charset="-120"/>
              </a:rPr>
              <a:t>An incomplete pack is a reason to chase a contractor, never a reason to withhold money for work already done. The contractor's own screen says so in those words. This was a deliberate board position and the build honours it — the registration reports, and refuses nothing.</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Security findings closed this month</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Each was found by a check, not by an incident.</a:t>
            </a:r>
            <a:endParaRPr lang="en-US" sz="1400" dirty="0"/>
          </a:p>
        </p:txBody>
      </p:sp>
      <p:sp>
        <p:nvSpPr>
          <p:cNvPr id="4" name="Shape 2"/>
          <p:cNvSpPr/>
          <p:nvPr/>
        </p:nvSpPr>
        <p:spPr>
          <a:xfrm>
            <a:off x="640080" y="1847088"/>
            <a:ext cx="365760" cy="365760"/>
          </a:xfrm>
          <a:prstGeom prst="ellipse">
            <a:avLst/>
          </a:prstGeom>
          <a:solidFill>
            <a:srgbClr val="1B7F5A"/>
          </a:solidFill>
          <a:ln w="12700">
            <a:solidFill>
              <a:srgbClr val="1B7F5A"/>
            </a:solidFill>
            <a:prstDash val="solid"/>
          </a:ln>
        </p:spPr>
      </p:sp>
      <p:sp>
        <p:nvSpPr>
          <p:cNvPr id="5" name="Text 3"/>
          <p:cNvSpPr/>
          <p:nvPr/>
        </p:nvSpPr>
        <p:spPr>
          <a:xfrm>
            <a:off x="640080" y="18470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6" name="Text 4"/>
          <p:cNvSpPr/>
          <p:nvPr/>
        </p:nvSpPr>
        <p:spPr>
          <a:xfrm>
            <a:off x="1188720" y="1737360"/>
            <a:ext cx="3840480" cy="54864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Two functions callable anonymously</a:t>
            </a:r>
            <a:endParaRPr lang="en-US" sz="1400" dirty="0"/>
          </a:p>
        </p:txBody>
      </p:sp>
      <p:sp>
        <p:nvSpPr>
          <p:cNvPr id="7" name="Text 5"/>
          <p:cNvSpPr/>
          <p:nvPr/>
        </p:nvSpPr>
        <p:spPr>
          <a:xfrm>
            <a:off x="5212080" y="1719072"/>
            <a:ext cx="6309360" cy="100584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One of them provisions organisations. Neither was exploitable alone — an inner check refused an anonymous caller — which is exactly why it survived: the inner check makes the outer one look unnecessary.</a:t>
            </a:r>
            <a:endParaRPr lang="en-US" sz="1150" dirty="0"/>
          </a:p>
        </p:txBody>
      </p:sp>
      <p:sp>
        <p:nvSpPr>
          <p:cNvPr id="8" name="Shape 6"/>
          <p:cNvSpPr/>
          <p:nvPr/>
        </p:nvSpPr>
        <p:spPr>
          <a:xfrm>
            <a:off x="640080" y="2980944"/>
            <a:ext cx="365760" cy="365760"/>
          </a:xfrm>
          <a:prstGeom prst="ellipse">
            <a:avLst/>
          </a:prstGeom>
          <a:solidFill>
            <a:srgbClr val="1B7F5A"/>
          </a:solidFill>
          <a:ln w="12700">
            <a:solidFill>
              <a:srgbClr val="1B7F5A"/>
            </a:solidFill>
            <a:prstDash val="solid"/>
          </a:ln>
        </p:spPr>
      </p:sp>
      <p:sp>
        <p:nvSpPr>
          <p:cNvPr id="9" name="Text 7"/>
          <p:cNvSpPr/>
          <p:nvPr/>
        </p:nvSpPr>
        <p:spPr>
          <a:xfrm>
            <a:off x="640080" y="29809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1188720" y="2871216"/>
            <a:ext cx="3840480" cy="54864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 drifted permission grant</a:t>
            </a:r>
            <a:endParaRPr lang="en-US" sz="1400" dirty="0"/>
          </a:p>
        </p:txBody>
      </p:sp>
      <p:sp>
        <p:nvSpPr>
          <p:cNvPr id="11" name="Text 9"/>
          <p:cNvSpPr/>
          <p:nvPr/>
        </p:nvSpPr>
        <p:spPr>
          <a:xfrm>
            <a:off x="5212080" y="2852928"/>
            <a:ext cx="6309360" cy="100584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A landlord role held org-wide request sight in the operator organisation. Nil blast radius — that org holds no client data — recorded because the failure mode outlives the instance.</a:t>
            </a:r>
            <a:endParaRPr lang="en-US" sz="1150" dirty="0"/>
          </a:p>
        </p:txBody>
      </p:sp>
      <p:sp>
        <p:nvSpPr>
          <p:cNvPr id="12" name="Shape 10"/>
          <p:cNvSpPr/>
          <p:nvPr/>
        </p:nvSpPr>
        <p:spPr>
          <a:xfrm>
            <a:off x="640080" y="4114800"/>
            <a:ext cx="365760" cy="365760"/>
          </a:xfrm>
          <a:prstGeom prst="ellipse">
            <a:avLst/>
          </a:prstGeom>
          <a:solidFill>
            <a:srgbClr val="1B7F5A"/>
          </a:solidFill>
          <a:ln w="12700">
            <a:solidFill>
              <a:srgbClr val="1B7F5A"/>
            </a:solidFill>
            <a:prstDash val="solid"/>
          </a:ln>
        </p:spPr>
      </p:sp>
      <p:sp>
        <p:nvSpPr>
          <p:cNvPr id="13" name="Text 11"/>
          <p:cNvSpPr/>
          <p:nvPr/>
        </p:nvSpPr>
        <p:spPr>
          <a:xfrm>
            <a:off x="640080" y="4114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188720" y="4005072"/>
            <a:ext cx="3840480" cy="54864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 settings write with no reason attached</a:t>
            </a:r>
            <a:endParaRPr lang="en-US" sz="1400" dirty="0"/>
          </a:p>
        </p:txBody>
      </p:sp>
      <p:sp>
        <p:nvSpPr>
          <p:cNvPr id="15" name="Text 13"/>
          <p:cNvSpPr/>
          <p:nvPr/>
        </p:nvSpPr>
        <p:spPr>
          <a:xfrm>
            <a:off x="5212080" y="3986784"/>
            <a:ext cx="6309360" cy="100584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Threshold changes bypassed the audited path, skipping the mandatory explanation and the before/after record. Never an authority hole; an accountability one.</a:t>
            </a:r>
            <a:endParaRPr lang="en-US" sz="1150" dirty="0"/>
          </a:p>
        </p:txBody>
      </p:sp>
      <p:sp>
        <p:nvSpPr>
          <p:cNvPr id="16" name="Shape 14"/>
          <p:cNvSpPr/>
          <p:nvPr/>
        </p:nvSpPr>
        <p:spPr>
          <a:xfrm>
            <a:off x="640080" y="5248656"/>
            <a:ext cx="365760" cy="365760"/>
          </a:xfrm>
          <a:prstGeom prst="ellipse">
            <a:avLst/>
          </a:prstGeom>
          <a:solidFill>
            <a:srgbClr val="1B7F5A"/>
          </a:solidFill>
          <a:ln w="12700">
            <a:solidFill>
              <a:srgbClr val="1B7F5A"/>
            </a:solidFill>
            <a:prstDash val="solid"/>
          </a:ln>
        </p:spPr>
      </p:sp>
      <p:sp>
        <p:nvSpPr>
          <p:cNvPr id="17" name="Text 15"/>
          <p:cNvSpPr/>
          <p:nvPr/>
        </p:nvSpPr>
        <p:spPr>
          <a:xfrm>
            <a:off x="640080" y="52486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1188720" y="5138928"/>
            <a:ext cx="3840480" cy="548640"/>
          </a:xfrm>
          <a:prstGeom prst="rect">
            <a:avLst/>
          </a:prstGeom>
          <a:noFill/>
          <a:ln/>
        </p:spPr>
        <p:txBody>
          <a:bodyPr wrap="square" lIns="0" tIns="0" rIns="0" bIns="0" rtlCol="0" anchor="ctr"/>
          <a:lstStyle/>
          <a:p>
            <a:pPr indent="0" marL="0">
              <a:buNone/>
            </a:pPr>
            <a:r>
              <a:rPr lang="en-US" sz="1400" b="1" dirty="0">
                <a:solidFill>
                  <a:srgbClr val="16233F"/>
                </a:solidFill>
                <a:latin typeface="Cambria" pitchFamily="34" charset="0"/>
                <a:ea typeface="Cambria" pitchFamily="34" charset="-122"/>
                <a:cs typeface="Cambria" pitchFamily="34" charset="-120"/>
              </a:rPr>
              <a:t>A dispatch check that skipped itself</a:t>
            </a:r>
            <a:endParaRPr lang="en-US" sz="1400" dirty="0"/>
          </a:p>
        </p:txBody>
      </p:sp>
      <p:sp>
        <p:nvSpPr>
          <p:cNvPr id="19" name="Text 17"/>
          <p:cNvSpPr/>
          <p:nvPr/>
        </p:nvSpPr>
        <p:spPr>
          <a:xfrm>
            <a:off x="5212080" y="5120640"/>
            <a:ext cx="6309360" cy="1005840"/>
          </a:xfrm>
          <a:prstGeom prst="rect">
            <a:avLst/>
          </a:prstGeom>
          <a:noFill/>
          <a:ln/>
        </p:spPr>
        <p:txBody>
          <a:bodyPr wrap="square" lIns="0" tIns="0" rIns="0" bIns="0" rtlCol="0" anchor="ctr"/>
          <a:lstStyle/>
          <a:p>
            <a:pPr indent="0" marL="0">
              <a:lnSpc>
                <a:spcPct val="112000"/>
              </a:lnSpc>
              <a:buNone/>
            </a:pPr>
            <a:r>
              <a:rPr lang="en-US" sz="1150" dirty="0">
                <a:solidFill>
                  <a:srgbClr val="5B6B8C"/>
                </a:solidFill>
                <a:latin typeface="Calibri" pitchFamily="34" charset="0"/>
                <a:ea typeface="Calibri" pitchFamily="34" charset="-122"/>
                <a:cs typeface="Calibri" pitchFamily="34" charset="-120"/>
              </a:rPr>
              <a:t>A guarded test block silently stopped running when its fixture went missing, and reported PASS for a rule it never exercised.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still owed</a:t>
            </a:r>
            <a:endParaRPr lang="en-US" sz="3000" dirty="0"/>
          </a:p>
        </p:txBody>
      </p:sp>
      <p:sp>
        <p:nvSpPr>
          <p:cNvPr id="3" name="Text 1"/>
          <p:cNvSpPr/>
          <p:nvPr/>
        </p:nvSpPr>
        <p:spPr>
          <a:xfrm>
            <a:off x="640080" y="1024128"/>
            <a:ext cx="10881360" cy="457200"/>
          </a:xfrm>
          <a:prstGeom prst="rect">
            <a:avLst/>
          </a:prstGeom>
          <a:noFill/>
          <a:ln/>
        </p:spPr>
        <p:txBody>
          <a:bodyPr wrap="square" lIns="0" tIns="0" rIns="0" bIns="0" rtlCol="0" anchor="ctr"/>
          <a:lstStyle/>
          <a:p>
            <a:pPr indent="0" marL="0">
              <a:buNone/>
            </a:pPr>
            <a:r>
              <a:rPr lang="en-US" sz="1400" dirty="0">
                <a:solidFill>
                  <a:srgbClr val="5B6B8C"/>
                </a:solidFill>
                <a:latin typeface="Calibri" pitchFamily="34" charset="0"/>
                <a:ea typeface="Calibri" pitchFamily="34" charset="-122"/>
                <a:cs typeface="Calibri" pitchFamily="34" charset="-120"/>
              </a:rPr>
              <a:t>Nothing here is blocked on build work.</a:t>
            </a:r>
            <a:endParaRPr lang="en-US" sz="1400" dirty="0"/>
          </a:p>
        </p:txBody>
      </p:sp>
      <p:sp>
        <p:nvSpPr>
          <p:cNvPr id="4" name="Shape 2"/>
          <p:cNvSpPr/>
          <p:nvPr/>
        </p:nvSpPr>
        <p:spPr>
          <a:xfrm>
            <a:off x="640080" y="1737360"/>
            <a:ext cx="3520440" cy="2148840"/>
          </a:xfrm>
          <a:prstGeom prst="roundRect">
            <a:avLst>
              <a:gd name="adj" fmla="val 3404"/>
            </a:avLst>
          </a:prstGeom>
          <a:solidFill>
            <a:srgbClr val="F7F9FE"/>
          </a:solidFill>
          <a:ln w="12700">
            <a:solidFill>
              <a:srgbClr val="DFE6F5"/>
            </a:solidFill>
            <a:prstDash val="solid"/>
          </a:ln>
        </p:spPr>
      </p:sp>
      <p:sp>
        <p:nvSpPr>
          <p:cNvPr id="5" name="Text 3"/>
          <p:cNvSpPr/>
          <p:nvPr/>
        </p:nvSpPr>
        <p:spPr>
          <a:xfrm>
            <a:off x="896112" y="1938528"/>
            <a:ext cx="3008376" cy="219456"/>
          </a:xfrm>
          <a:prstGeom prst="rect">
            <a:avLst/>
          </a:prstGeom>
          <a:noFill/>
          <a:ln/>
        </p:spPr>
        <p:txBody>
          <a:bodyPr wrap="square" lIns="0" tIns="0" rIns="0" bIns="0" rtlCol="0" anchor="ctr"/>
          <a:lstStyle/>
          <a:p>
            <a:pPr indent="0" marL="0">
              <a:buNone/>
            </a:pPr>
            <a:r>
              <a:rPr lang="en-US" sz="1000" b="1" spc="150" kern="0" dirty="0">
                <a:solidFill>
                  <a:srgbClr val="B4690E"/>
                </a:solidFill>
                <a:latin typeface="Calibri" pitchFamily="34" charset="0"/>
                <a:ea typeface="Calibri" pitchFamily="34" charset="-122"/>
                <a:cs typeface="Calibri" pitchFamily="34" charset="-120"/>
              </a:rPr>
              <a:t>BOARD / FINANCE</a:t>
            </a:r>
            <a:endParaRPr lang="en-US" sz="1000" dirty="0"/>
          </a:p>
        </p:txBody>
      </p:sp>
      <p:sp>
        <p:nvSpPr>
          <p:cNvPr id="6" name="Text 4"/>
          <p:cNvSpPr/>
          <p:nvPr/>
        </p:nvSpPr>
        <p:spPr>
          <a:xfrm>
            <a:off x="896112" y="2194560"/>
            <a:ext cx="300837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Opening balances</a:t>
            </a:r>
            <a:endParaRPr lang="en-US" sz="1500" dirty="0"/>
          </a:p>
        </p:txBody>
      </p:sp>
      <p:sp>
        <p:nvSpPr>
          <p:cNvPr id="7" name="Text 5"/>
          <p:cNvSpPr/>
          <p:nvPr/>
        </p:nvSpPr>
        <p:spPr>
          <a:xfrm>
            <a:off x="896112" y="2606040"/>
            <a:ext cx="3008376" cy="10515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The real balance on the real cutover date. Left unset, every reconciliation is permanently out by that amount. Zero is correct for staging and wrong for production.</a:t>
            </a:r>
            <a:endParaRPr lang="en-US" sz="1150" dirty="0"/>
          </a:p>
        </p:txBody>
      </p:sp>
      <p:sp>
        <p:nvSpPr>
          <p:cNvPr id="8" name="Shape 6"/>
          <p:cNvSpPr/>
          <p:nvPr/>
        </p:nvSpPr>
        <p:spPr>
          <a:xfrm>
            <a:off x="4343400" y="1737360"/>
            <a:ext cx="3520440" cy="2148840"/>
          </a:xfrm>
          <a:prstGeom prst="roundRect">
            <a:avLst>
              <a:gd name="adj" fmla="val 3404"/>
            </a:avLst>
          </a:prstGeom>
          <a:solidFill>
            <a:srgbClr val="F7F9FE"/>
          </a:solidFill>
          <a:ln w="12700">
            <a:solidFill>
              <a:srgbClr val="DFE6F5"/>
            </a:solidFill>
            <a:prstDash val="solid"/>
          </a:ln>
        </p:spPr>
      </p:sp>
      <p:sp>
        <p:nvSpPr>
          <p:cNvPr id="9" name="Text 7"/>
          <p:cNvSpPr/>
          <p:nvPr/>
        </p:nvSpPr>
        <p:spPr>
          <a:xfrm>
            <a:off x="4599432" y="1938528"/>
            <a:ext cx="3008376" cy="219456"/>
          </a:xfrm>
          <a:prstGeom prst="rect">
            <a:avLst/>
          </a:prstGeom>
          <a:noFill/>
          <a:ln/>
        </p:spPr>
        <p:txBody>
          <a:bodyPr wrap="square" lIns="0" tIns="0" rIns="0" bIns="0" rtlCol="0" anchor="ctr"/>
          <a:lstStyle/>
          <a:p>
            <a:pPr indent="0" marL="0">
              <a:buNone/>
            </a:pPr>
            <a:r>
              <a:rPr lang="en-US" sz="1000" b="1" spc="150" kern="0" dirty="0">
                <a:solidFill>
                  <a:srgbClr val="B4690E"/>
                </a:solidFill>
                <a:latin typeface="Calibri" pitchFamily="34" charset="0"/>
                <a:ea typeface="Calibri" pitchFamily="34" charset="-122"/>
                <a:cs typeface="Calibri" pitchFamily="34" charset="-120"/>
              </a:rPr>
              <a:t>BOARD</a:t>
            </a:r>
            <a:endParaRPr lang="en-US" sz="1000" dirty="0"/>
          </a:p>
        </p:txBody>
      </p:sp>
      <p:sp>
        <p:nvSpPr>
          <p:cNvPr id="10" name="Text 8"/>
          <p:cNvSpPr/>
          <p:nvPr/>
        </p:nvSpPr>
        <p:spPr>
          <a:xfrm>
            <a:off x="4599432" y="2194560"/>
            <a:ext cx="300837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Approval thresholds</a:t>
            </a:r>
            <a:endParaRPr lang="en-US" sz="1500" dirty="0"/>
          </a:p>
        </p:txBody>
      </p:sp>
      <p:sp>
        <p:nvSpPr>
          <p:cNvPr id="11" name="Text 9"/>
          <p:cNvSpPr/>
          <p:nvPr/>
        </p:nvSpPr>
        <p:spPr>
          <a:xfrm>
            <a:off x="4599432" y="2606040"/>
            <a:ext cx="3008376" cy="10515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TFML and OEA have none set. Until they do, the above-threshold path — the one with two pairs of hands on it — cannot be rehearsed on either brand.</a:t>
            </a:r>
            <a:endParaRPr lang="en-US" sz="1150" dirty="0"/>
          </a:p>
        </p:txBody>
      </p:sp>
      <p:sp>
        <p:nvSpPr>
          <p:cNvPr id="12" name="Shape 10"/>
          <p:cNvSpPr/>
          <p:nvPr/>
        </p:nvSpPr>
        <p:spPr>
          <a:xfrm>
            <a:off x="8046720" y="1737360"/>
            <a:ext cx="3474720" cy="2148840"/>
          </a:xfrm>
          <a:prstGeom prst="roundRect">
            <a:avLst>
              <a:gd name="adj" fmla="val 3404"/>
            </a:avLst>
          </a:prstGeom>
          <a:solidFill>
            <a:srgbClr val="F7F9FE"/>
          </a:solidFill>
          <a:ln w="12700">
            <a:solidFill>
              <a:srgbClr val="DFE6F5"/>
            </a:solidFill>
            <a:prstDash val="solid"/>
          </a:ln>
        </p:spPr>
      </p:sp>
      <p:sp>
        <p:nvSpPr>
          <p:cNvPr id="13" name="Text 11"/>
          <p:cNvSpPr/>
          <p:nvPr/>
        </p:nvSpPr>
        <p:spPr>
          <a:xfrm>
            <a:off x="8302752" y="1938528"/>
            <a:ext cx="2962656" cy="219456"/>
          </a:xfrm>
          <a:prstGeom prst="rect">
            <a:avLst/>
          </a:prstGeom>
          <a:noFill/>
          <a:ln/>
        </p:spPr>
        <p:txBody>
          <a:bodyPr wrap="square" lIns="0" tIns="0" rIns="0" bIns="0" rtlCol="0" anchor="ctr"/>
          <a:lstStyle/>
          <a:p>
            <a:pPr indent="0" marL="0">
              <a:buNone/>
            </a:pPr>
            <a:r>
              <a:rPr lang="en-US" sz="1000" b="1" spc="150" kern="0" dirty="0">
                <a:solidFill>
                  <a:srgbClr val="B4690E"/>
                </a:solidFill>
                <a:latin typeface="Calibri" pitchFamily="34" charset="0"/>
                <a:ea typeface="Calibri" pitchFamily="34" charset="-122"/>
                <a:cs typeface="Calibri" pitchFamily="34" charset="-120"/>
              </a:rPr>
              <a:t>OPERATIONS</a:t>
            </a:r>
            <a:endParaRPr lang="en-US" sz="1000" dirty="0"/>
          </a:p>
        </p:txBody>
      </p:sp>
      <p:sp>
        <p:nvSpPr>
          <p:cNvPr id="14" name="Text 12"/>
          <p:cNvSpPr/>
          <p:nvPr/>
        </p:nvSpPr>
        <p:spPr>
          <a:xfrm>
            <a:off x="8302752" y="2194560"/>
            <a:ext cx="296265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Production environment</a:t>
            </a:r>
            <a:endParaRPr lang="en-US" sz="1500" dirty="0"/>
          </a:p>
        </p:txBody>
      </p:sp>
      <p:sp>
        <p:nvSpPr>
          <p:cNvPr id="15" name="Text 13"/>
          <p:cNvSpPr/>
          <p:nvPr/>
        </p:nvSpPr>
        <p:spPr>
          <a:xfrm>
            <a:off x="8302752" y="2606040"/>
            <a:ext cx="2962656" cy="10515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Not yet provisioned. Schema-only at cutover, never seeded — every row must arrive through real onboarding.</a:t>
            </a:r>
            <a:endParaRPr lang="en-US" sz="1150" dirty="0"/>
          </a:p>
        </p:txBody>
      </p:sp>
      <p:sp>
        <p:nvSpPr>
          <p:cNvPr id="16" name="Shape 14"/>
          <p:cNvSpPr/>
          <p:nvPr/>
        </p:nvSpPr>
        <p:spPr>
          <a:xfrm>
            <a:off x="640080" y="4114800"/>
            <a:ext cx="5394960" cy="1920240"/>
          </a:xfrm>
          <a:prstGeom prst="roundRect">
            <a:avLst>
              <a:gd name="adj" fmla="val 3810"/>
            </a:avLst>
          </a:prstGeom>
          <a:solidFill>
            <a:srgbClr val="F7F9FE"/>
          </a:solidFill>
          <a:ln w="12700">
            <a:solidFill>
              <a:srgbClr val="DFE6F5"/>
            </a:solidFill>
            <a:prstDash val="solid"/>
          </a:ln>
        </p:spPr>
      </p:sp>
      <p:sp>
        <p:nvSpPr>
          <p:cNvPr id="17" name="Text 15"/>
          <p:cNvSpPr/>
          <p:nvPr/>
        </p:nvSpPr>
        <p:spPr>
          <a:xfrm>
            <a:off x="896112" y="4315968"/>
            <a:ext cx="4882896" cy="219456"/>
          </a:xfrm>
          <a:prstGeom prst="rect">
            <a:avLst/>
          </a:prstGeom>
          <a:noFill/>
          <a:ln/>
        </p:spPr>
        <p:txBody>
          <a:bodyPr wrap="square" lIns="0" tIns="0" rIns="0" bIns="0"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COMPLIANCE</a:t>
            </a:r>
            <a:endParaRPr lang="en-US" sz="1000" dirty="0"/>
          </a:p>
        </p:txBody>
      </p:sp>
      <p:sp>
        <p:nvSpPr>
          <p:cNvPr id="18" name="Text 16"/>
          <p:cNvSpPr/>
          <p:nvPr/>
        </p:nvSpPr>
        <p:spPr>
          <a:xfrm>
            <a:off x="896112" y="4572000"/>
            <a:ext cx="488289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Retention for director identification</a:t>
            </a:r>
            <a:endParaRPr lang="en-US" sz="1500" dirty="0"/>
          </a:p>
        </p:txBody>
      </p:sp>
      <p:sp>
        <p:nvSpPr>
          <p:cNvPr id="19" name="Text 17"/>
          <p:cNvSpPr/>
          <p:nvPr/>
        </p:nvSpPr>
        <p:spPr>
          <a:xfrm>
            <a:off x="896112" y="4983480"/>
            <a:ext cx="4882896" cy="8229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Enhanced-tier packs carry government ID for named individuals and there is no purge job yet. Standard tier does not collect it, so standard onboarding is unblocked — this is owed before enhanced onboarding opens to real contractors.</a:t>
            </a:r>
            <a:endParaRPr lang="en-US" sz="1150" dirty="0"/>
          </a:p>
        </p:txBody>
      </p:sp>
      <p:sp>
        <p:nvSpPr>
          <p:cNvPr id="20" name="Shape 18"/>
          <p:cNvSpPr/>
          <p:nvPr/>
        </p:nvSpPr>
        <p:spPr>
          <a:xfrm>
            <a:off x="6309360" y="4114800"/>
            <a:ext cx="5212080" cy="1920240"/>
          </a:xfrm>
          <a:prstGeom prst="roundRect">
            <a:avLst>
              <a:gd name="adj" fmla="val 3810"/>
            </a:avLst>
          </a:prstGeom>
          <a:solidFill>
            <a:srgbClr val="F7F9FE"/>
          </a:solidFill>
          <a:ln w="12700">
            <a:solidFill>
              <a:srgbClr val="DFE6F5"/>
            </a:solidFill>
            <a:prstDash val="solid"/>
          </a:ln>
        </p:spPr>
      </p:sp>
      <p:sp>
        <p:nvSpPr>
          <p:cNvPr id="21" name="Text 19"/>
          <p:cNvSpPr/>
          <p:nvPr/>
        </p:nvSpPr>
        <p:spPr>
          <a:xfrm>
            <a:off x="6565392" y="4315968"/>
            <a:ext cx="4700016" cy="219456"/>
          </a:xfrm>
          <a:prstGeom prst="rect">
            <a:avLst/>
          </a:prstGeom>
          <a:noFill/>
          <a:ln/>
        </p:spPr>
        <p:txBody>
          <a:bodyPr wrap="square" lIns="0" tIns="0" rIns="0" bIns="0"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ACCESS</a:t>
            </a:r>
            <a:endParaRPr lang="en-US" sz="1000" dirty="0"/>
          </a:p>
        </p:txBody>
      </p:sp>
      <p:sp>
        <p:nvSpPr>
          <p:cNvPr id="22" name="Text 20"/>
          <p:cNvSpPr/>
          <p:nvPr/>
        </p:nvSpPr>
        <p:spPr>
          <a:xfrm>
            <a:off x="6565392" y="4572000"/>
            <a:ext cx="4700016" cy="384048"/>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Deployment credentials</a:t>
            </a:r>
            <a:endParaRPr lang="en-US" sz="1500" dirty="0"/>
          </a:p>
        </p:txBody>
      </p:sp>
      <p:sp>
        <p:nvSpPr>
          <p:cNvPr id="23" name="Text 21"/>
          <p:cNvSpPr/>
          <p:nvPr/>
        </p:nvSpPr>
        <p:spPr>
          <a:xfrm>
            <a:off x="6565392" y="4983480"/>
            <a:ext cx="4700016" cy="822960"/>
          </a:xfrm>
          <a:prstGeom prst="rect">
            <a:avLst/>
          </a:prstGeom>
          <a:noFill/>
          <a:ln/>
        </p:spPr>
        <p:txBody>
          <a:bodyPr wrap="square" lIns="0" tIns="0" rIns="0" bIns="0" rtlCol="0" anchor="ctr"/>
          <a:lstStyle/>
          <a:p>
            <a:pPr indent="0" marL="0">
              <a:lnSpc>
                <a:spcPct val="115000"/>
              </a:lnSpc>
              <a:buNone/>
            </a:pPr>
            <a:r>
              <a:rPr lang="en-US" sz="1150" dirty="0">
                <a:solidFill>
                  <a:srgbClr val="5B6B8C"/>
                </a:solidFill>
                <a:latin typeface="Calibri" pitchFamily="34" charset="0"/>
                <a:ea typeface="Calibri" pitchFamily="34" charset="-122"/>
                <a:cs typeface="Calibri" pitchFamily="34" charset="-120"/>
              </a:rPr>
              <a:t>The account currently linked to the deployment tooling can read the projects but is refused on publish. A team owner needs to raise its role, or deploy under their own login.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94360"/>
            <a:ext cx="10881360" cy="274320"/>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WHERE THIS LEAVES US</a:t>
            </a:r>
            <a:endParaRPr lang="en-US" sz="1200" dirty="0"/>
          </a:p>
        </p:txBody>
      </p:sp>
      <p:sp>
        <p:nvSpPr>
          <p:cNvPr id="3" name="Text 1"/>
          <p:cNvSpPr/>
          <p:nvPr/>
        </p:nvSpPr>
        <p:spPr>
          <a:xfrm>
            <a:off x="640080" y="914400"/>
            <a:ext cx="10881360" cy="10058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Ready to demonstrate</a:t>
            </a:r>
            <a:endParaRPr lang="en-US" sz="4000" dirty="0"/>
          </a:p>
        </p:txBody>
      </p:sp>
      <p:sp>
        <p:nvSpPr>
          <p:cNvPr id="4" name="Text 2"/>
          <p:cNvSpPr/>
          <p:nvPr/>
        </p:nvSpPr>
        <p:spPr>
          <a:xfrm>
            <a:off x="640080" y="2011680"/>
            <a:ext cx="7680960" cy="914400"/>
          </a:xfrm>
          <a:prstGeom prst="rect">
            <a:avLst/>
          </a:prstGeom>
          <a:noFill/>
          <a:ln/>
        </p:spPr>
        <p:txBody>
          <a:bodyPr wrap="square" lIns="0" tIns="0" rIns="0" bIns="0" rtlCol="0" anchor="ctr"/>
          <a:lstStyle/>
          <a:p>
            <a:pPr indent="0" marL="0">
              <a:lnSpc>
                <a:spcPct val="120000"/>
              </a:lnSpc>
              <a:buNone/>
            </a:pPr>
            <a:r>
              <a:rPr lang="en-US" sz="1600" dirty="0">
                <a:solidFill>
                  <a:srgbClr val="CADCFC"/>
                </a:solidFill>
                <a:latin typeface="Calibri" pitchFamily="34" charset="0"/>
                <a:ea typeface="Calibri" pitchFamily="34" charset="-122"/>
                <a:cs typeface="Calibri" pitchFamily="34" charset="-120"/>
              </a:rPr>
              <a:t>All six modules are built, verified against the live database, and running on two isolated environments. What remains is not code — it is three numbers, one environment, and a go/no-go.</a:t>
            </a:r>
            <a:endParaRPr lang="en-US" sz="1600" dirty="0"/>
          </a:p>
        </p:txBody>
      </p:sp>
      <p:sp>
        <p:nvSpPr>
          <p:cNvPr id="5" name="Shape 3"/>
          <p:cNvSpPr/>
          <p:nvPr/>
        </p:nvSpPr>
        <p:spPr>
          <a:xfrm>
            <a:off x="640080" y="3429000"/>
            <a:ext cx="10881360" cy="621792"/>
          </a:xfrm>
          <a:prstGeom prst="roundRect">
            <a:avLst>
              <a:gd name="adj" fmla="val 8824"/>
            </a:avLst>
          </a:prstGeom>
          <a:solidFill>
            <a:srgbClr val="2C3A72"/>
          </a:solidFill>
          <a:ln w="12700">
            <a:solidFill>
              <a:srgbClr val="3E4F8E"/>
            </a:solidFill>
            <a:prstDash val="solid"/>
          </a:ln>
        </p:spPr>
      </p:sp>
      <p:sp>
        <p:nvSpPr>
          <p:cNvPr id="6" name="Text 4"/>
          <p:cNvSpPr/>
          <p:nvPr/>
        </p:nvSpPr>
        <p:spPr>
          <a:xfrm>
            <a:off x="914400" y="3429000"/>
            <a:ext cx="1033272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Confirm  </a:t>
            </a:r>
            <a:pPr indent="0" marL="0">
              <a:buNone/>
            </a:pPr>
            <a:r>
              <a:rPr lang="en-US" sz="1400" dirty="0">
                <a:solidFill>
                  <a:srgbClr val="CADCFC"/>
                </a:solidFill>
                <a:latin typeface="Calibri" pitchFamily="34" charset="0"/>
                <a:ea typeface="Calibri" pitchFamily="34" charset="-122"/>
                <a:cs typeface="Calibri" pitchFamily="34" charset="-120"/>
              </a:rPr>
              <a:t>the approval thresholds for TFML and OEA</a:t>
            </a:r>
            <a:endParaRPr lang="en-US" sz="1400" dirty="0"/>
          </a:p>
        </p:txBody>
      </p:sp>
      <p:sp>
        <p:nvSpPr>
          <p:cNvPr id="7" name="Shape 5"/>
          <p:cNvSpPr/>
          <p:nvPr/>
        </p:nvSpPr>
        <p:spPr>
          <a:xfrm>
            <a:off x="640080" y="4206240"/>
            <a:ext cx="10881360" cy="621792"/>
          </a:xfrm>
          <a:prstGeom prst="roundRect">
            <a:avLst>
              <a:gd name="adj" fmla="val 8824"/>
            </a:avLst>
          </a:prstGeom>
          <a:solidFill>
            <a:srgbClr val="2C3A72"/>
          </a:solidFill>
          <a:ln w="12700">
            <a:solidFill>
              <a:srgbClr val="3E4F8E"/>
            </a:solidFill>
            <a:prstDash val="solid"/>
          </a:ln>
        </p:spPr>
      </p:sp>
      <p:sp>
        <p:nvSpPr>
          <p:cNvPr id="8" name="Text 6"/>
          <p:cNvSpPr/>
          <p:nvPr/>
        </p:nvSpPr>
        <p:spPr>
          <a:xfrm>
            <a:off x="914400" y="4206240"/>
            <a:ext cx="1033272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Supply  </a:t>
            </a:r>
            <a:pPr indent="0" marL="0">
              <a:buNone/>
            </a:pPr>
            <a:r>
              <a:rPr lang="en-US" sz="1400" dirty="0">
                <a:solidFill>
                  <a:srgbClr val="CADCFC"/>
                </a:solidFill>
                <a:latin typeface="Calibri" pitchFamily="34" charset="0"/>
                <a:ea typeface="Calibri" pitchFamily="34" charset="-122"/>
                <a:cs typeface="Calibri" pitchFamily="34" charset="-120"/>
              </a:rPr>
              <a:t>opening balances and the cutover date</a:t>
            </a:r>
            <a:endParaRPr lang="en-US" sz="1400" dirty="0"/>
          </a:p>
        </p:txBody>
      </p:sp>
      <p:sp>
        <p:nvSpPr>
          <p:cNvPr id="9" name="Shape 7"/>
          <p:cNvSpPr/>
          <p:nvPr/>
        </p:nvSpPr>
        <p:spPr>
          <a:xfrm>
            <a:off x="640080" y="4983480"/>
            <a:ext cx="10881360" cy="621792"/>
          </a:xfrm>
          <a:prstGeom prst="roundRect">
            <a:avLst>
              <a:gd name="adj" fmla="val 8824"/>
            </a:avLst>
          </a:prstGeom>
          <a:solidFill>
            <a:srgbClr val="2C3A72"/>
          </a:solidFill>
          <a:ln w="12700">
            <a:solidFill>
              <a:srgbClr val="3E4F8E"/>
            </a:solidFill>
            <a:prstDash val="solid"/>
          </a:ln>
        </p:spPr>
      </p:sp>
      <p:sp>
        <p:nvSpPr>
          <p:cNvPr id="10" name="Text 8"/>
          <p:cNvSpPr/>
          <p:nvPr/>
        </p:nvSpPr>
        <p:spPr>
          <a:xfrm>
            <a:off x="914400" y="4983480"/>
            <a:ext cx="10332720" cy="62179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Approve  </a:t>
            </a:r>
            <a:pPr indent="0" marL="0">
              <a:buNone/>
            </a:pPr>
            <a:r>
              <a:rPr lang="en-US" sz="1400" dirty="0">
                <a:solidFill>
                  <a:srgbClr val="CADCFC"/>
                </a:solidFill>
                <a:latin typeface="Calibri" pitchFamily="34" charset="0"/>
                <a:ea typeface="Calibri" pitchFamily="34" charset="-122"/>
                <a:cs typeface="Calibri" pitchFamily="34" charset="-120"/>
              </a:rPr>
              <a:t>provisioning the production environment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OE Group IPMS — Demo Readiness</dc:title>
  <dc:subject>PptxGenJS Presentation</dc:subject>
  <dc:creator>OE Group</dc:creator>
  <cp:lastModifiedBy>OE Group</cp:lastModifiedBy>
  <cp:revision>1</cp:revision>
  <dcterms:created xsi:type="dcterms:W3CDTF">2026-08-24T08:45:55Z</dcterms:created>
  <dcterms:modified xsi:type="dcterms:W3CDTF">2026-08-24T08:45:55Z</dcterms:modified>
</cp:coreProperties>
</file>