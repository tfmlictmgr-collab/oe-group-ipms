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71" r:id="rId4"/>
    <p:sldId id="272" r:id="rId5"/>
    <p:sldId id="273" r:id="rId6"/>
    <p:sldId id="274" r:id="rId7"/>
    <p:sldId id="275" r:id="rId8"/>
    <p:sldId id="276" r:id="rId9"/>
    <p:sldId id="277" r:id="rId10"/>
    <p:sldId id="258" r:id="rId11"/>
    <p:sldId id="259" r:id="rId12"/>
    <p:sldId id="260" r:id="rId13"/>
    <p:sldId id="261" r:id="rId14"/>
    <p:sldId id="262" r:id="rId15"/>
    <p:sldId id="263" r:id="rId16"/>
    <p:sldId id="264" r:id="rId17"/>
    <p:sldId id="265" r:id="rId18"/>
    <p:sldId id="266" r:id="rId19"/>
    <p:sldId id="267" r:id="rId20"/>
    <p:sldId id="278" r:id="rId21"/>
    <p:sldId id="279" r:id="rId22"/>
    <p:sldId id="280" r:id="rId23"/>
    <p:sldId id="281" r:id="rId24"/>
    <p:sldId id="282" r:id="rId25"/>
    <p:sldId id="268" r:id="rId26"/>
    <p:sldId id="269" r:id="rId27"/>
    <p:sldId id="27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7" d="100"/>
          <a:sy n="37" d="100"/>
        </p:scale>
        <p:origin x="10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863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 Group Phase 1 progress report for the board. As of 5 August 2026 the build is complete through Day 11 (OEA lettings, analytics console, vendor KPI/SLA evaluation), with Day 12 (security, compliance, UAT, go-live) in progress — started 4 Aug per GO_LIVE_CHECKLIST.md, not yet executed. Verified from BUILD_JOURNAL.md and PHASE1_WORKPLAN.md day-status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roadmap. Fifteen of sixteen stages complete: Days 0–6, the inserted foundation build, 6.5, 6.75, and now 7–11 (OEA lettings, analytics console, vendor evaluation). Only Day 12 (security, compliance, UAT, go-live) remains, in progress since 4 Aug.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lane: invite and onboard, configure controls, oversee all tickets and money, approve high-value payments (gated), analytics console (shipped Day 10). One upcoming ghost remains: go-live governance (Day 12, in progress).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FM/PM lane: see only my properties, dispatch, verify service delivered (gated), manage register, review tenant application (Day 8), rent-roll and lease oversight (Day 9). No upcoming ghosts remain in this lane.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lane: assigned work orders, accept/decline, mark complete, submit invoice (gated), payment history (the my-work page’s Payment status table, Day 10). One upcoming ghost remains: service catalog and pricing.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lane: report an issue, AI triage, ticket + ack, track request, pay service charge, view statements, apply for tenancy + KYC (Day 7), “Track my request” timeline (Day 10). One upcoming ghost remains: pay rent / lease online — the ledger side is built (Day 9) but no tenant-facing checkout page was found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lane: portfolio dashboard, financial reports, receive remittance (gated), approve major spend. Two upcoming ghosts: market comps, e-sign documents.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Lead lane: reconcile ledger, batch-approve payouts, remit to owners (gated), generate reports. Two upcoming ghosts: tax and compliance filing, multi-entity consolidation.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 lane: review flagged transactions, check supporting docs, approve/reject release (gated final say), approval audit trail. Two upcoming ghosts: delegate approval authority, set approval policy and rules.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 gate evidence from the Status board: dev Supabase, Upstash, Sentry, Vercel dev project, Paystack test keys. This stage is about readiness, not visible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gate: seeding dev left demo untouched; limiter + Sentry proven live. Build journal confirms demo 26 tickets vs dev 22 on separate hosts.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gate: verify-channel-routing, verify-jwt-claims. Kills hardcoded DEMO_ORG_ID; isolation proven at all four layers.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gate: verify-notifications, verify-cascade, verify-email-routing. Also invitation acceptance verified in-browser.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Inserted-scope gate: verify-org-theming, verify-asset-access, verify-asset-import, verify-vendor-applications, verify-invitations. This work was added between Days 3 and 4 after a scope check found asset management missing from Phase 1. TFML + OEA portal screenshots embedded (assets/01-portal-tfml.png, assets/02-portal-oea.png) — the paired shot is the visual proof of per-brand isolation.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gate verbatim: clean statement reconciles to 0, planted 75,000 debit flagged. 39 checks across ledger + reconciliation. Client-funds ledger screenshot embedded (assets/03-ledger.png): ₦5,585,000 held / ₦5,460,000 owed / ₦125,000 unallocated.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gate: verify-collections, verify-checkout-e2e — payload claiming 999,999,999 ignored, exactly-once under concurrency. Live Paystack test payment in the books: TFML 285,000 invoiced / 287,000 received, flagged.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gate: verify-remittance — gate refuses every incomplete payment; 3 concurrent claims -&gt; 1 winner; re-confirming posts once; cannot pay more than owed; unknown stays unknown. Payment-gate screenshot embedded (assets/04-payment-gate.png): Sparkle Cleaning Services, INV-3IUY9A-7f7f, 180,000, verified, performance 93.4 Excellent vs threshold 70.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6.5 gate evidence from BUILD_JOURNAL.md (2026-07-27 'Day 6.5 — the permission matrix'): verify-permissions.mjs, 24 assertions — a toggle changes what the DATABASE returns (revoke -&gt; zero rows, restore -&gt; exactly what was there); a revoked write is refused; four locked capabilities refuse to move; an invented capability is refused; a brand admin can read but not edit their own matrix and cannot see another's; a tenant cannot edit at all; isolation and identity survive every toggle off; the trail names both orgs. Commit 74f3816 (migrations 0050-0055). NOTE: the one-glance Status board table was not updated to mark this done; verified via the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6.75 gate evidence from BUILD_JOURNAL.md (2026-07-27 'Day 6.75 — properties and units become manageable'): verify-properties.mjs, 17 checks — attaching an FM to a property makes it visible and detaching removes it, asserted against live sessions; all-or-nothing bulk import with a percentage-share preview; unique unit label per property and a strictly positive apportionment factor enforced in the DB; retire refuses while obligations remain, hard delete blocked. Commit 3ed049d (migration 0056). This stage was 'missed, not deferred' — every property had previously come only from seed scripts. NOTE: not reflected in the one-glance Status board table; verified via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external-dependency roadblocks, all from the records. Meta verification is held up by inconsistent info in the referenced business-registration document (BUSINESS_VERIFICATION.md notes ~99% of rejections are detail mismatches). Paystack and Flutterwave both blocked by incomplete registration information. OEA email routing blocked by lack of access to OEA's email host. None blocked the build.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discovered fifth roadblock, taken from BUILD_JOURNAL.md (2026-07-25 'Email sending domain + reply routing'). The brief's TFML domain did not exist, and adding Resend to the root domain would have tipped its SPF past the 10-lookup RFC limit — under -all + DMARC p=reject that rejects genuine staff mail. Resolved by correcting the domain and sending from the notify. subdomain; verified live with root records unchanged.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 of 16 roadmap stages done — the whole money path is live and verified, permissions are operator-governed, and property/unit enrolment now exists in-app. Next is Day 7 (OEA tenant application + KYC), opening the OEA lettings track (Days 7-9).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prstGeom>
          <a:solidFill>
            <a:srgbClr val="0A1B2E"/>
          </a:solidFill>
          <a:ln/>
        </p:spPr>
      </p:sp>
      <p:sp>
        <p:nvSpPr>
          <p:cNvPr id="3" name="Shape 1"/>
          <p:cNvSpPr/>
          <p:nvPr/>
        </p:nvSpPr>
        <p:spPr>
          <a:xfrm>
            <a:off x="7955280" y="-1463040"/>
            <a:ext cx="6035040" cy="6035040"/>
          </a:xfrm>
          <a:prstGeom prst="roundRect">
            <a:avLst>
              <a:gd name="adj" fmla="val 6061"/>
            </a:avLst>
          </a:prstGeom>
          <a:solidFill>
            <a:srgbClr val="003366"/>
          </a:solidFill>
          <a:ln/>
        </p:spPr>
      </p:sp>
      <p:sp>
        <p:nvSpPr>
          <p:cNvPr id="4" name="Shape 2"/>
          <p:cNvSpPr/>
          <p:nvPr/>
        </p:nvSpPr>
        <p:spPr>
          <a:xfrm>
            <a:off x="9052560" y="3108960"/>
            <a:ext cx="5120640" cy="5120640"/>
          </a:xfrm>
          <a:prstGeom prst="roundRect">
            <a:avLst>
              <a:gd name="adj" fmla="val 7143"/>
            </a:avLst>
          </a:prstGeom>
          <a:solidFill>
            <a:srgbClr val="0E2942"/>
          </a:solidFill>
          <a:ln/>
        </p:spPr>
      </p:sp>
      <p:sp>
        <p:nvSpPr>
          <p:cNvPr id="5" name="Text 3"/>
          <p:cNvSpPr/>
          <p:nvPr/>
        </p:nvSpPr>
        <p:spPr>
          <a:xfrm>
            <a:off x="777240" y="731520"/>
            <a:ext cx="5486400" cy="365760"/>
          </a:xfrm>
          <a:prstGeom prst="rect">
            <a:avLst/>
          </a:prstGeom>
          <a:noFill/>
          <a:ln/>
        </p:spPr>
        <p:txBody>
          <a:bodyPr wrap="square" rtlCol="0" anchor="ctr"/>
          <a:lstStyle/>
          <a:p>
            <a:pPr marL="0" indent="0">
              <a:buNone/>
            </a:pPr>
            <a:r>
              <a:rPr lang="en-US" sz="1200" b="1" kern="0" spc="300" dirty="0">
                <a:solidFill>
                  <a:srgbClr val="C08A1E"/>
                </a:solidFill>
                <a:latin typeface="Calibri" pitchFamily="34" charset="0"/>
                <a:ea typeface="Calibri" pitchFamily="34" charset="-122"/>
                <a:cs typeface="Calibri" pitchFamily="34" charset="-120"/>
              </a:rPr>
              <a:t>BOARD CONFIDENTIAL</a:t>
            </a:r>
            <a:endParaRPr lang="en-US" sz="1200" dirty="0"/>
          </a:p>
        </p:txBody>
      </p:sp>
      <p:sp>
        <p:nvSpPr>
          <p:cNvPr id="6" name="Text 4"/>
          <p:cNvSpPr/>
          <p:nvPr/>
        </p:nvSpPr>
        <p:spPr>
          <a:xfrm>
            <a:off x="731520" y="1828800"/>
            <a:ext cx="82296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OE Group</a:t>
            </a:r>
            <a:endParaRPr lang="en-US" sz="5400" dirty="0"/>
          </a:p>
        </p:txBody>
      </p:sp>
      <p:sp>
        <p:nvSpPr>
          <p:cNvPr id="7" name="Text 5"/>
          <p:cNvSpPr/>
          <p:nvPr/>
        </p:nvSpPr>
        <p:spPr>
          <a:xfrm>
            <a:off x="731520" y="2743200"/>
            <a:ext cx="8229600" cy="914400"/>
          </a:xfrm>
          <a:prstGeom prst="rect">
            <a:avLst/>
          </a:prstGeom>
          <a:noFill/>
          <a:ln/>
        </p:spPr>
        <p:txBody>
          <a:bodyPr wrap="square" rtlCol="0" anchor="ctr"/>
          <a:lstStyle/>
          <a:p>
            <a:pPr marL="0" indent="0">
              <a:buNone/>
            </a:pPr>
            <a:r>
              <a:rPr lang="en-US" sz="4000" dirty="0">
                <a:solidFill>
                  <a:srgbClr val="D8E5F5"/>
                </a:solidFill>
                <a:latin typeface="Cambria" pitchFamily="34" charset="0"/>
                <a:ea typeface="Cambria" pitchFamily="34" charset="-122"/>
                <a:cs typeface="Cambria" pitchFamily="34" charset="-120"/>
              </a:rPr>
              <a:t>Phase 1 Progress</a:t>
            </a:r>
            <a:endParaRPr lang="en-US" sz="4000" dirty="0"/>
          </a:p>
        </p:txBody>
      </p:sp>
      <p:sp>
        <p:nvSpPr>
          <p:cNvPr id="8" name="Text 6"/>
          <p:cNvSpPr/>
          <p:nvPr/>
        </p:nvSpPr>
        <p:spPr>
          <a:xfrm>
            <a:off x="777240" y="3794760"/>
            <a:ext cx="7498080" cy="731520"/>
          </a:xfrm>
          <a:prstGeom prst="rect">
            <a:avLst/>
          </a:prstGeom>
          <a:noFill/>
          <a:ln/>
        </p:spPr>
        <p:txBody>
          <a:bodyPr wrap="square" rtlCol="0" anchor="ctr"/>
          <a:lstStyle/>
          <a:p>
            <a:pPr marL="0" indent="0">
              <a:lnSpc>
                <a:spcPct val="120000"/>
              </a:lnSpc>
              <a:buNone/>
            </a:pPr>
            <a:r>
              <a:rPr lang="en-US" sz="1600" dirty="0">
                <a:solidFill>
                  <a:srgbClr val="AEC2DA"/>
                </a:solidFill>
                <a:latin typeface="Calibri" pitchFamily="34" charset="0"/>
                <a:ea typeface="Calibri" pitchFamily="34" charset="-122"/>
                <a:cs typeface="Calibri" pitchFamily="34" charset="-120"/>
              </a:rPr>
              <a:t>Production build of the unified property &amp; facilities platform for TFML and OEA</a:t>
            </a:r>
            <a:endParaRPr lang="en-US" sz="1600" dirty="0"/>
          </a:p>
        </p:txBody>
      </p:sp>
      <p:sp>
        <p:nvSpPr>
          <p:cNvPr id="9" name="Text 7"/>
          <p:cNvSpPr/>
          <p:nvPr/>
        </p:nvSpPr>
        <p:spPr>
          <a:xfrm>
            <a:off x="777240" y="5852160"/>
            <a:ext cx="45720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August 2026</a:t>
            </a:r>
            <a:endParaRPr lang="en-US" sz="1400" dirty="0"/>
          </a:p>
        </p:txBody>
      </p:sp>
      <p:sp>
        <p:nvSpPr>
          <p:cNvPr id="10" name="Text 8"/>
          <p:cNvSpPr/>
          <p:nvPr/>
        </p:nvSpPr>
        <p:spPr>
          <a:xfrm>
            <a:off x="777240" y="6172200"/>
            <a:ext cx="7315200" cy="365760"/>
          </a:xfrm>
          <a:prstGeom prst="rect">
            <a:avLst/>
          </a:prstGeom>
          <a:noFill/>
          <a:ln/>
        </p:spPr>
        <p:txBody>
          <a:bodyPr wrap="square" rtlCol="0" anchor="ctr"/>
          <a:lstStyle/>
          <a:p>
            <a:pPr marL="0" indent="0">
              <a:buNone/>
            </a:pPr>
            <a:r>
              <a:rPr lang="en-US" sz="1200" dirty="0">
                <a:solidFill>
                  <a:srgbClr val="8FA6C0"/>
                </a:solidFill>
                <a:latin typeface="Calibri" pitchFamily="34" charset="0"/>
                <a:ea typeface="Calibri" pitchFamily="34" charset="-122"/>
                <a:cs typeface="Calibri" pitchFamily="34" charset="-120"/>
              </a:rPr>
              <a:t>Through Day 11 complete  ·  Day 12 (security, compliance &amp; go-live) in progress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3200" b="1" dirty="0">
                <a:solidFill>
                  <a:srgbClr val="003366"/>
                </a:solidFill>
                <a:latin typeface="Cambria" pitchFamily="34" charset="0"/>
                <a:ea typeface="Cambria" pitchFamily="34" charset="-122"/>
                <a:cs typeface="Cambria" pitchFamily="34" charset="-120"/>
              </a:rPr>
              <a:t>The Phase 1 roadmap at a glance</a:t>
            </a:r>
            <a:endParaRPr lang="en-US" sz="3200" dirty="0"/>
          </a:p>
        </p:txBody>
      </p:sp>
      <p:sp>
        <p:nvSpPr>
          <p:cNvPr id="3" name="Text 1"/>
          <p:cNvSpPr/>
          <p:nvPr/>
        </p:nvSpPr>
        <p:spPr>
          <a:xfrm>
            <a:off x="566928" y="1024128"/>
            <a:ext cx="10972800" cy="365760"/>
          </a:xfrm>
          <a:prstGeom prst="rect">
            <a:avLst/>
          </a:prstGeom>
          <a:noFill/>
          <a:ln/>
        </p:spPr>
        <p:txBody>
          <a:bodyPr wrap="square" rtlCol="0" anchor="ctr"/>
          <a:lstStyle/>
          <a:p>
            <a:pPr marL="0" indent="0">
              <a:buNone/>
            </a:pPr>
            <a:r>
              <a:rPr lang="en-US" sz="1600" dirty="0">
                <a:solidFill>
                  <a:srgbClr val="7A8A9B"/>
                </a:solidFill>
                <a:latin typeface="Calibri" pitchFamily="34" charset="0"/>
                <a:ea typeface="Calibri" pitchFamily="34" charset="-122"/>
                <a:cs typeface="Calibri" pitchFamily="34" charset="-120"/>
              </a:rPr>
              <a:t>Foundation, money, lettings, intelligence and launch. Where the build actually is today.</a:t>
            </a:r>
            <a:endParaRPr lang="en-US" sz="1600" dirty="0"/>
          </a:p>
        </p:txBody>
      </p:sp>
      <p:sp>
        <p:nvSpPr>
          <p:cNvPr id="4" name="Shape 2"/>
          <p:cNvSpPr/>
          <p:nvPr/>
        </p:nvSpPr>
        <p:spPr>
          <a:xfrm>
            <a:off x="548640" y="1600200"/>
            <a:ext cx="5532120" cy="352044"/>
          </a:xfrm>
          <a:prstGeom prst="roundRect">
            <a:avLst>
              <a:gd name="adj" fmla="val 12987"/>
            </a:avLst>
          </a:prstGeom>
          <a:solidFill>
            <a:srgbClr val="FFFFFF"/>
          </a:solidFill>
          <a:ln w="9525">
            <a:solidFill>
              <a:srgbClr val="D8E0EA"/>
            </a:solidFill>
            <a:prstDash val="solid"/>
          </a:ln>
        </p:spPr>
      </p:sp>
      <p:sp>
        <p:nvSpPr>
          <p:cNvPr id="5" name="Shape 3"/>
          <p:cNvSpPr/>
          <p:nvPr/>
        </p:nvSpPr>
        <p:spPr>
          <a:xfrm>
            <a:off x="621792" y="1645920"/>
            <a:ext cx="457200" cy="260604"/>
          </a:xfrm>
          <a:prstGeom prst="roundRect">
            <a:avLst>
              <a:gd name="adj" fmla="val 17544"/>
            </a:avLst>
          </a:prstGeom>
          <a:solidFill>
            <a:srgbClr val="003366"/>
          </a:solidFill>
          <a:ln/>
        </p:spPr>
      </p:sp>
      <p:sp>
        <p:nvSpPr>
          <p:cNvPr id="6" name="Text 4"/>
          <p:cNvSpPr/>
          <p:nvPr/>
        </p:nvSpPr>
        <p:spPr>
          <a:xfrm>
            <a:off x="62179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17043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Preconditions — accounts, keys, environments</a:t>
            </a:r>
            <a:endParaRPr lang="en-US" sz="1200" dirty="0"/>
          </a:p>
        </p:txBody>
      </p:sp>
      <p:sp>
        <p:nvSpPr>
          <p:cNvPr id="8" name="Shape 6"/>
          <p:cNvSpPr/>
          <p:nvPr/>
        </p:nvSpPr>
        <p:spPr>
          <a:xfrm>
            <a:off x="4873752" y="1620774"/>
            <a:ext cx="1078992" cy="310896"/>
          </a:xfrm>
          <a:prstGeom prst="roundRect">
            <a:avLst>
              <a:gd name="adj" fmla="val 50000"/>
            </a:avLst>
          </a:prstGeom>
          <a:solidFill>
            <a:srgbClr val="1F7A4D"/>
          </a:solidFill>
          <a:ln/>
        </p:spPr>
      </p:sp>
      <p:sp>
        <p:nvSpPr>
          <p:cNvPr id="9" name="Text 7"/>
          <p:cNvSpPr/>
          <p:nvPr/>
        </p:nvSpPr>
        <p:spPr>
          <a:xfrm>
            <a:off x="487375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0" name="Shape 8"/>
          <p:cNvSpPr/>
          <p:nvPr/>
        </p:nvSpPr>
        <p:spPr>
          <a:xfrm>
            <a:off x="548640" y="2034540"/>
            <a:ext cx="5532120" cy="352044"/>
          </a:xfrm>
          <a:prstGeom prst="roundRect">
            <a:avLst>
              <a:gd name="adj" fmla="val 12987"/>
            </a:avLst>
          </a:prstGeom>
          <a:solidFill>
            <a:srgbClr val="FFFFFF"/>
          </a:solidFill>
          <a:ln w="9525">
            <a:solidFill>
              <a:srgbClr val="D8E0EA"/>
            </a:solidFill>
            <a:prstDash val="solid"/>
          </a:ln>
        </p:spPr>
      </p:sp>
      <p:sp>
        <p:nvSpPr>
          <p:cNvPr id="11" name="Shape 9"/>
          <p:cNvSpPr/>
          <p:nvPr/>
        </p:nvSpPr>
        <p:spPr>
          <a:xfrm>
            <a:off x="621792" y="2080260"/>
            <a:ext cx="457200" cy="260604"/>
          </a:xfrm>
          <a:prstGeom prst="roundRect">
            <a:avLst>
              <a:gd name="adj" fmla="val 17544"/>
            </a:avLst>
          </a:prstGeom>
          <a:solidFill>
            <a:srgbClr val="003366"/>
          </a:solidFill>
          <a:ln/>
        </p:spPr>
      </p:sp>
      <p:sp>
        <p:nvSpPr>
          <p:cNvPr id="12" name="Text 10"/>
          <p:cNvSpPr/>
          <p:nvPr/>
        </p:nvSpPr>
        <p:spPr>
          <a:xfrm>
            <a:off x="62179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17043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Environment split — demo frozen, Phase 1 on its own database</a:t>
            </a:r>
            <a:endParaRPr lang="en-US" sz="1200" dirty="0"/>
          </a:p>
        </p:txBody>
      </p:sp>
      <p:sp>
        <p:nvSpPr>
          <p:cNvPr id="14" name="Shape 12"/>
          <p:cNvSpPr/>
          <p:nvPr/>
        </p:nvSpPr>
        <p:spPr>
          <a:xfrm>
            <a:off x="4873752" y="2055114"/>
            <a:ext cx="1078992" cy="310896"/>
          </a:xfrm>
          <a:prstGeom prst="roundRect">
            <a:avLst>
              <a:gd name="adj" fmla="val 50000"/>
            </a:avLst>
          </a:prstGeom>
          <a:solidFill>
            <a:srgbClr val="1F7A4D"/>
          </a:solidFill>
          <a:ln/>
        </p:spPr>
      </p:sp>
      <p:sp>
        <p:nvSpPr>
          <p:cNvPr id="15" name="Text 13"/>
          <p:cNvSpPr/>
          <p:nvPr/>
        </p:nvSpPr>
        <p:spPr>
          <a:xfrm>
            <a:off x="487375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6" name="Shape 14"/>
          <p:cNvSpPr/>
          <p:nvPr/>
        </p:nvSpPr>
        <p:spPr>
          <a:xfrm>
            <a:off x="548640" y="2468880"/>
            <a:ext cx="5532120" cy="352044"/>
          </a:xfrm>
          <a:prstGeom prst="roundRect">
            <a:avLst>
              <a:gd name="adj" fmla="val 12987"/>
            </a:avLst>
          </a:prstGeom>
          <a:solidFill>
            <a:srgbClr val="FFFFFF"/>
          </a:solidFill>
          <a:ln w="9525">
            <a:solidFill>
              <a:srgbClr val="D8E0EA"/>
            </a:solidFill>
            <a:prstDash val="solid"/>
          </a:ln>
        </p:spPr>
      </p:sp>
      <p:sp>
        <p:nvSpPr>
          <p:cNvPr id="17" name="Shape 15"/>
          <p:cNvSpPr/>
          <p:nvPr/>
        </p:nvSpPr>
        <p:spPr>
          <a:xfrm>
            <a:off x="621792" y="2514600"/>
            <a:ext cx="457200" cy="260604"/>
          </a:xfrm>
          <a:prstGeom prst="roundRect">
            <a:avLst>
              <a:gd name="adj" fmla="val 17544"/>
            </a:avLst>
          </a:prstGeom>
          <a:solidFill>
            <a:srgbClr val="003366"/>
          </a:solidFill>
          <a:ln/>
        </p:spPr>
      </p:sp>
      <p:sp>
        <p:nvSpPr>
          <p:cNvPr id="18" name="Text 16"/>
          <p:cNvSpPr/>
          <p:nvPr/>
        </p:nvSpPr>
        <p:spPr>
          <a:xfrm>
            <a:off x="62179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117043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Brand isolation — each brand walled off, in and at rest</a:t>
            </a:r>
            <a:endParaRPr lang="en-US" sz="1200" dirty="0"/>
          </a:p>
        </p:txBody>
      </p:sp>
      <p:sp>
        <p:nvSpPr>
          <p:cNvPr id="20" name="Shape 18"/>
          <p:cNvSpPr/>
          <p:nvPr/>
        </p:nvSpPr>
        <p:spPr>
          <a:xfrm>
            <a:off x="4873752" y="2489454"/>
            <a:ext cx="1078992" cy="310896"/>
          </a:xfrm>
          <a:prstGeom prst="roundRect">
            <a:avLst>
              <a:gd name="adj" fmla="val 50000"/>
            </a:avLst>
          </a:prstGeom>
          <a:solidFill>
            <a:srgbClr val="1F7A4D"/>
          </a:solidFill>
          <a:ln/>
        </p:spPr>
      </p:sp>
      <p:sp>
        <p:nvSpPr>
          <p:cNvPr id="21" name="Text 19"/>
          <p:cNvSpPr/>
          <p:nvPr/>
        </p:nvSpPr>
        <p:spPr>
          <a:xfrm>
            <a:off x="487375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2" name="Shape 20"/>
          <p:cNvSpPr/>
          <p:nvPr/>
        </p:nvSpPr>
        <p:spPr>
          <a:xfrm>
            <a:off x="548640" y="2903220"/>
            <a:ext cx="5532120" cy="352044"/>
          </a:xfrm>
          <a:prstGeom prst="roundRect">
            <a:avLst>
              <a:gd name="adj" fmla="val 12987"/>
            </a:avLst>
          </a:prstGeom>
          <a:solidFill>
            <a:srgbClr val="FFFFFF"/>
          </a:solidFill>
          <a:ln w="9525">
            <a:solidFill>
              <a:srgbClr val="D8E0EA"/>
            </a:solidFill>
            <a:prstDash val="solid"/>
          </a:ln>
        </p:spPr>
      </p:sp>
      <p:sp>
        <p:nvSpPr>
          <p:cNvPr id="23" name="Shape 21"/>
          <p:cNvSpPr/>
          <p:nvPr/>
        </p:nvSpPr>
        <p:spPr>
          <a:xfrm>
            <a:off x="621792" y="2948940"/>
            <a:ext cx="457200" cy="260604"/>
          </a:xfrm>
          <a:prstGeom prst="roundRect">
            <a:avLst>
              <a:gd name="adj" fmla="val 17544"/>
            </a:avLst>
          </a:prstGeom>
          <a:solidFill>
            <a:srgbClr val="003366"/>
          </a:solidFill>
          <a:ln/>
        </p:spPr>
      </p:sp>
      <p:sp>
        <p:nvSpPr>
          <p:cNvPr id="24" name="Text 22"/>
          <p:cNvSpPr/>
          <p:nvPr/>
        </p:nvSpPr>
        <p:spPr>
          <a:xfrm>
            <a:off x="62179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17043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Omnichannel intake + AI triage, notification centre</a:t>
            </a:r>
            <a:endParaRPr lang="en-US" sz="1200" dirty="0"/>
          </a:p>
        </p:txBody>
      </p:sp>
      <p:sp>
        <p:nvSpPr>
          <p:cNvPr id="26" name="Shape 24"/>
          <p:cNvSpPr/>
          <p:nvPr/>
        </p:nvSpPr>
        <p:spPr>
          <a:xfrm>
            <a:off x="4873752" y="2923794"/>
            <a:ext cx="1078992" cy="310896"/>
          </a:xfrm>
          <a:prstGeom prst="roundRect">
            <a:avLst>
              <a:gd name="adj" fmla="val 50000"/>
            </a:avLst>
          </a:prstGeom>
          <a:solidFill>
            <a:srgbClr val="1F7A4D"/>
          </a:solidFill>
          <a:ln/>
        </p:spPr>
      </p:sp>
      <p:sp>
        <p:nvSpPr>
          <p:cNvPr id="27" name="Text 25"/>
          <p:cNvSpPr/>
          <p:nvPr/>
        </p:nvSpPr>
        <p:spPr>
          <a:xfrm>
            <a:off x="487375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8" name="Shape 26"/>
          <p:cNvSpPr/>
          <p:nvPr/>
        </p:nvSpPr>
        <p:spPr>
          <a:xfrm>
            <a:off x="548640" y="3337560"/>
            <a:ext cx="5532120" cy="352044"/>
          </a:xfrm>
          <a:prstGeom prst="roundRect">
            <a:avLst>
              <a:gd name="adj" fmla="val 12987"/>
            </a:avLst>
          </a:prstGeom>
          <a:solidFill>
            <a:srgbClr val="FFFFFF"/>
          </a:solidFill>
          <a:ln w="9525">
            <a:solidFill>
              <a:srgbClr val="D8E0EA"/>
            </a:solidFill>
            <a:prstDash val="solid"/>
          </a:ln>
        </p:spPr>
      </p:sp>
      <p:sp>
        <p:nvSpPr>
          <p:cNvPr id="29" name="Shape 27"/>
          <p:cNvSpPr/>
          <p:nvPr/>
        </p:nvSpPr>
        <p:spPr>
          <a:xfrm>
            <a:off x="621792" y="3383280"/>
            <a:ext cx="457200" cy="260604"/>
          </a:xfrm>
          <a:prstGeom prst="roundRect">
            <a:avLst>
              <a:gd name="adj" fmla="val 17544"/>
            </a:avLst>
          </a:prstGeom>
          <a:solidFill>
            <a:srgbClr val="C08A1E"/>
          </a:solidFill>
          <a:ln/>
        </p:spPr>
      </p:sp>
      <p:sp>
        <p:nvSpPr>
          <p:cNvPr id="30" name="Text 28"/>
          <p:cNvSpPr/>
          <p:nvPr/>
        </p:nvSpPr>
        <p:spPr>
          <a:xfrm>
            <a:off x="62179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17043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Foundation build — new UI, branding, asset register, vendor applications</a:t>
            </a:r>
            <a:endParaRPr lang="en-US" sz="1200" dirty="0"/>
          </a:p>
        </p:txBody>
      </p:sp>
      <p:sp>
        <p:nvSpPr>
          <p:cNvPr id="32" name="Shape 30"/>
          <p:cNvSpPr/>
          <p:nvPr/>
        </p:nvSpPr>
        <p:spPr>
          <a:xfrm>
            <a:off x="4873752" y="3358134"/>
            <a:ext cx="1078992" cy="310896"/>
          </a:xfrm>
          <a:prstGeom prst="roundRect">
            <a:avLst>
              <a:gd name="adj" fmla="val 50000"/>
            </a:avLst>
          </a:prstGeom>
          <a:solidFill>
            <a:srgbClr val="1F7A4D"/>
          </a:solidFill>
          <a:ln/>
        </p:spPr>
      </p:sp>
      <p:sp>
        <p:nvSpPr>
          <p:cNvPr id="33" name="Text 31"/>
          <p:cNvSpPr/>
          <p:nvPr/>
        </p:nvSpPr>
        <p:spPr>
          <a:xfrm>
            <a:off x="487375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34" name="Shape 32"/>
          <p:cNvSpPr/>
          <p:nvPr/>
        </p:nvSpPr>
        <p:spPr>
          <a:xfrm>
            <a:off x="548640" y="3771900"/>
            <a:ext cx="5532120" cy="352044"/>
          </a:xfrm>
          <a:prstGeom prst="roundRect">
            <a:avLst>
              <a:gd name="adj" fmla="val 12987"/>
            </a:avLst>
          </a:prstGeom>
          <a:solidFill>
            <a:srgbClr val="FFFFFF"/>
          </a:solidFill>
          <a:ln w="9525">
            <a:solidFill>
              <a:srgbClr val="D8E0EA"/>
            </a:solidFill>
            <a:prstDash val="solid"/>
          </a:ln>
        </p:spPr>
      </p:sp>
      <p:sp>
        <p:nvSpPr>
          <p:cNvPr id="35" name="Shape 33"/>
          <p:cNvSpPr/>
          <p:nvPr/>
        </p:nvSpPr>
        <p:spPr>
          <a:xfrm>
            <a:off x="621792" y="3817620"/>
            <a:ext cx="457200" cy="260604"/>
          </a:xfrm>
          <a:prstGeom prst="roundRect">
            <a:avLst>
              <a:gd name="adj" fmla="val 17544"/>
            </a:avLst>
          </a:prstGeom>
          <a:solidFill>
            <a:srgbClr val="003366"/>
          </a:solidFill>
          <a:ln/>
        </p:spPr>
      </p:sp>
      <p:sp>
        <p:nvSpPr>
          <p:cNvPr id="36" name="Text 34"/>
          <p:cNvSpPr/>
          <p:nvPr/>
        </p:nvSpPr>
        <p:spPr>
          <a:xfrm>
            <a:off x="62179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5"/>
          <p:cNvSpPr/>
          <p:nvPr/>
        </p:nvSpPr>
        <p:spPr>
          <a:xfrm>
            <a:off x="117043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Segregated client-funds ledger + reconciliation</a:t>
            </a:r>
            <a:endParaRPr lang="en-US" sz="1200" dirty="0"/>
          </a:p>
        </p:txBody>
      </p:sp>
      <p:sp>
        <p:nvSpPr>
          <p:cNvPr id="38" name="Shape 36"/>
          <p:cNvSpPr/>
          <p:nvPr/>
        </p:nvSpPr>
        <p:spPr>
          <a:xfrm>
            <a:off x="4873752" y="3792474"/>
            <a:ext cx="1078992" cy="310896"/>
          </a:xfrm>
          <a:prstGeom prst="roundRect">
            <a:avLst>
              <a:gd name="adj" fmla="val 50000"/>
            </a:avLst>
          </a:prstGeom>
          <a:solidFill>
            <a:srgbClr val="1F7A4D"/>
          </a:solidFill>
          <a:ln/>
        </p:spPr>
      </p:sp>
      <p:sp>
        <p:nvSpPr>
          <p:cNvPr id="39" name="Text 37"/>
          <p:cNvSpPr/>
          <p:nvPr/>
        </p:nvSpPr>
        <p:spPr>
          <a:xfrm>
            <a:off x="487375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0" name="Shape 38"/>
          <p:cNvSpPr/>
          <p:nvPr/>
        </p:nvSpPr>
        <p:spPr>
          <a:xfrm>
            <a:off x="548640" y="4206240"/>
            <a:ext cx="5532120" cy="352044"/>
          </a:xfrm>
          <a:prstGeom prst="roundRect">
            <a:avLst>
              <a:gd name="adj" fmla="val 12987"/>
            </a:avLst>
          </a:prstGeom>
          <a:solidFill>
            <a:srgbClr val="FFFFFF"/>
          </a:solidFill>
          <a:ln w="9525">
            <a:solidFill>
              <a:srgbClr val="D8E0EA"/>
            </a:solidFill>
            <a:prstDash val="solid"/>
          </a:ln>
        </p:spPr>
      </p:sp>
      <p:sp>
        <p:nvSpPr>
          <p:cNvPr id="41" name="Shape 39"/>
          <p:cNvSpPr/>
          <p:nvPr/>
        </p:nvSpPr>
        <p:spPr>
          <a:xfrm>
            <a:off x="621792" y="4251960"/>
            <a:ext cx="457200" cy="260604"/>
          </a:xfrm>
          <a:prstGeom prst="roundRect">
            <a:avLst>
              <a:gd name="adj" fmla="val 17544"/>
            </a:avLst>
          </a:prstGeom>
          <a:solidFill>
            <a:srgbClr val="003366"/>
          </a:solidFill>
          <a:ln/>
        </p:spPr>
      </p:sp>
      <p:sp>
        <p:nvSpPr>
          <p:cNvPr id="42" name="Text 40"/>
          <p:cNvSpPr/>
          <p:nvPr/>
        </p:nvSpPr>
        <p:spPr>
          <a:xfrm>
            <a:off x="62179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1"/>
          <p:cNvSpPr/>
          <p:nvPr/>
        </p:nvSpPr>
        <p:spPr>
          <a:xfrm>
            <a:off x="117043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collections — checkout to receipt to ledger</a:t>
            </a:r>
            <a:endParaRPr lang="en-US" sz="1200" dirty="0"/>
          </a:p>
        </p:txBody>
      </p:sp>
      <p:sp>
        <p:nvSpPr>
          <p:cNvPr id="44" name="Shape 42"/>
          <p:cNvSpPr/>
          <p:nvPr/>
        </p:nvSpPr>
        <p:spPr>
          <a:xfrm>
            <a:off x="4873752" y="4226814"/>
            <a:ext cx="1078992" cy="310896"/>
          </a:xfrm>
          <a:prstGeom prst="roundRect">
            <a:avLst>
              <a:gd name="adj" fmla="val 50000"/>
            </a:avLst>
          </a:prstGeom>
          <a:solidFill>
            <a:srgbClr val="1F7A4D"/>
          </a:solidFill>
          <a:ln/>
        </p:spPr>
      </p:sp>
      <p:sp>
        <p:nvSpPr>
          <p:cNvPr id="45" name="Text 43"/>
          <p:cNvSpPr/>
          <p:nvPr/>
        </p:nvSpPr>
        <p:spPr>
          <a:xfrm>
            <a:off x="487375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6" name="Shape 44"/>
          <p:cNvSpPr/>
          <p:nvPr/>
        </p:nvSpPr>
        <p:spPr>
          <a:xfrm>
            <a:off x="548640" y="4640580"/>
            <a:ext cx="5532120" cy="352044"/>
          </a:xfrm>
          <a:prstGeom prst="roundRect">
            <a:avLst>
              <a:gd name="adj" fmla="val 12987"/>
            </a:avLst>
          </a:prstGeom>
          <a:solidFill>
            <a:srgbClr val="FFFFFF"/>
          </a:solidFill>
          <a:ln w="9525">
            <a:solidFill>
              <a:srgbClr val="D8E0EA"/>
            </a:solidFill>
            <a:prstDash val="solid"/>
          </a:ln>
        </p:spPr>
      </p:sp>
      <p:sp>
        <p:nvSpPr>
          <p:cNvPr id="47" name="Shape 45"/>
          <p:cNvSpPr/>
          <p:nvPr/>
        </p:nvSpPr>
        <p:spPr>
          <a:xfrm>
            <a:off x="621792" y="4686300"/>
            <a:ext cx="457200" cy="260604"/>
          </a:xfrm>
          <a:prstGeom prst="roundRect">
            <a:avLst>
              <a:gd name="adj" fmla="val 17544"/>
            </a:avLst>
          </a:prstGeom>
          <a:solidFill>
            <a:srgbClr val="003366"/>
          </a:solidFill>
          <a:ln/>
        </p:spPr>
      </p:sp>
      <p:sp>
        <p:nvSpPr>
          <p:cNvPr id="48" name="Text 46"/>
          <p:cNvSpPr/>
          <p:nvPr/>
        </p:nvSpPr>
        <p:spPr>
          <a:xfrm>
            <a:off x="62179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9" name="Text 47"/>
          <p:cNvSpPr/>
          <p:nvPr/>
        </p:nvSpPr>
        <p:spPr>
          <a:xfrm>
            <a:off x="117043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remittance — vendor payouts + landlord rent, gated</a:t>
            </a:r>
            <a:endParaRPr lang="en-US" sz="1200" dirty="0"/>
          </a:p>
        </p:txBody>
      </p:sp>
      <p:sp>
        <p:nvSpPr>
          <p:cNvPr id="50" name="Shape 48"/>
          <p:cNvSpPr/>
          <p:nvPr/>
        </p:nvSpPr>
        <p:spPr>
          <a:xfrm>
            <a:off x="4873752" y="4661154"/>
            <a:ext cx="1078992" cy="310896"/>
          </a:xfrm>
          <a:prstGeom prst="roundRect">
            <a:avLst>
              <a:gd name="adj" fmla="val 50000"/>
            </a:avLst>
          </a:prstGeom>
          <a:solidFill>
            <a:srgbClr val="1F7A4D"/>
          </a:solidFill>
          <a:ln/>
        </p:spPr>
      </p:sp>
      <p:sp>
        <p:nvSpPr>
          <p:cNvPr id="51" name="Text 49"/>
          <p:cNvSpPr/>
          <p:nvPr/>
        </p:nvSpPr>
        <p:spPr>
          <a:xfrm>
            <a:off x="487375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2" name="Shape 50"/>
          <p:cNvSpPr/>
          <p:nvPr/>
        </p:nvSpPr>
        <p:spPr>
          <a:xfrm>
            <a:off x="6400800" y="1600200"/>
            <a:ext cx="5532120" cy="352044"/>
          </a:xfrm>
          <a:prstGeom prst="roundRect">
            <a:avLst>
              <a:gd name="adj" fmla="val 12987"/>
            </a:avLst>
          </a:prstGeom>
          <a:solidFill>
            <a:srgbClr val="FFFFFF"/>
          </a:solidFill>
          <a:ln w="9525">
            <a:solidFill>
              <a:srgbClr val="D8E0EA"/>
            </a:solidFill>
            <a:prstDash val="solid"/>
          </a:ln>
        </p:spPr>
      </p:sp>
      <p:sp>
        <p:nvSpPr>
          <p:cNvPr id="53" name="Shape 51"/>
          <p:cNvSpPr/>
          <p:nvPr/>
        </p:nvSpPr>
        <p:spPr>
          <a:xfrm>
            <a:off x="6473952" y="1645920"/>
            <a:ext cx="457200" cy="260604"/>
          </a:xfrm>
          <a:prstGeom prst="roundRect">
            <a:avLst>
              <a:gd name="adj" fmla="val 17544"/>
            </a:avLst>
          </a:prstGeom>
          <a:solidFill>
            <a:srgbClr val="003366"/>
          </a:solidFill>
          <a:ln/>
        </p:spPr>
      </p:sp>
      <p:sp>
        <p:nvSpPr>
          <p:cNvPr id="54" name="Text 52"/>
          <p:cNvSpPr/>
          <p:nvPr/>
        </p:nvSpPr>
        <p:spPr>
          <a:xfrm>
            <a:off x="647395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6.5</a:t>
            </a:r>
            <a:endParaRPr lang="en-US" sz="1400" dirty="0"/>
          </a:p>
        </p:txBody>
      </p:sp>
      <p:sp>
        <p:nvSpPr>
          <p:cNvPr id="55" name="Text 53"/>
          <p:cNvSpPr/>
          <p:nvPr/>
        </p:nvSpPr>
        <p:spPr>
          <a:xfrm>
            <a:off x="702259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Operator-governed permission matrix</a:t>
            </a:r>
            <a:endParaRPr lang="en-US" sz="1200" dirty="0"/>
          </a:p>
        </p:txBody>
      </p:sp>
      <p:sp>
        <p:nvSpPr>
          <p:cNvPr id="56" name="Shape 54"/>
          <p:cNvSpPr/>
          <p:nvPr/>
        </p:nvSpPr>
        <p:spPr>
          <a:xfrm>
            <a:off x="10725912" y="1620774"/>
            <a:ext cx="1078992" cy="310896"/>
          </a:xfrm>
          <a:prstGeom prst="roundRect">
            <a:avLst>
              <a:gd name="adj" fmla="val 50000"/>
            </a:avLst>
          </a:prstGeom>
          <a:solidFill>
            <a:srgbClr val="1F7A4D"/>
          </a:solidFill>
          <a:ln/>
        </p:spPr>
      </p:sp>
      <p:sp>
        <p:nvSpPr>
          <p:cNvPr id="57" name="Text 55"/>
          <p:cNvSpPr/>
          <p:nvPr/>
        </p:nvSpPr>
        <p:spPr>
          <a:xfrm>
            <a:off x="1072591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8" name="Shape 56"/>
          <p:cNvSpPr/>
          <p:nvPr/>
        </p:nvSpPr>
        <p:spPr>
          <a:xfrm>
            <a:off x="6400800" y="2034540"/>
            <a:ext cx="5532120" cy="352044"/>
          </a:xfrm>
          <a:prstGeom prst="roundRect">
            <a:avLst>
              <a:gd name="adj" fmla="val 12987"/>
            </a:avLst>
          </a:prstGeom>
          <a:solidFill>
            <a:srgbClr val="FFFFFF"/>
          </a:solidFill>
          <a:ln w="9525">
            <a:solidFill>
              <a:srgbClr val="D8E0EA"/>
            </a:solidFill>
            <a:prstDash val="solid"/>
          </a:ln>
        </p:spPr>
      </p:sp>
      <p:sp>
        <p:nvSpPr>
          <p:cNvPr id="59" name="Shape 57"/>
          <p:cNvSpPr/>
          <p:nvPr/>
        </p:nvSpPr>
        <p:spPr>
          <a:xfrm>
            <a:off x="6473952" y="2080260"/>
            <a:ext cx="457200" cy="260604"/>
          </a:xfrm>
          <a:prstGeom prst="roundRect">
            <a:avLst>
              <a:gd name="adj" fmla="val 17544"/>
            </a:avLst>
          </a:prstGeom>
          <a:solidFill>
            <a:srgbClr val="003366"/>
          </a:solidFill>
          <a:ln/>
        </p:spPr>
      </p:sp>
      <p:sp>
        <p:nvSpPr>
          <p:cNvPr id="60" name="Text 58"/>
          <p:cNvSpPr/>
          <p:nvPr/>
        </p:nvSpPr>
        <p:spPr>
          <a:xfrm>
            <a:off x="647395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6.75</a:t>
            </a:r>
            <a:endParaRPr lang="en-US" sz="1400" dirty="0"/>
          </a:p>
        </p:txBody>
      </p:sp>
      <p:sp>
        <p:nvSpPr>
          <p:cNvPr id="61" name="Text 59"/>
          <p:cNvSpPr/>
          <p:nvPr/>
        </p:nvSpPr>
        <p:spPr>
          <a:xfrm>
            <a:off x="702259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Property &amp; unit enrolment (create/manage portfolio)</a:t>
            </a:r>
            <a:endParaRPr lang="en-US" sz="1200" dirty="0"/>
          </a:p>
        </p:txBody>
      </p:sp>
      <p:sp>
        <p:nvSpPr>
          <p:cNvPr id="62" name="Shape 60"/>
          <p:cNvSpPr/>
          <p:nvPr/>
        </p:nvSpPr>
        <p:spPr>
          <a:xfrm>
            <a:off x="10725912" y="2055114"/>
            <a:ext cx="1078992" cy="310896"/>
          </a:xfrm>
          <a:prstGeom prst="roundRect">
            <a:avLst>
              <a:gd name="adj" fmla="val 50000"/>
            </a:avLst>
          </a:prstGeom>
          <a:solidFill>
            <a:srgbClr val="1F7A4D"/>
          </a:solidFill>
          <a:ln/>
        </p:spPr>
      </p:sp>
      <p:sp>
        <p:nvSpPr>
          <p:cNvPr id="63" name="Text 61"/>
          <p:cNvSpPr/>
          <p:nvPr/>
        </p:nvSpPr>
        <p:spPr>
          <a:xfrm>
            <a:off x="1072591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Shape 62"/>
          <p:cNvSpPr/>
          <p:nvPr/>
        </p:nvSpPr>
        <p:spPr>
          <a:xfrm>
            <a:off x="6400800" y="2468880"/>
            <a:ext cx="5532120" cy="352044"/>
          </a:xfrm>
          <a:prstGeom prst="roundRect">
            <a:avLst>
              <a:gd name="adj" fmla="val 12987"/>
            </a:avLst>
          </a:prstGeom>
          <a:solidFill>
            <a:srgbClr val="FFFFFF"/>
          </a:solidFill>
          <a:ln w="9525">
            <a:solidFill>
              <a:srgbClr val="D8E0EA"/>
            </a:solidFill>
            <a:prstDash val="solid"/>
          </a:ln>
        </p:spPr>
      </p:sp>
      <p:sp>
        <p:nvSpPr>
          <p:cNvPr id="65" name="Shape 63"/>
          <p:cNvSpPr/>
          <p:nvPr/>
        </p:nvSpPr>
        <p:spPr>
          <a:xfrm>
            <a:off x="6473952" y="2514600"/>
            <a:ext cx="457200" cy="260604"/>
          </a:xfrm>
          <a:prstGeom prst="roundRect">
            <a:avLst>
              <a:gd name="adj" fmla="val 17544"/>
            </a:avLst>
          </a:prstGeom>
          <a:solidFill>
            <a:srgbClr val="003366"/>
          </a:solidFill>
          <a:ln/>
        </p:spPr>
      </p:sp>
      <p:sp>
        <p:nvSpPr>
          <p:cNvPr id="66" name="Text 64"/>
          <p:cNvSpPr/>
          <p:nvPr/>
        </p:nvSpPr>
        <p:spPr>
          <a:xfrm>
            <a:off x="647395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67" name="Text 65"/>
          <p:cNvSpPr/>
          <p:nvPr/>
        </p:nvSpPr>
        <p:spPr>
          <a:xfrm>
            <a:off x="702259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OEA tenant application + KYC intake</a:t>
            </a:r>
            <a:endParaRPr lang="en-US" sz="1200" dirty="0"/>
          </a:p>
        </p:txBody>
      </p:sp>
      <p:sp>
        <p:nvSpPr>
          <p:cNvPr id="68" name="Shape 66"/>
          <p:cNvSpPr/>
          <p:nvPr/>
        </p:nvSpPr>
        <p:spPr>
          <a:xfrm>
            <a:off x="10725912" y="2489454"/>
            <a:ext cx="1078992" cy="310896"/>
          </a:xfrm>
          <a:prstGeom prst="roundRect">
            <a:avLst>
              <a:gd name="adj" fmla="val 50000"/>
            </a:avLst>
          </a:prstGeom>
          <a:solidFill>
            <a:srgbClr val="1F7A4D"/>
          </a:solidFill>
          <a:ln/>
        </p:spPr>
      </p:sp>
      <p:sp>
        <p:nvSpPr>
          <p:cNvPr id="69" name="Text 67"/>
          <p:cNvSpPr/>
          <p:nvPr/>
        </p:nvSpPr>
        <p:spPr>
          <a:xfrm>
            <a:off x="1072591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0" name="Shape 68"/>
          <p:cNvSpPr/>
          <p:nvPr/>
        </p:nvSpPr>
        <p:spPr>
          <a:xfrm>
            <a:off x="6400800" y="2903220"/>
            <a:ext cx="5532120" cy="352044"/>
          </a:xfrm>
          <a:prstGeom prst="roundRect">
            <a:avLst>
              <a:gd name="adj" fmla="val 12987"/>
            </a:avLst>
          </a:prstGeom>
          <a:solidFill>
            <a:srgbClr val="FFFFFF"/>
          </a:solidFill>
          <a:ln w="9525">
            <a:solidFill>
              <a:srgbClr val="D8E0EA"/>
            </a:solidFill>
            <a:prstDash val="solid"/>
          </a:ln>
        </p:spPr>
      </p:sp>
      <p:sp>
        <p:nvSpPr>
          <p:cNvPr id="71" name="Shape 69"/>
          <p:cNvSpPr/>
          <p:nvPr/>
        </p:nvSpPr>
        <p:spPr>
          <a:xfrm>
            <a:off x="6473952" y="2948940"/>
            <a:ext cx="457200" cy="260604"/>
          </a:xfrm>
          <a:prstGeom prst="roundRect">
            <a:avLst>
              <a:gd name="adj" fmla="val 17544"/>
            </a:avLst>
          </a:prstGeom>
          <a:solidFill>
            <a:srgbClr val="003366"/>
          </a:solidFill>
          <a:ln/>
        </p:spPr>
      </p:sp>
      <p:sp>
        <p:nvSpPr>
          <p:cNvPr id="72" name="Text 70"/>
          <p:cNvSpPr/>
          <p:nvPr/>
        </p:nvSpPr>
        <p:spPr>
          <a:xfrm>
            <a:off x="647395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73" name="Text 71"/>
          <p:cNvSpPr/>
          <p:nvPr/>
        </p:nvSpPr>
        <p:spPr>
          <a:xfrm>
            <a:off x="702259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Two-tier human review + approval</a:t>
            </a:r>
            <a:endParaRPr lang="en-US" sz="1200" dirty="0"/>
          </a:p>
        </p:txBody>
      </p:sp>
      <p:sp>
        <p:nvSpPr>
          <p:cNvPr id="74" name="Shape 72"/>
          <p:cNvSpPr/>
          <p:nvPr/>
        </p:nvSpPr>
        <p:spPr>
          <a:xfrm>
            <a:off x="10725912" y="2923794"/>
            <a:ext cx="1078992" cy="310896"/>
          </a:xfrm>
          <a:prstGeom prst="roundRect">
            <a:avLst>
              <a:gd name="adj" fmla="val 50000"/>
            </a:avLst>
          </a:prstGeom>
          <a:solidFill>
            <a:srgbClr val="1F7A4D"/>
          </a:solidFill>
          <a:ln/>
        </p:spPr>
      </p:sp>
      <p:sp>
        <p:nvSpPr>
          <p:cNvPr id="75" name="Text 73"/>
          <p:cNvSpPr/>
          <p:nvPr/>
        </p:nvSpPr>
        <p:spPr>
          <a:xfrm>
            <a:off x="1072591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6" name="Shape 74"/>
          <p:cNvSpPr/>
          <p:nvPr/>
        </p:nvSpPr>
        <p:spPr>
          <a:xfrm>
            <a:off x="6400800" y="3337560"/>
            <a:ext cx="5532120" cy="352044"/>
          </a:xfrm>
          <a:prstGeom prst="roundRect">
            <a:avLst>
              <a:gd name="adj" fmla="val 12987"/>
            </a:avLst>
          </a:prstGeom>
          <a:solidFill>
            <a:srgbClr val="FFFFFF"/>
          </a:solidFill>
          <a:ln w="9525">
            <a:solidFill>
              <a:srgbClr val="D8E0EA"/>
            </a:solidFill>
            <a:prstDash val="solid"/>
          </a:ln>
        </p:spPr>
      </p:sp>
      <p:sp>
        <p:nvSpPr>
          <p:cNvPr id="77" name="Shape 75"/>
          <p:cNvSpPr/>
          <p:nvPr/>
        </p:nvSpPr>
        <p:spPr>
          <a:xfrm>
            <a:off x="6473952" y="3383280"/>
            <a:ext cx="457200" cy="260604"/>
          </a:xfrm>
          <a:prstGeom prst="roundRect">
            <a:avLst>
              <a:gd name="adj" fmla="val 17544"/>
            </a:avLst>
          </a:prstGeom>
          <a:solidFill>
            <a:srgbClr val="003366"/>
          </a:solidFill>
          <a:ln/>
        </p:spPr>
      </p:sp>
      <p:sp>
        <p:nvSpPr>
          <p:cNvPr id="78" name="Text 76"/>
          <p:cNvSpPr/>
          <p:nvPr/>
        </p:nvSpPr>
        <p:spPr>
          <a:xfrm>
            <a:off x="647395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79" name="Text 77"/>
          <p:cNvSpPr/>
          <p:nvPr/>
        </p:nvSpPr>
        <p:spPr>
          <a:xfrm>
            <a:off x="702259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Lease administration + rent roll</a:t>
            </a:r>
            <a:endParaRPr lang="en-US" sz="1200" dirty="0"/>
          </a:p>
        </p:txBody>
      </p:sp>
      <p:sp>
        <p:nvSpPr>
          <p:cNvPr id="80" name="Shape 78"/>
          <p:cNvSpPr/>
          <p:nvPr/>
        </p:nvSpPr>
        <p:spPr>
          <a:xfrm>
            <a:off x="10725912" y="3358134"/>
            <a:ext cx="1078992" cy="310896"/>
          </a:xfrm>
          <a:prstGeom prst="roundRect">
            <a:avLst>
              <a:gd name="adj" fmla="val 50000"/>
            </a:avLst>
          </a:prstGeom>
          <a:solidFill>
            <a:srgbClr val="1F7A4D"/>
          </a:solidFill>
          <a:ln/>
        </p:spPr>
      </p:sp>
      <p:sp>
        <p:nvSpPr>
          <p:cNvPr id="81" name="Text 79"/>
          <p:cNvSpPr/>
          <p:nvPr/>
        </p:nvSpPr>
        <p:spPr>
          <a:xfrm>
            <a:off x="1072591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2" name="Shape 80"/>
          <p:cNvSpPr/>
          <p:nvPr/>
        </p:nvSpPr>
        <p:spPr>
          <a:xfrm>
            <a:off x="6400800" y="3771900"/>
            <a:ext cx="5532120" cy="352044"/>
          </a:xfrm>
          <a:prstGeom prst="roundRect">
            <a:avLst>
              <a:gd name="adj" fmla="val 12987"/>
            </a:avLst>
          </a:prstGeom>
          <a:solidFill>
            <a:srgbClr val="FFFFFF"/>
          </a:solidFill>
          <a:ln w="9525">
            <a:solidFill>
              <a:srgbClr val="D8E0EA"/>
            </a:solidFill>
            <a:prstDash val="solid"/>
          </a:ln>
        </p:spPr>
      </p:sp>
      <p:sp>
        <p:nvSpPr>
          <p:cNvPr id="83" name="Shape 81"/>
          <p:cNvSpPr/>
          <p:nvPr/>
        </p:nvSpPr>
        <p:spPr>
          <a:xfrm>
            <a:off x="6473952" y="3817620"/>
            <a:ext cx="457200" cy="260604"/>
          </a:xfrm>
          <a:prstGeom prst="roundRect">
            <a:avLst>
              <a:gd name="adj" fmla="val 17544"/>
            </a:avLst>
          </a:prstGeom>
          <a:solidFill>
            <a:srgbClr val="003366"/>
          </a:solidFill>
          <a:ln/>
        </p:spPr>
      </p:sp>
      <p:sp>
        <p:nvSpPr>
          <p:cNvPr id="84" name="Text 82"/>
          <p:cNvSpPr/>
          <p:nvPr/>
        </p:nvSpPr>
        <p:spPr>
          <a:xfrm>
            <a:off x="647395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85" name="Text 83"/>
          <p:cNvSpPr/>
          <p:nvPr/>
        </p:nvSpPr>
        <p:spPr>
          <a:xfrm>
            <a:off x="702259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Interactive analytics dashboard</a:t>
            </a:r>
            <a:endParaRPr lang="en-US" sz="1200" dirty="0"/>
          </a:p>
        </p:txBody>
      </p:sp>
      <p:sp>
        <p:nvSpPr>
          <p:cNvPr id="86" name="Shape 84"/>
          <p:cNvSpPr/>
          <p:nvPr/>
        </p:nvSpPr>
        <p:spPr>
          <a:xfrm>
            <a:off x="10725912" y="3792474"/>
            <a:ext cx="1078992" cy="310896"/>
          </a:xfrm>
          <a:prstGeom prst="roundRect">
            <a:avLst>
              <a:gd name="adj" fmla="val 50000"/>
            </a:avLst>
          </a:prstGeom>
          <a:solidFill>
            <a:srgbClr val="1F7A4D"/>
          </a:solidFill>
          <a:ln/>
        </p:spPr>
      </p:sp>
      <p:sp>
        <p:nvSpPr>
          <p:cNvPr id="87" name="Text 85"/>
          <p:cNvSpPr/>
          <p:nvPr/>
        </p:nvSpPr>
        <p:spPr>
          <a:xfrm>
            <a:off x="1072591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8" name="Shape 86"/>
          <p:cNvSpPr/>
          <p:nvPr/>
        </p:nvSpPr>
        <p:spPr>
          <a:xfrm>
            <a:off x="6400800" y="4206240"/>
            <a:ext cx="5532120" cy="352044"/>
          </a:xfrm>
          <a:prstGeom prst="roundRect">
            <a:avLst>
              <a:gd name="adj" fmla="val 12987"/>
            </a:avLst>
          </a:prstGeom>
          <a:solidFill>
            <a:srgbClr val="FFFFFF"/>
          </a:solidFill>
          <a:ln w="9525">
            <a:solidFill>
              <a:srgbClr val="D8E0EA"/>
            </a:solidFill>
            <a:prstDash val="solid"/>
          </a:ln>
        </p:spPr>
      </p:sp>
      <p:sp>
        <p:nvSpPr>
          <p:cNvPr id="89" name="Shape 87"/>
          <p:cNvSpPr/>
          <p:nvPr/>
        </p:nvSpPr>
        <p:spPr>
          <a:xfrm>
            <a:off x="6473952" y="4251960"/>
            <a:ext cx="457200" cy="260604"/>
          </a:xfrm>
          <a:prstGeom prst="roundRect">
            <a:avLst>
              <a:gd name="adj" fmla="val 17544"/>
            </a:avLst>
          </a:prstGeom>
          <a:solidFill>
            <a:srgbClr val="003366"/>
          </a:solidFill>
          <a:ln/>
        </p:spPr>
      </p:sp>
      <p:sp>
        <p:nvSpPr>
          <p:cNvPr id="90" name="Text 88"/>
          <p:cNvSpPr/>
          <p:nvPr/>
        </p:nvSpPr>
        <p:spPr>
          <a:xfrm>
            <a:off x="647395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91" name="Text 89"/>
          <p:cNvSpPr/>
          <p:nvPr/>
        </p:nvSpPr>
        <p:spPr>
          <a:xfrm>
            <a:off x="702259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Vendor KPI/SLA evaluation, work-order media, UX pass</a:t>
            </a:r>
            <a:endParaRPr lang="en-US" sz="1200" dirty="0"/>
          </a:p>
        </p:txBody>
      </p:sp>
      <p:sp>
        <p:nvSpPr>
          <p:cNvPr id="92" name="Shape 90"/>
          <p:cNvSpPr/>
          <p:nvPr/>
        </p:nvSpPr>
        <p:spPr>
          <a:xfrm>
            <a:off x="10725912" y="4226814"/>
            <a:ext cx="1078992" cy="310896"/>
          </a:xfrm>
          <a:prstGeom prst="roundRect">
            <a:avLst>
              <a:gd name="adj" fmla="val 50000"/>
            </a:avLst>
          </a:prstGeom>
          <a:solidFill>
            <a:srgbClr val="1F7A4D"/>
          </a:solidFill>
          <a:ln/>
        </p:spPr>
      </p:sp>
      <p:sp>
        <p:nvSpPr>
          <p:cNvPr id="93" name="Text 91"/>
          <p:cNvSpPr/>
          <p:nvPr/>
        </p:nvSpPr>
        <p:spPr>
          <a:xfrm>
            <a:off x="1072591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94" name="Shape 92"/>
          <p:cNvSpPr/>
          <p:nvPr/>
        </p:nvSpPr>
        <p:spPr>
          <a:xfrm>
            <a:off x="6400800" y="4640580"/>
            <a:ext cx="5532120" cy="352044"/>
          </a:xfrm>
          <a:prstGeom prst="roundRect">
            <a:avLst>
              <a:gd name="adj" fmla="val 12987"/>
            </a:avLst>
          </a:prstGeom>
          <a:solidFill>
            <a:srgbClr val="FFFFFF"/>
          </a:solidFill>
          <a:ln w="9525">
            <a:solidFill>
              <a:srgbClr val="D8E0EA"/>
            </a:solidFill>
            <a:prstDash val="solid"/>
          </a:ln>
        </p:spPr>
      </p:sp>
      <p:sp>
        <p:nvSpPr>
          <p:cNvPr id="95" name="Shape 93"/>
          <p:cNvSpPr/>
          <p:nvPr/>
        </p:nvSpPr>
        <p:spPr>
          <a:xfrm>
            <a:off x="6473952" y="4686300"/>
            <a:ext cx="457200" cy="260604"/>
          </a:xfrm>
          <a:prstGeom prst="roundRect">
            <a:avLst>
              <a:gd name="adj" fmla="val 17544"/>
            </a:avLst>
          </a:prstGeom>
          <a:solidFill>
            <a:srgbClr val="003366"/>
          </a:solidFill>
          <a:ln/>
        </p:spPr>
      </p:sp>
      <p:sp>
        <p:nvSpPr>
          <p:cNvPr id="96" name="Text 94"/>
          <p:cNvSpPr/>
          <p:nvPr/>
        </p:nvSpPr>
        <p:spPr>
          <a:xfrm>
            <a:off x="647395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97" name="Text 95"/>
          <p:cNvSpPr/>
          <p:nvPr/>
        </p:nvSpPr>
        <p:spPr>
          <a:xfrm>
            <a:off x="702259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Security audit, NDPA pack, UAT, go-live</a:t>
            </a:r>
            <a:endParaRPr lang="en-US" sz="1200" dirty="0"/>
          </a:p>
        </p:txBody>
      </p:sp>
      <p:sp>
        <p:nvSpPr>
          <p:cNvPr id="98" name="Shape 96"/>
          <p:cNvSpPr/>
          <p:nvPr/>
        </p:nvSpPr>
        <p:spPr>
          <a:xfrm>
            <a:off x="10725912" y="4661154"/>
            <a:ext cx="1078992" cy="310896"/>
          </a:xfrm>
          <a:prstGeom prst="roundRect">
            <a:avLst>
              <a:gd name="adj" fmla="val 50000"/>
            </a:avLst>
          </a:prstGeom>
          <a:solidFill>
            <a:srgbClr val="B5680A"/>
          </a:solidFill>
          <a:ln/>
        </p:spPr>
      </p:sp>
      <p:sp>
        <p:nvSpPr>
          <p:cNvPr id="99" name="Text 97"/>
          <p:cNvSpPr/>
          <p:nvPr/>
        </p:nvSpPr>
        <p:spPr>
          <a:xfrm>
            <a:off x="1072591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 PROGRESS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4B4742"/>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A</a:t>
            </a:r>
            <a:endParaRPr lang="en-US" sz="1000" dirty="0">
              <a:solidFill>
                <a:prstClr val="black"/>
              </a:solidFill>
              <a:latin typeface="Calibri" panose="020F0502020204030204"/>
            </a:endParaRPr>
          </a:p>
        </p:txBody>
      </p:sp>
      <p:sp>
        <p:nvSpPr>
          <p:cNvPr id="5" name="Text 3"/>
          <p:cNvSpPr/>
          <p:nvPr/>
        </p:nvSpPr>
        <p:spPr>
          <a:xfrm>
            <a:off x="976727" y="1731920"/>
            <a:ext cx="2355160" cy="175536"/>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A</a:t>
            </a:r>
            <a:endParaRPr lang="en-US" sz="900" dirty="0">
              <a:solidFill>
                <a:prstClr val="black"/>
              </a:solidFill>
              <a:latin typeface="Calibri" panose="020F0502020204030204"/>
            </a:endParaRPr>
          </a:p>
        </p:txBody>
      </p:sp>
      <p:sp>
        <p:nvSpPr>
          <p:cNvPr id="6" name="Shape 4"/>
          <p:cNvSpPr/>
          <p:nvPr/>
        </p:nvSpPr>
        <p:spPr>
          <a:xfrm>
            <a:off x="10062633" y="1689100"/>
            <a:ext cx="63500" cy="63500"/>
          </a:xfrm>
          <a:prstGeom prst="ellipse">
            <a:avLst/>
          </a:prstGeom>
          <a:solidFill>
            <a:srgbClr val="4B4742"/>
          </a:solidFill>
          <a:ln/>
        </p:spPr>
      </p:sp>
      <p:sp>
        <p:nvSpPr>
          <p:cNvPr id="7" name="Text 5"/>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8" name="Shape 6"/>
          <p:cNvSpPr/>
          <p:nvPr/>
        </p:nvSpPr>
        <p:spPr>
          <a:xfrm>
            <a:off x="11042452" y="1680634"/>
            <a:ext cx="80433" cy="80433"/>
          </a:xfrm>
          <a:prstGeom prst="roundRect">
            <a:avLst>
              <a:gd name="adj" fmla="val 15789"/>
            </a:avLst>
          </a:prstGeom>
          <a:ln w="12700">
            <a:solidFill>
              <a:srgbClr val="83807A"/>
            </a:solidFill>
            <a:prstDash val="dash"/>
          </a:ln>
        </p:spPr>
      </p:sp>
      <p:sp>
        <p:nvSpPr>
          <p:cNvPr id="9" name="Text 7"/>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2500" b="12500"/>
          <a:stretch/>
        </p:blipFill>
        <p:spPr>
          <a:xfrm>
            <a:off x="927100" y="2677782"/>
            <a:ext cx="952500" cy="952500"/>
          </a:xfrm>
          <a:prstGeom prst="rect">
            <a:avLst/>
          </a:prstGeom>
        </p:spPr>
      </p:pic>
      <p:sp>
        <p:nvSpPr>
          <p:cNvPr id="12" name="Text 9"/>
          <p:cNvSpPr/>
          <p:nvPr/>
        </p:nvSpPr>
        <p:spPr>
          <a:xfrm>
            <a:off x="766773" y="3719182"/>
            <a:ext cx="1273089"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ADMIN</a:t>
            </a:r>
            <a:endParaRPr lang="en-US" sz="1200" dirty="0">
              <a:solidFill>
                <a:prstClr val="black"/>
              </a:solidFill>
              <a:latin typeface="Calibri" panose="020F0502020204030204"/>
            </a:endParaRPr>
          </a:p>
        </p:txBody>
      </p:sp>
      <p:sp>
        <p:nvSpPr>
          <p:cNvPr id="13" name="Text 10"/>
          <p:cNvSpPr/>
          <p:nvPr/>
        </p:nvSpPr>
        <p:spPr>
          <a:xfrm>
            <a:off x="799240" y="3901216"/>
            <a:ext cx="120815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Onboard people, set controls, oversee everything, sign off large payments.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4B4742"/>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B2823"/>
          </a:solidFill>
          <a:ln/>
        </p:spPr>
      </p:sp>
      <p:sp>
        <p:nvSpPr>
          <p:cNvPr id="18" name="Shape 15"/>
          <p:cNvSpPr/>
          <p:nvPr/>
        </p:nvSpPr>
        <p:spPr>
          <a:xfrm>
            <a:off x="2800350" y="2808817"/>
            <a:ext cx="228600" cy="165100"/>
          </a:xfrm>
          <a:prstGeom prst="roundRect">
            <a:avLst>
              <a:gd name="adj" fmla="val 15385"/>
            </a:avLst>
          </a:prstGeom>
          <a:solidFill>
            <a:srgbClr val="F9F5EE"/>
          </a:solidFill>
          <a:ln/>
        </p:spPr>
      </p:sp>
      <p:sp>
        <p:nvSpPr>
          <p:cNvPr id="19" name="Shape 16"/>
          <p:cNvSpPr/>
          <p:nvPr/>
        </p:nvSpPr>
        <p:spPr>
          <a:xfrm>
            <a:off x="2800350" y="2808817"/>
            <a:ext cx="228600" cy="88900"/>
          </a:xfrm>
          <a:prstGeom prst="rect">
            <a:avLst/>
          </a:prstGeom>
          <a:solidFill>
            <a:srgbClr val="2B2823"/>
          </a:solidFill>
          <a:ln/>
        </p:spPr>
      </p:sp>
      <p:sp>
        <p:nvSpPr>
          <p:cNvPr id="20" name="Shape 17"/>
          <p:cNvSpPr/>
          <p:nvPr/>
        </p:nvSpPr>
        <p:spPr>
          <a:xfrm>
            <a:off x="2965450" y="2910417"/>
            <a:ext cx="101600" cy="101600"/>
          </a:xfrm>
          <a:prstGeom prst="ellipse">
            <a:avLst/>
          </a:prstGeom>
          <a:solidFill>
            <a:srgbClr val="24334C"/>
          </a:solidFill>
          <a:ln/>
        </p:spPr>
      </p:sp>
      <p:sp>
        <p:nvSpPr>
          <p:cNvPr id="21" name="Text 18"/>
          <p:cNvSpPr/>
          <p:nvPr/>
        </p:nvSpPr>
        <p:spPr>
          <a:xfrm>
            <a:off x="2940050" y="2910417"/>
            <a:ext cx="152400" cy="127000"/>
          </a:xfrm>
          <a:prstGeom prst="rect">
            <a:avLst/>
          </a:prstGeom>
          <a:noFill/>
          <a:ln/>
        </p:spPr>
        <p:txBody>
          <a:bodyPr wrap="square" lIns="16933" tIns="16933" rIns="16933" bIns="16933" rtlCol="0" anchor="ctr">
            <a:noAutofit/>
          </a:bodyPr>
          <a:lstStyle/>
          <a:p>
            <a:pPr algn="ctr" defTabSz="609630"/>
            <a:r>
              <a:rPr lang="en-US" sz="900" b="1" dirty="0">
                <a:solidFill>
                  <a:srgbClr val="FFFFFF"/>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2" name="Text 19"/>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Invite &amp; onboard</a:t>
            </a:r>
            <a:endParaRPr lang="en-US" sz="900" dirty="0">
              <a:solidFill>
                <a:prstClr val="black"/>
              </a:solidFill>
              <a:latin typeface="Calibri" panose="020F0502020204030204"/>
            </a:endParaRPr>
          </a:p>
        </p:txBody>
      </p:sp>
      <p:sp>
        <p:nvSpPr>
          <p:cNvPr id="23" name="Text 20"/>
          <p:cNvSpPr/>
          <p:nvPr/>
        </p:nvSpPr>
        <p:spPr>
          <a:xfrm>
            <a:off x="2362836" y="3342217"/>
            <a:ext cx="110363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staff · vendors · tenants → role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4B4742"/>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B2823"/>
          </a:solidFill>
          <a:ln/>
        </p:spPr>
      </p:sp>
      <p:sp>
        <p:nvSpPr>
          <p:cNvPr id="27" name="Shape 24"/>
          <p:cNvSpPr/>
          <p:nvPr/>
        </p:nvSpPr>
        <p:spPr>
          <a:xfrm>
            <a:off x="4400550" y="2837392"/>
            <a:ext cx="279400" cy="25400"/>
          </a:xfrm>
          <a:prstGeom prst="roundRect">
            <a:avLst>
              <a:gd name="adj" fmla="val 50000"/>
            </a:avLst>
          </a:prstGeom>
          <a:solidFill>
            <a:srgbClr val="66635D"/>
          </a:solidFill>
          <a:ln/>
        </p:spPr>
      </p:sp>
      <p:sp>
        <p:nvSpPr>
          <p:cNvPr id="28" name="Shape 25"/>
          <p:cNvSpPr/>
          <p:nvPr/>
        </p:nvSpPr>
        <p:spPr>
          <a:xfrm>
            <a:off x="4565650" y="2811992"/>
            <a:ext cx="76200" cy="76200"/>
          </a:xfrm>
          <a:prstGeom prst="ellipse">
            <a:avLst/>
          </a:prstGeom>
          <a:solidFill>
            <a:srgbClr val="24334C"/>
          </a:solidFill>
          <a:ln/>
        </p:spPr>
      </p:sp>
      <p:sp>
        <p:nvSpPr>
          <p:cNvPr id="29" name="Shape 26"/>
          <p:cNvSpPr/>
          <p:nvPr/>
        </p:nvSpPr>
        <p:spPr>
          <a:xfrm>
            <a:off x="4400550" y="2919942"/>
            <a:ext cx="279400" cy="25400"/>
          </a:xfrm>
          <a:prstGeom prst="roundRect">
            <a:avLst>
              <a:gd name="adj" fmla="val 50000"/>
            </a:avLst>
          </a:prstGeom>
          <a:solidFill>
            <a:srgbClr val="66635D"/>
          </a:solidFill>
          <a:ln/>
        </p:spPr>
      </p:sp>
      <p:sp>
        <p:nvSpPr>
          <p:cNvPr id="30" name="Shape 27"/>
          <p:cNvSpPr/>
          <p:nvPr/>
        </p:nvSpPr>
        <p:spPr>
          <a:xfrm>
            <a:off x="4464050" y="2894542"/>
            <a:ext cx="76200" cy="76200"/>
          </a:xfrm>
          <a:prstGeom prst="ellipse">
            <a:avLst/>
          </a:prstGeom>
          <a:solidFill>
            <a:srgbClr val="C53637"/>
          </a:solidFill>
          <a:ln/>
        </p:spPr>
      </p:sp>
      <p:sp>
        <p:nvSpPr>
          <p:cNvPr id="31" name="Text 28"/>
          <p:cNvSpPr/>
          <p:nvPr/>
        </p:nvSpPr>
        <p:spPr>
          <a:xfrm>
            <a:off x="40163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Configure controls</a:t>
            </a:r>
            <a:endParaRPr lang="en-US" sz="900" dirty="0">
              <a:solidFill>
                <a:prstClr val="black"/>
              </a:solidFill>
              <a:latin typeface="Calibri" panose="020F0502020204030204"/>
            </a:endParaRPr>
          </a:p>
        </p:txBody>
      </p:sp>
      <p:sp>
        <p:nvSpPr>
          <p:cNvPr id="32" name="Text 29"/>
          <p:cNvSpPr/>
          <p:nvPr/>
        </p:nvSpPr>
        <p:spPr>
          <a:xfrm>
            <a:off x="4038600" y="3519774"/>
            <a:ext cx="100330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threshold · permissions · brand</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4B4742"/>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2B2823"/>
          </a:solidFill>
          <a:ln/>
        </p:spPr>
      </p:sp>
      <p:sp>
        <p:nvSpPr>
          <p:cNvPr id="36" name="Shape 33"/>
          <p:cNvSpPr/>
          <p:nvPr/>
        </p:nvSpPr>
        <p:spPr>
          <a:xfrm>
            <a:off x="6048375" y="2773892"/>
            <a:ext cx="101600" cy="101600"/>
          </a:xfrm>
          <a:prstGeom prst="roundRect">
            <a:avLst>
              <a:gd name="adj" fmla="val 18750"/>
            </a:avLst>
          </a:prstGeom>
          <a:solidFill>
            <a:srgbClr val="F9F5EE"/>
          </a:solidFill>
          <a:ln/>
        </p:spPr>
      </p:sp>
      <p:sp>
        <p:nvSpPr>
          <p:cNvPr id="37" name="Shape 34"/>
          <p:cNvSpPr/>
          <p:nvPr/>
        </p:nvSpPr>
        <p:spPr>
          <a:xfrm>
            <a:off x="6181725" y="2773892"/>
            <a:ext cx="101600" cy="101600"/>
          </a:xfrm>
          <a:prstGeom prst="roundRect">
            <a:avLst>
              <a:gd name="adj" fmla="val 18750"/>
            </a:avLst>
          </a:prstGeom>
          <a:solidFill>
            <a:srgbClr val="24334C"/>
          </a:solidFill>
          <a:ln/>
        </p:spPr>
      </p:sp>
      <p:sp>
        <p:nvSpPr>
          <p:cNvPr id="38" name="Shape 35"/>
          <p:cNvSpPr/>
          <p:nvPr/>
        </p:nvSpPr>
        <p:spPr>
          <a:xfrm>
            <a:off x="6048375" y="2907242"/>
            <a:ext cx="101600" cy="101600"/>
          </a:xfrm>
          <a:prstGeom prst="roundRect">
            <a:avLst>
              <a:gd name="adj" fmla="val 18750"/>
            </a:avLst>
          </a:prstGeom>
          <a:solidFill>
            <a:srgbClr val="C53637"/>
          </a:solidFill>
          <a:ln/>
        </p:spPr>
      </p:sp>
      <p:sp>
        <p:nvSpPr>
          <p:cNvPr id="39" name="Shape 36"/>
          <p:cNvSpPr/>
          <p:nvPr/>
        </p:nvSpPr>
        <p:spPr>
          <a:xfrm>
            <a:off x="6181725" y="2907242"/>
            <a:ext cx="101600" cy="101600"/>
          </a:xfrm>
          <a:prstGeom prst="roundRect">
            <a:avLst>
              <a:gd name="adj" fmla="val 18750"/>
            </a:avLst>
          </a:prstGeom>
          <a:solidFill>
            <a:srgbClr val="F9F5EE"/>
          </a:solidFill>
          <a:ln/>
        </p:spPr>
      </p:sp>
      <p:sp>
        <p:nvSpPr>
          <p:cNvPr id="40" name="Text 37"/>
          <p:cNvSpPr/>
          <p:nvPr/>
        </p:nvSpPr>
        <p:spPr>
          <a:xfrm>
            <a:off x="56642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Oversee all tickets &amp; money</a:t>
            </a:r>
            <a:endParaRPr lang="en-US" sz="900" dirty="0">
              <a:solidFill>
                <a:prstClr val="black"/>
              </a:solidFill>
              <a:latin typeface="Calibri" panose="020F0502020204030204"/>
            </a:endParaRPr>
          </a:p>
        </p:txBody>
      </p:sp>
      <p:sp>
        <p:nvSpPr>
          <p:cNvPr id="41" name="Text 38"/>
          <p:cNvSpPr/>
          <p:nvPr/>
        </p:nvSpPr>
        <p:spPr>
          <a:xfrm>
            <a:off x="5641976" y="3514839"/>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org-scoped dashboard</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4B4742"/>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2B2823"/>
          </a:solidFill>
          <a:ln w="19050">
            <a:solidFill>
              <a:srgbClr val="C53637"/>
            </a:solidFill>
            <a:prstDash val="solid"/>
          </a:ln>
        </p:spPr>
      </p:sp>
      <p:sp>
        <p:nvSpPr>
          <p:cNvPr id="45" name="Shape 42"/>
          <p:cNvSpPr/>
          <p:nvPr/>
        </p:nvSpPr>
        <p:spPr>
          <a:xfrm>
            <a:off x="7727950" y="2802467"/>
            <a:ext cx="160867" cy="16933"/>
          </a:xfrm>
          <a:prstGeom prst="rect">
            <a:avLst/>
          </a:prstGeom>
          <a:solidFill>
            <a:srgbClr val="F9F5EE"/>
          </a:solidFill>
          <a:ln/>
        </p:spPr>
      </p:sp>
      <p:sp>
        <p:nvSpPr>
          <p:cNvPr id="46" name="Shape 43"/>
          <p:cNvSpPr/>
          <p:nvPr/>
        </p:nvSpPr>
        <p:spPr>
          <a:xfrm>
            <a:off x="7727950" y="2802467"/>
            <a:ext cx="16933" cy="118533"/>
          </a:xfrm>
          <a:prstGeom prst="rect">
            <a:avLst/>
          </a:prstGeom>
          <a:solidFill>
            <a:srgbClr val="F9F5EE"/>
          </a:solidFill>
          <a:ln/>
        </p:spPr>
      </p:sp>
      <p:sp>
        <p:nvSpPr>
          <p:cNvPr id="47" name="Shape 44"/>
          <p:cNvSpPr/>
          <p:nvPr/>
        </p:nvSpPr>
        <p:spPr>
          <a:xfrm>
            <a:off x="7871884" y="2802467"/>
            <a:ext cx="16933" cy="118533"/>
          </a:xfrm>
          <a:prstGeom prst="rect">
            <a:avLst/>
          </a:prstGeom>
          <a:solidFill>
            <a:srgbClr val="F9F5EE"/>
          </a:solidFill>
          <a:ln/>
        </p:spPr>
      </p:sp>
      <p:sp>
        <p:nvSpPr>
          <p:cNvPr id="48" name="Shape 45"/>
          <p:cNvSpPr/>
          <p:nvPr/>
        </p:nvSpPr>
        <p:spPr>
          <a:xfrm>
            <a:off x="7696200" y="2878667"/>
            <a:ext cx="190500" cy="127000"/>
          </a:xfrm>
          <a:prstGeom prst="roundRect">
            <a:avLst>
              <a:gd name="adj" fmla="val 20000"/>
            </a:avLst>
          </a:prstGeom>
          <a:solidFill>
            <a:srgbClr val="C53637"/>
          </a:solidFill>
          <a:ln/>
        </p:spPr>
      </p:sp>
      <p:sp>
        <p:nvSpPr>
          <p:cNvPr id="49" name="Shape 46"/>
          <p:cNvSpPr/>
          <p:nvPr/>
        </p:nvSpPr>
        <p:spPr>
          <a:xfrm>
            <a:off x="7778750" y="2910417"/>
            <a:ext cx="25400" cy="50800"/>
          </a:xfrm>
          <a:prstGeom prst="roundRect">
            <a:avLst>
              <a:gd name="adj" fmla="val 50000"/>
            </a:avLst>
          </a:prstGeom>
          <a:solidFill>
            <a:srgbClr val="F9F5EE"/>
          </a:solidFill>
          <a:ln/>
        </p:spPr>
      </p:sp>
      <p:sp>
        <p:nvSpPr>
          <p:cNvPr id="50" name="Text 47"/>
          <p:cNvSpPr/>
          <p:nvPr/>
        </p:nvSpPr>
        <p:spPr>
          <a:xfrm>
            <a:off x="72898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high-value pay</a:t>
            </a:r>
            <a:endParaRPr lang="en-US" sz="900" dirty="0">
              <a:solidFill>
                <a:prstClr val="black"/>
              </a:solidFill>
              <a:latin typeface="Calibri" panose="020F0502020204030204"/>
            </a:endParaRPr>
          </a:p>
        </p:txBody>
      </p:sp>
      <p:sp>
        <p:nvSpPr>
          <p:cNvPr id="51" name="Text 48"/>
          <p:cNvSpPr/>
          <p:nvPr/>
        </p:nvSpPr>
        <p:spPr>
          <a:xfrm>
            <a:off x="7267576" y="3539417"/>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threshold · gated</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660400"/>
          </a:xfrm>
          <a:prstGeom prst="roundRect">
            <a:avLst>
              <a:gd name="adj" fmla="val 18182"/>
            </a:avLst>
          </a:prstGeom>
          <a:solidFill>
            <a:srgbClr val="2B2823"/>
          </a:solidFill>
          <a:ln/>
        </p:spPr>
      </p:sp>
      <p:sp>
        <p:nvSpPr>
          <p:cNvPr id="55" name="Shape 52"/>
          <p:cNvSpPr/>
          <p:nvPr/>
        </p:nvSpPr>
        <p:spPr>
          <a:xfrm>
            <a:off x="9283700" y="3081867"/>
            <a:ext cx="67733" cy="105833"/>
          </a:xfrm>
          <a:prstGeom prst="rect">
            <a:avLst/>
          </a:prstGeom>
          <a:solidFill>
            <a:srgbClr val="F9F5EE"/>
          </a:solidFill>
          <a:ln/>
        </p:spPr>
      </p:sp>
      <p:sp>
        <p:nvSpPr>
          <p:cNvPr id="56" name="Shape 53"/>
          <p:cNvSpPr/>
          <p:nvPr/>
        </p:nvSpPr>
        <p:spPr>
          <a:xfrm>
            <a:off x="9383184" y="3031067"/>
            <a:ext cx="67733" cy="156633"/>
          </a:xfrm>
          <a:prstGeom prst="rect">
            <a:avLst/>
          </a:prstGeom>
          <a:solidFill>
            <a:srgbClr val="F9F5EE"/>
          </a:solidFill>
          <a:ln/>
        </p:spPr>
      </p:sp>
      <p:sp>
        <p:nvSpPr>
          <p:cNvPr id="57" name="Shape 54"/>
          <p:cNvSpPr/>
          <p:nvPr/>
        </p:nvSpPr>
        <p:spPr>
          <a:xfrm>
            <a:off x="9482667" y="3107267"/>
            <a:ext cx="67733" cy="80433"/>
          </a:xfrm>
          <a:prstGeom prst="rect">
            <a:avLst/>
          </a:prstGeom>
          <a:solidFill>
            <a:srgbClr val="F9F5EE"/>
          </a:solidFill>
          <a:ln/>
        </p:spPr>
      </p:sp>
      <p:sp>
        <p:nvSpPr>
          <p:cNvPr id="58" name="Text 55"/>
          <p:cNvSpPr/>
          <p:nvPr/>
        </p:nvSpPr>
        <p:spPr>
          <a:xfrm>
            <a:off x="9048221" y="3365500"/>
            <a:ext cx="7376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Analytics console</a:t>
            </a:r>
            <a:endParaRPr lang="en-US" sz="900" dirty="0">
              <a:solidFill>
                <a:prstClr val="black"/>
              </a:solidFill>
              <a:latin typeface="Calibri" panose="020F0502020204030204"/>
            </a:endParaRPr>
          </a:p>
        </p:txBody>
      </p:sp>
      <p:sp>
        <p:nvSpPr>
          <p:cNvPr id="59" name="Text 56"/>
          <p:cNvSpPr/>
          <p:nvPr/>
        </p:nvSpPr>
        <p:spPr>
          <a:xfrm>
            <a:off x="9048221" y="3627678"/>
            <a:ext cx="737659"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filters, trends, exports</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38934" y="2804584"/>
            <a:ext cx="207433" cy="232833"/>
          </a:xfrm>
          <a:prstGeom prst="roundRect">
            <a:avLst>
              <a:gd name="adj" fmla="val 12245"/>
            </a:avLst>
          </a:prstGeom>
          <a:ln w="12700">
            <a:solidFill>
              <a:srgbClr val="75716B">
                <a:alpha val="55000"/>
              </a:srgbClr>
            </a:solidFill>
            <a:prstDash val="dash"/>
          </a:ln>
        </p:spPr>
      </p:sp>
      <p:sp>
        <p:nvSpPr>
          <p:cNvPr id="64" name="Text 61"/>
          <p:cNvSpPr/>
          <p:nvPr/>
        </p:nvSpPr>
        <p:spPr>
          <a:xfrm>
            <a:off x="10631753" y="3263900"/>
            <a:ext cx="821730"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Go-live governance</a:t>
            </a:r>
            <a:endParaRPr lang="en-US" sz="900" dirty="0">
              <a:solidFill>
                <a:prstClr val="black"/>
              </a:solidFill>
              <a:latin typeface="Calibri" panose="020F0502020204030204"/>
            </a:endParaRPr>
          </a:p>
        </p:txBody>
      </p:sp>
      <p:sp>
        <p:nvSpPr>
          <p:cNvPr id="65" name="Text 62"/>
          <p:cNvSpPr/>
          <p:nvPr/>
        </p:nvSpPr>
        <p:spPr>
          <a:xfrm>
            <a:off x="10631753" y="3534740"/>
            <a:ext cx="82173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upcoming · Stage 12</a:t>
            </a:r>
            <a:endParaRPr lang="en-US" sz="800" dirty="0">
              <a:solidFill>
                <a:prstClr val="black"/>
              </a:solidFill>
              <a:latin typeface="Calibri" panose="020F0502020204030204"/>
            </a:endParaRPr>
          </a:p>
        </p:txBody>
      </p:sp>
      <p:sp>
        <p:nvSpPr>
          <p:cNvPr id="66" name="Shape 63"/>
          <p:cNvSpPr/>
          <p:nvPr/>
        </p:nvSpPr>
        <p:spPr>
          <a:xfrm>
            <a:off x="673100" y="5033434"/>
            <a:ext cx="10845800" cy="6350"/>
          </a:xfrm>
          <a:prstGeom prst="rect">
            <a:avLst/>
          </a:prstGeom>
          <a:solidFill>
            <a:srgbClr val="CFCDCA"/>
          </a:solidFill>
          <a:ln/>
        </p:spPr>
      </p:sp>
      <p:sp>
        <p:nvSpPr>
          <p:cNvPr id="67" name="Text 64"/>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68" name="Text 65"/>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69" name="Text 66"/>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70" name="Text 67"/>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71" name="Text 68"/>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72" name="Text 69"/>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73" name="Text 70"/>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74" name="Text 71"/>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75" name="Text 72"/>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76" name="Text 73"/>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77" name="Text 74"/>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79244"/>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24334C"/>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B</a:t>
            </a:r>
            <a:endParaRPr lang="en-US" sz="1000" dirty="0">
              <a:solidFill>
                <a:prstClr val="black"/>
              </a:solidFill>
              <a:latin typeface="Calibri" panose="020F0502020204030204"/>
            </a:endParaRPr>
          </a:p>
        </p:txBody>
      </p:sp>
      <p:sp>
        <p:nvSpPr>
          <p:cNvPr id="5" name="Text 3"/>
          <p:cNvSpPr/>
          <p:nvPr/>
        </p:nvSpPr>
        <p:spPr>
          <a:xfrm>
            <a:off x="928287" y="1739900"/>
            <a:ext cx="2063308"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B</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677782"/>
            <a:ext cx="952500" cy="952500"/>
          </a:xfrm>
          <a:prstGeom prst="rect">
            <a:avLst/>
          </a:prstGeom>
        </p:spPr>
      </p:pic>
      <p:sp>
        <p:nvSpPr>
          <p:cNvPr id="12" name="Text 9"/>
          <p:cNvSpPr/>
          <p:nvPr/>
        </p:nvSpPr>
        <p:spPr>
          <a:xfrm>
            <a:off x="868710" y="3719182"/>
            <a:ext cx="1069215"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 PM</a:t>
            </a:r>
            <a:endParaRPr lang="en-US" sz="1200" dirty="0">
              <a:solidFill>
                <a:prstClr val="black"/>
              </a:solidFill>
              <a:latin typeface="Calibri" panose="020F0502020204030204"/>
            </a:endParaRPr>
          </a:p>
        </p:txBody>
      </p:sp>
      <p:sp>
        <p:nvSpPr>
          <p:cNvPr id="13" name="Text 10"/>
          <p:cNvSpPr/>
          <p:nvPr/>
        </p:nvSpPr>
        <p:spPr>
          <a:xfrm>
            <a:off x="723901" y="3901216"/>
            <a:ext cx="119082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assigned properties: dispatch, verify work, manage units &amp; assets.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24334C">
                  <a:alpha val="35000"/>
                </a:srgbClr>
              </a:gs>
            </a:gsLst>
            <a:lin ang="0" scaled="0"/>
          </a:gradFill>
          <a:ln/>
        </p:spPr>
      </p:sp>
      <p:sp>
        <p:nvSpPr>
          <p:cNvPr id="15" name="Shape 12"/>
          <p:cNvSpPr/>
          <p:nvPr/>
        </p:nvSpPr>
        <p:spPr>
          <a:xfrm>
            <a:off x="2825750" y="2383367"/>
            <a:ext cx="177800" cy="177800"/>
          </a:xfrm>
          <a:prstGeom prst="ellipse">
            <a:avLst/>
          </a:prstGeom>
          <a:solidFill>
            <a:srgbClr val="24334C"/>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71F2E"/>
          </a:solidFill>
          <a:ln/>
        </p:spPr>
      </p:sp>
      <p:sp>
        <p:nvSpPr>
          <p:cNvPr id="18" name="Shape 15"/>
          <p:cNvSpPr/>
          <p:nvPr/>
        </p:nvSpPr>
        <p:spPr>
          <a:xfrm>
            <a:off x="2794000" y="2789767"/>
            <a:ext cx="241300" cy="165100"/>
          </a:xfrm>
          <a:prstGeom prst="roundRect">
            <a:avLst>
              <a:gd name="adj" fmla="val 11538"/>
            </a:avLst>
          </a:prstGeom>
          <a:solidFill>
            <a:srgbClr val="F9F5EE"/>
          </a:solidFill>
          <a:ln/>
        </p:spPr>
      </p:sp>
      <p:sp>
        <p:nvSpPr>
          <p:cNvPr id="19" name="Shape 16"/>
          <p:cNvSpPr/>
          <p:nvPr/>
        </p:nvSpPr>
        <p:spPr>
          <a:xfrm>
            <a:off x="2870200" y="2916767"/>
            <a:ext cx="88900" cy="76200"/>
          </a:xfrm>
          <a:prstGeom prst="rect">
            <a:avLst/>
          </a:prstGeom>
          <a:solidFill>
            <a:srgbClr val="171F2E"/>
          </a:solidFill>
          <a:ln/>
        </p:spPr>
      </p:sp>
      <p:sp>
        <p:nvSpPr>
          <p:cNvPr id="20" name="Shape 17"/>
          <p:cNvSpPr/>
          <p:nvPr/>
        </p:nvSpPr>
        <p:spPr>
          <a:xfrm>
            <a:off x="2882900" y="2751667"/>
            <a:ext cx="88900" cy="88900"/>
          </a:xfrm>
          <a:prstGeom prst="ellipse">
            <a:avLst/>
          </a:prstGeom>
          <a:ln w="19050">
            <a:solidFill>
              <a:srgbClr val="F9F5EE"/>
            </a:solidFill>
            <a:prstDash val="solid"/>
          </a:ln>
        </p:spPr>
      </p:sp>
      <p:sp>
        <p:nvSpPr>
          <p:cNvPr id="21" name="Text 18"/>
          <p:cNvSpPr/>
          <p:nvPr/>
        </p:nvSpPr>
        <p:spPr>
          <a:xfrm>
            <a:off x="2439088" y="3221567"/>
            <a:ext cx="951124"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properties only</a:t>
            </a:r>
            <a:endParaRPr lang="en-US" sz="900" dirty="0">
              <a:solidFill>
                <a:prstClr val="black"/>
              </a:solidFill>
              <a:latin typeface="Calibri" panose="020F0502020204030204"/>
            </a:endParaRPr>
          </a:p>
        </p:txBody>
      </p:sp>
      <p:sp>
        <p:nvSpPr>
          <p:cNvPr id="22" name="Text 19"/>
          <p:cNvSpPr/>
          <p:nvPr/>
        </p:nvSpPr>
        <p:spPr>
          <a:xfrm>
            <a:off x="2439088" y="3502016"/>
            <a:ext cx="951124"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requests</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24334C"/>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171F2E"/>
          </a:solidFill>
          <a:ln/>
        </p:spPr>
      </p:sp>
      <p:sp>
        <p:nvSpPr>
          <p:cNvPr id="26" name="Shape 23"/>
          <p:cNvSpPr/>
          <p:nvPr/>
        </p:nvSpPr>
        <p:spPr>
          <a:xfrm>
            <a:off x="4324350" y="2840567"/>
            <a:ext cx="101600" cy="101600"/>
          </a:xfrm>
          <a:prstGeom prst="ellipse">
            <a:avLst/>
          </a:prstGeom>
          <a:solidFill>
            <a:srgbClr val="F9F5EE"/>
          </a:solidFill>
          <a:ln/>
        </p:spPr>
      </p:sp>
      <p:sp>
        <p:nvSpPr>
          <p:cNvPr id="27" name="Shape 24"/>
          <p:cNvSpPr/>
          <p:nvPr/>
        </p:nvSpPr>
        <p:spPr>
          <a:xfrm>
            <a:off x="4464050" y="2885017"/>
            <a:ext cx="127000" cy="12700"/>
          </a:xfrm>
          <a:prstGeom prst="rect">
            <a:avLst/>
          </a:prstGeom>
          <a:solidFill>
            <a:srgbClr val="D1CDC7"/>
          </a:solidFill>
          <a:ln/>
        </p:spPr>
      </p:sp>
      <p:sp>
        <p:nvSpPr>
          <p:cNvPr id="28" name="Shape 25"/>
          <p:cNvSpPr/>
          <p:nvPr/>
        </p:nvSpPr>
        <p:spPr>
          <a:xfrm>
            <a:off x="4629150" y="2827867"/>
            <a:ext cx="127000" cy="127000"/>
          </a:xfrm>
          <a:prstGeom prst="ellipse">
            <a:avLst/>
          </a:prstGeom>
          <a:ln w="19050">
            <a:solidFill>
              <a:srgbClr val="F9F5EE"/>
            </a:solidFill>
            <a:prstDash val="solid"/>
          </a:ln>
        </p:spPr>
      </p:sp>
      <p:sp>
        <p:nvSpPr>
          <p:cNvPr id="29" name="Text 26"/>
          <p:cNvSpPr/>
          <p:nvPr/>
        </p:nvSpPr>
        <p:spPr>
          <a:xfrm>
            <a:off x="4140928" y="3221567"/>
            <a:ext cx="79864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a:t>
            </a:r>
            <a:endParaRPr lang="en-US" sz="900" dirty="0">
              <a:solidFill>
                <a:prstClr val="black"/>
              </a:solidFill>
              <a:latin typeface="Calibri" panose="020F0502020204030204"/>
            </a:endParaRPr>
          </a:p>
        </p:txBody>
      </p:sp>
      <p:sp>
        <p:nvSpPr>
          <p:cNvPr id="30" name="Text 27"/>
          <p:cNvSpPr/>
          <p:nvPr/>
        </p:nvSpPr>
        <p:spPr>
          <a:xfrm>
            <a:off x="4140928" y="3351095"/>
            <a:ext cx="798645"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to ticket</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24334C"/>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71F2E"/>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29211"/>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Verify service delivered</a:t>
            </a:r>
            <a:endParaRPr lang="en-US" sz="900" dirty="0">
              <a:solidFill>
                <a:prstClr val="black"/>
              </a:solidFill>
              <a:latin typeface="Calibri" panose="020F0502020204030204"/>
            </a:endParaRPr>
          </a:p>
        </p:txBody>
      </p:sp>
      <p:sp>
        <p:nvSpPr>
          <p:cNvPr id="40" name="Text 37"/>
          <p:cNvSpPr/>
          <p:nvPr/>
        </p:nvSpPr>
        <p:spPr>
          <a:xfrm>
            <a:off x="5659732" y="3503906"/>
            <a:ext cx="1047750" cy="11974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24334C"/>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71F2E"/>
          </a:solidFill>
          <a:ln/>
        </p:spPr>
      </p:sp>
      <p:sp>
        <p:nvSpPr>
          <p:cNvPr id="44" name="Shape 41"/>
          <p:cNvSpPr/>
          <p:nvPr/>
        </p:nvSpPr>
        <p:spPr>
          <a:xfrm>
            <a:off x="7632700" y="2789767"/>
            <a:ext cx="88900" cy="88900"/>
          </a:xfrm>
          <a:prstGeom prst="roundRect">
            <a:avLst>
              <a:gd name="adj" fmla="val 14286"/>
            </a:avLst>
          </a:prstGeom>
          <a:solidFill>
            <a:srgbClr val="F9F5EE"/>
          </a:solidFill>
          <a:ln/>
        </p:spPr>
      </p:sp>
      <p:sp>
        <p:nvSpPr>
          <p:cNvPr id="45" name="Shape 42"/>
          <p:cNvSpPr/>
          <p:nvPr/>
        </p:nvSpPr>
        <p:spPr>
          <a:xfrm>
            <a:off x="7747000" y="2789767"/>
            <a:ext cx="88900" cy="88900"/>
          </a:xfrm>
          <a:prstGeom prst="roundRect">
            <a:avLst>
              <a:gd name="adj" fmla="val 14286"/>
            </a:avLst>
          </a:prstGeom>
          <a:solidFill>
            <a:srgbClr val="D1CDC7"/>
          </a:solidFill>
          <a:ln/>
        </p:spPr>
      </p:sp>
      <p:sp>
        <p:nvSpPr>
          <p:cNvPr id="46" name="Shape 43"/>
          <p:cNvSpPr/>
          <p:nvPr/>
        </p:nvSpPr>
        <p:spPr>
          <a:xfrm>
            <a:off x="7861300" y="2789767"/>
            <a:ext cx="88900" cy="88900"/>
          </a:xfrm>
          <a:prstGeom prst="roundRect">
            <a:avLst>
              <a:gd name="adj" fmla="val 14286"/>
            </a:avLst>
          </a:prstGeom>
          <a:solidFill>
            <a:srgbClr val="F9F5EE"/>
          </a:solidFill>
          <a:ln/>
        </p:spPr>
      </p:sp>
      <p:sp>
        <p:nvSpPr>
          <p:cNvPr id="47" name="Shape 44"/>
          <p:cNvSpPr/>
          <p:nvPr/>
        </p:nvSpPr>
        <p:spPr>
          <a:xfrm>
            <a:off x="7632700" y="2904067"/>
            <a:ext cx="88900" cy="88900"/>
          </a:xfrm>
          <a:prstGeom prst="roundRect">
            <a:avLst>
              <a:gd name="adj" fmla="val 14286"/>
            </a:avLst>
          </a:prstGeom>
          <a:solidFill>
            <a:srgbClr val="D1CDC7"/>
          </a:solidFill>
          <a:ln/>
        </p:spPr>
      </p:sp>
      <p:sp>
        <p:nvSpPr>
          <p:cNvPr id="48" name="Shape 45"/>
          <p:cNvSpPr/>
          <p:nvPr/>
        </p:nvSpPr>
        <p:spPr>
          <a:xfrm>
            <a:off x="7747000" y="2904067"/>
            <a:ext cx="88900" cy="88900"/>
          </a:xfrm>
          <a:prstGeom prst="roundRect">
            <a:avLst>
              <a:gd name="adj" fmla="val 14286"/>
            </a:avLst>
          </a:prstGeom>
          <a:solidFill>
            <a:srgbClr val="F9F5EE"/>
          </a:solidFill>
          <a:ln/>
        </p:spPr>
      </p:sp>
      <p:sp>
        <p:nvSpPr>
          <p:cNvPr id="49" name="Shape 46"/>
          <p:cNvSpPr/>
          <p:nvPr/>
        </p:nvSpPr>
        <p:spPr>
          <a:xfrm>
            <a:off x="7861300" y="2904067"/>
            <a:ext cx="88900" cy="88900"/>
          </a:xfrm>
          <a:prstGeom prst="roundRect">
            <a:avLst>
              <a:gd name="adj" fmla="val 14286"/>
            </a:avLst>
          </a:prstGeom>
          <a:solidFill>
            <a:srgbClr val="D1CDC7"/>
          </a:solidFill>
          <a:ln/>
        </p:spPr>
      </p:sp>
      <p:sp>
        <p:nvSpPr>
          <p:cNvPr id="50" name="Text 47"/>
          <p:cNvSpPr/>
          <p:nvPr/>
        </p:nvSpPr>
        <p:spPr>
          <a:xfrm>
            <a:off x="7415081" y="3221567"/>
            <a:ext cx="75267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1" name="Text 48"/>
          <p:cNvSpPr/>
          <p:nvPr/>
        </p:nvSpPr>
        <p:spPr>
          <a:xfrm>
            <a:off x="7415081" y="3475386"/>
            <a:ext cx="752673"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solidFill>
            <a:srgbClr val="2B2823"/>
          </a:solidFill>
          <a:ln/>
        </p:spPr>
      </p:sp>
      <p:sp>
        <p:nvSpPr>
          <p:cNvPr id="55" name="Shape 52"/>
          <p:cNvSpPr/>
          <p:nvPr/>
        </p:nvSpPr>
        <p:spPr>
          <a:xfrm>
            <a:off x="9294284" y="2772834"/>
            <a:ext cx="245533" cy="296333"/>
          </a:xfrm>
          <a:prstGeom prst="roundRect">
            <a:avLst>
              <a:gd name="adj" fmla="val 10345"/>
            </a:avLst>
          </a:prstGeom>
          <a:solidFill>
            <a:srgbClr val="F9F5EE"/>
          </a:solidFill>
          <a:ln/>
        </p:spPr>
      </p:sp>
      <p:sp>
        <p:nvSpPr>
          <p:cNvPr id="56" name="Shape 53"/>
          <p:cNvSpPr/>
          <p:nvPr/>
        </p:nvSpPr>
        <p:spPr>
          <a:xfrm>
            <a:off x="9450917" y="2904067"/>
            <a:ext cx="118533" cy="118533"/>
          </a:xfrm>
          <a:prstGeom prst="ellipse">
            <a:avLst/>
          </a:prstGeom>
          <a:solidFill>
            <a:srgbClr val="F9F5EE"/>
          </a:solidFill>
          <a:ln/>
        </p:spPr>
      </p:sp>
      <p:sp>
        <p:nvSpPr>
          <p:cNvPr id="57" name="Text 54"/>
          <p:cNvSpPr/>
          <p:nvPr/>
        </p:nvSpPr>
        <p:spPr>
          <a:xfrm>
            <a:off x="9433983" y="2912533"/>
            <a:ext cx="152400" cy="1270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8" name="Text 55"/>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tenant application</a:t>
            </a:r>
            <a:endParaRPr lang="en-US" sz="900" dirty="0">
              <a:solidFill>
                <a:prstClr val="black"/>
              </a:solidFill>
              <a:latin typeface="Calibri" panose="020F0502020204030204"/>
            </a:endParaRPr>
          </a:p>
        </p:txBody>
      </p:sp>
      <p:sp>
        <p:nvSpPr>
          <p:cNvPr id="59" name="Text 56"/>
          <p:cNvSpPr/>
          <p:nvPr/>
        </p:nvSpPr>
        <p:spPr>
          <a:xfrm>
            <a:off x="8915400" y="3530540"/>
            <a:ext cx="1003300" cy="188178"/>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queue</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solidFill>
            <a:srgbClr val="4B4742"/>
          </a:solidFill>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solidFill>
            <a:srgbClr val="2B2823"/>
          </a:solidFill>
          <a:ln/>
        </p:spPr>
      </p:sp>
      <p:sp>
        <p:nvSpPr>
          <p:cNvPr id="63" name="Shape 60"/>
          <p:cNvSpPr/>
          <p:nvPr/>
        </p:nvSpPr>
        <p:spPr>
          <a:xfrm>
            <a:off x="10913534" y="2816226"/>
            <a:ext cx="258233" cy="48683"/>
          </a:xfrm>
          <a:prstGeom prst="rect">
            <a:avLst/>
          </a:prstGeom>
          <a:solidFill>
            <a:srgbClr val="F9F5EE"/>
          </a:solidFill>
          <a:ln/>
        </p:spPr>
      </p:sp>
      <p:sp>
        <p:nvSpPr>
          <p:cNvPr id="64" name="Shape 61"/>
          <p:cNvSpPr/>
          <p:nvPr/>
        </p:nvSpPr>
        <p:spPr>
          <a:xfrm>
            <a:off x="10913534" y="2896659"/>
            <a:ext cx="258233" cy="48683"/>
          </a:xfrm>
          <a:prstGeom prst="rect">
            <a:avLst/>
          </a:prstGeom>
          <a:solidFill>
            <a:srgbClr val="F9F5EE"/>
          </a:solidFill>
          <a:ln/>
        </p:spPr>
      </p:sp>
      <p:sp>
        <p:nvSpPr>
          <p:cNvPr id="65" name="Shape 62"/>
          <p:cNvSpPr/>
          <p:nvPr/>
        </p:nvSpPr>
        <p:spPr>
          <a:xfrm>
            <a:off x="10957984" y="2977093"/>
            <a:ext cx="169333" cy="48683"/>
          </a:xfrm>
          <a:prstGeom prst="rect">
            <a:avLst/>
          </a:prstGeom>
          <a:solidFill>
            <a:srgbClr val="F9F5EE"/>
          </a:solidFill>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Rent-roll &amp; lease oversight</a:t>
            </a:r>
            <a:endParaRPr lang="en-US" sz="900" dirty="0">
              <a:solidFill>
                <a:prstClr val="black"/>
              </a:solidFill>
              <a:latin typeface="Calibri" panose="020F0502020204030204"/>
            </a:endParaRPr>
          </a:p>
        </p:txBody>
      </p:sp>
      <p:sp>
        <p:nvSpPr>
          <p:cNvPr id="67" name="Text 64"/>
          <p:cNvSpPr/>
          <p:nvPr/>
        </p:nvSpPr>
        <p:spPr>
          <a:xfrm>
            <a:off x="10518775" y="3539418"/>
            <a:ext cx="1047750" cy="10691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landlord-ready roll</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93C71EA7-6023-47C8-9A49-E19C9EA1D5FE}"/>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ACAFABA0-449C-4A60-87E6-5F0818CF3962}"/>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A97BA2F7-C459-411D-B220-CDDC1732998E}"/>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5DB37930-7535-4287-A3D4-A63836E6B3A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98C07A00-92A4-43CB-9382-150ED535B4EE}"/>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1F5F3992-0B5D-4569-959E-8F31F68FC55C}"/>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EA509ACF-C62B-4211-8EBD-05C4E00B3E49}"/>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8D93ECE0-E7AB-49B9-BBC3-9618736E8720}"/>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D6BA4485-5F84-49A4-B68D-3688CE1B8070}"/>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2201EAD3-47C6-4787-B583-10455A91A58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BF8473D4-929C-4A24-BE19-F413A53FEA9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8E75A20-4002-414B-BE83-D273E08B2D0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6" name="Shape 4">
            <a:extLst>
              <a:ext uri="{FF2B5EF4-FFF2-40B4-BE49-F238E27FC236}">
                <a16:creationId xmlns:a16="http://schemas.microsoft.com/office/drawing/2014/main" id="{40C9F03C-00DC-42BD-A753-24E26A834E39}"/>
              </a:ext>
            </a:extLst>
          </p:cNvPr>
          <p:cNvSpPr/>
          <p:nvPr/>
        </p:nvSpPr>
        <p:spPr>
          <a:xfrm>
            <a:off x="10062633" y="1689100"/>
            <a:ext cx="63500" cy="63500"/>
          </a:xfrm>
          <a:prstGeom prst="ellipse">
            <a:avLst/>
          </a:prstGeom>
          <a:solidFill>
            <a:srgbClr val="4B4742"/>
          </a:solidFill>
          <a:ln/>
        </p:spPr>
      </p:sp>
      <p:sp>
        <p:nvSpPr>
          <p:cNvPr id="97" name="Text 5">
            <a:extLst>
              <a:ext uri="{FF2B5EF4-FFF2-40B4-BE49-F238E27FC236}">
                <a16:creationId xmlns:a16="http://schemas.microsoft.com/office/drawing/2014/main" id="{B54D04B9-0AF4-4B18-9763-9CDE9E5E6BA3}"/>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8" name="Shape 6">
            <a:extLst>
              <a:ext uri="{FF2B5EF4-FFF2-40B4-BE49-F238E27FC236}">
                <a16:creationId xmlns:a16="http://schemas.microsoft.com/office/drawing/2014/main" id="{68886361-5562-41A2-9225-E03D1A158D72}"/>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9" name="Text 7">
            <a:extLst>
              <a:ext uri="{FF2B5EF4-FFF2-40B4-BE49-F238E27FC236}">
                <a16:creationId xmlns:a16="http://schemas.microsoft.com/office/drawing/2014/main" id="{40642CFB-6A6C-4897-B262-F8A2CE923561}"/>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00795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C</a:t>
            </a:r>
            <a:endParaRPr lang="en-US" sz="1000" dirty="0">
              <a:solidFill>
                <a:prstClr val="black"/>
              </a:solidFill>
              <a:latin typeface="Calibri" panose="020F0502020204030204"/>
            </a:endParaRPr>
          </a:p>
        </p:txBody>
      </p:sp>
      <p:sp>
        <p:nvSpPr>
          <p:cNvPr id="5" name="Text 3"/>
          <p:cNvSpPr/>
          <p:nvPr/>
        </p:nvSpPr>
        <p:spPr>
          <a:xfrm>
            <a:off x="951941"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C</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4286" b="14286"/>
          <a:stretch/>
        </p:blipFill>
        <p:spPr>
          <a:xfrm>
            <a:off x="927100" y="2677782"/>
            <a:ext cx="952500" cy="952500"/>
          </a:xfrm>
          <a:prstGeom prst="rect">
            <a:avLst/>
          </a:prstGeom>
        </p:spPr>
      </p:pic>
      <p:sp>
        <p:nvSpPr>
          <p:cNvPr id="12" name="Text 9"/>
          <p:cNvSpPr/>
          <p:nvPr/>
        </p:nvSpPr>
        <p:spPr>
          <a:xfrm>
            <a:off x="989674" y="3719182"/>
            <a:ext cx="827352"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VENDOR</a:t>
            </a:r>
            <a:endParaRPr lang="en-US" sz="1200" dirty="0">
              <a:solidFill>
                <a:prstClr val="black"/>
              </a:solidFill>
              <a:latin typeface="Calibri" panose="020F0502020204030204"/>
            </a:endParaRPr>
          </a:p>
        </p:txBody>
      </p:sp>
      <p:sp>
        <p:nvSpPr>
          <p:cNvPr id="13" name="Text 10"/>
          <p:cNvSpPr/>
          <p:nvPr/>
        </p:nvSpPr>
        <p:spPr>
          <a:xfrm>
            <a:off x="989674" y="3901216"/>
            <a:ext cx="827352"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Fulfil assigned work orders and get paid for completed jobs.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007950">
                  <a:alpha val="35000"/>
                </a:srgbClr>
              </a:gs>
              <a:gs pos="100000">
                <a:srgbClr val="007950">
                  <a:alpha val="35000"/>
                </a:srgbClr>
              </a:gs>
            </a:gsLst>
            <a:lin ang="0" scaled="0"/>
          </a:gradFill>
          <a:ln/>
        </p:spPr>
      </p:sp>
      <p:sp>
        <p:nvSpPr>
          <p:cNvPr id="15" name="Shape 12"/>
          <p:cNvSpPr/>
          <p:nvPr/>
        </p:nvSpPr>
        <p:spPr>
          <a:xfrm>
            <a:off x="2825750" y="2383367"/>
            <a:ext cx="177800" cy="177800"/>
          </a:xfrm>
          <a:prstGeom prst="ellipse">
            <a:avLst/>
          </a:prstGeom>
          <a:solidFill>
            <a:srgbClr val="00795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003320"/>
          </a:solidFill>
          <a:ln/>
        </p:spPr>
      </p:sp>
      <p:sp>
        <p:nvSpPr>
          <p:cNvPr id="18" name="Shape 15"/>
          <p:cNvSpPr/>
          <p:nvPr/>
        </p:nvSpPr>
        <p:spPr>
          <a:xfrm>
            <a:off x="2794000" y="2751667"/>
            <a:ext cx="241300" cy="279400"/>
          </a:xfrm>
          <a:prstGeom prst="roundRect">
            <a:avLst>
              <a:gd name="adj" fmla="val 7895"/>
            </a:avLst>
          </a:prstGeom>
          <a:solidFill>
            <a:srgbClr val="F9F5EE"/>
          </a:solidFill>
          <a:ln/>
        </p:spPr>
      </p:sp>
      <p:sp>
        <p:nvSpPr>
          <p:cNvPr id="19" name="Shape 16"/>
          <p:cNvSpPr/>
          <p:nvPr/>
        </p:nvSpPr>
        <p:spPr>
          <a:xfrm>
            <a:off x="2832100" y="2802467"/>
            <a:ext cx="165100" cy="19050"/>
          </a:xfrm>
          <a:prstGeom prst="rect">
            <a:avLst/>
          </a:prstGeom>
          <a:solidFill>
            <a:srgbClr val="C1BDB7"/>
          </a:solidFill>
          <a:ln/>
        </p:spPr>
      </p:sp>
      <p:sp>
        <p:nvSpPr>
          <p:cNvPr id="20" name="Shape 17"/>
          <p:cNvSpPr/>
          <p:nvPr/>
        </p:nvSpPr>
        <p:spPr>
          <a:xfrm>
            <a:off x="2832100" y="2853267"/>
            <a:ext cx="165100" cy="19050"/>
          </a:xfrm>
          <a:prstGeom prst="rect">
            <a:avLst/>
          </a:prstGeom>
          <a:solidFill>
            <a:srgbClr val="C1BDB7"/>
          </a:solidFill>
          <a:ln/>
        </p:spPr>
      </p:sp>
      <p:sp>
        <p:nvSpPr>
          <p:cNvPr id="21" name="Shape 18"/>
          <p:cNvSpPr/>
          <p:nvPr/>
        </p:nvSpPr>
        <p:spPr>
          <a:xfrm>
            <a:off x="2832100" y="2904067"/>
            <a:ext cx="114300" cy="19050"/>
          </a:xfrm>
          <a:prstGeom prst="rect">
            <a:avLst/>
          </a:prstGeom>
          <a:solidFill>
            <a:srgbClr val="C1BDB7"/>
          </a:solidFill>
          <a:ln/>
        </p:spPr>
      </p:sp>
      <p:sp>
        <p:nvSpPr>
          <p:cNvPr id="22" name="Text 19"/>
          <p:cNvSpPr/>
          <p:nvPr/>
        </p:nvSpPr>
        <p:spPr>
          <a:xfrm>
            <a:off x="2444475" y="3221567"/>
            <a:ext cx="94028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Assigned work orders</a:t>
            </a:r>
            <a:endParaRPr lang="en-US" sz="900" dirty="0">
              <a:solidFill>
                <a:prstClr val="black"/>
              </a:solidFill>
              <a:latin typeface="Calibri" panose="020F0502020204030204"/>
            </a:endParaRPr>
          </a:p>
        </p:txBody>
      </p:sp>
      <p:sp>
        <p:nvSpPr>
          <p:cNvPr id="23" name="Text 20"/>
          <p:cNvSpPr/>
          <p:nvPr/>
        </p:nvSpPr>
        <p:spPr>
          <a:xfrm>
            <a:off x="2444475" y="3501242"/>
            <a:ext cx="94028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jobs 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007950"/>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003320"/>
          </a:solidFill>
          <a:ln/>
        </p:spPr>
      </p:sp>
      <p:sp>
        <p:nvSpPr>
          <p:cNvPr id="27" name="Shape 24"/>
          <p:cNvSpPr/>
          <p:nvPr/>
        </p:nvSpPr>
        <p:spPr>
          <a:xfrm>
            <a:off x="4362450" y="2821517"/>
            <a:ext cx="139700" cy="139700"/>
          </a:xfrm>
          <a:prstGeom prst="ellipse">
            <a:avLst/>
          </a:prstGeom>
          <a:solidFill>
            <a:srgbClr val="F9F5EE"/>
          </a:solidFill>
          <a:ln/>
        </p:spPr>
      </p:sp>
      <p:sp>
        <p:nvSpPr>
          <p:cNvPr id="28" name="Text 25"/>
          <p:cNvSpPr/>
          <p:nvPr/>
        </p:nvSpPr>
        <p:spPr>
          <a:xfrm>
            <a:off x="43370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007950"/>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9" name="Shape 26"/>
          <p:cNvSpPr/>
          <p:nvPr/>
        </p:nvSpPr>
        <p:spPr>
          <a:xfrm>
            <a:off x="4552950" y="2808817"/>
            <a:ext cx="165100" cy="165100"/>
          </a:xfrm>
          <a:prstGeom prst="ellipse">
            <a:avLst/>
          </a:prstGeom>
          <a:ln w="19050">
            <a:solidFill>
              <a:srgbClr val="F9F5EE"/>
            </a:solidFill>
            <a:prstDash val="solid"/>
          </a:ln>
        </p:spPr>
      </p:sp>
      <p:sp>
        <p:nvSpPr>
          <p:cNvPr id="30" name="Text 27"/>
          <p:cNvSpPr/>
          <p:nvPr/>
        </p:nvSpPr>
        <p:spPr>
          <a:xfrm>
            <a:off x="45402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31" name="Text 28"/>
          <p:cNvSpPr/>
          <p:nvPr/>
        </p:nvSpPr>
        <p:spPr>
          <a:xfrm>
            <a:off x="4186106" y="3221567"/>
            <a:ext cx="70822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Accept / decline</a:t>
            </a:r>
            <a:endParaRPr lang="en-US" sz="900" dirty="0">
              <a:solidFill>
                <a:prstClr val="black"/>
              </a:solidFill>
              <a:latin typeface="Calibri" panose="020F0502020204030204"/>
            </a:endParaRPr>
          </a:p>
        </p:txBody>
      </p:sp>
      <p:sp>
        <p:nvSpPr>
          <p:cNvPr id="32" name="Text 29"/>
          <p:cNvSpPr/>
          <p:nvPr/>
        </p:nvSpPr>
        <p:spPr>
          <a:xfrm>
            <a:off x="4186106" y="3501242"/>
            <a:ext cx="70822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respond to dispatch</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007950"/>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003320"/>
          </a:solidFill>
          <a:ln/>
        </p:spPr>
      </p:sp>
      <p:sp>
        <p:nvSpPr>
          <p:cNvPr id="36" name="Shape 33"/>
          <p:cNvSpPr/>
          <p:nvPr/>
        </p:nvSpPr>
        <p:spPr>
          <a:xfrm>
            <a:off x="6047317" y="2992967"/>
            <a:ext cx="237067" cy="16933"/>
          </a:xfrm>
          <a:prstGeom prst="rect">
            <a:avLst/>
          </a:prstGeom>
          <a:solidFill>
            <a:srgbClr val="F9F5EE"/>
          </a:solidFill>
          <a:ln/>
        </p:spPr>
      </p:sp>
      <p:sp>
        <p:nvSpPr>
          <p:cNvPr id="37" name="Shape 34"/>
          <p:cNvSpPr/>
          <p:nvPr/>
        </p:nvSpPr>
        <p:spPr>
          <a:xfrm>
            <a:off x="6047317" y="2772833"/>
            <a:ext cx="16933" cy="237067"/>
          </a:xfrm>
          <a:prstGeom prst="rect">
            <a:avLst/>
          </a:prstGeom>
          <a:solidFill>
            <a:srgbClr val="F9F5EE"/>
          </a:solidFill>
          <a:ln/>
        </p:spPr>
      </p:sp>
      <p:sp>
        <p:nvSpPr>
          <p:cNvPr id="38" name="Shape 35"/>
          <p:cNvSpPr/>
          <p:nvPr/>
        </p:nvSpPr>
        <p:spPr>
          <a:xfrm>
            <a:off x="6267450" y="2772833"/>
            <a:ext cx="16933" cy="237067"/>
          </a:xfrm>
          <a:prstGeom prst="rect">
            <a:avLst/>
          </a:prstGeom>
          <a:solidFill>
            <a:srgbClr val="F9F5EE"/>
          </a:solidFill>
          <a:ln/>
        </p:spPr>
      </p:sp>
      <p:sp>
        <p:nvSpPr>
          <p:cNvPr id="39" name="Text 36"/>
          <p:cNvSpPr/>
          <p:nvPr/>
        </p:nvSpPr>
        <p:spPr>
          <a:xfrm>
            <a:off x="6096000" y="2846917"/>
            <a:ext cx="127000" cy="1016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40" name="Text 37"/>
          <p:cNvSpPr/>
          <p:nvPr/>
        </p:nvSpPr>
        <p:spPr>
          <a:xfrm>
            <a:off x="5816138" y="3221567"/>
            <a:ext cx="699426"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Mark complete</a:t>
            </a:r>
            <a:endParaRPr lang="en-US" sz="900" dirty="0">
              <a:solidFill>
                <a:prstClr val="black"/>
              </a:solidFill>
              <a:latin typeface="Calibri" panose="020F0502020204030204"/>
            </a:endParaRPr>
          </a:p>
        </p:txBody>
      </p:sp>
      <p:sp>
        <p:nvSpPr>
          <p:cNvPr id="41" name="Text 38"/>
          <p:cNvSpPr/>
          <p:nvPr/>
        </p:nvSpPr>
        <p:spPr>
          <a:xfrm>
            <a:off x="5816138" y="3502017"/>
            <a:ext cx="699426"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update ticket status</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007950"/>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003320"/>
          </a:solidFill>
          <a:ln w="19050">
            <a:solidFill>
              <a:srgbClr val="C53637"/>
            </a:solidFill>
            <a:prstDash val="solid"/>
          </a:ln>
        </p:spPr>
      </p:sp>
      <p:sp>
        <p:nvSpPr>
          <p:cNvPr id="45" name="Shape 42"/>
          <p:cNvSpPr/>
          <p:nvPr/>
        </p:nvSpPr>
        <p:spPr>
          <a:xfrm>
            <a:off x="7689850" y="2789767"/>
            <a:ext cx="203200" cy="228600"/>
          </a:xfrm>
          <a:prstGeom prst="roundRect">
            <a:avLst>
              <a:gd name="adj" fmla="val 9375"/>
            </a:avLst>
          </a:prstGeom>
          <a:solidFill>
            <a:srgbClr val="F9F5EE"/>
          </a:solidFill>
          <a:ln/>
        </p:spPr>
      </p:sp>
      <p:sp>
        <p:nvSpPr>
          <p:cNvPr id="46" name="Shape 43"/>
          <p:cNvSpPr/>
          <p:nvPr/>
        </p:nvSpPr>
        <p:spPr>
          <a:xfrm>
            <a:off x="7727950" y="2840567"/>
            <a:ext cx="127000" cy="19050"/>
          </a:xfrm>
          <a:prstGeom prst="rect">
            <a:avLst/>
          </a:prstGeom>
          <a:solidFill>
            <a:srgbClr val="C53637"/>
          </a:solidFill>
          <a:ln/>
        </p:spPr>
      </p:sp>
      <p:sp>
        <p:nvSpPr>
          <p:cNvPr id="47" name="Shape 44"/>
          <p:cNvSpPr/>
          <p:nvPr/>
        </p:nvSpPr>
        <p:spPr>
          <a:xfrm>
            <a:off x="7727950" y="2878667"/>
            <a:ext cx="127000" cy="19050"/>
          </a:xfrm>
          <a:prstGeom prst="rect">
            <a:avLst/>
          </a:prstGeom>
          <a:solidFill>
            <a:srgbClr val="C1BDB7"/>
          </a:solidFill>
          <a:ln/>
        </p:spPr>
      </p:sp>
      <p:sp>
        <p:nvSpPr>
          <p:cNvPr id="48" name="Shape 45"/>
          <p:cNvSpPr/>
          <p:nvPr/>
        </p:nvSpPr>
        <p:spPr>
          <a:xfrm>
            <a:off x="7727950" y="2916767"/>
            <a:ext cx="76200" cy="19050"/>
          </a:xfrm>
          <a:prstGeom prst="rect">
            <a:avLst/>
          </a:prstGeom>
          <a:solidFill>
            <a:srgbClr val="C1BDB7"/>
          </a:solidFill>
          <a:ln/>
        </p:spPr>
      </p:sp>
      <p:sp>
        <p:nvSpPr>
          <p:cNvPr id="49" name="Shape 46"/>
          <p:cNvSpPr/>
          <p:nvPr/>
        </p:nvSpPr>
        <p:spPr>
          <a:xfrm>
            <a:off x="7791450" y="2904067"/>
            <a:ext cx="88900" cy="88900"/>
          </a:xfrm>
          <a:prstGeom prst="ellipse">
            <a:avLst/>
          </a:prstGeom>
          <a:solidFill>
            <a:srgbClr val="C53637"/>
          </a:solidFill>
          <a:ln/>
        </p:spPr>
      </p:sp>
      <p:sp>
        <p:nvSpPr>
          <p:cNvPr id="50" name="Text 47"/>
          <p:cNvSpPr/>
          <p:nvPr/>
        </p:nvSpPr>
        <p:spPr>
          <a:xfrm>
            <a:off x="7766050" y="2904067"/>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1" name="Text 48"/>
          <p:cNvSpPr/>
          <p:nvPr/>
        </p:nvSpPr>
        <p:spPr>
          <a:xfrm>
            <a:off x="7403571" y="3246967"/>
            <a:ext cx="775692"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Submit invoice</a:t>
            </a:r>
            <a:endParaRPr lang="en-US" sz="900" dirty="0">
              <a:solidFill>
                <a:prstClr val="black"/>
              </a:solidFill>
              <a:latin typeface="Calibri" panose="020F0502020204030204"/>
            </a:endParaRPr>
          </a:p>
        </p:txBody>
      </p:sp>
      <p:sp>
        <p:nvSpPr>
          <p:cNvPr id="52" name="Text 49"/>
          <p:cNvSpPr/>
          <p:nvPr/>
        </p:nvSpPr>
        <p:spPr>
          <a:xfrm>
            <a:off x="7403571" y="3543576"/>
            <a:ext cx="775692"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②</a:t>
            </a:r>
            <a:endParaRPr lang="en-US" sz="800" dirty="0">
              <a:solidFill>
                <a:prstClr val="black"/>
              </a:solidFill>
              <a:latin typeface="Calibri" panose="020F0502020204030204"/>
            </a:endParaRPr>
          </a:p>
        </p:txBody>
      </p:sp>
      <p:sp>
        <p:nvSpPr>
          <p:cNvPr id="53" name="Shape 50"/>
          <p:cNvSpPr/>
          <p:nvPr/>
        </p:nvSpPr>
        <p:spPr>
          <a:xfrm>
            <a:off x="9319684" y="2383367"/>
            <a:ext cx="194733" cy="194733"/>
          </a:xfrm>
          <a:prstGeom prst="ellipse">
            <a:avLst/>
          </a:prstGeom>
          <a:solidFill>
            <a:srgbClr val="4B4742"/>
          </a:solidFill>
          <a:ln/>
        </p:spPr>
      </p:sp>
      <p:sp>
        <p:nvSpPr>
          <p:cNvPr id="54" name="Text 51"/>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5" name="Shape 52"/>
          <p:cNvSpPr/>
          <p:nvPr/>
        </p:nvSpPr>
        <p:spPr>
          <a:xfrm>
            <a:off x="9137650" y="2641600"/>
            <a:ext cx="558800" cy="558800"/>
          </a:xfrm>
          <a:prstGeom prst="roundRect">
            <a:avLst>
              <a:gd name="adj" fmla="val 18182"/>
            </a:avLst>
          </a:prstGeom>
          <a:solidFill>
            <a:srgbClr val="2B2823"/>
          </a:solidFill>
          <a:ln/>
        </p:spPr>
      </p:sp>
      <p:sp>
        <p:nvSpPr>
          <p:cNvPr id="56" name="Shape 53"/>
          <p:cNvSpPr/>
          <p:nvPr/>
        </p:nvSpPr>
        <p:spPr>
          <a:xfrm>
            <a:off x="9294284" y="2816226"/>
            <a:ext cx="245533" cy="48683"/>
          </a:xfrm>
          <a:prstGeom prst="rect">
            <a:avLst/>
          </a:prstGeom>
          <a:solidFill>
            <a:srgbClr val="F9F5EE"/>
          </a:solidFill>
          <a:ln/>
        </p:spPr>
      </p:sp>
      <p:sp>
        <p:nvSpPr>
          <p:cNvPr id="57" name="Shape 54"/>
          <p:cNvSpPr/>
          <p:nvPr/>
        </p:nvSpPr>
        <p:spPr>
          <a:xfrm>
            <a:off x="9294284" y="2896659"/>
            <a:ext cx="245533" cy="48683"/>
          </a:xfrm>
          <a:prstGeom prst="rect">
            <a:avLst/>
          </a:prstGeom>
          <a:solidFill>
            <a:srgbClr val="F9F5EE"/>
          </a:solidFill>
          <a:ln/>
        </p:spPr>
      </p:sp>
      <p:sp>
        <p:nvSpPr>
          <p:cNvPr id="58" name="Shape 55"/>
          <p:cNvSpPr/>
          <p:nvPr/>
        </p:nvSpPr>
        <p:spPr>
          <a:xfrm>
            <a:off x="9294284" y="2977093"/>
            <a:ext cx="156633" cy="48683"/>
          </a:xfrm>
          <a:prstGeom prst="rect">
            <a:avLst/>
          </a:prstGeom>
          <a:solidFill>
            <a:srgbClr val="F9F5EE"/>
          </a:solidFill>
          <a:ln/>
        </p:spPr>
      </p:sp>
      <p:sp>
        <p:nvSpPr>
          <p:cNvPr id="59" name="Text 56"/>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Payment history</a:t>
            </a:r>
            <a:endParaRPr lang="en-US" sz="900" dirty="0">
              <a:solidFill>
                <a:prstClr val="black"/>
              </a:solidFill>
              <a:latin typeface="Calibri" panose="020F0502020204030204"/>
            </a:endParaRPr>
          </a:p>
        </p:txBody>
      </p:sp>
      <p:sp>
        <p:nvSpPr>
          <p:cNvPr id="60" name="Text 57"/>
          <p:cNvSpPr/>
          <p:nvPr/>
        </p:nvSpPr>
        <p:spPr>
          <a:xfrm>
            <a:off x="8996305" y="3543576"/>
            <a:ext cx="841424"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invoice, always</a:t>
            </a:r>
            <a:endParaRPr lang="en-US" sz="800" dirty="0">
              <a:solidFill>
                <a:prstClr val="black"/>
              </a:solidFill>
              <a:latin typeface="Calibri" panose="020F0502020204030204"/>
            </a:endParaRPr>
          </a:p>
        </p:txBody>
      </p:sp>
      <p:sp>
        <p:nvSpPr>
          <p:cNvPr id="61" name="Shape 58"/>
          <p:cNvSpPr/>
          <p:nvPr/>
        </p:nvSpPr>
        <p:spPr>
          <a:xfrm>
            <a:off x="10945284" y="2383367"/>
            <a:ext cx="194733" cy="194733"/>
          </a:xfrm>
          <a:prstGeom prst="ellipse">
            <a:avLst/>
          </a:prstGeom>
          <a:ln w="12700">
            <a:solidFill>
              <a:srgbClr val="75716B">
                <a:alpha val="55000"/>
              </a:srgbClr>
            </a:solidFill>
            <a:prstDash val="dash"/>
          </a:ln>
        </p:spPr>
      </p:sp>
      <p:sp>
        <p:nvSpPr>
          <p:cNvPr id="62" name="Text 59"/>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3" name="Shape 60"/>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4" name="Shape 61"/>
          <p:cNvSpPr/>
          <p:nvPr/>
        </p:nvSpPr>
        <p:spPr>
          <a:xfrm>
            <a:off x="10919884" y="2798234"/>
            <a:ext cx="245533" cy="245533"/>
          </a:xfrm>
          <a:prstGeom prst="ellipse">
            <a:avLst/>
          </a:prstGeom>
          <a:ln w="12700">
            <a:solidFill>
              <a:srgbClr val="75716B">
                <a:alpha val="55000"/>
              </a:srgbClr>
            </a:solidFill>
            <a:prstDash val="dash"/>
          </a:ln>
        </p:spPr>
      </p:sp>
      <p:sp>
        <p:nvSpPr>
          <p:cNvPr id="65" name="Text 62"/>
          <p:cNvSpPr/>
          <p:nvPr/>
        </p:nvSpPr>
        <p:spPr>
          <a:xfrm>
            <a:off x="10902951" y="2806700"/>
            <a:ext cx="279400" cy="254000"/>
          </a:xfrm>
          <a:prstGeom prst="rect">
            <a:avLst/>
          </a:prstGeom>
          <a:noFill/>
          <a:ln/>
        </p:spPr>
        <p:txBody>
          <a:bodyPr wrap="square" lIns="16933" tIns="16933" rIns="16933" bIns="16933" rtlCol="0" anchor="ctr">
            <a:normAutofit/>
          </a:bodyPr>
          <a:lstStyle/>
          <a:p>
            <a:pPr algn="ctr" defTabSz="609630"/>
            <a:r>
              <a:rPr lang="en-US" sz="900" dirty="0">
                <a:solidFill>
                  <a:srgbClr val="75716B">
                    <a:alpha val="55000"/>
                  </a:srgbClr>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Service catalog &amp; pricing</a:t>
            </a:r>
            <a:endParaRPr lang="en-US" sz="900" dirty="0">
              <a:solidFill>
                <a:prstClr val="black"/>
              </a:solidFill>
              <a:latin typeface="Calibri" panose="020F0502020204030204"/>
            </a:endParaRPr>
          </a:p>
        </p:txBody>
      </p:sp>
      <p:sp>
        <p:nvSpPr>
          <p:cNvPr id="67" name="Text 64"/>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05D3CD3B-E17E-4654-9F9A-DDB38F521DDD}"/>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8C4D90B6-7E22-44F9-9D3D-53E4828BDD34}"/>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D330BE49-0BF2-4F3F-9FE9-9B576452625C}"/>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7380D643-6546-4A57-9D0E-E618FED60664}"/>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668A51D6-9599-4516-8FB9-1D799F688BF8}"/>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402FBFC2-C56C-4CF6-AD51-3499E6FE038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128A5E32-5A0E-43CB-AA20-B0FFB3AB8596}"/>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7D875248-1C84-4B1C-AF18-10CF103C7F3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CB6C5698-3029-434B-A272-562A32C895E8}"/>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A0AC2D7-68EA-4334-9B49-275C1D9E934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6735A5E0-50A8-4435-8D3F-B02914798866}"/>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1CC7D0C0-7EB5-4093-88AB-E1A0AC65A009}"/>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1D996237-1280-44ED-910F-3BF3FEF76DFD}"/>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BC4EFA4-E374-4BA6-8742-A0EAEAF06976}"/>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20411BAA-05E9-45EA-ACDD-14F8F89313E6}"/>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4DD2272A-E2C2-4175-A3D0-31C225DE74C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8D6E0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D</a:t>
            </a:r>
            <a:endParaRPr lang="en-US" sz="1000" dirty="0">
              <a:solidFill>
                <a:prstClr val="black"/>
              </a:solidFill>
              <a:latin typeface="Calibri" panose="020F0502020204030204"/>
            </a:endParaRPr>
          </a:p>
        </p:txBody>
      </p:sp>
      <p:sp>
        <p:nvSpPr>
          <p:cNvPr id="5" name="Text 3"/>
          <p:cNvSpPr/>
          <p:nvPr/>
        </p:nvSpPr>
        <p:spPr>
          <a:xfrm>
            <a:off x="944631" y="1739900"/>
            <a:ext cx="2092463" cy="80065"/>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D</a:t>
            </a:r>
            <a:endParaRPr lang="en-US" sz="900" dirty="0">
              <a:solidFill>
                <a:prstClr val="black"/>
              </a:solidFill>
              <a:latin typeface="Calibri" panose="020F0502020204030204"/>
            </a:endParaRPr>
          </a:p>
        </p:txBody>
      </p:sp>
      <p:sp>
        <p:nvSpPr>
          <p:cNvPr id="10" name="Shape 8"/>
          <p:cNvSpPr/>
          <p:nvPr/>
        </p:nvSpPr>
        <p:spPr>
          <a:xfrm>
            <a:off x="927100" y="2735593"/>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735593"/>
            <a:ext cx="952500" cy="952500"/>
          </a:xfrm>
          <a:prstGeom prst="rect">
            <a:avLst/>
          </a:prstGeom>
        </p:spPr>
      </p:pic>
      <p:sp>
        <p:nvSpPr>
          <p:cNvPr id="12" name="Text 9"/>
          <p:cNvSpPr/>
          <p:nvPr/>
        </p:nvSpPr>
        <p:spPr>
          <a:xfrm>
            <a:off x="690010" y="3776994"/>
            <a:ext cx="14266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TENANT / RESIDENT</a:t>
            </a:r>
            <a:endParaRPr lang="en-US" sz="1200" dirty="0">
              <a:solidFill>
                <a:prstClr val="black"/>
              </a:solidFill>
              <a:latin typeface="Calibri" panose="020F0502020204030204"/>
            </a:endParaRPr>
          </a:p>
        </p:txBody>
      </p:sp>
      <p:sp>
        <p:nvSpPr>
          <p:cNvPr id="13" name="Text 10"/>
          <p:cNvSpPr/>
          <p:nvPr/>
        </p:nvSpPr>
        <p:spPr>
          <a:xfrm>
            <a:off x="729456" y="4109948"/>
            <a:ext cx="1347721" cy="256513"/>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Report an issue, track it, pay charges — from their phone.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8D6E00">
                  <a:alpha val="35000"/>
                </a:srgbClr>
              </a:gs>
              <a:gs pos="62000">
                <a:srgbClr val="8D6E00">
                  <a:alpha val="35000"/>
                </a:srgbClr>
              </a:gs>
              <a:gs pos="68000">
                <a:srgbClr val="C53637">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8D6E0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13100"/>
          </a:solidFill>
          <a:ln/>
        </p:spPr>
      </p:sp>
      <p:sp>
        <p:nvSpPr>
          <p:cNvPr id="18" name="Shape 15"/>
          <p:cNvSpPr/>
          <p:nvPr/>
        </p:nvSpPr>
        <p:spPr>
          <a:xfrm>
            <a:off x="2819400" y="2732617"/>
            <a:ext cx="190500" cy="317500"/>
          </a:xfrm>
          <a:prstGeom prst="roundRect">
            <a:avLst>
              <a:gd name="adj" fmla="val 20000"/>
            </a:avLst>
          </a:prstGeom>
          <a:solidFill>
            <a:srgbClr val="F9F5EE"/>
          </a:solidFill>
          <a:ln/>
        </p:spPr>
      </p:sp>
      <p:sp>
        <p:nvSpPr>
          <p:cNvPr id="19" name="Shape 16"/>
          <p:cNvSpPr/>
          <p:nvPr/>
        </p:nvSpPr>
        <p:spPr>
          <a:xfrm>
            <a:off x="2844800" y="2783417"/>
            <a:ext cx="139700" cy="215900"/>
          </a:xfrm>
          <a:prstGeom prst="roundRect">
            <a:avLst>
              <a:gd name="adj" fmla="val 13636"/>
            </a:avLst>
          </a:prstGeom>
          <a:solidFill>
            <a:srgbClr val="8D6E00"/>
          </a:solidFill>
          <a:ln/>
        </p:spPr>
      </p:sp>
      <p:sp>
        <p:nvSpPr>
          <p:cNvPr id="20" name="Shape 17"/>
          <p:cNvSpPr/>
          <p:nvPr/>
        </p:nvSpPr>
        <p:spPr>
          <a:xfrm>
            <a:off x="2832100" y="2758017"/>
            <a:ext cx="88900" cy="57150"/>
          </a:xfrm>
          <a:prstGeom prst="roundRect">
            <a:avLst>
              <a:gd name="adj" fmla="val 33333"/>
            </a:avLst>
          </a:prstGeom>
          <a:solidFill>
            <a:srgbClr val="FFFFFF"/>
          </a:solidFill>
          <a:ln/>
        </p:spPr>
      </p:sp>
      <p:sp>
        <p:nvSpPr>
          <p:cNvPr id="21" name="Text 18"/>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Report an issue</a:t>
            </a:r>
            <a:endParaRPr lang="en-US" sz="900" dirty="0">
              <a:solidFill>
                <a:prstClr val="black"/>
              </a:solidFill>
              <a:latin typeface="Calibri" panose="020F0502020204030204"/>
            </a:endParaRPr>
          </a:p>
        </p:txBody>
      </p:sp>
      <p:sp>
        <p:nvSpPr>
          <p:cNvPr id="22" name="Text 19"/>
          <p:cNvSpPr/>
          <p:nvPr/>
        </p:nvSpPr>
        <p:spPr>
          <a:xfrm>
            <a:off x="2413000" y="3342217"/>
            <a:ext cx="1003300" cy="203200"/>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 🖥 WhatsApp · Telegram · web</a:t>
            </a:r>
            <a:endParaRPr lang="en-US" sz="800" dirty="0">
              <a:solidFill>
                <a:prstClr val="black"/>
              </a:solidFill>
              <a:latin typeface="Calibri" panose="020F0502020204030204"/>
            </a:endParaRPr>
          </a:p>
        </p:txBody>
      </p:sp>
      <p:sp>
        <p:nvSpPr>
          <p:cNvPr id="23" name="Shape 20"/>
          <p:cNvSpPr/>
          <p:nvPr/>
        </p:nvSpPr>
        <p:spPr>
          <a:xfrm>
            <a:off x="3841750" y="2383367"/>
            <a:ext cx="177800" cy="177800"/>
          </a:xfrm>
          <a:prstGeom prst="ellipse">
            <a:avLst/>
          </a:prstGeom>
          <a:solidFill>
            <a:srgbClr val="8D6E00"/>
          </a:solidFill>
          <a:ln/>
        </p:spPr>
      </p:sp>
      <p:sp>
        <p:nvSpPr>
          <p:cNvPr id="24" name="Text 21"/>
          <p:cNvSpPr/>
          <p:nvPr/>
        </p:nvSpPr>
        <p:spPr>
          <a:xfrm>
            <a:off x="3816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3663950" y="2624667"/>
            <a:ext cx="533400" cy="533400"/>
          </a:xfrm>
          <a:prstGeom prst="roundRect">
            <a:avLst>
              <a:gd name="adj" fmla="val 19048"/>
            </a:avLst>
          </a:prstGeom>
          <a:solidFill>
            <a:srgbClr val="413100"/>
          </a:solidFill>
          <a:ln/>
        </p:spPr>
      </p:sp>
      <p:sp>
        <p:nvSpPr>
          <p:cNvPr id="26" name="Shape 23"/>
          <p:cNvSpPr/>
          <p:nvPr/>
        </p:nvSpPr>
        <p:spPr>
          <a:xfrm>
            <a:off x="3810000" y="2802467"/>
            <a:ext cx="241300" cy="38100"/>
          </a:xfrm>
          <a:prstGeom prst="roundRect">
            <a:avLst>
              <a:gd name="adj" fmla="val 50000"/>
            </a:avLst>
          </a:prstGeom>
          <a:solidFill>
            <a:srgbClr val="C53637"/>
          </a:solidFill>
          <a:ln/>
        </p:spPr>
      </p:sp>
      <p:sp>
        <p:nvSpPr>
          <p:cNvPr id="27" name="Shape 24"/>
          <p:cNvSpPr/>
          <p:nvPr/>
        </p:nvSpPr>
        <p:spPr>
          <a:xfrm>
            <a:off x="3848100" y="2872317"/>
            <a:ext cx="165100" cy="38100"/>
          </a:xfrm>
          <a:prstGeom prst="roundRect">
            <a:avLst>
              <a:gd name="adj" fmla="val 50000"/>
            </a:avLst>
          </a:prstGeom>
          <a:solidFill>
            <a:srgbClr val="D1CDC7"/>
          </a:solidFill>
          <a:ln/>
        </p:spPr>
      </p:sp>
      <p:sp>
        <p:nvSpPr>
          <p:cNvPr id="28" name="Shape 25"/>
          <p:cNvSpPr/>
          <p:nvPr/>
        </p:nvSpPr>
        <p:spPr>
          <a:xfrm>
            <a:off x="3829050" y="2942167"/>
            <a:ext cx="203200" cy="38100"/>
          </a:xfrm>
          <a:prstGeom prst="roundRect">
            <a:avLst>
              <a:gd name="adj" fmla="val 50000"/>
            </a:avLst>
          </a:prstGeom>
          <a:solidFill>
            <a:srgbClr val="D1CDC7"/>
          </a:solidFill>
          <a:ln/>
        </p:spPr>
      </p:sp>
      <p:sp>
        <p:nvSpPr>
          <p:cNvPr id="29" name="Text 26"/>
          <p:cNvSpPr/>
          <p:nvPr/>
        </p:nvSpPr>
        <p:spPr>
          <a:xfrm>
            <a:off x="3597473" y="3221567"/>
            <a:ext cx="6662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AI triage</a:t>
            </a:r>
            <a:endParaRPr lang="en-US" sz="900" dirty="0">
              <a:solidFill>
                <a:prstClr val="black"/>
              </a:solidFill>
              <a:latin typeface="Calibri" panose="020F0502020204030204"/>
            </a:endParaRPr>
          </a:p>
        </p:txBody>
      </p:sp>
      <p:sp>
        <p:nvSpPr>
          <p:cNvPr id="30" name="Text 27"/>
          <p:cNvSpPr/>
          <p:nvPr/>
        </p:nvSpPr>
        <p:spPr>
          <a:xfrm>
            <a:off x="3597473" y="3359973"/>
            <a:ext cx="666287" cy="155585"/>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category + priority</a:t>
            </a:r>
            <a:endParaRPr lang="en-US" sz="800" dirty="0">
              <a:solidFill>
                <a:prstClr val="black"/>
              </a:solidFill>
              <a:latin typeface="Calibri" panose="020F0502020204030204"/>
            </a:endParaRPr>
          </a:p>
        </p:txBody>
      </p:sp>
      <p:sp>
        <p:nvSpPr>
          <p:cNvPr id="31" name="Shape 28"/>
          <p:cNvSpPr/>
          <p:nvPr/>
        </p:nvSpPr>
        <p:spPr>
          <a:xfrm>
            <a:off x="4857750" y="2383367"/>
            <a:ext cx="177800" cy="177800"/>
          </a:xfrm>
          <a:prstGeom prst="ellipse">
            <a:avLst/>
          </a:prstGeom>
          <a:solidFill>
            <a:srgbClr val="8D6E00"/>
          </a:solidFill>
          <a:ln/>
        </p:spPr>
      </p:sp>
      <p:sp>
        <p:nvSpPr>
          <p:cNvPr id="32" name="Text 29"/>
          <p:cNvSpPr/>
          <p:nvPr/>
        </p:nvSpPr>
        <p:spPr>
          <a:xfrm>
            <a:off x="4832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4679950" y="2624667"/>
            <a:ext cx="533400" cy="533400"/>
          </a:xfrm>
          <a:prstGeom prst="roundRect">
            <a:avLst>
              <a:gd name="adj" fmla="val 19048"/>
            </a:avLst>
          </a:prstGeom>
          <a:solidFill>
            <a:srgbClr val="413100"/>
          </a:solidFill>
          <a:ln/>
        </p:spPr>
      </p:sp>
      <p:sp>
        <p:nvSpPr>
          <p:cNvPr id="34" name="Shape 31"/>
          <p:cNvSpPr/>
          <p:nvPr/>
        </p:nvSpPr>
        <p:spPr>
          <a:xfrm>
            <a:off x="4794250" y="2783417"/>
            <a:ext cx="304800" cy="215900"/>
          </a:xfrm>
          <a:prstGeom prst="roundRect">
            <a:avLst>
              <a:gd name="adj" fmla="val 14706"/>
            </a:avLst>
          </a:prstGeom>
          <a:solidFill>
            <a:srgbClr val="F9F5EE"/>
          </a:solidFill>
          <a:ln/>
        </p:spPr>
      </p:sp>
      <p:sp>
        <p:nvSpPr>
          <p:cNvPr id="35" name="Shape 32"/>
          <p:cNvSpPr/>
          <p:nvPr/>
        </p:nvSpPr>
        <p:spPr>
          <a:xfrm>
            <a:off x="4918076" y="2751667"/>
            <a:ext cx="57150" cy="57150"/>
          </a:xfrm>
          <a:prstGeom prst="ellipse">
            <a:avLst/>
          </a:prstGeom>
          <a:solidFill>
            <a:srgbClr val="413100"/>
          </a:solidFill>
          <a:ln/>
        </p:spPr>
      </p:sp>
      <p:sp>
        <p:nvSpPr>
          <p:cNvPr id="36" name="Shape 33"/>
          <p:cNvSpPr/>
          <p:nvPr/>
        </p:nvSpPr>
        <p:spPr>
          <a:xfrm>
            <a:off x="4918076" y="2973917"/>
            <a:ext cx="57150" cy="57150"/>
          </a:xfrm>
          <a:prstGeom prst="ellipse">
            <a:avLst/>
          </a:prstGeom>
          <a:solidFill>
            <a:srgbClr val="413100"/>
          </a:solidFill>
          <a:ln/>
        </p:spPr>
      </p:sp>
      <p:sp>
        <p:nvSpPr>
          <p:cNvPr id="37" name="Shape 34"/>
          <p:cNvSpPr/>
          <p:nvPr/>
        </p:nvSpPr>
        <p:spPr>
          <a:xfrm>
            <a:off x="4845050" y="2872317"/>
            <a:ext cx="203200" cy="31750"/>
          </a:xfrm>
          <a:prstGeom prst="roundRect">
            <a:avLst>
              <a:gd name="adj" fmla="val 50000"/>
            </a:avLst>
          </a:prstGeom>
          <a:solidFill>
            <a:srgbClr val="D1CDC7"/>
          </a:solidFill>
          <a:ln/>
        </p:spPr>
      </p:sp>
      <p:sp>
        <p:nvSpPr>
          <p:cNvPr id="38" name="Text 35"/>
          <p:cNvSpPr/>
          <p:nvPr/>
        </p:nvSpPr>
        <p:spPr>
          <a:xfrm>
            <a:off x="4445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Ticket + acknowledgement</a:t>
            </a:r>
            <a:endParaRPr lang="en-US" sz="900" dirty="0">
              <a:solidFill>
                <a:prstClr val="black"/>
              </a:solidFill>
              <a:latin typeface="Calibri" panose="020F0502020204030204"/>
            </a:endParaRPr>
          </a:p>
        </p:txBody>
      </p:sp>
      <p:sp>
        <p:nvSpPr>
          <p:cNvPr id="39" name="Text 36"/>
          <p:cNvSpPr/>
          <p:nvPr/>
        </p:nvSpPr>
        <p:spPr>
          <a:xfrm>
            <a:off x="4422776" y="3497085"/>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"check status" · "it's urgent"</a:t>
            </a:r>
            <a:endParaRPr lang="en-US" sz="800" dirty="0">
              <a:solidFill>
                <a:prstClr val="black"/>
              </a:solidFill>
              <a:latin typeface="Calibri" panose="020F0502020204030204"/>
            </a:endParaRPr>
          </a:p>
        </p:txBody>
      </p:sp>
      <p:sp>
        <p:nvSpPr>
          <p:cNvPr id="40" name="Shape 37"/>
          <p:cNvSpPr/>
          <p:nvPr/>
        </p:nvSpPr>
        <p:spPr>
          <a:xfrm>
            <a:off x="5873750" y="2383367"/>
            <a:ext cx="177800" cy="177800"/>
          </a:xfrm>
          <a:prstGeom prst="ellipse">
            <a:avLst/>
          </a:prstGeom>
          <a:solidFill>
            <a:srgbClr val="8D6E00"/>
          </a:solidFill>
          <a:ln/>
        </p:spPr>
      </p:sp>
      <p:sp>
        <p:nvSpPr>
          <p:cNvPr id="41" name="Text 38"/>
          <p:cNvSpPr/>
          <p:nvPr/>
        </p:nvSpPr>
        <p:spPr>
          <a:xfrm>
            <a:off x="5848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2" name="Shape 39"/>
          <p:cNvSpPr/>
          <p:nvPr/>
        </p:nvSpPr>
        <p:spPr>
          <a:xfrm>
            <a:off x="5695950" y="2624667"/>
            <a:ext cx="533400" cy="533400"/>
          </a:xfrm>
          <a:prstGeom prst="roundRect">
            <a:avLst>
              <a:gd name="adj" fmla="val 19048"/>
            </a:avLst>
          </a:prstGeom>
          <a:solidFill>
            <a:srgbClr val="413100"/>
          </a:solidFill>
          <a:ln/>
        </p:spPr>
      </p:sp>
      <p:sp>
        <p:nvSpPr>
          <p:cNvPr id="43" name="Shape 40"/>
          <p:cNvSpPr/>
          <p:nvPr/>
        </p:nvSpPr>
        <p:spPr>
          <a:xfrm rot="-2700000">
            <a:off x="5880100" y="2777067"/>
            <a:ext cx="165100" cy="165100"/>
          </a:xfrm>
          <a:custGeom>
            <a:avLst/>
            <a:gdLst/>
            <a:ahLst/>
            <a:cxnLst/>
            <a:rect l="l" t="t" r="r" b="b"/>
            <a:pathLst>
              <a:path w="247650" h="247650">
                <a:moveTo>
                  <a:pt x="123825" y="0"/>
                </a:moveTo>
                <a:lnTo>
                  <a:pt x="123825" y="0"/>
                </a:lnTo>
                <a:arcTo wR="123825" hR="123825" stAng="16200000" swAng="5400000"/>
                <a:lnTo>
                  <a:pt x="247650" y="123825"/>
                </a:lnTo>
                <a:arcTo wR="123825" hR="123825" stAng="0" swAng="5400000"/>
                <a:lnTo>
                  <a:pt x="0" y="247650"/>
                </a:lnTo>
                <a:lnTo>
                  <a:pt x="0" y="123825"/>
                </a:lnTo>
                <a:arcTo wR="123825" hR="123825" stAng="10800000" swAng="5400000"/>
                <a:close/>
              </a:path>
            </a:pathLst>
          </a:custGeom>
          <a:solidFill>
            <a:srgbClr val="F9F5EE"/>
          </a:solidFill>
          <a:ln/>
        </p:spPr>
      </p:sp>
      <p:sp>
        <p:nvSpPr>
          <p:cNvPr id="44" name="Shape 41"/>
          <p:cNvSpPr/>
          <p:nvPr/>
        </p:nvSpPr>
        <p:spPr>
          <a:xfrm>
            <a:off x="5924550" y="2815167"/>
            <a:ext cx="76200" cy="76200"/>
          </a:xfrm>
          <a:prstGeom prst="ellipse">
            <a:avLst/>
          </a:prstGeom>
          <a:solidFill>
            <a:srgbClr val="413100"/>
          </a:solidFill>
          <a:ln/>
        </p:spPr>
      </p:sp>
      <p:sp>
        <p:nvSpPr>
          <p:cNvPr id="45" name="Text 42"/>
          <p:cNvSpPr/>
          <p:nvPr/>
        </p:nvSpPr>
        <p:spPr>
          <a:xfrm>
            <a:off x="5592961" y="3221567"/>
            <a:ext cx="73931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the request</a:t>
            </a:r>
            <a:endParaRPr lang="en-US" sz="900" dirty="0">
              <a:solidFill>
                <a:prstClr val="black"/>
              </a:solidFill>
              <a:latin typeface="Calibri" panose="020F0502020204030204"/>
            </a:endParaRPr>
          </a:p>
        </p:txBody>
      </p:sp>
      <p:sp>
        <p:nvSpPr>
          <p:cNvPr id="46" name="Text 43"/>
          <p:cNvSpPr/>
          <p:nvPr/>
        </p:nvSpPr>
        <p:spPr>
          <a:xfrm>
            <a:off x="5592961" y="3510337"/>
            <a:ext cx="73931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live status updates</a:t>
            </a:r>
            <a:endParaRPr lang="en-US" sz="800" dirty="0">
              <a:solidFill>
                <a:prstClr val="black"/>
              </a:solidFill>
              <a:latin typeface="Calibri" panose="020F0502020204030204"/>
            </a:endParaRPr>
          </a:p>
        </p:txBody>
      </p:sp>
      <p:sp>
        <p:nvSpPr>
          <p:cNvPr id="47" name="Shape 44"/>
          <p:cNvSpPr/>
          <p:nvPr/>
        </p:nvSpPr>
        <p:spPr>
          <a:xfrm>
            <a:off x="6889750" y="2383367"/>
            <a:ext cx="177800" cy="177800"/>
          </a:xfrm>
          <a:prstGeom prst="ellipse">
            <a:avLst/>
          </a:prstGeom>
          <a:solidFill>
            <a:srgbClr val="8D6E00"/>
          </a:solidFill>
          <a:ln/>
        </p:spPr>
      </p:sp>
      <p:sp>
        <p:nvSpPr>
          <p:cNvPr id="48" name="Text 45"/>
          <p:cNvSpPr/>
          <p:nvPr/>
        </p:nvSpPr>
        <p:spPr>
          <a:xfrm>
            <a:off x="6864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49" name="Shape 46"/>
          <p:cNvSpPr/>
          <p:nvPr/>
        </p:nvSpPr>
        <p:spPr>
          <a:xfrm>
            <a:off x="6711950" y="2624667"/>
            <a:ext cx="533400" cy="533400"/>
          </a:xfrm>
          <a:prstGeom prst="roundRect">
            <a:avLst>
              <a:gd name="adj" fmla="val 19048"/>
            </a:avLst>
          </a:prstGeom>
          <a:solidFill>
            <a:srgbClr val="413100"/>
          </a:solidFill>
          <a:ln/>
        </p:spPr>
      </p:sp>
      <p:sp>
        <p:nvSpPr>
          <p:cNvPr id="50" name="Shape 47"/>
          <p:cNvSpPr/>
          <p:nvPr/>
        </p:nvSpPr>
        <p:spPr>
          <a:xfrm>
            <a:off x="6838950" y="2777067"/>
            <a:ext cx="279400" cy="165100"/>
          </a:xfrm>
          <a:prstGeom prst="roundRect">
            <a:avLst>
              <a:gd name="adj" fmla="val 15385"/>
            </a:avLst>
          </a:prstGeom>
          <a:solidFill>
            <a:srgbClr val="F9F5EE"/>
          </a:solidFill>
          <a:ln/>
        </p:spPr>
      </p:sp>
      <p:sp>
        <p:nvSpPr>
          <p:cNvPr id="51" name="Shape 48"/>
          <p:cNvSpPr/>
          <p:nvPr/>
        </p:nvSpPr>
        <p:spPr>
          <a:xfrm>
            <a:off x="6813550" y="2967567"/>
            <a:ext cx="330200" cy="38100"/>
          </a:xfrm>
          <a:custGeom>
            <a:avLst/>
            <a:gdLst/>
            <a:ahLst/>
            <a:cxnLst/>
            <a:rect l="l" t="t" r="r" b="b"/>
            <a:pathLst>
              <a:path w="495300" h="57150">
                <a:moveTo>
                  <a:pt x="0" y="0"/>
                </a:moveTo>
                <a:lnTo>
                  <a:pt x="495300" y="0"/>
                </a:lnTo>
                <a:lnTo>
                  <a:pt x="495300" y="28575"/>
                </a:lnTo>
                <a:arcTo wR="28575" hR="28575" stAng="0" swAng="5400000"/>
                <a:lnTo>
                  <a:pt x="28575" y="57150"/>
                </a:lnTo>
                <a:arcTo wR="28575" hR="28575" stAng="5400000" swAng="5400000"/>
                <a:lnTo>
                  <a:pt x="0" y="0"/>
                </a:lnTo>
                <a:close/>
              </a:path>
            </a:pathLst>
          </a:custGeom>
          <a:solidFill>
            <a:srgbClr val="D1CDC7"/>
          </a:solidFill>
          <a:ln/>
        </p:spPr>
      </p:sp>
      <p:sp>
        <p:nvSpPr>
          <p:cNvPr id="52" name="Text 49"/>
          <p:cNvSpPr/>
          <p:nvPr/>
        </p:nvSpPr>
        <p:spPr>
          <a:xfrm>
            <a:off x="6575227" y="3221567"/>
            <a:ext cx="80684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 service charge</a:t>
            </a:r>
            <a:endParaRPr lang="en-US" sz="900" dirty="0">
              <a:solidFill>
                <a:prstClr val="black"/>
              </a:solidFill>
              <a:latin typeface="Calibri" panose="020F0502020204030204"/>
            </a:endParaRPr>
          </a:p>
        </p:txBody>
      </p:sp>
      <p:sp>
        <p:nvSpPr>
          <p:cNvPr id="53" name="Text 50"/>
          <p:cNvSpPr/>
          <p:nvPr/>
        </p:nvSpPr>
        <p:spPr>
          <a:xfrm>
            <a:off x="6490508" y="3510338"/>
            <a:ext cx="976285"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Paystack → receipt</a:t>
            </a:r>
            <a:endParaRPr lang="en-US" sz="800" dirty="0">
              <a:solidFill>
                <a:prstClr val="black"/>
              </a:solidFill>
              <a:latin typeface="Calibri" panose="020F0502020204030204"/>
            </a:endParaRPr>
          </a:p>
        </p:txBody>
      </p:sp>
      <p:sp>
        <p:nvSpPr>
          <p:cNvPr id="54" name="Shape 51"/>
          <p:cNvSpPr/>
          <p:nvPr/>
        </p:nvSpPr>
        <p:spPr>
          <a:xfrm>
            <a:off x="7905750" y="2383367"/>
            <a:ext cx="177800" cy="177800"/>
          </a:xfrm>
          <a:prstGeom prst="ellipse">
            <a:avLst/>
          </a:prstGeom>
          <a:solidFill>
            <a:srgbClr val="8D6E00"/>
          </a:solidFill>
          <a:ln/>
        </p:spPr>
      </p:sp>
      <p:sp>
        <p:nvSpPr>
          <p:cNvPr id="55" name="Text 52"/>
          <p:cNvSpPr/>
          <p:nvPr/>
        </p:nvSpPr>
        <p:spPr>
          <a:xfrm>
            <a:off x="788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56" name="Shape 53"/>
          <p:cNvSpPr/>
          <p:nvPr/>
        </p:nvSpPr>
        <p:spPr>
          <a:xfrm>
            <a:off x="7727950" y="2624667"/>
            <a:ext cx="533400" cy="533400"/>
          </a:xfrm>
          <a:prstGeom prst="roundRect">
            <a:avLst>
              <a:gd name="adj" fmla="val 19048"/>
            </a:avLst>
          </a:prstGeom>
          <a:solidFill>
            <a:srgbClr val="413100"/>
          </a:solidFill>
          <a:ln/>
        </p:spPr>
      </p:sp>
      <p:sp>
        <p:nvSpPr>
          <p:cNvPr id="57" name="Shape 54"/>
          <p:cNvSpPr/>
          <p:nvPr/>
        </p:nvSpPr>
        <p:spPr>
          <a:xfrm>
            <a:off x="7867650" y="2732617"/>
            <a:ext cx="254000" cy="317500"/>
          </a:xfrm>
          <a:prstGeom prst="roundRect">
            <a:avLst>
              <a:gd name="adj" fmla="val 10000"/>
            </a:avLst>
          </a:prstGeom>
          <a:solidFill>
            <a:srgbClr val="F9F5EE"/>
          </a:solidFill>
          <a:ln/>
        </p:spPr>
      </p:sp>
      <p:sp>
        <p:nvSpPr>
          <p:cNvPr id="58" name="Shape 55"/>
          <p:cNvSpPr/>
          <p:nvPr/>
        </p:nvSpPr>
        <p:spPr>
          <a:xfrm>
            <a:off x="7912100" y="2821517"/>
            <a:ext cx="165100" cy="25400"/>
          </a:xfrm>
          <a:prstGeom prst="roundRect">
            <a:avLst>
              <a:gd name="adj" fmla="val 50000"/>
            </a:avLst>
          </a:prstGeom>
          <a:solidFill>
            <a:srgbClr val="D1CDC7"/>
          </a:solidFill>
          <a:ln/>
        </p:spPr>
      </p:sp>
      <p:sp>
        <p:nvSpPr>
          <p:cNvPr id="59" name="Shape 56"/>
          <p:cNvSpPr/>
          <p:nvPr/>
        </p:nvSpPr>
        <p:spPr>
          <a:xfrm>
            <a:off x="7912100" y="2878667"/>
            <a:ext cx="165100" cy="25400"/>
          </a:xfrm>
          <a:prstGeom prst="roundRect">
            <a:avLst>
              <a:gd name="adj" fmla="val 50000"/>
            </a:avLst>
          </a:prstGeom>
          <a:solidFill>
            <a:srgbClr val="D1CDC7"/>
          </a:solidFill>
          <a:ln/>
        </p:spPr>
      </p:sp>
      <p:sp>
        <p:nvSpPr>
          <p:cNvPr id="60" name="Shape 57"/>
          <p:cNvSpPr/>
          <p:nvPr/>
        </p:nvSpPr>
        <p:spPr>
          <a:xfrm>
            <a:off x="7937500" y="2935817"/>
            <a:ext cx="114300" cy="25400"/>
          </a:xfrm>
          <a:prstGeom prst="roundRect">
            <a:avLst>
              <a:gd name="adj" fmla="val 50000"/>
            </a:avLst>
          </a:prstGeom>
          <a:solidFill>
            <a:srgbClr val="D1CDC7"/>
          </a:solidFill>
          <a:ln/>
        </p:spPr>
      </p:sp>
      <p:sp>
        <p:nvSpPr>
          <p:cNvPr id="61" name="Text 58"/>
          <p:cNvSpPr/>
          <p:nvPr/>
        </p:nvSpPr>
        <p:spPr>
          <a:xfrm>
            <a:off x="7643945" y="3221567"/>
            <a:ext cx="70141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View statements</a:t>
            </a:r>
            <a:endParaRPr lang="en-US" sz="900" dirty="0">
              <a:solidFill>
                <a:prstClr val="black"/>
              </a:solidFill>
              <a:latin typeface="Calibri" panose="020F0502020204030204"/>
            </a:endParaRPr>
          </a:p>
        </p:txBody>
      </p:sp>
      <p:sp>
        <p:nvSpPr>
          <p:cNvPr id="62" name="Text 59"/>
          <p:cNvSpPr/>
          <p:nvPr/>
        </p:nvSpPr>
        <p:spPr>
          <a:xfrm>
            <a:off x="7643945" y="3510337"/>
            <a:ext cx="70141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payment history</a:t>
            </a:r>
            <a:endParaRPr lang="en-US" sz="800" dirty="0">
              <a:solidFill>
                <a:prstClr val="black"/>
              </a:solidFill>
              <a:latin typeface="Calibri" panose="020F0502020204030204"/>
            </a:endParaRPr>
          </a:p>
        </p:txBody>
      </p:sp>
      <p:sp>
        <p:nvSpPr>
          <p:cNvPr id="63" name="Shape 60"/>
          <p:cNvSpPr/>
          <p:nvPr/>
        </p:nvSpPr>
        <p:spPr>
          <a:xfrm>
            <a:off x="8913284" y="2383367"/>
            <a:ext cx="194733" cy="194733"/>
          </a:xfrm>
          <a:prstGeom prst="ellipse">
            <a:avLst/>
          </a:prstGeom>
          <a:ln w="12700">
            <a:solidFill>
              <a:srgbClr val="C53637">
                <a:alpha val="55000"/>
              </a:srgbClr>
            </a:solidFill>
            <a:prstDash val="dash"/>
          </a:ln>
        </p:spPr>
      </p:sp>
      <p:sp>
        <p:nvSpPr>
          <p:cNvPr id="64" name="Text 61"/>
          <p:cNvSpPr/>
          <p:nvPr/>
        </p:nvSpPr>
        <p:spPr>
          <a:xfrm>
            <a:off x="8896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7</a:t>
            </a:r>
            <a:endParaRPr lang="en-US" sz="900" dirty="0">
              <a:solidFill>
                <a:prstClr val="black"/>
              </a:solidFill>
              <a:latin typeface="Calibri" panose="020F0502020204030204"/>
            </a:endParaRPr>
          </a:p>
        </p:txBody>
      </p:sp>
      <p:sp>
        <p:nvSpPr>
          <p:cNvPr id="65" name="Shape 62"/>
          <p:cNvSpPr/>
          <p:nvPr/>
        </p:nvSpPr>
        <p:spPr>
          <a:xfrm>
            <a:off x="8731250" y="2641600"/>
            <a:ext cx="558800" cy="558800"/>
          </a:xfrm>
          <a:prstGeom prst="roundRect">
            <a:avLst>
              <a:gd name="adj" fmla="val 18182"/>
            </a:avLst>
          </a:prstGeom>
          <a:solidFill>
            <a:srgbClr val="2B2823"/>
          </a:solidFill>
          <a:ln w="19050">
            <a:solidFill>
              <a:srgbClr val="C53637"/>
            </a:solidFill>
            <a:prstDash val="solid"/>
          </a:ln>
        </p:spPr>
      </p:sp>
      <p:sp>
        <p:nvSpPr>
          <p:cNvPr id="66" name="Shape 63"/>
          <p:cNvSpPr/>
          <p:nvPr/>
        </p:nvSpPr>
        <p:spPr>
          <a:xfrm>
            <a:off x="8890000" y="2781300"/>
            <a:ext cx="266700" cy="304800"/>
          </a:xfrm>
          <a:prstGeom prst="roundRect">
            <a:avLst>
              <a:gd name="adj" fmla="val 9524"/>
            </a:avLst>
          </a:prstGeom>
          <a:solidFill>
            <a:srgbClr val="F9F5EE"/>
          </a:solidFill>
          <a:ln/>
        </p:spPr>
      </p:sp>
      <p:sp>
        <p:nvSpPr>
          <p:cNvPr id="67" name="Shape 64"/>
          <p:cNvSpPr/>
          <p:nvPr/>
        </p:nvSpPr>
        <p:spPr>
          <a:xfrm>
            <a:off x="8972550" y="2730500"/>
            <a:ext cx="76200" cy="50800"/>
          </a:xfrm>
          <a:prstGeom prst="rect">
            <a:avLst/>
          </a:prstGeom>
          <a:solidFill>
            <a:srgbClr val="F9F5EE"/>
          </a:solidFill>
          <a:ln/>
        </p:spPr>
      </p:sp>
      <p:sp>
        <p:nvSpPr>
          <p:cNvPr id="68" name="Text 65"/>
          <p:cNvSpPr/>
          <p:nvPr/>
        </p:nvSpPr>
        <p:spPr>
          <a:xfrm>
            <a:off x="8509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Apply for tenancy + KYC</a:t>
            </a:r>
            <a:endParaRPr lang="en-US" sz="900" dirty="0">
              <a:solidFill>
                <a:prstClr val="black"/>
              </a:solidFill>
              <a:latin typeface="Calibri" panose="020F0502020204030204"/>
            </a:endParaRPr>
          </a:p>
        </p:txBody>
      </p:sp>
      <p:sp>
        <p:nvSpPr>
          <p:cNvPr id="69" name="Text 66"/>
          <p:cNvSpPr/>
          <p:nvPr/>
        </p:nvSpPr>
        <p:spPr>
          <a:xfrm>
            <a:off x="8486776"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their phone, OEA</a:t>
            </a:r>
            <a:endParaRPr lang="en-US" sz="800" dirty="0">
              <a:solidFill>
                <a:prstClr val="black"/>
              </a:solidFill>
              <a:latin typeface="Calibri" panose="020F0502020204030204"/>
            </a:endParaRPr>
          </a:p>
        </p:txBody>
      </p:sp>
      <p:sp>
        <p:nvSpPr>
          <p:cNvPr id="70" name="Shape 67"/>
          <p:cNvSpPr/>
          <p:nvPr/>
        </p:nvSpPr>
        <p:spPr>
          <a:xfrm>
            <a:off x="9929284" y="2383367"/>
            <a:ext cx="194733" cy="194733"/>
          </a:xfrm>
          <a:prstGeom prst="ellipse">
            <a:avLst/>
          </a:prstGeom>
          <a:ln w="12700">
            <a:solidFill>
              <a:srgbClr val="75716B">
                <a:alpha val="55000"/>
              </a:srgbClr>
            </a:solidFill>
            <a:prstDash val="dash"/>
          </a:ln>
        </p:spPr>
      </p:sp>
      <p:sp>
        <p:nvSpPr>
          <p:cNvPr id="71" name="Text 68"/>
          <p:cNvSpPr/>
          <p:nvPr/>
        </p:nvSpPr>
        <p:spPr>
          <a:xfrm>
            <a:off x="9912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8</a:t>
            </a:r>
            <a:endParaRPr lang="en-US" sz="900" dirty="0">
              <a:solidFill>
                <a:prstClr val="black"/>
              </a:solidFill>
              <a:latin typeface="Calibri" panose="020F0502020204030204"/>
            </a:endParaRPr>
          </a:p>
        </p:txBody>
      </p:sp>
      <p:sp>
        <p:nvSpPr>
          <p:cNvPr id="72" name="Shape 69"/>
          <p:cNvSpPr/>
          <p:nvPr/>
        </p:nvSpPr>
        <p:spPr>
          <a:xfrm>
            <a:off x="9747250" y="2641600"/>
            <a:ext cx="558800" cy="558800"/>
          </a:xfrm>
          <a:prstGeom prst="roundRect">
            <a:avLst>
              <a:gd name="adj" fmla="val 18182"/>
            </a:avLst>
          </a:prstGeom>
          <a:ln w="19050">
            <a:solidFill>
              <a:srgbClr val="75716B">
                <a:alpha val="55000"/>
              </a:srgbClr>
            </a:solidFill>
            <a:prstDash val="dash"/>
          </a:ln>
        </p:spPr>
      </p:sp>
      <p:sp>
        <p:nvSpPr>
          <p:cNvPr id="73" name="Shape 70"/>
          <p:cNvSpPr/>
          <p:nvPr/>
        </p:nvSpPr>
        <p:spPr>
          <a:xfrm>
            <a:off x="9836150" y="2844800"/>
            <a:ext cx="152400" cy="152400"/>
          </a:xfrm>
          <a:prstGeom prst="ellipse">
            <a:avLst/>
          </a:prstGeom>
          <a:ln w="19050">
            <a:solidFill>
              <a:srgbClr val="75716B">
                <a:alpha val="55000"/>
              </a:srgbClr>
            </a:solidFill>
            <a:prstDash val="dash"/>
          </a:ln>
        </p:spPr>
      </p:sp>
      <p:sp>
        <p:nvSpPr>
          <p:cNvPr id="74" name="Shape 71"/>
          <p:cNvSpPr/>
          <p:nvPr/>
        </p:nvSpPr>
        <p:spPr>
          <a:xfrm>
            <a:off x="10026650" y="2851150"/>
            <a:ext cx="190500" cy="139700"/>
          </a:xfrm>
          <a:prstGeom prst="roundRect">
            <a:avLst>
              <a:gd name="adj" fmla="val 13636"/>
            </a:avLst>
          </a:prstGeom>
          <a:ln w="19050">
            <a:solidFill>
              <a:srgbClr val="75716B">
                <a:alpha val="55000"/>
              </a:srgbClr>
            </a:solidFill>
            <a:prstDash val="dash"/>
          </a:ln>
        </p:spPr>
      </p:sp>
      <p:sp>
        <p:nvSpPr>
          <p:cNvPr id="75" name="Text 72"/>
          <p:cNvSpPr/>
          <p:nvPr/>
        </p:nvSpPr>
        <p:spPr>
          <a:xfrm>
            <a:off x="9542798" y="3263900"/>
            <a:ext cx="96764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Pay rent / lease online</a:t>
            </a:r>
            <a:endParaRPr lang="en-US" sz="900" dirty="0">
              <a:solidFill>
                <a:prstClr val="black"/>
              </a:solidFill>
              <a:latin typeface="Calibri" panose="020F0502020204030204"/>
            </a:endParaRPr>
          </a:p>
        </p:txBody>
      </p:sp>
      <p:sp>
        <p:nvSpPr>
          <p:cNvPr id="76" name="Text 73"/>
          <p:cNvSpPr/>
          <p:nvPr/>
        </p:nvSpPr>
        <p:spPr>
          <a:xfrm>
            <a:off x="9542798" y="3552671"/>
            <a:ext cx="96764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upcoming · Stage 9</a:t>
            </a:r>
            <a:endParaRPr lang="en-US" sz="800" dirty="0">
              <a:solidFill>
                <a:prstClr val="black"/>
              </a:solidFill>
              <a:latin typeface="Calibri" panose="020F0502020204030204"/>
            </a:endParaRPr>
          </a:p>
        </p:txBody>
      </p:sp>
      <p:sp>
        <p:nvSpPr>
          <p:cNvPr id="77" name="Shape 74"/>
          <p:cNvSpPr/>
          <p:nvPr/>
        </p:nvSpPr>
        <p:spPr>
          <a:xfrm>
            <a:off x="10945284" y="2383367"/>
            <a:ext cx="194733" cy="194733"/>
          </a:xfrm>
          <a:prstGeom prst="ellipse">
            <a:avLst/>
          </a:prstGeom>
          <a:solidFill>
            <a:srgbClr val="4B4742"/>
          </a:solidFill>
          <a:ln/>
        </p:spPr>
      </p:sp>
      <p:sp>
        <p:nvSpPr>
          <p:cNvPr id="78" name="Text 75"/>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9</a:t>
            </a:r>
            <a:endParaRPr lang="en-US" sz="900" dirty="0">
              <a:solidFill>
                <a:prstClr val="black"/>
              </a:solidFill>
              <a:latin typeface="Calibri" panose="020F0502020204030204"/>
            </a:endParaRPr>
          </a:p>
        </p:txBody>
      </p:sp>
      <p:sp>
        <p:nvSpPr>
          <p:cNvPr id="79" name="Shape 76"/>
          <p:cNvSpPr/>
          <p:nvPr/>
        </p:nvSpPr>
        <p:spPr>
          <a:xfrm>
            <a:off x="10763250" y="2641600"/>
            <a:ext cx="558800" cy="558800"/>
          </a:xfrm>
          <a:prstGeom prst="roundRect">
            <a:avLst>
              <a:gd name="adj" fmla="val 18182"/>
            </a:avLst>
          </a:prstGeom>
          <a:solidFill>
            <a:srgbClr val="2B2823"/>
          </a:solidFill>
          <a:ln/>
        </p:spPr>
      </p:sp>
      <p:sp>
        <p:nvSpPr>
          <p:cNvPr id="80" name="Shape 77"/>
          <p:cNvSpPr/>
          <p:nvPr/>
        </p:nvSpPr>
        <p:spPr>
          <a:xfrm>
            <a:off x="10802409" y="2898776"/>
            <a:ext cx="44450" cy="44450"/>
          </a:xfrm>
          <a:prstGeom prst="ellipse">
            <a:avLst/>
          </a:prstGeom>
          <a:solidFill>
            <a:srgbClr val="F9F5EE"/>
          </a:solidFill>
          <a:ln/>
        </p:spPr>
      </p:sp>
      <p:sp>
        <p:nvSpPr>
          <p:cNvPr id="81" name="Shape 78"/>
          <p:cNvSpPr/>
          <p:nvPr/>
        </p:nvSpPr>
        <p:spPr>
          <a:xfrm>
            <a:off x="10884959" y="2914650"/>
            <a:ext cx="88900" cy="12700"/>
          </a:xfrm>
          <a:prstGeom prst="rect">
            <a:avLst/>
          </a:prstGeom>
          <a:solidFill>
            <a:srgbClr val="F9F5EE"/>
          </a:solidFill>
          <a:ln/>
        </p:spPr>
      </p:sp>
      <p:sp>
        <p:nvSpPr>
          <p:cNvPr id="82" name="Shape 79"/>
          <p:cNvSpPr/>
          <p:nvPr/>
        </p:nvSpPr>
        <p:spPr>
          <a:xfrm>
            <a:off x="11011959" y="2898776"/>
            <a:ext cx="44450" cy="44450"/>
          </a:xfrm>
          <a:prstGeom prst="ellipse">
            <a:avLst/>
          </a:prstGeom>
          <a:solidFill>
            <a:srgbClr val="F9F5EE"/>
          </a:solidFill>
          <a:ln/>
        </p:spPr>
      </p:sp>
      <p:sp>
        <p:nvSpPr>
          <p:cNvPr id="83" name="Shape 80"/>
          <p:cNvSpPr/>
          <p:nvPr/>
        </p:nvSpPr>
        <p:spPr>
          <a:xfrm>
            <a:off x="11094509" y="2914650"/>
            <a:ext cx="88900" cy="12700"/>
          </a:xfrm>
          <a:prstGeom prst="rect">
            <a:avLst/>
          </a:prstGeom>
          <a:solidFill>
            <a:srgbClr val="F9F5EE"/>
          </a:solidFill>
          <a:ln/>
        </p:spPr>
      </p:sp>
      <p:sp>
        <p:nvSpPr>
          <p:cNvPr id="84" name="Shape 81"/>
          <p:cNvSpPr/>
          <p:nvPr/>
        </p:nvSpPr>
        <p:spPr>
          <a:xfrm>
            <a:off x="11221509" y="2890309"/>
            <a:ext cx="61383" cy="61383"/>
          </a:xfrm>
          <a:prstGeom prst="ellipse">
            <a:avLst/>
          </a:prstGeom>
          <a:solidFill>
            <a:srgbClr val="F9F5EE"/>
          </a:solidFill>
          <a:ln/>
        </p:spPr>
      </p:sp>
      <p:sp>
        <p:nvSpPr>
          <p:cNvPr id="85" name="Text 8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my request" timeline</a:t>
            </a:r>
            <a:endParaRPr lang="en-US" sz="900" dirty="0">
              <a:solidFill>
                <a:prstClr val="black"/>
              </a:solidFill>
              <a:latin typeface="Calibri" panose="020F0502020204030204"/>
            </a:endParaRPr>
          </a:p>
        </p:txBody>
      </p:sp>
      <p:sp>
        <p:nvSpPr>
          <p:cNvPr id="86" name="Text 83"/>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raised → resolved</a:t>
            </a:r>
            <a:endParaRPr lang="en-US" sz="800" dirty="0">
              <a:solidFill>
                <a:prstClr val="black"/>
              </a:solidFill>
              <a:latin typeface="Calibri" panose="020F0502020204030204"/>
            </a:endParaRPr>
          </a:p>
        </p:txBody>
      </p:sp>
      <p:sp>
        <p:nvSpPr>
          <p:cNvPr id="99" name="Shape 63">
            <a:extLst>
              <a:ext uri="{FF2B5EF4-FFF2-40B4-BE49-F238E27FC236}">
                <a16:creationId xmlns:a16="http://schemas.microsoft.com/office/drawing/2014/main" id="{F71ADE77-AD2B-4973-BE2B-584AA17A1487}"/>
              </a:ext>
            </a:extLst>
          </p:cNvPr>
          <p:cNvSpPr/>
          <p:nvPr/>
        </p:nvSpPr>
        <p:spPr>
          <a:xfrm>
            <a:off x="673100" y="5033434"/>
            <a:ext cx="10845800" cy="6350"/>
          </a:xfrm>
          <a:prstGeom prst="rect">
            <a:avLst/>
          </a:prstGeom>
          <a:solidFill>
            <a:srgbClr val="CFCDCA"/>
          </a:solidFill>
          <a:ln/>
        </p:spPr>
      </p:sp>
      <p:sp>
        <p:nvSpPr>
          <p:cNvPr id="100" name="Text 64">
            <a:extLst>
              <a:ext uri="{FF2B5EF4-FFF2-40B4-BE49-F238E27FC236}">
                <a16:creationId xmlns:a16="http://schemas.microsoft.com/office/drawing/2014/main" id="{9B3D94B3-E62B-427F-A689-F65C82618179}"/>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101" name="Text 65">
            <a:extLst>
              <a:ext uri="{FF2B5EF4-FFF2-40B4-BE49-F238E27FC236}">
                <a16:creationId xmlns:a16="http://schemas.microsoft.com/office/drawing/2014/main" id="{76FB3833-6CE7-425D-8D5F-C982A4BABDA9}"/>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102" name="Text 66">
            <a:extLst>
              <a:ext uri="{FF2B5EF4-FFF2-40B4-BE49-F238E27FC236}">
                <a16:creationId xmlns:a16="http://schemas.microsoft.com/office/drawing/2014/main" id="{E708AB0A-4C55-4D6A-9643-ADE55673C8E1}"/>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103" name="Text 67">
            <a:extLst>
              <a:ext uri="{FF2B5EF4-FFF2-40B4-BE49-F238E27FC236}">
                <a16:creationId xmlns:a16="http://schemas.microsoft.com/office/drawing/2014/main" id="{1A973FAF-368B-4A16-A614-E232B3FDBD5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104" name="Text 68">
            <a:extLst>
              <a:ext uri="{FF2B5EF4-FFF2-40B4-BE49-F238E27FC236}">
                <a16:creationId xmlns:a16="http://schemas.microsoft.com/office/drawing/2014/main" id="{5CBC34C7-A771-484D-A800-F02EC3A6C6A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105" name="Text 69">
            <a:extLst>
              <a:ext uri="{FF2B5EF4-FFF2-40B4-BE49-F238E27FC236}">
                <a16:creationId xmlns:a16="http://schemas.microsoft.com/office/drawing/2014/main" id="{D01C1373-6E1B-400A-B590-C5420978F2A7}"/>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106" name="Text 70">
            <a:extLst>
              <a:ext uri="{FF2B5EF4-FFF2-40B4-BE49-F238E27FC236}">
                <a16:creationId xmlns:a16="http://schemas.microsoft.com/office/drawing/2014/main" id="{F40F1529-3375-455C-8956-034666444D4E}"/>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107" name="Text 71">
            <a:extLst>
              <a:ext uri="{FF2B5EF4-FFF2-40B4-BE49-F238E27FC236}">
                <a16:creationId xmlns:a16="http://schemas.microsoft.com/office/drawing/2014/main" id="{2060F12C-37A2-4E68-BE2E-8FF95BE0A47B}"/>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108" name="Text 72">
            <a:extLst>
              <a:ext uri="{FF2B5EF4-FFF2-40B4-BE49-F238E27FC236}">
                <a16:creationId xmlns:a16="http://schemas.microsoft.com/office/drawing/2014/main" id="{AEA68528-CE8F-493C-8791-3B022D1468A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109" name="Text 73">
            <a:extLst>
              <a:ext uri="{FF2B5EF4-FFF2-40B4-BE49-F238E27FC236}">
                <a16:creationId xmlns:a16="http://schemas.microsoft.com/office/drawing/2014/main" id="{9AD870A6-5833-4D2A-B7DE-F48930607C2F}"/>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110" name="Text 74">
            <a:extLst>
              <a:ext uri="{FF2B5EF4-FFF2-40B4-BE49-F238E27FC236}">
                <a16:creationId xmlns:a16="http://schemas.microsoft.com/office/drawing/2014/main" id="{07DACB04-4341-4C59-ADAC-8EBAAA1980A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111" name="Shape 4">
            <a:extLst>
              <a:ext uri="{FF2B5EF4-FFF2-40B4-BE49-F238E27FC236}">
                <a16:creationId xmlns:a16="http://schemas.microsoft.com/office/drawing/2014/main" id="{D83C8729-39F4-49A0-A5E0-9821819755E2}"/>
              </a:ext>
            </a:extLst>
          </p:cNvPr>
          <p:cNvSpPr/>
          <p:nvPr/>
        </p:nvSpPr>
        <p:spPr>
          <a:xfrm>
            <a:off x="10062633" y="1689100"/>
            <a:ext cx="63500" cy="63500"/>
          </a:xfrm>
          <a:prstGeom prst="ellipse">
            <a:avLst/>
          </a:prstGeom>
          <a:solidFill>
            <a:srgbClr val="4B4742"/>
          </a:solidFill>
          <a:ln/>
        </p:spPr>
      </p:sp>
      <p:sp>
        <p:nvSpPr>
          <p:cNvPr id="112" name="Text 5">
            <a:extLst>
              <a:ext uri="{FF2B5EF4-FFF2-40B4-BE49-F238E27FC236}">
                <a16:creationId xmlns:a16="http://schemas.microsoft.com/office/drawing/2014/main" id="{D9505520-B0F7-4392-9CB6-B65D7BCD5267}"/>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113" name="Shape 6">
            <a:extLst>
              <a:ext uri="{FF2B5EF4-FFF2-40B4-BE49-F238E27FC236}">
                <a16:creationId xmlns:a16="http://schemas.microsoft.com/office/drawing/2014/main" id="{38D64A40-01D6-4629-9957-6FAC54E42688}"/>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114" name="Text 7">
            <a:extLst>
              <a:ext uri="{FF2B5EF4-FFF2-40B4-BE49-F238E27FC236}">
                <a16:creationId xmlns:a16="http://schemas.microsoft.com/office/drawing/2014/main" id="{7819C94B-D8B1-433D-91CC-A952D8C1F97C}"/>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E</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E</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OWNER/LANDLORD</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Track portfolio health, get paid, sign off on major spend.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Portfolio dashboard</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performance at a glance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Financial reports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statements &amp; P&amp;L</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Receive remittance</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③ · payout</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Approve major spend</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sign off on expenditure</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Market comps</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E-sign documents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future · unscoped</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A24019"/>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F</a:t>
            </a:r>
            <a:endParaRPr lang="en-US" sz="1000" dirty="0">
              <a:solidFill>
                <a:prstClr val="black"/>
              </a:solidFill>
              <a:latin typeface="Calibri" panose="020F0502020204030204"/>
            </a:endParaRPr>
          </a:p>
        </p:txBody>
      </p:sp>
      <p:sp>
        <p:nvSpPr>
          <p:cNvPr id="5" name="Text 3"/>
          <p:cNvSpPr/>
          <p:nvPr/>
        </p:nvSpPr>
        <p:spPr>
          <a:xfrm>
            <a:off x="926962" y="1739900"/>
            <a:ext cx="2092463"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F</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583" r="16583"/>
          <a:stretch/>
        </p:blipFill>
        <p:spPr>
          <a:xfrm>
            <a:off x="927100" y="2677782"/>
            <a:ext cx="952500" cy="952500"/>
          </a:xfrm>
          <a:prstGeom prst="rect">
            <a:avLst/>
          </a:prstGeom>
        </p:spPr>
      </p:pic>
      <p:sp>
        <p:nvSpPr>
          <p:cNvPr id="12" name="Text 9"/>
          <p:cNvSpPr/>
          <p:nvPr/>
        </p:nvSpPr>
        <p:spPr>
          <a:xfrm>
            <a:off x="862082" y="3719183"/>
            <a:ext cx="1088744" cy="13278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FINANCE LEAD</a:t>
            </a:r>
            <a:endParaRPr lang="en-US" sz="1200" dirty="0">
              <a:solidFill>
                <a:prstClr val="black"/>
              </a:solidFill>
              <a:latin typeface="Calibri" panose="020F0502020204030204"/>
            </a:endParaRPr>
          </a:p>
        </p:txBody>
      </p:sp>
      <p:sp>
        <p:nvSpPr>
          <p:cNvPr id="13" name="Text 10"/>
          <p:cNvSpPr/>
          <p:nvPr/>
        </p:nvSpPr>
        <p:spPr>
          <a:xfrm>
            <a:off x="836662" y="4069890"/>
            <a:ext cx="1133376"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Reconcile the ledger, batch-approve payouts, close the books.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A24019">
                  <a:alpha val="35000"/>
                </a:srgbClr>
              </a:gs>
              <a:gs pos="100000">
                <a:srgbClr val="A24019">
                  <a:alpha val="35000"/>
                </a:srgbClr>
              </a:gs>
            </a:gsLst>
            <a:lin ang="0" scaled="0"/>
          </a:gradFill>
          <a:ln/>
        </p:spPr>
      </p:sp>
      <p:sp>
        <p:nvSpPr>
          <p:cNvPr id="15" name="Shape 12"/>
          <p:cNvSpPr/>
          <p:nvPr/>
        </p:nvSpPr>
        <p:spPr>
          <a:xfrm>
            <a:off x="2825750" y="2383367"/>
            <a:ext cx="177800" cy="177800"/>
          </a:xfrm>
          <a:prstGeom prst="ellipse">
            <a:avLst/>
          </a:prstGeom>
          <a:solidFill>
            <a:srgbClr val="A24019"/>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E1C0A"/>
          </a:solidFill>
          <a:ln/>
        </p:spPr>
      </p:sp>
      <p:sp>
        <p:nvSpPr>
          <p:cNvPr id="18" name="Shape 15"/>
          <p:cNvSpPr/>
          <p:nvPr/>
        </p:nvSpPr>
        <p:spPr>
          <a:xfrm>
            <a:off x="2726465" y="2808817"/>
            <a:ext cx="127000" cy="165100"/>
          </a:xfrm>
          <a:prstGeom prst="roundRect">
            <a:avLst>
              <a:gd name="adj" fmla="val 15000"/>
            </a:avLst>
          </a:prstGeom>
          <a:solidFill>
            <a:srgbClr val="F9F5EE"/>
          </a:solidFill>
          <a:ln/>
        </p:spPr>
      </p:sp>
      <p:sp>
        <p:nvSpPr>
          <p:cNvPr id="19" name="Text 16"/>
          <p:cNvSpPr/>
          <p:nvPr/>
        </p:nvSpPr>
        <p:spPr>
          <a:xfrm>
            <a:off x="2885216" y="2838450"/>
            <a:ext cx="109670" cy="131233"/>
          </a:xfrm>
          <a:prstGeom prst="rect">
            <a:avLst/>
          </a:prstGeom>
          <a:noFill/>
          <a:ln/>
        </p:spPr>
        <p:txBody>
          <a:bodyPr wrap="square" lIns="16933" tIns="16933" rIns="16933" bIns="16933" rtlCol="0" anchor="t">
            <a:noAutofit/>
          </a:bodyPr>
          <a:lstStyle/>
          <a:p>
            <a:pP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0" name="Shape 17"/>
          <p:cNvSpPr/>
          <p:nvPr/>
        </p:nvSpPr>
        <p:spPr>
          <a:xfrm>
            <a:off x="2975835" y="2808817"/>
            <a:ext cx="127000" cy="165100"/>
          </a:xfrm>
          <a:prstGeom prst="roundRect">
            <a:avLst>
              <a:gd name="adj" fmla="val 15000"/>
            </a:avLst>
          </a:prstGeom>
          <a:solidFill>
            <a:srgbClr val="F9F5EE"/>
          </a:solidFill>
          <a:ln/>
        </p:spPr>
      </p:sp>
      <p:sp>
        <p:nvSpPr>
          <p:cNvPr id="21" name="Text 18"/>
          <p:cNvSpPr/>
          <p:nvPr/>
        </p:nvSpPr>
        <p:spPr>
          <a:xfrm>
            <a:off x="2438288" y="3221567"/>
            <a:ext cx="95272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Reconcile ledger</a:t>
            </a:r>
            <a:endParaRPr lang="en-US" sz="900" dirty="0">
              <a:solidFill>
                <a:prstClr val="black"/>
              </a:solidFill>
              <a:latin typeface="Calibri" panose="020F0502020204030204"/>
            </a:endParaRPr>
          </a:p>
        </p:txBody>
      </p:sp>
      <p:sp>
        <p:nvSpPr>
          <p:cNvPr id="22" name="Text 19"/>
          <p:cNvSpPr/>
          <p:nvPr/>
        </p:nvSpPr>
        <p:spPr>
          <a:xfrm>
            <a:off x="2438288" y="3377729"/>
            <a:ext cx="95272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match payments to tickets</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A24019"/>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4E1C0A"/>
          </a:solidFill>
          <a:ln/>
        </p:spPr>
      </p:sp>
      <p:sp>
        <p:nvSpPr>
          <p:cNvPr id="26" name="Shape 23"/>
          <p:cNvSpPr/>
          <p:nvPr/>
        </p:nvSpPr>
        <p:spPr>
          <a:xfrm>
            <a:off x="4435475" y="2786592"/>
            <a:ext cx="88900" cy="88900"/>
          </a:xfrm>
          <a:prstGeom prst="roundRect">
            <a:avLst>
              <a:gd name="adj" fmla="val 21429"/>
            </a:avLst>
          </a:prstGeom>
          <a:solidFill>
            <a:srgbClr val="F9F5EE"/>
          </a:solidFill>
          <a:ln/>
        </p:spPr>
      </p:sp>
      <p:sp>
        <p:nvSpPr>
          <p:cNvPr id="27" name="Shape 24"/>
          <p:cNvSpPr/>
          <p:nvPr/>
        </p:nvSpPr>
        <p:spPr>
          <a:xfrm>
            <a:off x="4556125" y="2786592"/>
            <a:ext cx="88900" cy="88900"/>
          </a:xfrm>
          <a:prstGeom prst="roundRect">
            <a:avLst>
              <a:gd name="adj" fmla="val 21429"/>
            </a:avLst>
          </a:prstGeom>
          <a:solidFill>
            <a:srgbClr val="F9F5EE"/>
          </a:solidFill>
          <a:ln/>
        </p:spPr>
      </p:sp>
      <p:sp>
        <p:nvSpPr>
          <p:cNvPr id="28" name="Shape 25"/>
          <p:cNvSpPr/>
          <p:nvPr/>
        </p:nvSpPr>
        <p:spPr>
          <a:xfrm>
            <a:off x="4435475" y="2907242"/>
            <a:ext cx="88900" cy="88900"/>
          </a:xfrm>
          <a:prstGeom prst="roundRect">
            <a:avLst>
              <a:gd name="adj" fmla="val 21429"/>
            </a:avLst>
          </a:prstGeom>
          <a:solidFill>
            <a:srgbClr val="F9F5EE"/>
          </a:solidFill>
          <a:ln/>
        </p:spPr>
      </p:sp>
      <p:sp>
        <p:nvSpPr>
          <p:cNvPr id="29" name="Shape 26"/>
          <p:cNvSpPr/>
          <p:nvPr/>
        </p:nvSpPr>
        <p:spPr>
          <a:xfrm>
            <a:off x="4556125" y="2907242"/>
            <a:ext cx="88900" cy="88900"/>
          </a:xfrm>
          <a:prstGeom prst="roundRect">
            <a:avLst>
              <a:gd name="adj" fmla="val 21429"/>
            </a:avLst>
          </a:prstGeom>
          <a:solidFill>
            <a:srgbClr val="F9F5EE"/>
          </a:solidFill>
          <a:ln/>
        </p:spPr>
      </p:sp>
      <p:sp>
        <p:nvSpPr>
          <p:cNvPr id="30" name="Text 27"/>
          <p:cNvSpPr/>
          <p:nvPr/>
        </p:nvSpPr>
        <p:spPr>
          <a:xfrm>
            <a:off x="4530725" y="2907242"/>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A24019"/>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31" name="Text 28"/>
          <p:cNvSpPr/>
          <p:nvPr/>
        </p:nvSpPr>
        <p:spPr>
          <a:xfrm>
            <a:off x="4037403" y="3221567"/>
            <a:ext cx="100569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Batch-approve payouts</a:t>
            </a:r>
            <a:endParaRPr lang="en-US" sz="900" dirty="0">
              <a:solidFill>
                <a:prstClr val="black"/>
              </a:solidFill>
              <a:latin typeface="Calibri" panose="020F0502020204030204"/>
            </a:endParaRPr>
          </a:p>
        </p:txBody>
      </p:sp>
      <p:sp>
        <p:nvSpPr>
          <p:cNvPr id="32" name="Text 29"/>
          <p:cNvSpPr/>
          <p:nvPr/>
        </p:nvSpPr>
        <p:spPr>
          <a:xfrm>
            <a:off x="4037403" y="3510293"/>
            <a:ext cx="100569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vendor invoices, in bulk</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A24019"/>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86450" y="2624667"/>
            <a:ext cx="558800" cy="558800"/>
          </a:xfrm>
          <a:prstGeom prst="roundRect">
            <a:avLst>
              <a:gd name="adj" fmla="val 18182"/>
            </a:avLst>
          </a:prstGeom>
          <a:solidFill>
            <a:srgbClr val="4E1C0A"/>
          </a:solidFill>
          <a:ln w="19050">
            <a:solidFill>
              <a:srgbClr val="C53637"/>
            </a:solidFill>
            <a:prstDash val="solid"/>
          </a:ln>
        </p:spPr>
      </p:sp>
      <p:sp>
        <p:nvSpPr>
          <p:cNvPr id="36" name="Shape 33"/>
          <p:cNvSpPr/>
          <p:nvPr/>
        </p:nvSpPr>
        <p:spPr>
          <a:xfrm>
            <a:off x="6051550" y="2846917"/>
            <a:ext cx="228600" cy="152400"/>
          </a:xfrm>
          <a:prstGeom prst="roundRect">
            <a:avLst>
              <a:gd name="adj" fmla="val 20833"/>
            </a:avLst>
          </a:prstGeom>
          <a:solidFill>
            <a:srgbClr val="F9F5EE"/>
          </a:solidFill>
          <a:ln/>
        </p:spPr>
      </p:sp>
      <p:sp>
        <p:nvSpPr>
          <p:cNvPr id="37" name="Shape 34"/>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B09991"/>
          </a:solidFill>
          <a:ln/>
        </p:spPr>
      </p:sp>
      <p:sp>
        <p:nvSpPr>
          <p:cNvPr id="38" name="Shape 35"/>
          <p:cNvSpPr/>
          <p:nvPr/>
        </p:nvSpPr>
        <p:spPr>
          <a:xfrm>
            <a:off x="6127750" y="2891367"/>
            <a:ext cx="76200" cy="76200"/>
          </a:xfrm>
          <a:prstGeom prst="ellipse">
            <a:avLst/>
          </a:prstGeom>
          <a:solidFill>
            <a:srgbClr val="C53637"/>
          </a:solidFill>
          <a:ln/>
        </p:spPr>
      </p:sp>
      <p:sp>
        <p:nvSpPr>
          <p:cNvPr id="39" name="Text 36"/>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0" name="Text 37"/>
          <p:cNvSpPr/>
          <p:nvPr/>
        </p:nvSpPr>
        <p:spPr>
          <a:xfrm>
            <a:off x="5720266" y="3246967"/>
            <a:ext cx="891169"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Remit to owners</a:t>
            </a:r>
            <a:endParaRPr lang="en-US" sz="900" dirty="0">
              <a:solidFill>
                <a:prstClr val="black"/>
              </a:solidFill>
              <a:latin typeface="Calibri" panose="020F0502020204030204"/>
            </a:endParaRPr>
          </a:p>
        </p:txBody>
      </p:sp>
      <p:sp>
        <p:nvSpPr>
          <p:cNvPr id="41" name="Text 38"/>
          <p:cNvSpPr/>
          <p:nvPr/>
        </p:nvSpPr>
        <p:spPr>
          <a:xfrm>
            <a:off x="5720266" y="3534870"/>
            <a:ext cx="891169" cy="158242"/>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④ · payout run</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A24019"/>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24750" y="2624667"/>
            <a:ext cx="533400" cy="533400"/>
          </a:xfrm>
          <a:prstGeom prst="roundRect">
            <a:avLst>
              <a:gd name="adj" fmla="val 19048"/>
            </a:avLst>
          </a:prstGeom>
          <a:solidFill>
            <a:srgbClr val="4E1C0A"/>
          </a:solidFill>
          <a:ln/>
        </p:spPr>
      </p:sp>
      <p:sp>
        <p:nvSpPr>
          <p:cNvPr id="45" name="Shape 42"/>
          <p:cNvSpPr/>
          <p:nvPr/>
        </p:nvSpPr>
        <p:spPr>
          <a:xfrm>
            <a:off x="7677150" y="2751667"/>
            <a:ext cx="228600" cy="279400"/>
          </a:xfrm>
          <a:prstGeom prst="roundRect">
            <a:avLst>
              <a:gd name="adj" fmla="val 8333"/>
            </a:avLst>
          </a:prstGeom>
          <a:solidFill>
            <a:srgbClr val="F9F5EE"/>
          </a:solidFill>
          <a:ln/>
        </p:spPr>
      </p:sp>
      <p:sp>
        <p:nvSpPr>
          <p:cNvPr id="46" name="Shape 43"/>
          <p:cNvSpPr/>
          <p:nvPr/>
        </p:nvSpPr>
        <p:spPr>
          <a:xfrm>
            <a:off x="7715250" y="2802467"/>
            <a:ext cx="152400" cy="19050"/>
          </a:xfrm>
          <a:prstGeom prst="rect">
            <a:avLst/>
          </a:prstGeom>
          <a:solidFill>
            <a:srgbClr val="C1BDB7"/>
          </a:solidFill>
          <a:ln/>
        </p:spPr>
      </p:sp>
      <p:sp>
        <p:nvSpPr>
          <p:cNvPr id="47" name="Shape 44"/>
          <p:cNvSpPr/>
          <p:nvPr/>
        </p:nvSpPr>
        <p:spPr>
          <a:xfrm>
            <a:off x="7715250" y="2853267"/>
            <a:ext cx="152400" cy="19050"/>
          </a:xfrm>
          <a:prstGeom prst="rect">
            <a:avLst/>
          </a:prstGeom>
          <a:solidFill>
            <a:srgbClr val="C1BDB7"/>
          </a:solidFill>
          <a:ln/>
        </p:spPr>
      </p:sp>
      <p:sp>
        <p:nvSpPr>
          <p:cNvPr id="48" name="Shape 45"/>
          <p:cNvSpPr/>
          <p:nvPr/>
        </p:nvSpPr>
        <p:spPr>
          <a:xfrm>
            <a:off x="7715250" y="2904067"/>
            <a:ext cx="88900" cy="19050"/>
          </a:xfrm>
          <a:prstGeom prst="rect">
            <a:avLst/>
          </a:prstGeom>
          <a:solidFill>
            <a:srgbClr val="C1BDB7"/>
          </a:solidFill>
          <a:ln/>
        </p:spPr>
      </p:sp>
      <p:sp>
        <p:nvSpPr>
          <p:cNvPr id="49" name="Shape 46"/>
          <p:cNvSpPr/>
          <p:nvPr/>
        </p:nvSpPr>
        <p:spPr>
          <a:xfrm>
            <a:off x="7715250" y="2954867"/>
            <a:ext cx="127000" cy="19050"/>
          </a:xfrm>
          <a:prstGeom prst="rect">
            <a:avLst/>
          </a:prstGeom>
          <a:solidFill>
            <a:srgbClr val="A24019"/>
          </a:solidFill>
          <a:ln/>
        </p:spPr>
      </p:sp>
      <p:sp>
        <p:nvSpPr>
          <p:cNvPr id="50" name="Text 47"/>
          <p:cNvSpPr/>
          <p:nvPr/>
        </p:nvSpPr>
        <p:spPr>
          <a:xfrm>
            <a:off x="7299375" y="3221567"/>
            <a:ext cx="98408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Generate reports</a:t>
            </a:r>
            <a:endParaRPr lang="en-US" sz="900" dirty="0">
              <a:solidFill>
                <a:prstClr val="black"/>
              </a:solidFill>
              <a:latin typeface="Calibri" panose="020F0502020204030204"/>
            </a:endParaRPr>
          </a:p>
        </p:txBody>
      </p:sp>
      <p:sp>
        <p:nvSpPr>
          <p:cNvPr id="51" name="Text 48"/>
          <p:cNvSpPr/>
          <p:nvPr/>
        </p:nvSpPr>
        <p:spPr>
          <a:xfrm>
            <a:off x="7299375" y="3368851"/>
            <a:ext cx="98408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org-wide P&amp;L &amp; statements</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ln w="12700">
            <a:solidFill>
              <a:srgbClr val="75716B">
                <a:alpha val="55000"/>
              </a:srgbClr>
            </a:solidFill>
            <a:prstDash val="dash"/>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5" name="Shape 52"/>
          <p:cNvSpPr/>
          <p:nvPr/>
        </p:nvSpPr>
        <p:spPr>
          <a:xfrm>
            <a:off x="9300634" y="2785534"/>
            <a:ext cx="232833" cy="270933"/>
          </a:xfrm>
          <a:prstGeom prst="roundRect">
            <a:avLst>
              <a:gd name="adj" fmla="val 10909"/>
            </a:avLst>
          </a:prstGeom>
          <a:ln w="12700">
            <a:solidFill>
              <a:srgbClr val="75716B">
                <a:alpha val="55000"/>
              </a:srgbClr>
            </a:solidFill>
            <a:prstDash val="dash"/>
          </a:ln>
        </p:spPr>
      </p:sp>
      <p:sp>
        <p:nvSpPr>
          <p:cNvPr id="56" name="Shape 53"/>
          <p:cNvSpPr/>
          <p:nvPr/>
        </p:nvSpPr>
        <p:spPr>
          <a:xfrm>
            <a:off x="9347200" y="2844800"/>
            <a:ext cx="139700" cy="19050"/>
          </a:xfrm>
          <a:prstGeom prst="rect">
            <a:avLst/>
          </a:prstGeom>
          <a:solidFill>
            <a:srgbClr val="75716B">
              <a:alpha val="55000"/>
            </a:srgbClr>
          </a:solidFill>
          <a:ln/>
        </p:spPr>
      </p:sp>
      <p:sp>
        <p:nvSpPr>
          <p:cNvPr id="57" name="Shape 54"/>
          <p:cNvSpPr/>
          <p:nvPr/>
        </p:nvSpPr>
        <p:spPr>
          <a:xfrm>
            <a:off x="9347200" y="2895600"/>
            <a:ext cx="101600" cy="19050"/>
          </a:xfrm>
          <a:prstGeom prst="rect">
            <a:avLst/>
          </a:prstGeom>
          <a:solidFill>
            <a:srgbClr val="75716B">
              <a:alpha val="55000"/>
            </a:srgbClr>
          </a:solidFill>
          <a:ln/>
        </p:spPr>
      </p:sp>
      <p:sp>
        <p:nvSpPr>
          <p:cNvPr id="58" name="Text 55"/>
          <p:cNvSpPr/>
          <p:nvPr/>
        </p:nvSpPr>
        <p:spPr>
          <a:xfrm>
            <a:off x="8919664" y="3263900"/>
            <a:ext cx="99470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Tax &amp; compliance filing</a:t>
            </a:r>
            <a:endParaRPr lang="en-US" sz="900" dirty="0">
              <a:solidFill>
                <a:prstClr val="black"/>
              </a:solidFill>
              <a:latin typeface="Calibri" panose="020F0502020204030204"/>
            </a:endParaRPr>
          </a:p>
        </p:txBody>
      </p:sp>
      <p:sp>
        <p:nvSpPr>
          <p:cNvPr id="59" name="Text 56"/>
          <p:cNvSpPr/>
          <p:nvPr/>
        </p:nvSpPr>
        <p:spPr>
          <a:xfrm>
            <a:off x="8919664" y="3543748"/>
            <a:ext cx="994707"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22000" y="2819400"/>
            <a:ext cx="118533" cy="118533"/>
          </a:xfrm>
          <a:prstGeom prst="roundRect">
            <a:avLst>
              <a:gd name="adj" fmla="val 16071"/>
            </a:avLst>
          </a:prstGeom>
          <a:ln w="12700">
            <a:solidFill>
              <a:srgbClr val="75716B">
                <a:alpha val="55000"/>
              </a:srgbClr>
            </a:solidFill>
            <a:prstDash val="dash"/>
          </a:ln>
        </p:spPr>
      </p:sp>
      <p:sp>
        <p:nvSpPr>
          <p:cNvPr id="64" name="Shape 61"/>
          <p:cNvSpPr/>
          <p:nvPr/>
        </p:nvSpPr>
        <p:spPr>
          <a:xfrm>
            <a:off x="11044767" y="2819400"/>
            <a:ext cx="118533" cy="118533"/>
          </a:xfrm>
          <a:prstGeom prst="roundRect">
            <a:avLst>
              <a:gd name="adj" fmla="val 16071"/>
            </a:avLst>
          </a:prstGeom>
          <a:ln w="12700">
            <a:solidFill>
              <a:srgbClr val="75716B">
                <a:alpha val="55000"/>
              </a:srgbClr>
            </a:solidFill>
            <a:prstDash val="dash"/>
          </a:ln>
        </p:spPr>
      </p:sp>
      <p:sp>
        <p:nvSpPr>
          <p:cNvPr id="65" name="Shape 62"/>
          <p:cNvSpPr/>
          <p:nvPr/>
        </p:nvSpPr>
        <p:spPr>
          <a:xfrm>
            <a:off x="10991850" y="2904067"/>
            <a:ext cx="118533" cy="118533"/>
          </a:xfrm>
          <a:prstGeom prst="roundRect">
            <a:avLst>
              <a:gd name="adj" fmla="val 16071"/>
            </a:avLst>
          </a:prstGeom>
          <a:ln w="12700">
            <a:solidFill>
              <a:srgbClr val="75716B">
                <a:alpha val="55000"/>
              </a:srgbClr>
            </a:solidFill>
            <a:prstDash val="dash"/>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Multi-entity consolidation</a:t>
            </a:r>
            <a:endParaRPr lang="en-US" sz="900" dirty="0">
              <a:solidFill>
                <a:prstClr val="black"/>
              </a:solidFill>
              <a:latin typeface="Calibri" panose="020F0502020204030204"/>
            </a:endParaRPr>
          </a:p>
        </p:txBody>
      </p:sp>
      <p:sp>
        <p:nvSpPr>
          <p:cNvPr id="67" name="Text 64"/>
          <p:cNvSpPr/>
          <p:nvPr/>
        </p:nvSpPr>
        <p:spPr>
          <a:xfrm>
            <a:off x="10518775" y="3530540"/>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BDA7659B-99C5-4165-9DAF-14AADD9BE259}"/>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DB8F5CC3-0732-47C9-8D01-92C81F043616}"/>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BAF2C1BE-60A7-40F9-89DA-6C23B97B66DA}"/>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E56054CD-5231-4843-BA8E-43E91D5BBAA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8CE77C27-B374-4151-B882-2980D1506E2C}"/>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37E9402E-6691-4DEE-B346-081F4D081662}"/>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44F63004-B22B-4CDA-B28D-9DB4A02833A8}"/>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AD923330-831D-4FF6-8CB4-07FC5E30397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6829212D-DEEE-4433-9909-068A54F866C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D4E24E3-425C-4975-9F21-9FA050229E81}"/>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C77B92EA-2012-4DFF-8CDF-F6895463C731}"/>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06EA49C-3193-45E6-90E5-8FDD9EE2F9B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3D7522EE-7677-425E-A8DB-C3CFB188310E}"/>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DD7A442-33D6-4020-9560-10C817DF4B7B}"/>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A052B5D1-763A-4A25-8E2F-B3687835CF60}"/>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A7782EF9-DA72-4FD4-970F-6FFA622D0DFB}"/>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302D28"/>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G</a:t>
            </a:r>
            <a:endParaRPr lang="en-US" sz="1000" dirty="0">
              <a:solidFill>
                <a:prstClr val="black"/>
              </a:solidFill>
              <a:latin typeface="Calibri" panose="020F0502020204030204"/>
            </a:endParaRPr>
          </a:p>
        </p:txBody>
      </p:sp>
      <p:sp>
        <p:nvSpPr>
          <p:cNvPr id="5" name="Text 3"/>
          <p:cNvSpPr/>
          <p:nvPr/>
        </p:nvSpPr>
        <p:spPr>
          <a:xfrm>
            <a:off x="978910" y="1739900"/>
            <a:ext cx="2115764"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3500" r="13500"/>
          <a:stretch/>
        </p:blipFill>
        <p:spPr>
          <a:xfrm>
            <a:off x="927100" y="2677782"/>
            <a:ext cx="952500" cy="952500"/>
          </a:xfrm>
          <a:prstGeom prst="rect">
            <a:avLst/>
          </a:prstGeom>
        </p:spPr>
      </p:pic>
      <p:sp>
        <p:nvSpPr>
          <p:cNvPr id="12" name="Text 9"/>
          <p:cNvSpPr/>
          <p:nvPr/>
        </p:nvSpPr>
        <p:spPr>
          <a:xfrm>
            <a:off x="882022" y="3719182"/>
            <a:ext cx="1042657"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APPROVER</a:t>
            </a:r>
            <a:endParaRPr lang="en-US" sz="1200" dirty="0">
              <a:solidFill>
                <a:prstClr val="black"/>
              </a:solidFill>
              <a:latin typeface="Calibri" panose="020F0502020204030204"/>
            </a:endParaRPr>
          </a:p>
        </p:txBody>
      </p:sp>
      <p:sp>
        <p:nvSpPr>
          <p:cNvPr id="13" name="Text 10"/>
          <p:cNvSpPr/>
          <p:nvPr/>
        </p:nvSpPr>
        <p:spPr>
          <a:xfrm>
            <a:off x="904016" y="3901216"/>
            <a:ext cx="998670"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Final sign-off on the largest payments before they release.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302D28">
                  <a:alpha val="35000"/>
                </a:srgbClr>
              </a:gs>
              <a:gs pos="100000">
                <a:srgbClr val="302D28">
                  <a:alpha val="35000"/>
                </a:srgbClr>
              </a:gs>
            </a:gsLst>
            <a:lin ang="0" scaled="0"/>
          </a:gradFill>
          <a:ln/>
        </p:spPr>
      </p:sp>
      <p:sp>
        <p:nvSpPr>
          <p:cNvPr id="15" name="Shape 12"/>
          <p:cNvSpPr/>
          <p:nvPr/>
        </p:nvSpPr>
        <p:spPr>
          <a:xfrm>
            <a:off x="2825750" y="2383367"/>
            <a:ext cx="177800" cy="177800"/>
          </a:xfrm>
          <a:prstGeom prst="ellipse">
            <a:avLst/>
          </a:prstGeom>
          <a:solidFill>
            <a:srgbClr val="302D28"/>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D1A15"/>
          </a:solidFill>
          <a:ln/>
        </p:spPr>
      </p:sp>
      <p:sp>
        <p:nvSpPr>
          <p:cNvPr id="18" name="Shape 15"/>
          <p:cNvSpPr/>
          <p:nvPr/>
        </p:nvSpPr>
        <p:spPr>
          <a:xfrm>
            <a:off x="2813050" y="2789767"/>
            <a:ext cx="237067" cy="237067"/>
          </a:xfrm>
          <a:prstGeom prst="ellipse">
            <a:avLst/>
          </a:prstGeom>
          <a:ln w="25400">
            <a:solidFill>
              <a:srgbClr val="F9F5EE"/>
            </a:solidFill>
            <a:prstDash val="solid"/>
          </a:ln>
        </p:spPr>
      </p:sp>
      <p:sp>
        <p:nvSpPr>
          <p:cNvPr id="19" name="Shape 16"/>
          <p:cNvSpPr/>
          <p:nvPr/>
        </p:nvSpPr>
        <p:spPr>
          <a:xfrm rot="2700000">
            <a:off x="2787650" y="2846917"/>
            <a:ext cx="101600" cy="19050"/>
          </a:xfrm>
          <a:prstGeom prst="rect">
            <a:avLst/>
          </a:prstGeom>
          <a:solidFill>
            <a:srgbClr val="C53637"/>
          </a:solidFill>
          <a:ln/>
        </p:spPr>
      </p:sp>
      <p:sp>
        <p:nvSpPr>
          <p:cNvPr id="20" name="Text 17"/>
          <p:cNvSpPr/>
          <p:nvPr/>
        </p:nvSpPr>
        <p:spPr>
          <a:xfrm>
            <a:off x="2413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flagged transactions</a:t>
            </a:r>
            <a:endParaRPr lang="en-US" sz="900" dirty="0">
              <a:solidFill>
                <a:prstClr val="black"/>
              </a:solidFill>
              <a:latin typeface="Calibri" panose="020F0502020204030204"/>
            </a:endParaRPr>
          </a:p>
        </p:txBody>
      </p:sp>
      <p:sp>
        <p:nvSpPr>
          <p:cNvPr id="21" name="Text 18"/>
          <p:cNvSpPr/>
          <p:nvPr/>
        </p:nvSpPr>
        <p:spPr>
          <a:xfrm>
            <a:off x="2390776" y="3514841"/>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high-value queue</a:t>
            </a:r>
            <a:endParaRPr lang="en-US" sz="800" dirty="0">
              <a:solidFill>
                <a:prstClr val="black"/>
              </a:solidFill>
              <a:latin typeface="Calibri" panose="020F0502020204030204"/>
            </a:endParaRPr>
          </a:p>
        </p:txBody>
      </p:sp>
      <p:sp>
        <p:nvSpPr>
          <p:cNvPr id="22" name="Shape 19"/>
          <p:cNvSpPr/>
          <p:nvPr/>
        </p:nvSpPr>
        <p:spPr>
          <a:xfrm>
            <a:off x="4451350" y="2383367"/>
            <a:ext cx="177800" cy="177800"/>
          </a:xfrm>
          <a:prstGeom prst="ellipse">
            <a:avLst/>
          </a:prstGeom>
          <a:solidFill>
            <a:srgbClr val="302D28"/>
          </a:solidFill>
          <a:ln/>
        </p:spPr>
      </p:sp>
      <p:sp>
        <p:nvSpPr>
          <p:cNvPr id="23" name="Text 20"/>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4" name="Shape 21"/>
          <p:cNvSpPr/>
          <p:nvPr/>
        </p:nvSpPr>
        <p:spPr>
          <a:xfrm>
            <a:off x="4273550" y="2624667"/>
            <a:ext cx="533400" cy="533400"/>
          </a:xfrm>
          <a:prstGeom prst="roundRect">
            <a:avLst>
              <a:gd name="adj" fmla="val 19048"/>
            </a:avLst>
          </a:prstGeom>
          <a:solidFill>
            <a:srgbClr val="1D1A15"/>
          </a:solidFill>
          <a:ln/>
        </p:spPr>
      </p:sp>
      <p:sp>
        <p:nvSpPr>
          <p:cNvPr id="25" name="Shape 22"/>
          <p:cNvSpPr/>
          <p:nvPr/>
        </p:nvSpPr>
        <p:spPr>
          <a:xfrm>
            <a:off x="4419600" y="2751667"/>
            <a:ext cx="241300" cy="279400"/>
          </a:xfrm>
          <a:prstGeom prst="roundRect">
            <a:avLst>
              <a:gd name="adj" fmla="val 7895"/>
            </a:avLst>
          </a:prstGeom>
          <a:solidFill>
            <a:srgbClr val="F9F5EE"/>
          </a:solidFill>
          <a:ln/>
        </p:spPr>
      </p:sp>
      <p:sp>
        <p:nvSpPr>
          <p:cNvPr id="26" name="Shape 23"/>
          <p:cNvSpPr/>
          <p:nvPr/>
        </p:nvSpPr>
        <p:spPr>
          <a:xfrm>
            <a:off x="4457700" y="2802467"/>
            <a:ext cx="165100" cy="19050"/>
          </a:xfrm>
          <a:prstGeom prst="rect">
            <a:avLst/>
          </a:prstGeom>
          <a:solidFill>
            <a:srgbClr val="C1BDB7"/>
          </a:solidFill>
          <a:ln/>
        </p:spPr>
      </p:sp>
      <p:sp>
        <p:nvSpPr>
          <p:cNvPr id="27" name="Shape 24"/>
          <p:cNvSpPr/>
          <p:nvPr/>
        </p:nvSpPr>
        <p:spPr>
          <a:xfrm>
            <a:off x="4457700" y="2853267"/>
            <a:ext cx="165100" cy="19050"/>
          </a:xfrm>
          <a:prstGeom prst="rect">
            <a:avLst/>
          </a:prstGeom>
          <a:solidFill>
            <a:srgbClr val="C1BDB7"/>
          </a:solidFill>
          <a:ln/>
        </p:spPr>
      </p:sp>
      <p:sp>
        <p:nvSpPr>
          <p:cNvPr id="28" name="Shape 25"/>
          <p:cNvSpPr/>
          <p:nvPr/>
        </p:nvSpPr>
        <p:spPr>
          <a:xfrm>
            <a:off x="4457700" y="2904067"/>
            <a:ext cx="114300" cy="114300"/>
          </a:xfrm>
          <a:prstGeom prst="roundRect">
            <a:avLst>
              <a:gd name="adj" fmla="val 11111"/>
            </a:avLst>
          </a:prstGeom>
          <a:ln w="19050">
            <a:solidFill>
              <a:srgbClr val="302D28"/>
            </a:solidFill>
            <a:prstDash val="solid"/>
          </a:ln>
        </p:spPr>
      </p:sp>
      <p:sp>
        <p:nvSpPr>
          <p:cNvPr id="29" name="Text 26"/>
          <p:cNvSpPr/>
          <p:nvPr/>
        </p:nvSpPr>
        <p:spPr>
          <a:xfrm>
            <a:off x="4042860" y="3221567"/>
            <a:ext cx="99478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Check supporting docs</a:t>
            </a:r>
            <a:endParaRPr lang="en-US" sz="900" dirty="0">
              <a:solidFill>
                <a:prstClr val="black"/>
              </a:solidFill>
              <a:latin typeface="Calibri" panose="020F0502020204030204"/>
            </a:endParaRPr>
          </a:p>
        </p:txBody>
      </p:sp>
      <p:sp>
        <p:nvSpPr>
          <p:cNvPr id="30" name="Text 27"/>
          <p:cNvSpPr/>
          <p:nvPr/>
        </p:nvSpPr>
        <p:spPr>
          <a:xfrm>
            <a:off x="4042860" y="3528091"/>
            <a:ext cx="99478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invoices, photos, receipts</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302D28"/>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D1A15"/>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 reject release</a:t>
            </a:r>
            <a:endParaRPr lang="en-US" sz="900" dirty="0">
              <a:solidFill>
                <a:prstClr val="black"/>
              </a:solidFill>
              <a:latin typeface="Calibri" panose="020F0502020204030204"/>
            </a:endParaRPr>
          </a:p>
        </p:txBody>
      </p:sp>
      <p:sp>
        <p:nvSpPr>
          <p:cNvPr id="40" name="Text 37"/>
          <p:cNvSpPr/>
          <p:nvPr/>
        </p:nvSpPr>
        <p:spPr>
          <a:xfrm>
            <a:off x="5641976" y="3557174"/>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⑤ · final say</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302D28"/>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D1A15"/>
          </a:solidFill>
          <a:ln/>
        </p:spPr>
      </p:sp>
      <p:sp>
        <p:nvSpPr>
          <p:cNvPr id="44" name="Shape 41"/>
          <p:cNvSpPr/>
          <p:nvPr/>
        </p:nvSpPr>
        <p:spPr>
          <a:xfrm>
            <a:off x="7585076" y="2869142"/>
            <a:ext cx="44450" cy="44450"/>
          </a:xfrm>
          <a:prstGeom prst="ellipse">
            <a:avLst/>
          </a:prstGeom>
          <a:solidFill>
            <a:srgbClr val="F9F5EE"/>
          </a:solidFill>
          <a:ln/>
        </p:spPr>
      </p:sp>
      <p:sp>
        <p:nvSpPr>
          <p:cNvPr id="45" name="Shape 42"/>
          <p:cNvSpPr/>
          <p:nvPr/>
        </p:nvSpPr>
        <p:spPr>
          <a:xfrm>
            <a:off x="7661275" y="2885017"/>
            <a:ext cx="76200" cy="12700"/>
          </a:xfrm>
          <a:prstGeom prst="rect">
            <a:avLst/>
          </a:prstGeom>
          <a:solidFill>
            <a:srgbClr val="F9F5EE"/>
          </a:solidFill>
          <a:ln/>
        </p:spPr>
      </p:sp>
      <p:sp>
        <p:nvSpPr>
          <p:cNvPr id="46" name="Shape 43"/>
          <p:cNvSpPr/>
          <p:nvPr/>
        </p:nvSpPr>
        <p:spPr>
          <a:xfrm>
            <a:off x="7769226" y="2869142"/>
            <a:ext cx="44450" cy="44450"/>
          </a:xfrm>
          <a:prstGeom prst="ellipse">
            <a:avLst/>
          </a:prstGeom>
          <a:solidFill>
            <a:srgbClr val="F9F5EE"/>
          </a:solidFill>
          <a:ln/>
        </p:spPr>
      </p:sp>
      <p:sp>
        <p:nvSpPr>
          <p:cNvPr id="47" name="Shape 44"/>
          <p:cNvSpPr/>
          <p:nvPr/>
        </p:nvSpPr>
        <p:spPr>
          <a:xfrm>
            <a:off x="7845425" y="2885017"/>
            <a:ext cx="76200" cy="12700"/>
          </a:xfrm>
          <a:prstGeom prst="rect">
            <a:avLst/>
          </a:prstGeom>
          <a:solidFill>
            <a:srgbClr val="F9F5EE"/>
          </a:solidFill>
          <a:ln/>
        </p:spPr>
      </p:sp>
      <p:sp>
        <p:nvSpPr>
          <p:cNvPr id="48" name="Shape 45"/>
          <p:cNvSpPr/>
          <p:nvPr/>
        </p:nvSpPr>
        <p:spPr>
          <a:xfrm>
            <a:off x="7953376" y="2869142"/>
            <a:ext cx="44450" cy="44450"/>
          </a:xfrm>
          <a:prstGeom prst="ellipse">
            <a:avLst/>
          </a:prstGeom>
          <a:solidFill>
            <a:srgbClr val="F9F5EE"/>
          </a:solidFill>
          <a:ln/>
        </p:spPr>
      </p:sp>
      <p:sp>
        <p:nvSpPr>
          <p:cNvPr id="49" name="Text 46"/>
          <p:cNvSpPr/>
          <p:nvPr/>
        </p:nvSpPr>
        <p:spPr>
          <a:xfrm>
            <a:off x="7311671" y="3221567"/>
            <a:ext cx="95949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Approval audit trail</a:t>
            </a:r>
            <a:endParaRPr lang="en-US" sz="900" dirty="0">
              <a:solidFill>
                <a:prstClr val="black"/>
              </a:solidFill>
              <a:latin typeface="Calibri" panose="020F0502020204030204"/>
            </a:endParaRPr>
          </a:p>
        </p:txBody>
      </p:sp>
      <p:sp>
        <p:nvSpPr>
          <p:cNvPr id="50" name="Text 47"/>
          <p:cNvSpPr/>
          <p:nvPr/>
        </p:nvSpPr>
        <p:spPr>
          <a:xfrm>
            <a:off x="7311671" y="3510899"/>
            <a:ext cx="95949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who approved what, when</a:t>
            </a:r>
            <a:endParaRPr lang="en-US" sz="800" dirty="0">
              <a:solidFill>
                <a:prstClr val="black"/>
              </a:solidFill>
              <a:latin typeface="Calibri" panose="020F0502020204030204"/>
            </a:endParaRPr>
          </a:p>
        </p:txBody>
      </p:sp>
      <p:sp>
        <p:nvSpPr>
          <p:cNvPr id="51" name="Shape 48"/>
          <p:cNvSpPr/>
          <p:nvPr/>
        </p:nvSpPr>
        <p:spPr>
          <a:xfrm>
            <a:off x="9319684" y="2383367"/>
            <a:ext cx="194733" cy="194733"/>
          </a:xfrm>
          <a:prstGeom prst="ellipse">
            <a:avLst/>
          </a:prstGeom>
          <a:ln w="12700">
            <a:solidFill>
              <a:srgbClr val="75716B">
                <a:alpha val="55000"/>
              </a:srgbClr>
            </a:solidFill>
            <a:prstDash val="dash"/>
          </a:ln>
        </p:spPr>
      </p:sp>
      <p:sp>
        <p:nvSpPr>
          <p:cNvPr id="52" name="Text 49"/>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3" name="Shape 50"/>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4" name="Shape 51"/>
          <p:cNvSpPr/>
          <p:nvPr/>
        </p:nvSpPr>
        <p:spPr>
          <a:xfrm>
            <a:off x="9190567" y="2855384"/>
            <a:ext cx="131233" cy="131233"/>
          </a:xfrm>
          <a:prstGeom prst="ellipse">
            <a:avLst/>
          </a:prstGeom>
          <a:ln w="12700">
            <a:solidFill>
              <a:srgbClr val="75716B">
                <a:alpha val="55000"/>
              </a:srgbClr>
            </a:solidFill>
            <a:prstDash val="dash"/>
          </a:ln>
        </p:spPr>
      </p:sp>
      <p:sp>
        <p:nvSpPr>
          <p:cNvPr id="55" name="Shape 52"/>
          <p:cNvSpPr/>
          <p:nvPr/>
        </p:nvSpPr>
        <p:spPr>
          <a:xfrm>
            <a:off x="9372600" y="2914650"/>
            <a:ext cx="88900" cy="12700"/>
          </a:xfrm>
          <a:prstGeom prst="rect">
            <a:avLst/>
          </a:prstGeom>
          <a:solidFill>
            <a:srgbClr val="75716B">
              <a:alpha val="55000"/>
            </a:srgbClr>
          </a:solidFill>
          <a:ln/>
        </p:spPr>
      </p:sp>
      <p:sp>
        <p:nvSpPr>
          <p:cNvPr id="56" name="Shape 53"/>
          <p:cNvSpPr/>
          <p:nvPr/>
        </p:nvSpPr>
        <p:spPr>
          <a:xfrm>
            <a:off x="9512300" y="2855384"/>
            <a:ext cx="131233" cy="131233"/>
          </a:xfrm>
          <a:prstGeom prst="ellipse">
            <a:avLst/>
          </a:prstGeom>
          <a:ln w="12700">
            <a:solidFill>
              <a:srgbClr val="75716B">
                <a:alpha val="55000"/>
              </a:srgbClr>
            </a:solidFill>
            <a:prstDash val="dash"/>
          </a:ln>
        </p:spPr>
      </p:sp>
      <p:sp>
        <p:nvSpPr>
          <p:cNvPr id="57" name="Text 54"/>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Delegate approval authority</a:t>
            </a:r>
            <a:endParaRPr lang="en-US" sz="900" dirty="0">
              <a:solidFill>
                <a:prstClr val="black"/>
              </a:solidFill>
              <a:latin typeface="Calibri" panose="020F0502020204030204"/>
            </a:endParaRPr>
          </a:p>
        </p:txBody>
      </p:sp>
      <p:sp>
        <p:nvSpPr>
          <p:cNvPr id="58" name="Text 55"/>
          <p:cNvSpPr/>
          <p:nvPr/>
        </p:nvSpPr>
        <p:spPr>
          <a:xfrm>
            <a:off x="8893176" y="3654832"/>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9" name="Shape 56"/>
          <p:cNvSpPr/>
          <p:nvPr/>
        </p:nvSpPr>
        <p:spPr>
          <a:xfrm>
            <a:off x="10945284" y="2383367"/>
            <a:ext cx="194733" cy="194733"/>
          </a:xfrm>
          <a:prstGeom prst="ellipse">
            <a:avLst/>
          </a:prstGeom>
          <a:ln w="12700">
            <a:solidFill>
              <a:srgbClr val="75716B">
                <a:alpha val="55000"/>
              </a:srgbClr>
            </a:solidFill>
            <a:prstDash val="dash"/>
          </a:ln>
        </p:spPr>
      </p:sp>
      <p:sp>
        <p:nvSpPr>
          <p:cNvPr id="60" name="Text 57"/>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1" name="Shape 58"/>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2" name="Shape 59"/>
          <p:cNvSpPr/>
          <p:nvPr/>
        </p:nvSpPr>
        <p:spPr>
          <a:xfrm>
            <a:off x="10913534" y="2816226"/>
            <a:ext cx="258233" cy="48683"/>
          </a:xfrm>
          <a:prstGeom prst="rect">
            <a:avLst/>
          </a:prstGeom>
          <a:ln w="12700">
            <a:solidFill>
              <a:srgbClr val="75716B">
                <a:alpha val="55000"/>
              </a:srgbClr>
            </a:solidFill>
            <a:prstDash val="dash"/>
          </a:ln>
        </p:spPr>
      </p:sp>
      <p:sp>
        <p:nvSpPr>
          <p:cNvPr id="63" name="Shape 60"/>
          <p:cNvSpPr/>
          <p:nvPr/>
        </p:nvSpPr>
        <p:spPr>
          <a:xfrm>
            <a:off x="10951634" y="2896659"/>
            <a:ext cx="182033" cy="48683"/>
          </a:xfrm>
          <a:prstGeom prst="rect">
            <a:avLst/>
          </a:prstGeom>
          <a:ln w="12700">
            <a:solidFill>
              <a:srgbClr val="75716B">
                <a:alpha val="55000"/>
              </a:srgbClr>
            </a:solidFill>
            <a:prstDash val="dash"/>
          </a:ln>
        </p:spPr>
      </p:sp>
      <p:sp>
        <p:nvSpPr>
          <p:cNvPr id="64" name="Shape 61"/>
          <p:cNvSpPr/>
          <p:nvPr/>
        </p:nvSpPr>
        <p:spPr>
          <a:xfrm>
            <a:off x="10932584" y="2977093"/>
            <a:ext cx="220133" cy="48683"/>
          </a:xfrm>
          <a:prstGeom prst="rect">
            <a:avLst/>
          </a:prstGeom>
          <a:ln w="12700">
            <a:solidFill>
              <a:srgbClr val="75716B">
                <a:alpha val="55000"/>
              </a:srgbClr>
            </a:solidFill>
            <a:prstDash val="dash"/>
          </a:ln>
        </p:spPr>
      </p:sp>
      <p:sp>
        <p:nvSpPr>
          <p:cNvPr id="65" name="Text 6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Set approval policy &amp; rules</a:t>
            </a:r>
            <a:endParaRPr lang="en-US" sz="900" dirty="0">
              <a:solidFill>
                <a:prstClr val="black"/>
              </a:solidFill>
              <a:latin typeface="Calibri" panose="020F0502020204030204"/>
            </a:endParaRPr>
          </a:p>
        </p:txBody>
      </p:sp>
      <p:sp>
        <p:nvSpPr>
          <p:cNvPr id="66" name="Text 63"/>
          <p:cNvSpPr/>
          <p:nvPr/>
        </p:nvSpPr>
        <p:spPr>
          <a:xfrm>
            <a:off x="10518775" y="3557174"/>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79" name="Shape 63">
            <a:extLst>
              <a:ext uri="{FF2B5EF4-FFF2-40B4-BE49-F238E27FC236}">
                <a16:creationId xmlns:a16="http://schemas.microsoft.com/office/drawing/2014/main" id="{E7998B65-CA21-4D8E-A0B0-94E93C9B504D}"/>
              </a:ext>
            </a:extLst>
          </p:cNvPr>
          <p:cNvSpPr/>
          <p:nvPr/>
        </p:nvSpPr>
        <p:spPr>
          <a:xfrm>
            <a:off x="673100" y="5033434"/>
            <a:ext cx="10845800" cy="6350"/>
          </a:xfrm>
          <a:prstGeom prst="rect">
            <a:avLst/>
          </a:prstGeom>
          <a:solidFill>
            <a:srgbClr val="CFCDCA"/>
          </a:solidFill>
          <a:ln/>
        </p:spPr>
      </p:sp>
      <p:sp>
        <p:nvSpPr>
          <p:cNvPr id="80" name="Text 64">
            <a:extLst>
              <a:ext uri="{FF2B5EF4-FFF2-40B4-BE49-F238E27FC236}">
                <a16:creationId xmlns:a16="http://schemas.microsoft.com/office/drawing/2014/main" id="{B5B52DB4-0236-4A5F-A406-255E693A922A}"/>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1" name="Text 65">
            <a:extLst>
              <a:ext uri="{FF2B5EF4-FFF2-40B4-BE49-F238E27FC236}">
                <a16:creationId xmlns:a16="http://schemas.microsoft.com/office/drawing/2014/main" id="{88B16E14-B053-4CF7-A671-18FBCAE09CE0}"/>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2" name="Text 66">
            <a:extLst>
              <a:ext uri="{FF2B5EF4-FFF2-40B4-BE49-F238E27FC236}">
                <a16:creationId xmlns:a16="http://schemas.microsoft.com/office/drawing/2014/main" id="{DDEC4323-5D65-4434-BA9B-64FAAABE443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3" name="Text 67">
            <a:extLst>
              <a:ext uri="{FF2B5EF4-FFF2-40B4-BE49-F238E27FC236}">
                <a16:creationId xmlns:a16="http://schemas.microsoft.com/office/drawing/2014/main" id="{CB3055C4-9768-46DB-9C40-F44E1F3D1FD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4" name="Text 68">
            <a:extLst>
              <a:ext uri="{FF2B5EF4-FFF2-40B4-BE49-F238E27FC236}">
                <a16:creationId xmlns:a16="http://schemas.microsoft.com/office/drawing/2014/main" id="{8AA29F2D-0ADC-4830-8DAE-19F2E49DF976}"/>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5" name="Text 69">
            <a:extLst>
              <a:ext uri="{FF2B5EF4-FFF2-40B4-BE49-F238E27FC236}">
                <a16:creationId xmlns:a16="http://schemas.microsoft.com/office/drawing/2014/main" id="{C05D9576-A534-46E3-B912-D624434B1D71}"/>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6" name="Text 70">
            <a:extLst>
              <a:ext uri="{FF2B5EF4-FFF2-40B4-BE49-F238E27FC236}">
                <a16:creationId xmlns:a16="http://schemas.microsoft.com/office/drawing/2014/main" id="{E37AE2EE-5221-4936-916D-BE0E985E2BF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7" name="Text 71">
            <a:extLst>
              <a:ext uri="{FF2B5EF4-FFF2-40B4-BE49-F238E27FC236}">
                <a16:creationId xmlns:a16="http://schemas.microsoft.com/office/drawing/2014/main" id="{9595B2D9-006A-4C9F-B275-99FE94CC388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8" name="Text 72">
            <a:extLst>
              <a:ext uri="{FF2B5EF4-FFF2-40B4-BE49-F238E27FC236}">
                <a16:creationId xmlns:a16="http://schemas.microsoft.com/office/drawing/2014/main" id="{8BECBEB3-1A8B-4888-A5B2-32AC92C3BE19}"/>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9" name="Text 73">
            <a:extLst>
              <a:ext uri="{FF2B5EF4-FFF2-40B4-BE49-F238E27FC236}">
                <a16:creationId xmlns:a16="http://schemas.microsoft.com/office/drawing/2014/main" id="{40C6C95D-5733-4CCC-85EC-766C9B6B6640}"/>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0" name="Text 74">
            <a:extLst>
              <a:ext uri="{FF2B5EF4-FFF2-40B4-BE49-F238E27FC236}">
                <a16:creationId xmlns:a16="http://schemas.microsoft.com/office/drawing/2014/main" id="{C994AA25-AF7A-4C58-B9E0-494AD173C4F0}"/>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1" name="Shape 4">
            <a:extLst>
              <a:ext uri="{FF2B5EF4-FFF2-40B4-BE49-F238E27FC236}">
                <a16:creationId xmlns:a16="http://schemas.microsoft.com/office/drawing/2014/main" id="{69D42907-8906-41D8-8BBF-09AB078A909D}"/>
              </a:ext>
            </a:extLst>
          </p:cNvPr>
          <p:cNvSpPr/>
          <p:nvPr/>
        </p:nvSpPr>
        <p:spPr>
          <a:xfrm>
            <a:off x="10062633" y="1689100"/>
            <a:ext cx="63500" cy="63500"/>
          </a:xfrm>
          <a:prstGeom prst="ellipse">
            <a:avLst/>
          </a:prstGeom>
          <a:solidFill>
            <a:srgbClr val="4B4742"/>
          </a:solidFill>
          <a:ln/>
        </p:spPr>
      </p:sp>
      <p:sp>
        <p:nvSpPr>
          <p:cNvPr id="92" name="Text 5">
            <a:extLst>
              <a:ext uri="{FF2B5EF4-FFF2-40B4-BE49-F238E27FC236}">
                <a16:creationId xmlns:a16="http://schemas.microsoft.com/office/drawing/2014/main" id="{6E0ABEC6-C470-4B5D-890B-BE85DAFE2618}"/>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3" name="Shape 6">
            <a:extLst>
              <a:ext uri="{FF2B5EF4-FFF2-40B4-BE49-F238E27FC236}">
                <a16:creationId xmlns:a16="http://schemas.microsoft.com/office/drawing/2014/main" id="{BDA6B167-2C78-4D47-8DD6-85BD73B50065}"/>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4" name="Text 7">
            <a:extLst>
              <a:ext uri="{FF2B5EF4-FFF2-40B4-BE49-F238E27FC236}">
                <a16:creationId xmlns:a16="http://schemas.microsoft.com/office/drawing/2014/main" id="{D4465618-28DA-4183-8CBB-5CBC1337659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Preconditions in place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Set up the workshop before any building began.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separate development database, isolated from the live demo.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Live error monitoring and uptime watching switched 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Payment gateway test keys obtained so money paths could be built safely.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account, key and environment needed for the build was confirmed in hand — a dedicated development Supabase database, Upstash rate-limiting, Sentry error tracking, an isolated Vercel project, and Paystack test keys — with nothing yet touching real money or the live demo.</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world that cannot touch the demo</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fresh Phase 1 workspace running on its own database.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existing live demo left completely frozen and untouched.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Automatic protection against message floods on both intake channels.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Error reporting proven to be live and delivering.</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The live demo and the new Phase 1 environment were shown running side by side — same app, different data — with the demo database provably unchanged. Rate-limiting blocked a flood on the sixth message; a test error arrived in monitoring within seconds.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2</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Each brand walled off from the other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TFML and OEA fully separated — on the way in, not just at rest.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Each brand's WhatsApp / Telegram number routes into its own account.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Four independent layers of isolation, each checked automatically.</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old shared hard-coded organisation removed entirely.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sent to TFML's number appeared only under TFML; a message to OEA's number only under OEA — and neither brand could see a trace of the other. The separation held at all four layers under an automated isolation test.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3</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Requests in, from anywhere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Residents can reach the platform by WhatsApp, Telegram or the portal.</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AI reads each message, decides what it is and how urgent, and files 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personal notification inbox for every user, with channel preferences.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People can enrol their own colleagues by email invitation — no scripts.</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on any channel became a correctly-categorised ticket automatically, the right person was notified, and an emailed invitation carried a new user through sign-up into exactly the role and organisation they were granted — and nothing more.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INSERTED SCOPE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a:t>
            </a:r>
            <a:endParaRPr lang="en-US" sz="66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The platform gets its face and its assets</a:t>
            </a:r>
            <a:endParaRPr lang="en-US" sz="1900" dirty="0"/>
          </a:p>
        </p:txBody>
      </p:sp>
      <p:sp>
        <p:nvSpPr>
          <p:cNvPr id="6" name="Shape 4"/>
          <p:cNvSpPr/>
          <p:nvPr/>
        </p:nvSpPr>
        <p:spPr>
          <a:xfrm>
            <a:off x="685800" y="5904098"/>
            <a:ext cx="1463040" cy="310896"/>
          </a:xfrm>
          <a:prstGeom prst="roundRect">
            <a:avLst>
              <a:gd name="adj" fmla="val 50000"/>
            </a:avLst>
          </a:prstGeom>
          <a:solidFill>
            <a:srgbClr val="1F7A4D"/>
          </a:solidFill>
          <a:ln/>
        </p:spPr>
      </p:sp>
      <p:sp>
        <p:nvSpPr>
          <p:cNvPr id="7" name="Text 5"/>
          <p:cNvSpPr/>
          <p:nvPr/>
        </p:nvSpPr>
        <p:spPr>
          <a:xfrm>
            <a:off x="685800" y="5904098"/>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Every screen restyled onto one modern, mobile-ready design system.</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Each brand controls its own colours, logo, portal name and contacts — no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complete asset register: property, equipment, compliance, custom fields, bulk import.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public vendor application form with layered anti-abuse controls.</a:t>
            </a:r>
            <a:endParaRPr lang="en-US" sz="1600" dirty="0"/>
          </a:p>
        </p:txBody>
      </p:sp>
      <p:sp>
        <p:nvSpPr>
          <p:cNvPr id="10" name="Shape 8"/>
          <p:cNvSpPr/>
          <p:nvPr/>
        </p:nvSpPr>
        <p:spPr>
          <a:xfrm>
            <a:off x="3703320" y="2331720"/>
            <a:ext cx="8001000" cy="1371600"/>
          </a:xfrm>
          <a:prstGeom prst="roundRect">
            <a:avLst>
              <a:gd name="adj" fmla="val 6667"/>
            </a:avLst>
          </a:prstGeom>
          <a:solidFill>
            <a:srgbClr val="EAF1FA"/>
          </a:solidFill>
          <a:ln w="12700">
            <a:solidFill>
              <a:srgbClr val="D8E5F5"/>
            </a:solidFill>
            <a:prstDash val="solid"/>
          </a:ln>
        </p:spPr>
      </p:sp>
      <p:sp>
        <p:nvSpPr>
          <p:cNvPr id="11" name="Text 9"/>
          <p:cNvSpPr/>
          <p:nvPr/>
        </p:nvSpPr>
        <p:spPr>
          <a:xfrm>
            <a:off x="3977640" y="253288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98648"/>
            <a:ext cx="7452360" cy="59436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Each brand's portal rendered in its own identity (TFML navy, OEA red) from admin settings alone; an asset import accepted valid rows and refused the bad ones with reasons; a vendor could apply publicly but became payable only after a human approved.</a:t>
            </a:r>
            <a:endParaRPr lang="en-US" sz="1400" dirty="0"/>
          </a:p>
        </p:txBody>
      </p:sp>
      <p:sp>
        <p:nvSpPr>
          <p:cNvPr id="13" name="Shape 11"/>
          <p:cNvSpPr/>
          <p:nvPr/>
        </p:nvSpPr>
        <p:spPr>
          <a:xfrm>
            <a:off x="3649526" y="3883274"/>
            <a:ext cx="3970928"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1-portal-tfml.png"/>
          <p:cNvPicPr>
            <a:picLocks noChangeAspect="1"/>
          </p:cNvPicPr>
          <p:nvPr/>
        </p:nvPicPr>
        <p:blipFill>
          <a:blip r:embed="rId3"/>
          <a:stretch>
            <a:fillRect/>
          </a:stretch>
        </p:blipFill>
        <p:spPr>
          <a:xfrm>
            <a:off x="3704390" y="3938138"/>
            <a:ext cx="3861200" cy="1993392"/>
          </a:xfrm>
          <a:prstGeom prst="rect">
            <a:avLst/>
          </a:prstGeom>
        </p:spPr>
      </p:pic>
      <p:sp>
        <p:nvSpPr>
          <p:cNvPr id="15" name="Shape 12"/>
          <p:cNvSpPr/>
          <p:nvPr/>
        </p:nvSpPr>
        <p:spPr>
          <a:xfrm>
            <a:off x="7828050" y="3883274"/>
            <a:ext cx="3889199"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6" name="Image 1" descr="C:/projects/oe-group-ipms/board-reports/assets/02-portal-oea.png"/>
          <p:cNvPicPr>
            <a:picLocks noChangeAspect="1"/>
          </p:cNvPicPr>
          <p:nvPr/>
        </p:nvPicPr>
        <p:blipFill>
          <a:blip r:embed="rId4"/>
          <a:stretch>
            <a:fillRect/>
          </a:stretch>
        </p:blipFill>
        <p:spPr>
          <a:xfrm>
            <a:off x="7882914" y="3938138"/>
            <a:ext cx="3779471" cy="1993392"/>
          </a:xfrm>
          <a:prstGeom prst="rect">
            <a:avLst/>
          </a:prstGeom>
        </p:spPr>
      </p:pic>
      <p:sp>
        <p:nvSpPr>
          <p:cNvPr id="17" name="Text 13"/>
          <p:cNvSpPr/>
          <p:nvPr/>
        </p:nvSpPr>
        <p:spPr>
          <a:xfrm>
            <a:off x="3703320" y="6059546"/>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TFML (navy) and OEA (red) portals — separate requests, separate branding, one shared backend.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4</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Client money gets a real ledger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459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segregated, double-entry ledger for client funds.</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Four safety rules enforced by the database itself, not just the app.</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daily bank-versus-ledger reconciliation that flags any variance.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Balances, journal and reconciliation screens to see it all.</a:t>
            </a:r>
            <a:endParaRPr lang="en-US" sz="1600" dirty="0"/>
          </a:p>
        </p:txBody>
      </p:sp>
      <p:sp>
        <p:nvSpPr>
          <p:cNvPr id="10" name="Shape 8"/>
          <p:cNvSpPr/>
          <p:nvPr/>
        </p:nvSpPr>
        <p:spPr>
          <a:xfrm>
            <a:off x="3703320" y="2286000"/>
            <a:ext cx="8001000" cy="1325880"/>
          </a:xfrm>
          <a:prstGeom prst="roundRect">
            <a:avLst>
              <a:gd name="adj" fmla="val 6897"/>
            </a:avLst>
          </a:prstGeom>
          <a:solidFill>
            <a:srgbClr val="EAF1FA"/>
          </a:solidFill>
          <a:ln w="12700">
            <a:solidFill>
              <a:srgbClr val="D8E5F5"/>
            </a:solidFill>
            <a:prstDash val="solid"/>
          </a:ln>
        </p:spPr>
      </p:sp>
      <p:sp>
        <p:nvSpPr>
          <p:cNvPr id="11" name="Text 9"/>
          <p:cNvSpPr/>
          <p:nvPr/>
        </p:nvSpPr>
        <p:spPr>
          <a:xfrm>
            <a:off x="3977640" y="24871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52928"/>
            <a:ext cx="7452360" cy="54864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A clean bank statement reconciled to exactly zero variance. A hidden ₦75,000 debit was then deliberately planted — and the system flagged it, reported the line unmatched, and kept both runs on record. The gate that unlocks live payment keys.</a:t>
            </a:r>
            <a:endParaRPr lang="en-US" sz="1400" dirty="0"/>
          </a:p>
        </p:txBody>
      </p:sp>
      <p:sp>
        <p:nvSpPr>
          <p:cNvPr id="13" name="Shape 11"/>
          <p:cNvSpPr/>
          <p:nvPr/>
        </p:nvSpPr>
        <p:spPr>
          <a:xfrm>
            <a:off x="5659404" y="3810920"/>
            <a:ext cx="4088831" cy="2212848"/>
          </a:xfrm>
          <a:prstGeom prst="roundRect">
            <a:avLst>
              <a:gd name="adj" fmla="val 2066"/>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3-ledger.png"/>
          <p:cNvPicPr>
            <a:picLocks noChangeAspect="1"/>
          </p:cNvPicPr>
          <p:nvPr/>
        </p:nvPicPr>
        <p:blipFill>
          <a:blip r:embed="rId3"/>
          <a:stretch>
            <a:fillRect/>
          </a:stretch>
        </p:blipFill>
        <p:spPr>
          <a:xfrm>
            <a:off x="5714268" y="3865784"/>
            <a:ext cx="3979103" cy="2103120"/>
          </a:xfrm>
          <a:prstGeom prst="rect">
            <a:avLst/>
          </a:prstGeom>
        </p:spPr>
      </p:pic>
      <p:sp>
        <p:nvSpPr>
          <p:cNvPr id="15" name="Text 12"/>
          <p:cNvSpPr/>
          <p:nvPr/>
        </p:nvSpPr>
        <p:spPr>
          <a:xfrm>
            <a:off x="3703320" y="6096920"/>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segregated client-funds ledger: money held covers everything owed, per client account.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coming in, end to end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and service-charge payments taken through Paystack and Flutterwave.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payment verified server-to-server, then posted to the ledger once.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Branded receipts generated on demand, always matching the ledger.</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real test-mode payment recorded live against the true gateway.</a:t>
            </a:r>
            <a:endParaRPr lang="en-US" dirty="0"/>
          </a:p>
        </p:txBody>
      </p:sp>
      <p:sp>
        <p:nvSpPr>
          <p:cNvPr id="10" name="Shape 8"/>
          <p:cNvSpPr/>
          <p:nvPr/>
        </p:nvSpPr>
        <p:spPr>
          <a:xfrm>
            <a:off x="3703320" y="2571418"/>
            <a:ext cx="8001000" cy="1954861"/>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772587"/>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138347"/>
            <a:ext cx="7452360" cy="64008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A test payment flowed from checkout to receipt to ledger. A forged webhook claiming ₦999,999,999 against a ₦400,000 invoice was ignored — only the ₦250,000 actually presented posted. A live Paystack test then recorded ₦287,000 against a ₦285,000 invoice and correctly flagged the mismatch.</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going out — only through the gate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55448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Vendor payouts and custodial landlord rent remittance, both live.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No payment moves without passing verify → performance → approve → remit.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Management and admin fees retained; the landlord receives the balance.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Remittance advice, and a safe path if a transfer's outcome is ever unknown.</a:t>
            </a:r>
            <a:endParaRPr lang="en-US" sz="1600" dirty="0"/>
          </a:p>
        </p:txBody>
      </p:sp>
      <p:sp>
        <p:nvSpPr>
          <p:cNvPr id="10" name="Shape 8"/>
          <p:cNvSpPr/>
          <p:nvPr/>
        </p:nvSpPr>
        <p:spPr>
          <a:xfrm>
            <a:off x="3703320" y="2148840"/>
            <a:ext cx="8001000" cy="1640860"/>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35000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715768"/>
            <a:ext cx="7452360" cy="64008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The gate refused every unverified, unscored or unapproved payment. Three simultaneous attempts on one payout produced exactly one payment. Fees landed in fee income and the landlord received the net. An unrecognised ₦5,000,000 liability was refused, and a transfer of uncertain outcome was held for a person rather than guessed.</a:t>
            </a:r>
            <a:endParaRPr lang="en-US" sz="1400" dirty="0"/>
          </a:p>
        </p:txBody>
      </p:sp>
      <p:sp>
        <p:nvSpPr>
          <p:cNvPr id="13" name="Shape 11"/>
          <p:cNvSpPr/>
          <p:nvPr/>
        </p:nvSpPr>
        <p:spPr>
          <a:xfrm>
            <a:off x="5636567" y="3862852"/>
            <a:ext cx="4134505" cy="2258568"/>
          </a:xfrm>
          <a:prstGeom prst="roundRect">
            <a:avLst>
              <a:gd name="adj" fmla="val 202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4-payment-gate.png"/>
          <p:cNvPicPr>
            <a:picLocks noChangeAspect="1"/>
          </p:cNvPicPr>
          <p:nvPr/>
        </p:nvPicPr>
        <p:blipFill>
          <a:blip r:embed="rId3"/>
          <a:stretch>
            <a:fillRect/>
          </a:stretch>
        </p:blipFill>
        <p:spPr>
          <a:xfrm>
            <a:off x="5691431" y="3917716"/>
            <a:ext cx="4024777" cy="2148840"/>
          </a:xfrm>
          <a:prstGeom prst="rect">
            <a:avLst/>
          </a:prstGeom>
        </p:spPr>
      </p:pic>
      <p:sp>
        <p:nvSpPr>
          <p:cNvPr id="15" name="Text 12"/>
          <p:cNvSpPr/>
          <p:nvPr/>
        </p:nvSpPr>
        <p:spPr>
          <a:xfrm>
            <a:off x="3703320" y="6194572"/>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B4 payment gate: no vendor is paid until service is verified and performance clears the threshold — here 93.4 vs a 70 minimum.</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GOVERNANCE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Permissions become an operator's switches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Who can do what is now settings an operator toggles, not rules buried in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Only the OE Group operator portal can change them; each brand sees its own, read-only.</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Money and audit controls are permanently locked, shown on screen with the reason.</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Any drift from the board-approved baseline is badged, with one-click reset.</a:t>
            </a:r>
            <a:endParaRPr lang="en-US" sz="1600" dirty="0"/>
          </a:p>
        </p:txBody>
      </p:sp>
      <p:sp>
        <p:nvSpPr>
          <p:cNvPr id="10" name="Shape 8"/>
          <p:cNvSpPr/>
          <p:nvPr/>
        </p:nvSpPr>
        <p:spPr>
          <a:xfrm>
            <a:off x="3703320" y="3200399"/>
            <a:ext cx="8001000" cy="2197223"/>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Flipping a single permission changed what the database itself returned — switch it off and the data disappeared, switch it back and exactly what was there returned. The locked money and audit controls refused to move; a brand administrator could view but not edit their own matrix, and could not see another brand's; and every change was recorded naming both organisations. Proven by 24 checks against live logins.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PORTFOLIO</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6.75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Properties and units can finally be enrolled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Staff can now create and manage properties and units inside the app itself.</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Units carry occupancy, bulk import, and facility-manager assignment.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Guardrails protect the service-charge split: unique unit names, positive shares.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property or unit cannot be retired while occupants or unpaid charges remain.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Attaching a facility manager to a property immediately made it visible to them, and detaching removed it again — proven against live logins, so the assignment is the access, not a label. A bulk unit import was all-or-nothing, its preview showing each unit's resulting share of the service charge as a percentage; and a property still holding live units or unpaid charges refused to be retired. Confirmed by 17 checks.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7</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OEA's front door opens for applicants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Prospective tenants apply on their phone — individual or corporate, documents attached.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Explicit NDPA consent is captured; a rejected application purges automatically after 90 days.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Save-and-resume: a half-finished application can be picked up later from an emailed link.</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Which documents are mandatory is now admin configuration, not code.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live audit found submission silently blocked end to end — a document check that quietly returned zero rows instead of erroring, so every uploaded file read as missing. Closed at the database layer: the gate now lives inside the submission function itself, fields that had no reason to be readable were locked down, and the resume-by-email link the form promised was made to actually work. 48 checks across three suites confirm it end to end.</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8</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Applications move through review, not a spreadsheet</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Two-tier review: a scoped FM/PM recommends, admin or finance approves — never the same person.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Individual applications need one approval; corporate need two independent approvers.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Approval automatically creates the tenant's login and allocates the unit.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recommend, request-info, approve and reject is recorded with its author and reason.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blocker found in review: every application arrived with no property attached, so a property-scoped reviewer's queue was correctly empty. Closed by having the applicant's own form carry the property forward. Verified live in the browser against a real applicant submission: the review queue, a live recommendation, and the system correctly refusing to let the recommender also approve their own case. 35 checks.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9</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Leases, rent, and the roll a landlord can actually be handed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Lease creation, term, rent and escalation — one unit can never be let twice over the same dates.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billed annually in advance, the Nigerian norm, with each landlord's own fee rate honoured.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Renewal notices fire automatically at 90/60/30 days; rent demands now raise themselves too.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reaches the ledger automatically, splitting the landlord's share and OE Group's fee.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rate is snapshotted onto the transaction the moment it's collected, so a later fee change can never silently rewrite a past landlord statement. A gap closed on 3 August: rent demands used to depend on someone remembering to click “Bill rent” — with rent billed a year at a time, that is a year's income never asked for. Demands now raise themselves daily, each one exactly once. 47 checks across three suites.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dashboard that answers the board's question live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filterable analytics console for both brands: date, property, vendor, category, status, trends.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Fastest/slowest vendor, completion by category, average time-to-resolve — computed live.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CSV export and a branded PDF report always match the numbers shown on screen.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tenant's own “Track my request” timeline, and a vendor's own pipeline-and-scorecard view.</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fact nobody had written down: the system never recorded the moment a ticket resolved, so “average time-to-resolve” was uncomputable, until now — every average states on screen exactly what it measured. A partial period is no longer mistaken for a decline: three days of August against a full July used to print “−81% raised” in red — fixed before anyone saw it live. 32 checks.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vendor's score comes from a checklist and a clock, not a guess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Response and completion time are measured automatically against an admin-set SLA target.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Quality and compliance come from an FM/PM checklist; satisfaction from the tenant's own rating.</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Photo and video evidence on every work order, capped, private, and ticket-scoped.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measured accessibility pass: every tinted badge and muted text fixed for contrast, both themes.</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No free-typed score is possible anywhere in the write path — verified live in the browser as both roles: a tenant rates a job, an FM/PM completes the checklist, and the vendor's scorecard updates immediately to the composite the AURA weights actually specify. 26 checks on the scoring alone, plus 20 more on work-order media.</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548640"/>
          </a:xfrm>
          <a:prstGeom prst="rect">
            <a:avLst/>
          </a:prstGeom>
          <a:noFill/>
          <a:ln/>
        </p:spPr>
        <p:txBody>
          <a:bodyPr wrap="square" rtlCol="0" anchor="ctr"/>
          <a:lstStyle/>
          <a:p>
            <a:pPr marL="0" indent="0">
              <a:buNone/>
            </a:pPr>
            <a:r>
              <a:rPr lang="en-US" sz="3000" b="1" dirty="0">
                <a:solidFill>
                  <a:srgbClr val="003366"/>
                </a:solidFill>
                <a:latin typeface="Cambria" pitchFamily="34" charset="0"/>
                <a:ea typeface="Cambria" pitchFamily="34" charset="-122"/>
                <a:cs typeface="Cambria" pitchFamily="34" charset="-120"/>
              </a:rPr>
              <a:t>Roadblocks — and how they are being handled</a:t>
            </a:r>
            <a:endParaRPr lang="en-US" sz="3000" dirty="0"/>
          </a:p>
        </p:txBody>
      </p:sp>
      <p:sp>
        <p:nvSpPr>
          <p:cNvPr id="3" name="Text 1"/>
          <p:cNvSpPr/>
          <p:nvPr/>
        </p:nvSpPr>
        <p:spPr>
          <a:xfrm>
            <a:off x="566928" y="1005840"/>
            <a:ext cx="11155680" cy="365760"/>
          </a:xfrm>
          <a:prstGeom prst="rect">
            <a:avLst/>
          </a:prstGeom>
          <a:noFill/>
          <a:ln/>
        </p:spPr>
        <p:txBody>
          <a:bodyPr wrap="square" rtlCol="0" anchor="ctr"/>
          <a:lstStyle/>
          <a:p>
            <a:pPr marL="0" indent="0">
              <a:buNone/>
            </a:pPr>
            <a:r>
              <a:rPr lang="en-US" sz="1400" dirty="0">
                <a:solidFill>
                  <a:srgbClr val="7A8A9B"/>
                </a:solidFill>
                <a:latin typeface="Calibri" pitchFamily="34" charset="0"/>
                <a:ea typeface="Calibri" pitchFamily="34" charset="-122"/>
                <a:cs typeface="Calibri" pitchFamily="34" charset="-120"/>
              </a:rPr>
              <a:t>None of these stopped the build. Each is an external dependency waiting on paperwork or access, framed as issue → impact → status.</a:t>
            </a:r>
            <a:endParaRPr lang="en-US" sz="1400" dirty="0"/>
          </a:p>
        </p:txBody>
      </p:sp>
      <p:sp>
        <p:nvSpPr>
          <p:cNvPr id="4" name="Shape 2"/>
          <p:cNvSpPr/>
          <p:nvPr/>
        </p:nvSpPr>
        <p:spPr>
          <a:xfrm>
            <a:off x="548640" y="1600200"/>
            <a:ext cx="5486400" cy="2331720"/>
          </a:xfrm>
          <a:prstGeom prst="roundRect">
            <a:avLst>
              <a:gd name="adj" fmla="val 3529"/>
            </a:avLst>
          </a:prstGeom>
          <a:solidFill>
            <a:srgbClr val="FFFFFF"/>
          </a:solidFill>
          <a:ln w="12700">
            <a:solidFill>
              <a:srgbClr val="D8E0EA"/>
            </a:solidFill>
            <a:prstDash val="solid"/>
          </a:ln>
        </p:spPr>
      </p:sp>
      <p:sp>
        <p:nvSpPr>
          <p:cNvPr id="5" name="Shape 3"/>
          <p:cNvSpPr/>
          <p:nvPr/>
        </p:nvSpPr>
        <p:spPr>
          <a:xfrm>
            <a:off x="749808" y="1801368"/>
            <a:ext cx="384048" cy="384048"/>
          </a:xfrm>
          <a:prstGeom prst="roundRect">
            <a:avLst>
              <a:gd name="adj" fmla="val 50000"/>
            </a:avLst>
          </a:prstGeom>
          <a:solidFill>
            <a:srgbClr val="B23A2E"/>
          </a:solidFill>
          <a:ln/>
        </p:spPr>
      </p:sp>
      <p:sp>
        <p:nvSpPr>
          <p:cNvPr id="6" name="Text 4"/>
          <p:cNvSpPr/>
          <p:nvPr/>
        </p:nvSpPr>
        <p:spPr>
          <a:xfrm>
            <a:off x="749808"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1280160"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Meta / Facebook business verification</a:t>
            </a:r>
            <a:endParaRPr lang="en-US" dirty="0"/>
          </a:p>
        </p:txBody>
      </p:sp>
      <p:sp>
        <p:nvSpPr>
          <p:cNvPr id="8" name="Text 6"/>
          <p:cNvSpPr/>
          <p:nvPr/>
        </p:nvSpPr>
        <p:spPr>
          <a:xfrm>
            <a:off x="749808"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002060"/>
                </a:solidFill>
                <a:latin typeface="Calibri" pitchFamily="34" charset="0"/>
                <a:ea typeface="Calibri" pitchFamily="34" charset="-122"/>
                <a:cs typeface="Calibri" pitchFamily="34" charset="-120"/>
              </a:rPr>
              <a:t>Verification was held </a:t>
            </a:r>
            <a:r>
              <a:rPr lang="en-US" sz="1200" dirty="0">
                <a:solidFill>
                  <a:srgbClr val="1C2B3A"/>
                </a:solidFill>
                <a:latin typeface="Calibri" pitchFamily="34" charset="0"/>
                <a:ea typeface="Calibri" pitchFamily="34" charset="-122"/>
                <a:cs typeface="Calibri" pitchFamily="34" charset="-120"/>
              </a:rPr>
              <a:t>up because the information Facebook referenced in the business-registration document is inconsistent with the details submitted.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OEA's WhatsApp display name and higher messaging limits stay pending.
</a:t>
            </a:r>
            <a:r>
              <a:rPr lang="en-US" sz="1200" b="1" dirty="0">
                <a:solidFill>
                  <a:srgbClr val="1F7A4D"/>
                </a:solidFill>
                <a:latin typeface="Calibri" pitchFamily="34" charset="0"/>
                <a:ea typeface="Calibri" pitchFamily="34" charset="-122"/>
                <a:cs typeface="Calibri" pitchFamily="34" charset="-120"/>
              </a:rPr>
              <a:t>Status: Superseded, 4 Aug.</a:t>
            </a:r>
            <a:r>
              <a:rPr lang="en-US" sz="1200" dirty="0">
                <a:solidFill>
                  <a:srgbClr val="1C2B3A"/>
                </a:solidFill>
                <a:latin typeface="Calibri" pitchFamily="34" charset="0"/>
                <a:ea typeface="Calibri" pitchFamily="34" charset="-122"/>
                <a:cs typeface="Calibri" pitchFamily="34" charset="-120"/>
              </a:rPr>
              <a:t> Both numbers moved onto 360dialog as direct clients instead — TFML’s identity is confirmed verified via 360dialog’s own route; OEA is live under an interim display name pending the same.</a:t>
            </a:r>
            <a:endParaRPr lang="en-US" sz="1200" dirty="0"/>
          </a:p>
        </p:txBody>
      </p:sp>
      <p:sp>
        <p:nvSpPr>
          <p:cNvPr id="9" name="Shape 7"/>
          <p:cNvSpPr/>
          <p:nvPr/>
        </p:nvSpPr>
        <p:spPr>
          <a:xfrm>
            <a:off x="6199632" y="1600200"/>
            <a:ext cx="5486400" cy="2331720"/>
          </a:xfrm>
          <a:prstGeom prst="roundRect">
            <a:avLst>
              <a:gd name="adj" fmla="val 3529"/>
            </a:avLst>
          </a:prstGeom>
          <a:solidFill>
            <a:srgbClr val="FFFFFF"/>
          </a:solidFill>
          <a:ln w="12700">
            <a:solidFill>
              <a:srgbClr val="D8E0EA"/>
            </a:solidFill>
            <a:prstDash val="solid"/>
          </a:ln>
        </p:spPr>
      </p:sp>
      <p:sp>
        <p:nvSpPr>
          <p:cNvPr id="10" name="Shape 8"/>
          <p:cNvSpPr/>
          <p:nvPr/>
        </p:nvSpPr>
        <p:spPr>
          <a:xfrm>
            <a:off x="6400800" y="1801368"/>
            <a:ext cx="384048" cy="384048"/>
          </a:xfrm>
          <a:prstGeom prst="roundRect">
            <a:avLst>
              <a:gd name="adj" fmla="val 50000"/>
            </a:avLst>
          </a:prstGeom>
          <a:solidFill>
            <a:srgbClr val="B23A2E"/>
          </a:solidFill>
          <a:ln/>
        </p:spPr>
      </p:sp>
      <p:sp>
        <p:nvSpPr>
          <p:cNvPr id="11" name="Text 9"/>
          <p:cNvSpPr/>
          <p:nvPr/>
        </p:nvSpPr>
        <p:spPr>
          <a:xfrm>
            <a:off x="6400800"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6931152"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Paystack setup</a:t>
            </a:r>
            <a:endParaRPr lang="en-US" dirty="0"/>
          </a:p>
        </p:txBody>
      </p:sp>
      <p:sp>
        <p:nvSpPr>
          <p:cNvPr id="13" name="Text 11"/>
          <p:cNvSpPr/>
          <p:nvPr/>
        </p:nvSpPr>
        <p:spPr>
          <a:xfrm>
            <a:off x="6400800"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Incomplete business-registration information is blocking the Paystack account from being fully set up. Of particular interest is the latest additions of the “SCUML Certificate” and “Proof of Identity and Addresses for shareholders that own up to 51% of TFML.” requirement.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Live Naira collections cannot go live until the account clears (test mode works today).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Still open — same registration pack as Flutterwave. Live (test-mode) Paystack collections and vendor/landlord remittances already run end to end on the dev deployment while the account clears.</a:t>
            </a:r>
            <a:endParaRPr lang="en-US" sz="1200" dirty="0"/>
          </a:p>
        </p:txBody>
      </p:sp>
      <p:sp>
        <p:nvSpPr>
          <p:cNvPr id="14" name="Shape 12"/>
          <p:cNvSpPr/>
          <p:nvPr/>
        </p:nvSpPr>
        <p:spPr>
          <a:xfrm>
            <a:off x="548640" y="4114800"/>
            <a:ext cx="5486400" cy="2331720"/>
          </a:xfrm>
          <a:prstGeom prst="roundRect">
            <a:avLst>
              <a:gd name="adj" fmla="val 3529"/>
            </a:avLst>
          </a:prstGeom>
          <a:solidFill>
            <a:srgbClr val="FFFFFF"/>
          </a:solidFill>
          <a:ln w="12700">
            <a:solidFill>
              <a:srgbClr val="D8E0EA"/>
            </a:solidFill>
            <a:prstDash val="solid"/>
          </a:ln>
        </p:spPr>
      </p:sp>
      <p:sp>
        <p:nvSpPr>
          <p:cNvPr id="15" name="Shape 13"/>
          <p:cNvSpPr/>
          <p:nvPr/>
        </p:nvSpPr>
        <p:spPr>
          <a:xfrm>
            <a:off x="749808" y="4315968"/>
            <a:ext cx="384048" cy="384048"/>
          </a:xfrm>
          <a:prstGeom prst="roundRect">
            <a:avLst>
              <a:gd name="adj" fmla="val 50000"/>
            </a:avLst>
          </a:prstGeom>
          <a:solidFill>
            <a:srgbClr val="B23A2E"/>
          </a:solidFill>
          <a:ln/>
        </p:spPr>
      </p:sp>
      <p:sp>
        <p:nvSpPr>
          <p:cNvPr id="16" name="Text 14"/>
          <p:cNvSpPr/>
          <p:nvPr/>
        </p:nvSpPr>
        <p:spPr>
          <a:xfrm>
            <a:off x="749808"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80160"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Flutterwave setup</a:t>
            </a:r>
            <a:endParaRPr lang="en-US" dirty="0"/>
          </a:p>
        </p:txBody>
      </p:sp>
      <p:sp>
        <p:nvSpPr>
          <p:cNvPr id="18" name="Text 16"/>
          <p:cNvSpPr/>
          <p:nvPr/>
        </p:nvSpPr>
        <p:spPr>
          <a:xfrm>
            <a:off x="749808"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The same incomplete registration information is blocking the Flutterwave account.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Foreign-currency collections cannot go live; the system refuses them cleanly for now.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No longer blocks the build — the segregated FX ledger, Settings → Banking and FX checkout are fully built and verified (21 checks). Adding the live key is the one remaining step.</a:t>
            </a:r>
            <a:endParaRPr lang="en-US" sz="1200" dirty="0"/>
          </a:p>
        </p:txBody>
      </p:sp>
      <p:sp>
        <p:nvSpPr>
          <p:cNvPr id="19" name="Shape 17"/>
          <p:cNvSpPr/>
          <p:nvPr/>
        </p:nvSpPr>
        <p:spPr>
          <a:xfrm>
            <a:off x="6199632" y="4114800"/>
            <a:ext cx="5486400" cy="2331720"/>
          </a:xfrm>
          <a:prstGeom prst="roundRect">
            <a:avLst>
              <a:gd name="adj" fmla="val 3529"/>
            </a:avLst>
          </a:prstGeom>
          <a:solidFill>
            <a:srgbClr val="FFFFFF"/>
          </a:solidFill>
          <a:ln w="12700">
            <a:solidFill>
              <a:srgbClr val="D8E0EA"/>
            </a:solidFill>
            <a:prstDash val="solid"/>
          </a:ln>
        </p:spPr>
      </p:sp>
      <p:sp>
        <p:nvSpPr>
          <p:cNvPr id="20" name="Shape 18"/>
          <p:cNvSpPr/>
          <p:nvPr/>
        </p:nvSpPr>
        <p:spPr>
          <a:xfrm>
            <a:off x="6400800" y="4315968"/>
            <a:ext cx="384048" cy="384048"/>
          </a:xfrm>
          <a:prstGeom prst="roundRect">
            <a:avLst>
              <a:gd name="adj" fmla="val 50000"/>
            </a:avLst>
          </a:prstGeom>
          <a:solidFill>
            <a:srgbClr val="B23A2E"/>
          </a:solidFill>
          <a:ln/>
        </p:spPr>
      </p:sp>
      <p:sp>
        <p:nvSpPr>
          <p:cNvPr id="21" name="Text 19"/>
          <p:cNvSpPr/>
          <p:nvPr/>
        </p:nvSpPr>
        <p:spPr>
          <a:xfrm>
            <a:off x="6400800"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2" name="Text 20"/>
          <p:cNvSpPr/>
          <p:nvPr/>
        </p:nvSpPr>
        <p:spPr>
          <a:xfrm>
            <a:off x="6931152"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OEA email-domain routing</a:t>
            </a:r>
            <a:endParaRPr lang="en-US" dirty="0"/>
          </a:p>
        </p:txBody>
      </p:sp>
      <p:sp>
        <p:nvSpPr>
          <p:cNvPr id="23" name="Text 21"/>
          <p:cNvSpPr/>
          <p:nvPr/>
        </p:nvSpPr>
        <p:spPr>
          <a:xfrm>
            <a:off x="6400800"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No access to OEA's email host, so the branded sending records cannot be created.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 cannot yet send branded email from its own domain.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Requesting host access from OEA; sending is configured and waiting on the DNS records.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14">
    <p:bg>
      <p:bgPr>
        <a:solidFill>
          <a:srgbClr val="0A1B2E"/>
        </a:solidFill>
        <a:effectLst/>
      </p:bgPr>
    </p:bg>
    <p:spTree>
      <p:nvGrpSpPr>
        <p:cNvPr id="1" name=""/>
        <p:cNvGrpSpPr/>
        <p:nvPr/>
      </p:nvGrpSpPr>
      <p:grpSpPr>
        <a:xfrm>
          <a:off x="0" y="0"/>
          <a:ext cx="0" cy="0"/>
          <a:chOff x="0" y="0"/>
          <a:chExt cx="0" cy="0"/>
        </a:xfrm>
      </p:grpSpPr>
      <p:sp>
        <p:nvSpPr>
          <p:cNvPr id="2" name="Text 0"/>
          <p:cNvSpPr/>
          <p:nvPr/>
        </p:nvSpPr>
        <p:spPr>
          <a:xfrm>
            <a:off x="640080" y="548640"/>
            <a:ext cx="10972800" cy="36576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ROADBLOCK #5 · DISCOVERED DURING THE BUILD</a:t>
            </a:r>
            <a:endParaRPr lang="en-US" sz="1200" dirty="0"/>
          </a:p>
        </p:txBody>
      </p:sp>
      <p:sp>
        <p:nvSpPr>
          <p:cNvPr id="3" name="Text 1"/>
          <p:cNvSpPr/>
          <p:nvPr/>
        </p:nvSpPr>
        <p:spPr>
          <a:xfrm>
            <a:off x="621792"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near-miss with TFML's live business email</a:t>
            </a:r>
            <a:endParaRPr lang="en-US" sz="3000" dirty="0"/>
          </a:p>
        </p:txBody>
      </p:sp>
      <p:sp>
        <p:nvSpPr>
          <p:cNvPr id="4" name="Shape 2"/>
          <p:cNvSpPr/>
          <p:nvPr/>
        </p:nvSpPr>
        <p:spPr>
          <a:xfrm>
            <a:off x="640080" y="1965960"/>
            <a:ext cx="10881360" cy="1325880"/>
          </a:xfrm>
          <a:prstGeom prst="roundRect">
            <a:avLst>
              <a:gd name="adj" fmla="val 6897"/>
            </a:avLst>
          </a:prstGeom>
          <a:solidFill>
            <a:srgbClr val="0E2942"/>
          </a:solidFill>
          <a:ln/>
        </p:spPr>
      </p:sp>
      <p:sp>
        <p:nvSpPr>
          <p:cNvPr id="5" name="Shape 3"/>
          <p:cNvSpPr/>
          <p:nvPr/>
        </p:nvSpPr>
        <p:spPr>
          <a:xfrm>
            <a:off x="868680" y="2221992"/>
            <a:ext cx="1234440" cy="310896"/>
          </a:xfrm>
          <a:prstGeom prst="roundRect">
            <a:avLst>
              <a:gd name="adj" fmla="val 50000"/>
            </a:avLst>
          </a:prstGeom>
          <a:solidFill>
            <a:srgbClr val="B23A2E"/>
          </a:solidFill>
          <a:ln/>
        </p:spPr>
      </p:sp>
      <p:sp>
        <p:nvSpPr>
          <p:cNvPr id="6" name="Text 4"/>
          <p:cNvSpPr/>
          <p:nvPr/>
        </p:nvSpPr>
        <p:spPr>
          <a:xfrm>
            <a:off x="868680" y="2221992"/>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ISSUE</a:t>
            </a:r>
            <a:endParaRPr lang="en-US" sz="1000" dirty="0"/>
          </a:p>
        </p:txBody>
      </p:sp>
      <p:sp>
        <p:nvSpPr>
          <p:cNvPr id="7" name="Text 5"/>
          <p:cNvSpPr/>
          <p:nvPr/>
        </p:nvSpPr>
        <p:spPr>
          <a:xfrm>
            <a:off x="2331720" y="2112264"/>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Two problems surfaced while wiring email. The master brief carried the wrong TFML domain (tfmconsultant.com, which does not exist — the real one is tfmlconsultant.com). And adding email sending to the main domain would have pushed its sender records past a strict technical limit.</a:t>
            </a:r>
            <a:endParaRPr lang="en-US" sz="1350" dirty="0"/>
          </a:p>
        </p:txBody>
      </p:sp>
      <p:sp>
        <p:nvSpPr>
          <p:cNvPr id="8" name="Shape 6"/>
          <p:cNvSpPr/>
          <p:nvPr/>
        </p:nvSpPr>
        <p:spPr>
          <a:xfrm>
            <a:off x="640080" y="3447288"/>
            <a:ext cx="10881360" cy="1325880"/>
          </a:xfrm>
          <a:prstGeom prst="roundRect">
            <a:avLst>
              <a:gd name="adj" fmla="val 6897"/>
            </a:avLst>
          </a:prstGeom>
          <a:solidFill>
            <a:srgbClr val="0E2942"/>
          </a:solidFill>
          <a:ln/>
        </p:spPr>
      </p:sp>
      <p:sp>
        <p:nvSpPr>
          <p:cNvPr id="9" name="Shape 7"/>
          <p:cNvSpPr/>
          <p:nvPr/>
        </p:nvSpPr>
        <p:spPr>
          <a:xfrm>
            <a:off x="868680" y="3703320"/>
            <a:ext cx="1234440" cy="310896"/>
          </a:xfrm>
          <a:prstGeom prst="roundRect">
            <a:avLst>
              <a:gd name="adj" fmla="val 50000"/>
            </a:avLst>
          </a:prstGeom>
          <a:solidFill>
            <a:srgbClr val="B5680A"/>
          </a:solidFill>
          <a:ln/>
        </p:spPr>
      </p:sp>
      <p:sp>
        <p:nvSpPr>
          <p:cNvPr id="10" name="Text 8"/>
          <p:cNvSpPr/>
          <p:nvPr/>
        </p:nvSpPr>
        <p:spPr>
          <a:xfrm>
            <a:off x="868680" y="3703320"/>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1" name="Text 9"/>
          <p:cNvSpPr/>
          <p:nvPr/>
        </p:nvSpPr>
        <p:spPr>
          <a:xfrm>
            <a:off x="2331720" y="3593592"/>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Under TFML's existing strict mail policy, crossing that limit would have caused genuine staff email to be rejected outright — not merely spam-foldered. A routine feature could have disrupted live business email across the company.</a:t>
            </a:r>
            <a:endParaRPr lang="en-US" sz="1350" dirty="0"/>
          </a:p>
        </p:txBody>
      </p:sp>
      <p:sp>
        <p:nvSpPr>
          <p:cNvPr id="12" name="Shape 10"/>
          <p:cNvSpPr/>
          <p:nvPr/>
        </p:nvSpPr>
        <p:spPr>
          <a:xfrm>
            <a:off x="640080" y="4928616"/>
            <a:ext cx="10881360" cy="1325880"/>
          </a:xfrm>
          <a:prstGeom prst="roundRect">
            <a:avLst>
              <a:gd name="adj" fmla="val 6897"/>
            </a:avLst>
          </a:prstGeom>
          <a:solidFill>
            <a:srgbClr val="0E2942"/>
          </a:solidFill>
          <a:ln/>
        </p:spPr>
      </p:sp>
      <p:sp>
        <p:nvSpPr>
          <p:cNvPr id="13" name="Shape 11"/>
          <p:cNvSpPr/>
          <p:nvPr/>
        </p:nvSpPr>
        <p:spPr>
          <a:xfrm>
            <a:off x="868680" y="5184648"/>
            <a:ext cx="1234440" cy="310896"/>
          </a:xfrm>
          <a:prstGeom prst="roundRect">
            <a:avLst>
              <a:gd name="adj" fmla="val 50000"/>
            </a:avLst>
          </a:prstGeom>
          <a:solidFill>
            <a:srgbClr val="1F7A4D"/>
          </a:solidFill>
          <a:ln/>
        </p:spPr>
      </p:sp>
      <p:sp>
        <p:nvSpPr>
          <p:cNvPr id="14" name="Text 12"/>
          <p:cNvSpPr/>
          <p:nvPr/>
        </p:nvSpPr>
        <p:spPr>
          <a:xfrm>
            <a:off x="868680" y="5184648"/>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5" name="Text 13"/>
          <p:cNvSpPr/>
          <p:nvPr/>
        </p:nvSpPr>
        <p:spPr>
          <a:xfrm>
            <a:off x="2331720" y="5074920"/>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Resolved. The domain was corrected at source, and each brand now sends from a dedicated, isolated sub-domain that leaves the main mail records untouched. Verified live: the main records are byte-for-byte unchanged and mail still delivers under full protection.</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8595360" y="-1280160"/>
            <a:ext cx="5486400" cy="5486400"/>
          </a:xfrm>
          <a:prstGeom prst="roundRect">
            <a:avLst>
              <a:gd name="adj" fmla="val 6667"/>
            </a:avLst>
          </a:prstGeom>
          <a:solidFill>
            <a:srgbClr val="003366"/>
          </a:solidFill>
          <a:ln/>
        </p:spPr>
      </p:sp>
      <p:sp>
        <p:nvSpPr>
          <p:cNvPr id="3" name="Text 1"/>
          <p:cNvSpPr/>
          <p:nvPr/>
        </p:nvSpPr>
        <p:spPr>
          <a:xfrm>
            <a:off x="640080" y="54864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we are, and what's next</a:t>
            </a:r>
            <a:endParaRPr lang="en-US" sz="3200" dirty="0"/>
          </a:p>
        </p:txBody>
      </p:sp>
      <p:sp>
        <p:nvSpPr>
          <p:cNvPr id="4" name="Shape 2"/>
          <p:cNvSpPr/>
          <p:nvPr/>
        </p:nvSpPr>
        <p:spPr>
          <a:xfrm>
            <a:off x="640080" y="1554480"/>
            <a:ext cx="3383280" cy="1600200"/>
          </a:xfrm>
          <a:prstGeom prst="roundRect">
            <a:avLst>
              <a:gd name="adj" fmla="val 6857"/>
            </a:avLst>
          </a:prstGeom>
          <a:solidFill>
            <a:srgbClr val="0E2942"/>
          </a:solidFill>
          <a:ln/>
        </p:spPr>
      </p:sp>
      <p:sp>
        <p:nvSpPr>
          <p:cNvPr id="5" name="Text 3"/>
          <p:cNvSpPr/>
          <p:nvPr/>
        </p:nvSpPr>
        <p:spPr>
          <a:xfrm>
            <a:off x="6858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15</a:t>
            </a:r>
            <a:endParaRPr lang="en-US" sz="5200" dirty="0"/>
          </a:p>
        </p:txBody>
      </p:sp>
      <p:sp>
        <p:nvSpPr>
          <p:cNvPr id="6" name="Text 4"/>
          <p:cNvSpPr/>
          <p:nvPr/>
        </p:nvSpPr>
        <p:spPr>
          <a:xfrm>
            <a:off x="6858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stages complete</a:t>
            </a:r>
            <a:endParaRPr lang="en-US" sz="1300" dirty="0"/>
          </a:p>
        </p:txBody>
      </p:sp>
      <p:sp>
        <p:nvSpPr>
          <p:cNvPr id="7" name="Text 5"/>
          <p:cNvSpPr/>
          <p:nvPr/>
        </p:nvSpPr>
        <p:spPr>
          <a:xfrm>
            <a:off x="6858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of 16 on the roadmap</a:t>
            </a:r>
            <a:endParaRPr lang="en-US" sz="1100" dirty="0"/>
          </a:p>
        </p:txBody>
      </p:sp>
      <p:sp>
        <p:nvSpPr>
          <p:cNvPr id="8" name="Shape 6"/>
          <p:cNvSpPr/>
          <p:nvPr/>
        </p:nvSpPr>
        <p:spPr>
          <a:xfrm>
            <a:off x="4297680" y="1554480"/>
            <a:ext cx="3383280" cy="1600200"/>
          </a:xfrm>
          <a:prstGeom prst="roundRect">
            <a:avLst>
              <a:gd name="adj" fmla="val 6857"/>
            </a:avLst>
          </a:prstGeom>
          <a:solidFill>
            <a:srgbClr val="0E2942"/>
          </a:solidFill>
          <a:ln/>
        </p:spPr>
      </p:sp>
      <p:sp>
        <p:nvSpPr>
          <p:cNvPr id="9" name="Text 7"/>
          <p:cNvSpPr/>
          <p:nvPr/>
        </p:nvSpPr>
        <p:spPr>
          <a:xfrm>
            <a:off x="43434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3</a:t>
            </a:r>
            <a:endParaRPr lang="en-US" sz="5200" dirty="0"/>
          </a:p>
        </p:txBody>
      </p:sp>
      <p:sp>
        <p:nvSpPr>
          <p:cNvPr id="10" name="Text 8"/>
          <p:cNvSpPr/>
          <p:nvPr/>
        </p:nvSpPr>
        <p:spPr>
          <a:xfrm>
            <a:off x="43434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money tracks live</a:t>
            </a:r>
            <a:endParaRPr lang="en-US" sz="1300" dirty="0"/>
          </a:p>
        </p:txBody>
      </p:sp>
      <p:sp>
        <p:nvSpPr>
          <p:cNvPr id="11" name="Text 9"/>
          <p:cNvSpPr/>
          <p:nvPr/>
        </p:nvSpPr>
        <p:spPr>
          <a:xfrm>
            <a:off x="43434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ledger · collect · remit</a:t>
            </a:r>
            <a:endParaRPr lang="en-US" sz="1100" dirty="0"/>
          </a:p>
        </p:txBody>
      </p:sp>
      <p:sp>
        <p:nvSpPr>
          <p:cNvPr id="12" name="Shape 10"/>
          <p:cNvSpPr/>
          <p:nvPr/>
        </p:nvSpPr>
        <p:spPr>
          <a:xfrm>
            <a:off x="7955280" y="1554480"/>
            <a:ext cx="3383280" cy="1600200"/>
          </a:xfrm>
          <a:prstGeom prst="roundRect">
            <a:avLst>
              <a:gd name="adj" fmla="val 6857"/>
            </a:avLst>
          </a:prstGeom>
          <a:solidFill>
            <a:srgbClr val="0E2942"/>
          </a:solidFill>
          <a:ln/>
        </p:spPr>
      </p:sp>
      <p:sp>
        <p:nvSpPr>
          <p:cNvPr id="13" name="Text 11"/>
          <p:cNvSpPr/>
          <p:nvPr/>
        </p:nvSpPr>
        <p:spPr>
          <a:xfrm>
            <a:off x="80010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a:t>
            </a:r>
            <a:endParaRPr lang="en-US" sz="5200" dirty="0"/>
          </a:p>
        </p:txBody>
      </p:sp>
      <p:sp>
        <p:nvSpPr>
          <p:cNvPr id="14" name="Text 12"/>
          <p:cNvSpPr/>
          <p:nvPr/>
        </p:nvSpPr>
        <p:spPr>
          <a:xfrm>
            <a:off x="80010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known money defects</a:t>
            </a:r>
            <a:endParaRPr lang="en-US" sz="1300" dirty="0"/>
          </a:p>
        </p:txBody>
      </p:sp>
      <p:sp>
        <p:nvSpPr>
          <p:cNvPr id="15" name="Text 13"/>
          <p:cNvSpPr/>
          <p:nvPr/>
        </p:nvSpPr>
        <p:spPr>
          <a:xfrm>
            <a:off x="80010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1 open (SC-budget race) · vendor-score gate fixed 6 Aug.</a:t>
            </a:r>
            <a:endParaRPr lang="en-US" sz="1100" dirty="0"/>
          </a:p>
        </p:txBody>
      </p:sp>
      <p:sp>
        <p:nvSpPr>
          <p:cNvPr id="16" name="Text 14"/>
          <p:cNvSpPr/>
          <p:nvPr/>
        </p:nvSpPr>
        <p:spPr>
          <a:xfrm>
            <a:off x="640080" y="34747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Current stage</a:t>
            </a:r>
            <a:endParaRPr lang="en-US" sz="1300" dirty="0"/>
          </a:p>
        </p:txBody>
      </p:sp>
      <p:sp>
        <p:nvSpPr>
          <p:cNvPr id="17" name="Text 15"/>
          <p:cNvSpPr/>
          <p:nvPr/>
        </p:nvSpPr>
        <p:spPr>
          <a:xfrm>
            <a:off x="658368" y="3794760"/>
            <a:ext cx="10881360" cy="914400"/>
          </a:xfrm>
          <a:prstGeom prst="rect">
            <a:avLst/>
          </a:prstGeom>
          <a:noFill/>
          <a:ln/>
        </p:spPr>
        <p:txBody>
          <a:bodyPr wrap="square" rtlCol="0" anchor="ctr"/>
          <a:lstStyle/>
          <a:p>
            <a:pPr marL="0" indent="0">
              <a:lnSpc>
                <a:spcPct val="115000"/>
              </a:lnSpc>
              <a:buNone/>
            </a:pPr>
            <a:r>
              <a:rPr lang="en-US" sz="1400" dirty="0">
                <a:solidFill>
                  <a:srgbClr val="D8E5F5"/>
                </a:solidFill>
                <a:latin typeface="Calibri" pitchFamily="34" charset="0"/>
                <a:ea typeface="Calibri" pitchFamily="34" charset="-122"/>
                <a:cs typeface="Calibri" pitchFamily="34" charset="-120"/>
              </a:rPr>
              <a:t>Five more tracks have landed since: OEA applicants can now apply, be reviewed and approved straight into a tenancy; leases, rent billing and the rent roll are live with self-raising demands and renewal notices; the interactive analytics console answers the board’s own questions live; and a vendor’s score now comes from a checklist and a clock, not a free-typed guess. The foundation and full money-path tracks remain complete and verified against the real gateway.</a:t>
            </a:r>
            <a:endParaRPr lang="en-US" sz="1400" dirty="0"/>
          </a:p>
        </p:txBody>
      </p:sp>
      <p:sp>
        <p:nvSpPr>
          <p:cNvPr id="18" name="Text 16"/>
          <p:cNvSpPr/>
          <p:nvPr/>
        </p:nvSpPr>
        <p:spPr>
          <a:xfrm>
            <a:off x="640080" y="48463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The immediate next step</a:t>
            </a:r>
            <a:endParaRPr lang="en-US" sz="1300" dirty="0"/>
          </a:p>
        </p:txBody>
      </p:sp>
      <p:sp>
        <p:nvSpPr>
          <p:cNvPr id="19" name="Text 17"/>
          <p:cNvSpPr/>
          <p:nvPr/>
        </p:nvSpPr>
        <p:spPr>
          <a:xfrm>
            <a:off x="658368" y="5166360"/>
            <a:ext cx="10881360" cy="1097280"/>
          </a:xfrm>
          <a:prstGeom prst="rect">
            <a:avLst/>
          </a:prstGeom>
          <a:noFill/>
          <a:ln/>
        </p:spPr>
        <p:txBody>
          <a:bodyPr wrap="square"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Day 12 — Security, compliance, UAT and go-live.  </a:t>
            </a:r>
            <a:r>
              <a:rPr lang="en-US" sz="1400" dirty="0">
                <a:solidFill>
                  <a:srgbClr val="D8E5F5"/>
                </a:solidFill>
                <a:latin typeface="Calibri" pitchFamily="34" charset="0"/>
                <a:ea typeface="Calibri" pitchFamily="34" charset="-122"/>
                <a:cs typeface="Calibri" pitchFamily="34" charset="-120"/>
              </a:rPr>
              <a:t>The production security pass, NDPA compliance pack and multi-role UAT are underway. Of Monday’s two audit findings, the vendor-score/payment-gate defect was fixed 6 Aug with a regression test; a billing-race guard on SC budgets remains open. Go-live still needs the board: DPO designation, processor DPAs, live payment keys and the go/no-go after a clean UAT.</a:t>
            </a:r>
            <a:endParaRPr lang="en-US" sz="1400" dirty="0"/>
          </a:p>
        </p:txBody>
      </p:sp>
      <p:sp>
        <p:nvSpPr>
          <p:cNvPr id="20" name="Text 18"/>
          <p:cNvSpPr/>
          <p:nvPr/>
        </p:nvSpPr>
        <p:spPr>
          <a:xfrm>
            <a:off x="640080" y="6446520"/>
            <a:ext cx="10881360" cy="274320"/>
          </a:xfrm>
          <a:prstGeom prst="rect">
            <a:avLst/>
          </a:prstGeom>
          <a:noFill/>
          <a:ln/>
        </p:spPr>
        <p:txBody>
          <a:bodyPr wrap="square" rtlCol="0" anchor="ctr"/>
          <a:lstStyle/>
          <a:p>
            <a:pPr marL="0" indent="0">
              <a:buNone/>
            </a:pPr>
            <a:r>
              <a:rPr lang="en-US" sz="1000" dirty="0">
                <a:solidFill>
                  <a:srgbClr val="6E86A2"/>
                </a:solidFill>
                <a:latin typeface="Calibri" pitchFamily="34" charset="0"/>
                <a:ea typeface="Calibri" pitchFamily="34" charset="-122"/>
                <a:cs typeface="Calibri" pitchFamily="34" charset="-120"/>
              </a:rPr>
              <a:t>Board Confidential  ·  5 August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8287</TotalTime>
  <Words>4910</Words>
  <Application>Microsoft Office PowerPoint</Application>
  <PresentationFormat>Widescreen</PresentationFormat>
  <Paragraphs>571</Paragraphs>
  <Slides>27</Slides>
  <Notes>22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Amapakabo</cp:lastModifiedBy>
  <cp:revision>9</cp:revision>
  <dcterms:created xsi:type="dcterms:W3CDTF">2026-07-28T16:33:45Z</dcterms:created>
  <dcterms:modified xsi:type="dcterms:W3CDTF">2026-08-07T12:23:57Z</dcterms:modified>
</cp:coreProperties>
</file>