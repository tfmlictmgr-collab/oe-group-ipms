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scenarios are the second half of each day. The walkthrough teaches the screens; these prove the handovers — the moments where work passes from one person to another and something can be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temptation is to let one confident person drive the whole thing. Resist it — the point is the handover, and a single driver never experiences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setting out loud before anyone touches a keyboard. People behave differently when the situation feels real, and that is the behaviour worth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keep this slide up while the scenario runs, so people can see whose turn is next.
The 'watch for' items are the ones to raise in the discussion afterwards if nobody noticed them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setting out loud before anyone touches a keyboard. People behave differently when the situation feels real, and that is the behaviour worth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keep this slide up while the scenario runs, so people can see whose turn is next.
The 'watch for' items are the ones to raise in the discussion afterwards if nobody noticed them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setting out loud before anyone touches a keyboard. People behave differently when the situation feels real, and that is the behaviour worth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keep this slide up while the scenario runs, so people can see whose turn is next.
The 'watch for' items are the ones to raise in the discussion afterwards if nobody noticed them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every scenario with the question at the bottom. It surfaces the gaps that no scripted exercise ever reaches, because scripted exercises only test what we already thought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20"/>
        </a:solidFill>
      </p:bgPr>
    </p:bg>
    <p:spTree>
      <p:nvGrpSpPr>
        <p:cNvPr id="1" name=""/>
        <p:cNvGrpSpPr/>
        <p:nvPr/>
      </p:nvGrpSpPr>
      <p:grpSpPr>
        <a:xfrm>
          <a:off x="0" y="0"/>
          <a:ext cx="0" cy="0"/>
          <a:chOff x="0" y="0"/>
          <a:chExt cx="0" cy="0"/>
        </a:xfrm>
      </p:grpSpPr>
      <p:sp>
        <p:nvSpPr>
          <p:cNvPr id="2" name="Shape 0"/>
          <p:cNvSpPr/>
          <p:nvPr/>
        </p:nvSpPr>
        <p:spPr>
          <a:xfrm>
            <a:off x="8778240" y="-2377440"/>
            <a:ext cx="6400800" cy="6400800"/>
          </a:xfrm>
          <a:prstGeom prst="ellipse">
            <a:avLst/>
          </a:prstGeom>
          <a:solidFill>
            <a:srgbClr val="1A1A2E">
              <a:alpha val="75000"/>
            </a:srgbClr>
          </a:solidFill>
          <a:ln/>
        </p:spPr>
      </p:sp>
      <p:sp>
        <p:nvSpPr>
          <p:cNvPr id="3" name="Shape 1"/>
          <p:cNvSpPr/>
          <p:nvPr/>
        </p:nvSpPr>
        <p:spPr>
          <a:xfrm>
            <a:off x="10241280" y="4389120"/>
            <a:ext cx="4023360" cy="4023360"/>
          </a:xfrm>
          <a:prstGeom prst="ellipse">
            <a:avLst/>
          </a:prstGeom>
          <a:solidFill>
            <a:srgbClr val="D92323">
              <a:alpha val="17000"/>
            </a:srgbClr>
          </a:solidFill>
          <a:ln/>
        </p:spPr>
      </p:sp>
      <p:sp>
        <p:nvSpPr>
          <p:cNvPr id="4" name="Text 2"/>
          <p:cNvSpPr/>
          <p:nvPr/>
        </p:nvSpPr>
        <p:spPr>
          <a:xfrm>
            <a:off x="822960" y="1463040"/>
            <a:ext cx="10058400" cy="365760"/>
          </a:xfrm>
          <a:prstGeom prst="rect">
            <a:avLst/>
          </a:prstGeom>
          <a:noFill/>
          <a:ln/>
        </p:spPr>
        <p:txBody>
          <a:bodyPr wrap="square" lIns="0" tIns="0" rIns="0" bIns="0" rtlCol="0" anchor="t"/>
          <a:lstStyle/>
          <a:p>
            <a:pPr indent="0" marL="0">
              <a:buNone/>
            </a:pPr>
            <a:r>
              <a:rPr lang="en-US" sz="1250" b="1" spc="160" kern="0" dirty="0">
                <a:solidFill>
                  <a:srgbClr val="D92323"/>
                </a:solidFill>
                <a:latin typeface="Calibri" pitchFamily="34" charset="0"/>
                <a:ea typeface="Calibri" pitchFamily="34" charset="-122"/>
                <a:cs typeface="Calibri" pitchFamily="34" charset="-120"/>
              </a:rPr>
              <a:t>ORA EGBUNIKE &amp; ASSOCIATES · USER ACCEPTANCE TESTING</a:t>
            </a:r>
            <a:endParaRPr lang="en-US" sz="1250" dirty="0"/>
          </a:p>
        </p:txBody>
      </p:sp>
      <p:sp>
        <p:nvSpPr>
          <p:cNvPr id="5" name="Text 3"/>
          <p:cNvSpPr/>
          <p:nvPr/>
        </p:nvSpPr>
        <p:spPr>
          <a:xfrm>
            <a:off x="777240" y="1920240"/>
            <a:ext cx="10515600" cy="100584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Three days in the life</a:t>
            </a:r>
            <a:endParaRPr lang="en-US" sz="5200" dirty="0"/>
          </a:p>
        </p:txBody>
      </p:sp>
      <p:sp>
        <p:nvSpPr>
          <p:cNvPr id="6" name="Text 4"/>
          <p:cNvSpPr/>
          <p:nvPr/>
        </p:nvSpPr>
        <p:spPr>
          <a:xfrm>
            <a:off x="822960" y="3063240"/>
            <a:ext cx="10058400" cy="502920"/>
          </a:xfrm>
          <a:prstGeom prst="rect">
            <a:avLst/>
          </a:prstGeom>
          <a:noFill/>
          <a:ln/>
        </p:spPr>
        <p:txBody>
          <a:bodyPr wrap="square" lIns="0" tIns="0" rIns="0" bIns="0" rtlCol="0" anchor="t"/>
          <a:lstStyle/>
          <a:p>
            <a:pPr indent="0" marL="0">
              <a:buNone/>
            </a:pPr>
            <a:r>
              <a:rPr lang="en-US" sz="1900" i="1" dirty="0">
                <a:solidFill>
                  <a:srgbClr val="C9CBD8"/>
                </a:solidFill>
                <a:latin typeface="Calibri" pitchFamily="34" charset="0"/>
                <a:ea typeface="Calibri" pitchFamily="34" charset="-122"/>
                <a:cs typeface="Calibri" pitchFamily="34" charset="-120"/>
              </a:rPr>
              <a:t>One situation a day, carried across every role it touches</a:t>
            </a:r>
            <a:endParaRPr lang="en-US" sz="1900" dirty="0"/>
          </a:p>
        </p:txBody>
      </p:sp>
      <p:sp>
        <p:nvSpPr>
          <p:cNvPr id="7" name="Shape 5"/>
          <p:cNvSpPr/>
          <p:nvPr/>
        </p:nvSpPr>
        <p:spPr>
          <a:xfrm>
            <a:off x="822960" y="3840480"/>
            <a:ext cx="2011680" cy="0"/>
          </a:xfrm>
          <a:prstGeom prst="line">
            <a:avLst/>
          </a:prstGeom>
          <a:noFill/>
          <a:ln w="25400">
            <a:solidFill>
              <a:srgbClr val="D92323"/>
            </a:solidFill>
            <a:prstDash val="solid"/>
          </a:ln>
        </p:spPr>
      </p:sp>
      <p:sp>
        <p:nvSpPr>
          <p:cNvPr id="8" name="Text 6"/>
          <p:cNvSpPr/>
          <p:nvPr/>
        </p:nvSpPr>
        <p:spPr>
          <a:xfrm>
            <a:off x="822960" y="4023360"/>
            <a:ext cx="9144000" cy="365760"/>
          </a:xfrm>
          <a:prstGeom prst="rect">
            <a:avLst/>
          </a:prstGeom>
          <a:noFill/>
          <a:ln/>
        </p:spPr>
        <p:txBody>
          <a:bodyPr wrap="square" lIns="0" tIns="0" rIns="0" bIns="0" rtlCol="0" anchor="t"/>
          <a:lstStyle/>
          <a:p>
            <a:pPr indent="0" marL="0">
              <a:buNone/>
            </a:pPr>
            <a:r>
              <a:rPr lang="en-US" sz="1300" dirty="0">
                <a:solidFill>
                  <a:srgbClr val="E4E5EC"/>
                </a:solidFill>
                <a:latin typeface="Calibri" pitchFamily="34" charset="0"/>
                <a:ea typeface="Calibri" pitchFamily="34" charset="-122"/>
                <a:cs typeface="Calibri" pitchFamily="34" charset="-120"/>
              </a:rPr>
              <a:t>Companion to the three-day walkthrough — run these after the scripted exercises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indent="0" marL="0">
              <a:buNone/>
            </a:pPr>
            <a:r>
              <a:rPr lang="en-US" sz="1150" b="1" spc="200" kern="0" dirty="0">
                <a:solidFill>
                  <a:srgbClr val="A81A1A"/>
                </a:solidFill>
                <a:latin typeface="Calibri" pitchFamily="34" charset="0"/>
                <a:ea typeface="Calibri" pitchFamily="34" charset="-122"/>
                <a:cs typeface="Calibri" pitchFamily="34" charset="-120"/>
              </a:rPr>
              <a:t>BEFORE YOU START</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algn="l" indent="0" marL="0">
              <a:buNone/>
            </a:pPr>
            <a:r>
              <a:rPr lang="en-US" sz="3200" b="1" dirty="0">
                <a:solidFill>
                  <a:srgbClr val="1F2229"/>
                </a:solidFill>
                <a:latin typeface="Cambria" pitchFamily="34" charset="0"/>
                <a:ea typeface="Cambria" pitchFamily="34" charset="-122"/>
                <a:cs typeface="Cambria" pitchFamily="34" charset="-120"/>
              </a:rPr>
              <a:t>How to run a scenario</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indent="0" marL="0">
              <a:buNone/>
            </a:pPr>
            <a:r>
              <a:rPr lang="en-US" sz="1450" dirty="0">
                <a:solidFill>
                  <a:srgbClr val="5C616E"/>
                </a:solidFill>
                <a:latin typeface="Calibri" pitchFamily="34" charset="0"/>
                <a:ea typeface="Calibri" pitchFamily="34" charset="-122"/>
                <a:cs typeface="Calibri" pitchFamily="34" charset="-120"/>
              </a:rPr>
              <a:t>Six to eight people, one screen each, one situation moving between them in real time.</a:t>
            </a:r>
            <a:endParaRPr lang="en-US" sz="1450" dirty="0"/>
          </a:p>
        </p:txBody>
      </p:sp>
      <p:sp>
        <p:nvSpPr>
          <p:cNvPr id="5" name="Shape 3"/>
          <p:cNvSpPr/>
          <p:nvPr/>
        </p:nvSpPr>
        <p:spPr>
          <a:xfrm>
            <a:off x="640080" y="2240280"/>
            <a:ext cx="5349240" cy="1463040"/>
          </a:xfrm>
          <a:prstGeom prst="roundRect">
            <a:avLst>
              <a:gd name="adj" fmla="val 5000"/>
            </a:avLst>
          </a:prstGeom>
          <a:solidFill>
            <a:srgbClr val="FBF7F2"/>
          </a:solidFill>
          <a:ln w="12700">
            <a:solidFill>
              <a:srgbClr val="E8E2DA"/>
            </a:solidFill>
            <a:prstDash val="solid"/>
          </a:ln>
        </p:spPr>
      </p:sp>
      <p:sp>
        <p:nvSpPr>
          <p:cNvPr id="6" name="Shape 4"/>
          <p:cNvSpPr/>
          <p:nvPr/>
        </p:nvSpPr>
        <p:spPr>
          <a:xfrm>
            <a:off x="914400" y="2496312"/>
            <a:ext cx="365760" cy="365760"/>
          </a:xfrm>
          <a:prstGeom prst="ellipse">
            <a:avLst/>
          </a:prstGeom>
          <a:solidFill>
            <a:srgbClr val="D92323"/>
          </a:solidFill>
          <a:ln/>
        </p:spPr>
      </p:sp>
      <p:sp>
        <p:nvSpPr>
          <p:cNvPr id="7" name="Text 5"/>
          <p:cNvSpPr/>
          <p:nvPr/>
        </p:nvSpPr>
        <p:spPr>
          <a:xfrm>
            <a:off x="914400" y="2496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417320" y="2459736"/>
            <a:ext cx="4297680" cy="384048"/>
          </a:xfrm>
          <a:prstGeom prst="rect">
            <a:avLst/>
          </a:prstGeom>
          <a:noFill/>
          <a:ln/>
        </p:spPr>
        <p:txBody>
          <a:bodyPr wrap="square" lIns="0" tIns="0" rIns="0" bIns="0" rtlCol="0" anchor="ctr"/>
          <a:lstStyle/>
          <a:p>
            <a:pPr indent="0" marL="0">
              <a:buNone/>
            </a:pPr>
            <a:r>
              <a:rPr lang="en-US" sz="1700" b="1" dirty="0">
                <a:solidFill>
                  <a:srgbClr val="1F2229"/>
                </a:solidFill>
                <a:latin typeface="Cambria" pitchFamily="34" charset="0"/>
                <a:ea typeface="Cambria" pitchFamily="34" charset="-122"/>
                <a:cs typeface="Cambria" pitchFamily="34" charset="-120"/>
              </a:rPr>
              <a:t>Assign the seats first</a:t>
            </a:r>
            <a:endParaRPr lang="en-US" sz="1700" dirty="0"/>
          </a:p>
        </p:txBody>
      </p:sp>
      <p:sp>
        <p:nvSpPr>
          <p:cNvPr id="9" name="Text 7"/>
          <p:cNvSpPr/>
          <p:nvPr/>
        </p:nvSpPr>
        <p:spPr>
          <a:xfrm>
            <a:off x="914400" y="2990088"/>
            <a:ext cx="4800600" cy="594360"/>
          </a:xfrm>
          <a:prstGeom prst="rect">
            <a:avLst/>
          </a:prstGeom>
          <a:noFill/>
          <a:ln/>
        </p:spPr>
        <p:txBody>
          <a:bodyPr wrap="square" lIns="0" tIns="0" rIns="0" bIns="0" rtlCol="0" anchor="t"/>
          <a:lstStyle/>
          <a:p>
            <a:pPr indent="0" marL="0">
              <a:buNone/>
            </a:pPr>
            <a:r>
              <a:rPr lang="en-US" sz="1150" dirty="0">
                <a:solidFill>
                  <a:srgbClr val="5C616E"/>
                </a:solidFill>
                <a:latin typeface="Calibri" pitchFamily="34" charset="0"/>
                <a:ea typeface="Calibri" pitchFamily="34" charset="-122"/>
                <a:cs typeface="Calibri" pitchFamily="34" charset="-120"/>
              </a:rPr>
              <a:t>One person per role in the baton, signed in and ready before the scenario starts.</a:t>
            </a:r>
            <a:endParaRPr lang="en-US" sz="1150" dirty="0"/>
          </a:p>
        </p:txBody>
      </p:sp>
      <p:sp>
        <p:nvSpPr>
          <p:cNvPr id="10" name="Shape 8"/>
          <p:cNvSpPr/>
          <p:nvPr/>
        </p:nvSpPr>
        <p:spPr>
          <a:xfrm>
            <a:off x="6199632" y="2240280"/>
            <a:ext cx="5349240" cy="1463040"/>
          </a:xfrm>
          <a:prstGeom prst="roundRect">
            <a:avLst>
              <a:gd name="adj" fmla="val 5000"/>
            </a:avLst>
          </a:prstGeom>
          <a:solidFill>
            <a:srgbClr val="FBF7F2"/>
          </a:solidFill>
          <a:ln w="12700">
            <a:solidFill>
              <a:srgbClr val="E8E2DA"/>
            </a:solidFill>
            <a:prstDash val="solid"/>
          </a:ln>
        </p:spPr>
      </p:sp>
      <p:sp>
        <p:nvSpPr>
          <p:cNvPr id="11" name="Shape 9"/>
          <p:cNvSpPr/>
          <p:nvPr/>
        </p:nvSpPr>
        <p:spPr>
          <a:xfrm>
            <a:off x="6473952" y="2496312"/>
            <a:ext cx="365760" cy="365760"/>
          </a:xfrm>
          <a:prstGeom prst="ellipse">
            <a:avLst/>
          </a:prstGeom>
          <a:solidFill>
            <a:srgbClr val="D92323"/>
          </a:solidFill>
          <a:ln/>
        </p:spPr>
      </p:sp>
      <p:sp>
        <p:nvSpPr>
          <p:cNvPr id="12" name="Text 10"/>
          <p:cNvSpPr/>
          <p:nvPr/>
        </p:nvSpPr>
        <p:spPr>
          <a:xfrm>
            <a:off x="6473952" y="2496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976872" y="2459736"/>
            <a:ext cx="4297680" cy="384048"/>
          </a:xfrm>
          <a:prstGeom prst="rect">
            <a:avLst/>
          </a:prstGeom>
          <a:noFill/>
          <a:ln/>
        </p:spPr>
        <p:txBody>
          <a:bodyPr wrap="square" lIns="0" tIns="0" rIns="0" bIns="0" rtlCol="0" anchor="ctr"/>
          <a:lstStyle/>
          <a:p>
            <a:pPr indent="0" marL="0">
              <a:buNone/>
            </a:pPr>
            <a:r>
              <a:rPr lang="en-US" sz="1700" b="1" dirty="0">
                <a:solidFill>
                  <a:srgbClr val="1F2229"/>
                </a:solidFill>
                <a:latin typeface="Cambria" pitchFamily="34" charset="0"/>
                <a:ea typeface="Cambria" pitchFamily="34" charset="-122"/>
                <a:cs typeface="Cambria" pitchFamily="34" charset="-120"/>
              </a:rPr>
              <a:t>Do not skip ahead</a:t>
            </a:r>
            <a:endParaRPr lang="en-US" sz="1700" dirty="0"/>
          </a:p>
        </p:txBody>
      </p:sp>
      <p:sp>
        <p:nvSpPr>
          <p:cNvPr id="14" name="Text 12"/>
          <p:cNvSpPr/>
          <p:nvPr/>
        </p:nvSpPr>
        <p:spPr>
          <a:xfrm>
            <a:off x="6473952" y="2990088"/>
            <a:ext cx="4800600" cy="594360"/>
          </a:xfrm>
          <a:prstGeom prst="rect">
            <a:avLst/>
          </a:prstGeom>
          <a:noFill/>
          <a:ln/>
        </p:spPr>
        <p:txBody>
          <a:bodyPr wrap="square" lIns="0" tIns="0" rIns="0" bIns="0" rtlCol="0" anchor="t"/>
          <a:lstStyle/>
          <a:p>
            <a:pPr indent="0" marL="0">
              <a:buNone/>
            </a:pPr>
            <a:r>
              <a:rPr lang="en-US" sz="1150" dirty="0">
                <a:solidFill>
                  <a:srgbClr val="5C616E"/>
                </a:solidFill>
                <a:latin typeface="Calibri" pitchFamily="34" charset="0"/>
                <a:ea typeface="Calibri" pitchFamily="34" charset="-122"/>
                <a:cs typeface="Calibri" pitchFamily="34" charset="-120"/>
              </a:rPr>
              <a:t>Wait for the handover. The delay is part of what you are testing.</a:t>
            </a:r>
            <a:endParaRPr lang="en-US" sz="1150" dirty="0"/>
          </a:p>
        </p:txBody>
      </p:sp>
      <p:sp>
        <p:nvSpPr>
          <p:cNvPr id="15" name="Shape 13"/>
          <p:cNvSpPr/>
          <p:nvPr/>
        </p:nvSpPr>
        <p:spPr>
          <a:xfrm>
            <a:off x="640080" y="3931920"/>
            <a:ext cx="5349240" cy="1463040"/>
          </a:xfrm>
          <a:prstGeom prst="roundRect">
            <a:avLst>
              <a:gd name="adj" fmla="val 5000"/>
            </a:avLst>
          </a:prstGeom>
          <a:solidFill>
            <a:srgbClr val="FBF7F2"/>
          </a:solidFill>
          <a:ln w="12700">
            <a:solidFill>
              <a:srgbClr val="E8E2DA"/>
            </a:solidFill>
            <a:prstDash val="solid"/>
          </a:ln>
        </p:spPr>
      </p:sp>
      <p:sp>
        <p:nvSpPr>
          <p:cNvPr id="16" name="Shape 14"/>
          <p:cNvSpPr/>
          <p:nvPr/>
        </p:nvSpPr>
        <p:spPr>
          <a:xfrm>
            <a:off x="914400" y="4187952"/>
            <a:ext cx="365760" cy="365760"/>
          </a:xfrm>
          <a:prstGeom prst="ellipse">
            <a:avLst/>
          </a:prstGeom>
          <a:solidFill>
            <a:srgbClr val="D92323"/>
          </a:solidFill>
          <a:ln/>
        </p:spPr>
      </p:sp>
      <p:sp>
        <p:nvSpPr>
          <p:cNvPr id="17" name="Text 15"/>
          <p:cNvSpPr/>
          <p:nvPr/>
        </p:nvSpPr>
        <p:spPr>
          <a:xfrm>
            <a:off x="914400" y="41879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417320" y="4151376"/>
            <a:ext cx="4297680" cy="384048"/>
          </a:xfrm>
          <a:prstGeom prst="rect">
            <a:avLst/>
          </a:prstGeom>
          <a:noFill/>
          <a:ln/>
        </p:spPr>
        <p:txBody>
          <a:bodyPr wrap="square" lIns="0" tIns="0" rIns="0" bIns="0" rtlCol="0" anchor="ctr"/>
          <a:lstStyle/>
          <a:p>
            <a:pPr indent="0" marL="0">
              <a:buNone/>
            </a:pPr>
            <a:r>
              <a:rPr lang="en-US" sz="1700" b="1" dirty="0">
                <a:solidFill>
                  <a:srgbClr val="1F2229"/>
                </a:solidFill>
                <a:latin typeface="Cambria" pitchFamily="34" charset="0"/>
                <a:ea typeface="Cambria" pitchFamily="34" charset="-122"/>
                <a:cs typeface="Cambria" pitchFamily="34" charset="-120"/>
              </a:rPr>
              <a:t>Say what you see</a:t>
            </a:r>
            <a:endParaRPr lang="en-US" sz="1700" dirty="0"/>
          </a:p>
        </p:txBody>
      </p:sp>
      <p:sp>
        <p:nvSpPr>
          <p:cNvPr id="19" name="Text 17"/>
          <p:cNvSpPr/>
          <p:nvPr/>
        </p:nvSpPr>
        <p:spPr>
          <a:xfrm>
            <a:off x="914400" y="4681728"/>
            <a:ext cx="4800600" cy="594360"/>
          </a:xfrm>
          <a:prstGeom prst="rect">
            <a:avLst/>
          </a:prstGeom>
          <a:noFill/>
          <a:ln/>
        </p:spPr>
        <p:txBody>
          <a:bodyPr wrap="square" lIns="0" tIns="0" rIns="0" bIns="0" rtlCol="0" anchor="t"/>
          <a:lstStyle/>
          <a:p>
            <a:pPr indent="0" marL="0">
              <a:buNone/>
            </a:pPr>
            <a:r>
              <a:rPr lang="en-US" sz="1150" dirty="0">
                <a:solidFill>
                  <a:srgbClr val="5C616E"/>
                </a:solidFill>
                <a:latin typeface="Calibri" pitchFamily="34" charset="0"/>
                <a:ea typeface="Calibri" pitchFamily="34" charset="-122"/>
                <a:cs typeface="Calibri" pitchFamily="34" charset="-120"/>
              </a:rPr>
              <a:t>Out loud, as you go — the person before you cannot see your screen.</a:t>
            </a:r>
            <a:endParaRPr lang="en-US" sz="1150" dirty="0"/>
          </a:p>
        </p:txBody>
      </p:sp>
      <p:sp>
        <p:nvSpPr>
          <p:cNvPr id="20" name="Shape 18"/>
          <p:cNvSpPr/>
          <p:nvPr/>
        </p:nvSpPr>
        <p:spPr>
          <a:xfrm>
            <a:off x="6199632" y="3931920"/>
            <a:ext cx="5349240" cy="1463040"/>
          </a:xfrm>
          <a:prstGeom prst="roundRect">
            <a:avLst>
              <a:gd name="adj" fmla="val 5000"/>
            </a:avLst>
          </a:prstGeom>
          <a:solidFill>
            <a:srgbClr val="FBF7F2"/>
          </a:solidFill>
          <a:ln w="12700">
            <a:solidFill>
              <a:srgbClr val="E8E2DA"/>
            </a:solidFill>
            <a:prstDash val="solid"/>
          </a:ln>
        </p:spPr>
      </p:sp>
      <p:sp>
        <p:nvSpPr>
          <p:cNvPr id="21" name="Shape 19"/>
          <p:cNvSpPr/>
          <p:nvPr/>
        </p:nvSpPr>
        <p:spPr>
          <a:xfrm>
            <a:off x="6473952" y="4187952"/>
            <a:ext cx="365760" cy="365760"/>
          </a:xfrm>
          <a:prstGeom prst="ellipse">
            <a:avLst/>
          </a:prstGeom>
          <a:solidFill>
            <a:srgbClr val="D92323"/>
          </a:solidFill>
          <a:ln/>
        </p:spPr>
      </p:sp>
      <p:sp>
        <p:nvSpPr>
          <p:cNvPr id="22" name="Text 20"/>
          <p:cNvSpPr/>
          <p:nvPr/>
        </p:nvSpPr>
        <p:spPr>
          <a:xfrm>
            <a:off x="6473952" y="41879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976872" y="4151376"/>
            <a:ext cx="4297680" cy="384048"/>
          </a:xfrm>
          <a:prstGeom prst="rect">
            <a:avLst/>
          </a:prstGeom>
          <a:noFill/>
          <a:ln/>
        </p:spPr>
        <p:txBody>
          <a:bodyPr wrap="square" lIns="0" tIns="0" rIns="0" bIns="0" rtlCol="0" anchor="ctr"/>
          <a:lstStyle/>
          <a:p>
            <a:pPr indent="0" marL="0">
              <a:buNone/>
            </a:pPr>
            <a:r>
              <a:rPr lang="en-US" sz="1700" b="1" dirty="0">
                <a:solidFill>
                  <a:srgbClr val="1F2229"/>
                </a:solidFill>
                <a:latin typeface="Cambria" pitchFamily="34" charset="0"/>
                <a:ea typeface="Cambria" pitchFamily="34" charset="-122"/>
                <a:cs typeface="Cambria" pitchFamily="34" charset="-120"/>
              </a:rPr>
              <a:t>Try the refusals</a:t>
            </a:r>
            <a:endParaRPr lang="en-US" sz="1700" dirty="0"/>
          </a:p>
        </p:txBody>
      </p:sp>
      <p:sp>
        <p:nvSpPr>
          <p:cNvPr id="24" name="Text 22"/>
          <p:cNvSpPr/>
          <p:nvPr/>
        </p:nvSpPr>
        <p:spPr>
          <a:xfrm>
            <a:off x="6473952" y="4681728"/>
            <a:ext cx="4800600" cy="594360"/>
          </a:xfrm>
          <a:prstGeom prst="rect">
            <a:avLst/>
          </a:prstGeom>
          <a:noFill/>
          <a:ln/>
        </p:spPr>
        <p:txBody>
          <a:bodyPr wrap="square" lIns="0" tIns="0" rIns="0" bIns="0" rtlCol="0" anchor="t"/>
          <a:lstStyle/>
          <a:p>
            <a:pPr indent="0" marL="0">
              <a:buNone/>
            </a:pPr>
            <a:r>
              <a:rPr lang="en-US" sz="1150" dirty="0">
                <a:solidFill>
                  <a:srgbClr val="5C616E"/>
                </a:solidFill>
                <a:latin typeface="Calibri" pitchFamily="34" charset="0"/>
                <a:ea typeface="Calibri" pitchFamily="34" charset="-122"/>
                <a:cs typeface="Calibri" pitchFamily="34" charset="-120"/>
              </a:rPr>
              <a:t>Each scenario names something that should fail. Attempt it properly.</a:t>
            </a:r>
            <a:endParaRPr lang="en-US" sz="1150" dirty="0"/>
          </a:p>
        </p:txBody>
      </p:sp>
      <p:sp>
        <p:nvSpPr>
          <p:cNvPr id="25" name="Shape 23"/>
          <p:cNvSpPr/>
          <p:nvPr/>
        </p:nvSpPr>
        <p:spPr>
          <a:xfrm>
            <a:off x="640080" y="5623560"/>
            <a:ext cx="10908792" cy="777240"/>
          </a:xfrm>
          <a:prstGeom prst="roundRect">
            <a:avLst>
              <a:gd name="adj" fmla="val 9412"/>
            </a:avLst>
          </a:prstGeom>
          <a:solidFill>
            <a:srgbClr val="E6F3EB"/>
          </a:solidFill>
          <a:ln w="12700">
            <a:solidFill>
              <a:srgbClr val="CBE3D6"/>
            </a:solidFill>
            <a:prstDash val="solid"/>
          </a:ln>
        </p:spPr>
      </p:sp>
      <p:pic>
        <p:nvPicPr>
          <p:cNvPr id="26" name="Image 0" descr="preencoded.png">    </p:cNvPr>
          <p:cNvPicPr>
            <a:picLocks noChangeAspect="1"/>
          </p:cNvPicPr>
          <p:nvPr/>
        </p:nvPicPr>
        <p:blipFill>
          <a:blip r:embed="rId1"/>
          <a:stretch>
            <a:fillRect/>
          </a:stretch>
        </p:blipFill>
        <p:spPr>
          <a:xfrm>
            <a:off x="914400" y="5833872"/>
            <a:ext cx="256032" cy="256032"/>
          </a:xfrm>
          <a:prstGeom prst="rect">
            <a:avLst/>
          </a:prstGeom>
        </p:spPr>
      </p:pic>
      <p:sp>
        <p:nvSpPr>
          <p:cNvPr id="27" name="Text 24"/>
          <p:cNvSpPr/>
          <p:nvPr/>
        </p:nvSpPr>
        <p:spPr>
          <a:xfrm>
            <a:off x="1298448" y="5623560"/>
            <a:ext cx="10012680" cy="777240"/>
          </a:xfrm>
          <a:prstGeom prst="rect">
            <a:avLst/>
          </a:prstGeom>
          <a:noFill/>
          <a:ln/>
        </p:spPr>
        <p:txBody>
          <a:bodyPr wrap="square" lIns="0" tIns="0" rIns="0" bIns="0" rtlCol="0" anchor="ctr"/>
          <a:lstStyle/>
          <a:p>
            <a:pPr indent="0" marL="0">
              <a:buNone/>
            </a:pPr>
            <a:r>
              <a:rPr lang="en-US" sz="1200" dirty="0">
                <a:solidFill>
                  <a:srgbClr val="1F2229"/>
                </a:solidFill>
                <a:latin typeface="Calibri" pitchFamily="34" charset="0"/>
                <a:ea typeface="Calibri" pitchFamily="34" charset="-122"/>
                <a:cs typeface="Calibri" pitchFamily="34" charset="-120"/>
              </a:rPr>
              <a:t>Allow 45 minutes per scenario, plus 15 to talk about what happened. The conversation afterwards is where the findings come from.</a:t>
            </a:r>
            <a:endParaRPr lang="en-US" sz="1200" dirty="0"/>
          </a:p>
        </p:txBody>
      </p:sp>
      <p:sp>
        <p:nvSpPr>
          <p:cNvPr id="28" name="Text 25"/>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20"/>
        </a:solidFill>
      </p:bgPr>
    </p:bg>
    <p:spTree>
      <p:nvGrpSpPr>
        <p:cNvPr id="1" name=""/>
        <p:cNvGrpSpPr/>
        <p:nvPr/>
      </p:nvGrpSpPr>
      <p:grpSpPr>
        <a:xfrm>
          <a:off x="0" y="0"/>
          <a:ext cx="0" cy="0"/>
          <a:chOff x="0" y="0"/>
          <a:chExt cx="0" cy="0"/>
        </a:xfrm>
      </p:grpSpPr>
      <p:sp>
        <p:nvSpPr>
          <p:cNvPr id="2" name="Shape 0"/>
          <p:cNvSpPr/>
          <p:nvPr/>
        </p:nvSpPr>
        <p:spPr>
          <a:xfrm>
            <a:off x="9326880" y="-2011680"/>
            <a:ext cx="5486400" cy="5486400"/>
          </a:xfrm>
          <a:prstGeom prst="ellipse">
            <a:avLst/>
          </a:prstGeom>
          <a:solidFill>
            <a:srgbClr val="1A1A2E">
              <a:alpha val="70000"/>
            </a:srgbClr>
          </a:solidFill>
          <a:ln/>
        </p:spPr>
      </p:sp>
      <p:sp>
        <p:nvSpPr>
          <p:cNvPr id="3" name="Text 1"/>
          <p:cNvSpPr/>
          <p:nvPr/>
        </p:nvSpPr>
        <p:spPr>
          <a:xfrm>
            <a:off x="822960" y="1554480"/>
            <a:ext cx="5486400" cy="365760"/>
          </a:xfrm>
          <a:prstGeom prst="rect">
            <a:avLst/>
          </a:prstGeom>
          <a:noFill/>
          <a:ln/>
        </p:spPr>
        <p:txBody>
          <a:bodyPr wrap="square" lIns="0" tIns="0" rIns="0" bIns="0" rtlCol="0" anchor="t"/>
          <a:lstStyle/>
          <a:p>
            <a:pPr indent="0" marL="0">
              <a:buNone/>
            </a:pPr>
            <a:r>
              <a:rPr lang="en-US" sz="1250" b="1" spc="240" kern="0" dirty="0">
                <a:solidFill>
                  <a:srgbClr val="D92323"/>
                </a:solidFill>
                <a:latin typeface="Calibri" pitchFamily="34" charset="0"/>
                <a:ea typeface="Calibri" pitchFamily="34" charset="-122"/>
                <a:cs typeface="Calibri" pitchFamily="34" charset="-120"/>
              </a:rPr>
              <a:t>DAY 1 · SCENARIO</a:t>
            </a:r>
            <a:endParaRPr lang="en-US" sz="1250" dirty="0"/>
          </a:p>
        </p:txBody>
      </p:sp>
      <p:sp>
        <p:nvSpPr>
          <p:cNvPr id="4" name="Text 2"/>
          <p:cNvSpPr/>
          <p:nvPr/>
        </p:nvSpPr>
        <p:spPr>
          <a:xfrm>
            <a:off x="777240" y="1965960"/>
            <a:ext cx="1033272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generator gives out at Parkview Terraces</a:t>
            </a:r>
            <a:endParaRPr lang="en-US" sz="4000" dirty="0"/>
          </a:p>
        </p:txBody>
      </p:sp>
      <p:sp>
        <p:nvSpPr>
          <p:cNvPr id="5" name="Text 3"/>
          <p:cNvSpPr/>
          <p:nvPr/>
        </p:nvSpPr>
        <p:spPr>
          <a:xfrm>
            <a:off x="822960" y="3429000"/>
            <a:ext cx="9692640" cy="914400"/>
          </a:xfrm>
          <a:prstGeom prst="rect">
            <a:avLst/>
          </a:prstGeom>
          <a:noFill/>
          <a:ln/>
        </p:spPr>
        <p:txBody>
          <a:bodyPr wrap="square" lIns="0" tIns="0" rIns="0" bIns="0" rtlCol="0" anchor="t"/>
          <a:lstStyle/>
          <a:p>
            <a:pPr indent="0" marL="0">
              <a:buNone/>
            </a:pPr>
            <a:r>
              <a:rPr lang="en-US" sz="1700" i="1" dirty="0">
                <a:solidFill>
                  <a:srgbClr val="C9CBD8"/>
                </a:solidFill>
                <a:latin typeface="Calibri" pitchFamily="34" charset="0"/>
                <a:ea typeface="Calibri" pitchFamily="34" charset="-122"/>
                <a:cs typeface="Calibri" pitchFamily="34" charset="-120"/>
              </a:rPr>
              <a:t>Saturday, 6pm. The estate loses power. A tenant in Flat 3B reports it from her phone, on WhatsApp, in the dark.</a:t>
            </a:r>
            <a:endParaRPr lang="en-US" sz="1700" dirty="0"/>
          </a:p>
        </p:txBody>
      </p:sp>
      <p:sp>
        <p:nvSpPr>
          <p:cNvPr id="6" name="Shape 4"/>
          <p:cNvSpPr/>
          <p:nvPr/>
        </p:nvSpPr>
        <p:spPr>
          <a:xfrm>
            <a:off x="822960" y="4370832"/>
            <a:ext cx="2011680" cy="0"/>
          </a:xfrm>
          <a:prstGeom prst="line">
            <a:avLst/>
          </a:prstGeom>
          <a:noFill/>
          <a:ln w="25400">
            <a:solidFill>
              <a:srgbClr val="D92323"/>
            </a:solidFill>
            <a:prstDash val="solid"/>
          </a:ln>
        </p:spPr>
      </p:sp>
      <p:sp>
        <p:nvSpPr>
          <p:cNvPr id="7" name="Text 5"/>
          <p:cNvSpPr/>
          <p:nvPr/>
        </p:nvSpPr>
        <p:spPr>
          <a:xfrm>
            <a:off x="822960" y="4535424"/>
            <a:ext cx="7315200" cy="310896"/>
          </a:xfrm>
          <a:prstGeom prst="rect">
            <a:avLst/>
          </a:prstGeom>
          <a:noFill/>
          <a:ln/>
        </p:spPr>
        <p:txBody>
          <a:bodyPr wrap="square" lIns="0" tIns="0" rIns="0" bIns="0" rtlCol="0" anchor="t"/>
          <a:lstStyle/>
          <a:p>
            <a:pPr indent="0" marL="0">
              <a:buNone/>
            </a:pPr>
            <a:r>
              <a:rPr lang="en-US" sz="1300" dirty="0">
                <a:solidFill>
                  <a:srgbClr val="E4E5EC"/>
                </a:solidFill>
                <a:latin typeface="Calibri" pitchFamily="34" charset="0"/>
                <a:ea typeface="Calibri" pitchFamily="34" charset="-122"/>
                <a:cs typeface="Calibri" pitchFamily="34" charset="-120"/>
              </a:rPr>
              <a:t>6 people · about 45 minutes</a:t>
            </a:r>
            <a:endParaRPr lang="en-US" sz="1300" dirty="0"/>
          </a:p>
        </p:txBody>
      </p:sp>
      <p:sp>
        <p:nvSpPr>
          <p:cNvPr id="8" name="Shape 6"/>
          <p:cNvSpPr/>
          <p:nvPr/>
        </p:nvSpPr>
        <p:spPr>
          <a:xfrm>
            <a:off x="777240" y="5029200"/>
            <a:ext cx="10607040" cy="1325880"/>
          </a:xfrm>
          <a:prstGeom prst="roundRect">
            <a:avLst>
              <a:gd name="adj" fmla="val 5517"/>
            </a:avLst>
          </a:prstGeom>
          <a:solidFill>
            <a:srgbClr val="1A1A2E"/>
          </a:solidFill>
          <a:ln w="12700">
            <a:solidFill>
              <a:srgbClr val="3A3C55"/>
            </a:solidFill>
            <a:prstDash val="solid"/>
          </a:ln>
        </p:spPr>
      </p:sp>
      <p:pic>
        <p:nvPicPr>
          <p:cNvPr id="9" name="Image 0" descr="preencoded.png">    </p:cNvPr>
          <p:cNvPicPr>
            <a:picLocks noChangeAspect="1"/>
          </p:cNvPicPr>
          <p:nvPr/>
        </p:nvPicPr>
        <p:blipFill>
          <a:blip r:embed="rId1"/>
          <a:stretch>
            <a:fillRect/>
          </a:stretch>
        </p:blipFill>
        <p:spPr>
          <a:xfrm>
            <a:off x="1051560" y="5230368"/>
            <a:ext cx="219456" cy="219456"/>
          </a:xfrm>
          <a:prstGeom prst="rect">
            <a:avLst/>
          </a:prstGeom>
        </p:spPr>
      </p:pic>
      <p:sp>
        <p:nvSpPr>
          <p:cNvPr id="10" name="Text 7"/>
          <p:cNvSpPr/>
          <p:nvPr/>
        </p:nvSpPr>
        <p:spPr>
          <a:xfrm>
            <a:off x="1371600" y="5175504"/>
            <a:ext cx="2194560" cy="31089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Watch for</a:t>
            </a:r>
            <a:endParaRPr lang="en-US" sz="1400" dirty="0"/>
          </a:p>
        </p:txBody>
      </p:sp>
      <p:sp>
        <p:nvSpPr>
          <p:cNvPr id="11" name="Text 8"/>
          <p:cNvSpPr/>
          <p:nvPr/>
        </p:nvSpPr>
        <p:spPr>
          <a:xfrm>
            <a:off x="1371600" y="5504688"/>
            <a:ext cx="9784080" cy="749808"/>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The dispatch is refused until someone reviews it. Deliberate — nobody is sent to a building sight unseen.</a:t>
            </a:r>
            <a:endParaRPr lang="en-US" sz="1050" dirty="0"/>
          </a:p>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The classification is a suggestion, not a decision. The manager can change it.</a:t>
            </a:r>
            <a:endParaRPr lang="en-US" sz="1050" dirty="0"/>
          </a:p>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The evidence attached here is what the auditor reads on day two. Thin evidence now means a blocked payment later.</a:t>
            </a:r>
            <a:endParaRPr lang="en-US" sz="1050" dirty="0"/>
          </a:p>
        </p:txBody>
      </p:sp>
      <p:sp>
        <p:nvSpPr>
          <p:cNvPr id="12" name="Text 9"/>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2"/>
        </a:solidFill>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indent="0" marL="0">
              <a:buNone/>
            </a:pPr>
            <a:r>
              <a:rPr lang="en-US" sz="1150" b="1" spc="200" kern="0" dirty="0">
                <a:solidFill>
                  <a:srgbClr val="A81A1A"/>
                </a:solidFill>
                <a:latin typeface="Calibri" pitchFamily="34" charset="0"/>
                <a:ea typeface="Calibri" pitchFamily="34" charset="-122"/>
                <a:cs typeface="Calibri" pitchFamily="34" charset="-120"/>
              </a:rPr>
              <a:t>DAY 1 · THE BATON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algn="l" indent="0" marL="0">
              <a:buNone/>
            </a:pPr>
            <a:r>
              <a:rPr lang="en-US" sz="3200" b="1" dirty="0">
                <a:solidFill>
                  <a:srgbClr val="1F2229"/>
                </a:solidFill>
                <a:latin typeface="Cambria" pitchFamily="34" charset="0"/>
                <a:ea typeface="Cambria" pitchFamily="34" charset="-122"/>
                <a:cs typeface="Cambria" pitchFamily="34" charset="-120"/>
              </a:rPr>
              <a:t>Who picks it up, and when</a:t>
            </a:r>
            <a:endParaRPr lang="en-US" sz="3200" dirty="0"/>
          </a:p>
        </p:txBody>
      </p:sp>
      <p:sp>
        <p:nvSpPr>
          <p:cNvPr id="4" name="Shape 2"/>
          <p:cNvSpPr/>
          <p:nvPr/>
        </p:nvSpPr>
        <p:spPr>
          <a:xfrm>
            <a:off x="640080" y="1874520"/>
            <a:ext cx="10908792" cy="566928"/>
          </a:xfrm>
          <a:prstGeom prst="roundRect">
            <a:avLst>
              <a:gd name="adj" fmla="val 8065"/>
            </a:avLst>
          </a:prstGeom>
          <a:solidFill>
            <a:srgbClr val="FFFFFF"/>
          </a:solidFill>
          <a:ln w="12700">
            <a:solidFill>
              <a:srgbClr val="E8E2DA"/>
            </a:solidFill>
            <a:prstDash val="solid"/>
          </a:ln>
        </p:spPr>
      </p:sp>
      <p:sp>
        <p:nvSpPr>
          <p:cNvPr id="5" name="Shape 3"/>
          <p:cNvSpPr/>
          <p:nvPr/>
        </p:nvSpPr>
        <p:spPr>
          <a:xfrm>
            <a:off x="841248" y="2002536"/>
            <a:ext cx="310896" cy="310896"/>
          </a:xfrm>
          <a:prstGeom prst="ellipse">
            <a:avLst/>
          </a:prstGeom>
          <a:solidFill>
            <a:srgbClr val="D92323"/>
          </a:solidFill>
          <a:ln/>
        </p:spPr>
      </p:sp>
      <p:sp>
        <p:nvSpPr>
          <p:cNvPr id="6" name="Text 4"/>
          <p:cNvSpPr/>
          <p:nvPr/>
        </p:nvSpPr>
        <p:spPr>
          <a:xfrm>
            <a:off x="841248" y="2002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98448" y="1874520"/>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Tenant</a:t>
            </a:r>
            <a:endParaRPr lang="en-US" sz="1200" dirty="0"/>
          </a:p>
        </p:txBody>
      </p:sp>
      <p:sp>
        <p:nvSpPr>
          <p:cNvPr id="8" name="Text 6"/>
          <p:cNvSpPr/>
          <p:nvPr/>
        </p:nvSpPr>
        <p:spPr>
          <a:xfrm>
            <a:off x="3429000" y="1874520"/>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oea.tenant@</a:t>
            </a:r>
            <a:endParaRPr lang="en-US" sz="1050" dirty="0"/>
          </a:p>
        </p:txBody>
      </p:sp>
      <p:sp>
        <p:nvSpPr>
          <p:cNvPr id="9" name="Text 7"/>
          <p:cNvSpPr/>
          <p:nvPr/>
        </p:nvSpPr>
        <p:spPr>
          <a:xfrm>
            <a:off x="5577840" y="1874520"/>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Reports it with a photograph of the panel. Gets a reference back immediately.</a:t>
            </a:r>
            <a:endParaRPr lang="en-US" sz="1100" dirty="0"/>
          </a:p>
        </p:txBody>
      </p:sp>
      <p:sp>
        <p:nvSpPr>
          <p:cNvPr id="10" name="Shape 8"/>
          <p:cNvSpPr/>
          <p:nvPr/>
        </p:nvSpPr>
        <p:spPr>
          <a:xfrm>
            <a:off x="640080" y="2523744"/>
            <a:ext cx="10908792" cy="566928"/>
          </a:xfrm>
          <a:prstGeom prst="roundRect">
            <a:avLst>
              <a:gd name="adj" fmla="val 8065"/>
            </a:avLst>
          </a:prstGeom>
          <a:solidFill>
            <a:srgbClr val="FFFFFF"/>
          </a:solidFill>
          <a:ln w="12700">
            <a:solidFill>
              <a:srgbClr val="E8E2DA"/>
            </a:solidFill>
            <a:prstDash val="solid"/>
          </a:ln>
        </p:spPr>
      </p:sp>
      <p:sp>
        <p:nvSpPr>
          <p:cNvPr id="11" name="Shape 9"/>
          <p:cNvSpPr/>
          <p:nvPr/>
        </p:nvSpPr>
        <p:spPr>
          <a:xfrm>
            <a:off x="841248" y="2651760"/>
            <a:ext cx="310896" cy="310896"/>
          </a:xfrm>
          <a:prstGeom prst="ellipse">
            <a:avLst/>
          </a:prstGeom>
          <a:solidFill>
            <a:srgbClr val="D92323"/>
          </a:solidFill>
          <a:ln/>
        </p:spPr>
      </p:sp>
      <p:sp>
        <p:nvSpPr>
          <p:cNvPr id="12" name="Text 10"/>
          <p:cNvSpPr/>
          <p:nvPr/>
        </p:nvSpPr>
        <p:spPr>
          <a:xfrm>
            <a:off x="841248" y="2651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98448" y="2523744"/>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System</a:t>
            </a:r>
            <a:endParaRPr lang="en-US" sz="1200" dirty="0"/>
          </a:p>
        </p:txBody>
      </p:sp>
      <p:sp>
        <p:nvSpPr>
          <p:cNvPr id="14" name="Text 12"/>
          <p:cNvSpPr/>
          <p:nvPr/>
        </p:nvSpPr>
        <p:spPr>
          <a:xfrm>
            <a:off x="3429000" y="2523744"/>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a:t>
            </a:r>
            <a:endParaRPr lang="en-US" sz="1050" dirty="0"/>
          </a:p>
        </p:txBody>
      </p:sp>
      <p:sp>
        <p:nvSpPr>
          <p:cNvPr id="15" name="Text 13"/>
          <p:cNvSpPr/>
          <p:nvPr/>
        </p:nvSpPr>
        <p:spPr>
          <a:xfrm>
            <a:off x="5577840" y="2523744"/>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Classifies it: power, critical. Writes a short summary a manager can read at a glance.</a:t>
            </a:r>
            <a:endParaRPr lang="en-US" sz="1100" dirty="0"/>
          </a:p>
        </p:txBody>
      </p:sp>
      <p:sp>
        <p:nvSpPr>
          <p:cNvPr id="16" name="Shape 14"/>
          <p:cNvSpPr/>
          <p:nvPr/>
        </p:nvSpPr>
        <p:spPr>
          <a:xfrm>
            <a:off x="640080" y="3172968"/>
            <a:ext cx="10908792" cy="566928"/>
          </a:xfrm>
          <a:prstGeom prst="roundRect">
            <a:avLst>
              <a:gd name="adj" fmla="val 8065"/>
            </a:avLst>
          </a:prstGeom>
          <a:solidFill>
            <a:srgbClr val="FFFFFF"/>
          </a:solidFill>
          <a:ln w="12700">
            <a:solidFill>
              <a:srgbClr val="E8E2DA"/>
            </a:solidFill>
            <a:prstDash val="solid"/>
          </a:ln>
        </p:spPr>
      </p:sp>
      <p:sp>
        <p:nvSpPr>
          <p:cNvPr id="17" name="Shape 15"/>
          <p:cNvSpPr/>
          <p:nvPr/>
        </p:nvSpPr>
        <p:spPr>
          <a:xfrm>
            <a:off x="841248" y="3300984"/>
            <a:ext cx="310896" cy="310896"/>
          </a:xfrm>
          <a:prstGeom prst="ellipse">
            <a:avLst/>
          </a:prstGeom>
          <a:solidFill>
            <a:srgbClr val="D92323"/>
          </a:solidFill>
          <a:ln/>
        </p:spPr>
      </p:sp>
      <p:sp>
        <p:nvSpPr>
          <p:cNvPr id="18" name="Text 16"/>
          <p:cNvSpPr/>
          <p:nvPr/>
        </p:nvSpPr>
        <p:spPr>
          <a:xfrm>
            <a:off x="841248" y="33009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298448" y="3172968"/>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Properties Manager</a:t>
            </a:r>
            <a:endParaRPr lang="en-US" sz="1200" dirty="0"/>
          </a:p>
        </p:txBody>
      </p:sp>
      <p:sp>
        <p:nvSpPr>
          <p:cNvPr id="20" name="Text 18"/>
          <p:cNvSpPr/>
          <p:nvPr/>
        </p:nvSpPr>
        <p:spPr>
          <a:xfrm>
            <a:off x="3429000" y="3172968"/>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oea.pm@</a:t>
            </a:r>
            <a:endParaRPr lang="en-US" sz="1050" dirty="0"/>
          </a:p>
        </p:txBody>
      </p:sp>
      <p:sp>
        <p:nvSpPr>
          <p:cNvPr id="21" name="Text 19"/>
          <p:cNvSpPr/>
          <p:nvPr/>
        </p:nvSpPr>
        <p:spPr>
          <a:xfrm>
            <a:off x="5577840" y="3172968"/>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Reviews it — confirms it is the shared generator, not a unit fault. Only then dispatches.</a:t>
            </a:r>
            <a:endParaRPr lang="en-US" sz="1100" dirty="0"/>
          </a:p>
        </p:txBody>
      </p:sp>
      <p:sp>
        <p:nvSpPr>
          <p:cNvPr id="22" name="Shape 20"/>
          <p:cNvSpPr/>
          <p:nvPr/>
        </p:nvSpPr>
        <p:spPr>
          <a:xfrm>
            <a:off x="640080" y="3822192"/>
            <a:ext cx="10908792" cy="566928"/>
          </a:xfrm>
          <a:prstGeom prst="roundRect">
            <a:avLst>
              <a:gd name="adj" fmla="val 8065"/>
            </a:avLst>
          </a:prstGeom>
          <a:solidFill>
            <a:srgbClr val="FFFFFF"/>
          </a:solidFill>
          <a:ln w="12700">
            <a:solidFill>
              <a:srgbClr val="E8E2DA"/>
            </a:solidFill>
            <a:prstDash val="solid"/>
          </a:ln>
        </p:spPr>
      </p:sp>
      <p:sp>
        <p:nvSpPr>
          <p:cNvPr id="23" name="Shape 21"/>
          <p:cNvSpPr/>
          <p:nvPr/>
        </p:nvSpPr>
        <p:spPr>
          <a:xfrm>
            <a:off x="841248" y="3950208"/>
            <a:ext cx="310896" cy="310896"/>
          </a:xfrm>
          <a:prstGeom prst="ellipse">
            <a:avLst/>
          </a:prstGeom>
          <a:solidFill>
            <a:srgbClr val="D92323"/>
          </a:solidFill>
          <a:ln/>
        </p:spPr>
      </p:sp>
      <p:sp>
        <p:nvSpPr>
          <p:cNvPr id="24" name="Text 22"/>
          <p:cNvSpPr/>
          <p:nvPr/>
        </p:nvSpPr>
        <p:spPr>
          <a:xfrm>
            <a:off x="841248" y="3950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1298448" y="3822192"/>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Vendor</a:t>
            </a:r>
            <a:endParaRPr lang="en-US" sz="1200" dirty="0"/>
          </a:p>
        </p:txBody>
      </p:sp>
      <p:sp>
        <p:nvSpPr>
          <p:cNvPr id="26" name="Text 24"/>
          <p:cNvSpPr/>
          <p:nvPr/>
        </p:nvSpPr>
        <p:spPr>
          <a:xfrm>
            <a:off x="3429000" y="3822192"/>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oea.vendor@</a:t>
            </a:r>
            <a:endParaRPr lang="en-US" sz="1050" dirty="0"/>
          </a:p>
        </p:txBody>
      </p:sp>
      <p:sp>
        <p:nvSpPr>
          <p:cNvPr id="27" name="Text 25"/>
          <p:cNvSpPr/>
          <p:nvPr/>
        </p:nvSpPr>
        <p:spPr>
          <a:xfrm>
            <a:off x="5577840" y="3822192"/>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GreenLeaf attends, updates the job card, photographs the repair and the meter reading.</a:t>
            </a:r>
            <a:endParaRPr lang="en-US" sz="1100" dirty="0"/>
          </a:p>
        </p:txBody>
      </p:sp>
      <p:sp>
        <p:nvSpPr>
          <p:cNvPr id="28" name="Shape 26"/>
          <p:cNvSpPr/>
          <p:nvPr/>
        </p:nvSpPr>
        <p:spPr>
          <a:xfrm>
            <a:off x="640080" y="4471416"/>
            <a:ext cx="10908792" cy="566928"/>
          </a:xfrm>
          <a:prstGeom prst="roundRect">
            <a:avLst>
              <a:gd name="adj" fmla="val 8065"/>
            </a:avLst>
          </a:prstGeom>
          <a:solidFill>
            <a:srgbClr val="FFFFFF"/>
          </a:solidFill>
          <a:ln w="12700">
            <a:solidFill>
              <a:srgbClr val="E8E2DA"/>
            </a:solidFill>
            <a:prstDash val="solid"/>
          </a:ln>
        </p:spPr>
      </p:sp>
      <p:sp>
        <p:nvSpPr>
          <p:cNvPr id="29" name="Shape 27"/>
          <p:cNvSpPr/>
          <p:nvPr/>
        </p:nvSpPr>
        <p:spPr>
          <a:xfrm>
            <a:off x="841248" y="4599432"/>
            <a:ext cx="310896" cy="310896"/>
          </a:xfrm>
          <a:prstGeom prst="ellipse">
            <a:avLst/>
          </a:prstGeom>
          <a:solidFill>
            <a:srgbClr val="D92323"/>
          </a:solidFill>
          <a:ln/>
        </p:spPr>
      </p:sp>
      <p:sp>
        <p:nvSpPr>
          <p:cNvPr id="30" name="Text 28"/>
          <p:cNvSpPr/>
          <p:nvPr/>
        </p:nvSpPr>
        <p:spPr>
          <a:xfrm>
            <a:off x="841248" y="4599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1298448" y="4471416"/>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Facilities Manager</a:t>
            </a:r>
            <a:endParaRPr lang="en-US" sz="1200" dirty="0"/>
          </a:p>
        </p:txBody>
      </p:sp>
      <p:sp>
        <p:nvSpPr>
          <p:cNvPr id="32" name="Text 30"/>
          <p:cNvSpPr/>
          <p:nvPr/>
        </p:nvSpPr>
        <p:spPr>
          <a:xfrm>
            <a:off x="3429000" y="4471416"/>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oea.fmgr@</a:t>
            </a:r>
            <a:endParaRPr lang="en-US" sz="1050" dirty="0"/>
          </a:p>
        </p:txBody>
      </p:sp>
      <p:sp>
        <p:nvSpPr>
          <p:cNvPr id="33" name="Text 31"/>
          <p:cNvSpPr/>
          <p:nvPr/>
        </p:nvSpPr>
        <p:spPr>
          <a:xfrm>
            <a:off x="5577840" y="4471416"/>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Logs the running hours against the asset, so the next service is scheduled by use, not by calendar.</a:t>
            </a:r>
            <a:endParaRPr lang="en-US" sz="1100" dirty="0"/>
          </a:p>
        </p:txBody>
      </p:sp>
      <p:sp>
        <p:nvSpPr>
          <p:cNvPr id="34" name="Shape 32"/>
          <p:cNvSpPr/>
          <p:nvPr/>
        </p:nvSpPr>
        <p:spPr>
          <a:xfrm>
            <a:off x="640080" y="5120640"/>
            <a:ext cx="10908792" cy="566928"/>
          </a:xfrm>
          <a:prstGeom prst="roundRect">
            <a:avLst>
              <a:gd name="adj" fmla="val 8065"/>
            </a:avLst>
          </a:prstGeom>
          <a:solidFill>
            <a:srgbClr val="FFFFFF"/>
          </a:solidFill>
          <a:ln w="12700">
            <a:solidFill>
              <a:srgbClr val="E8E2DA"/>
            </a:solidFill>
            <a:prstDash val="solid"/>
          </a:ln>
        </p:spPr>
      </p:sp>
      <p:sp>
        <p:nvSpPr>
          <p:cNvPr id="35" name="Shape 33"/>
          <p:cNvSpPr/>
          <p:nvPr/>
        </p:nvSpPr>
        <p:spPr>
          <a:xfrm>
            <a:off x="841248" y="5248656"/>
            <a:ext cx="310896" cy="310896"/>
          </a:xfrm>
          <a:prstGeom prst="ellipse">
            <a:avLst/>
          </a:prstGeom>
          <a:solidFill>
            <a:srgbClr val="D92323"/>
          </a:solidFill>
          <a:ln/>
        </p:spPr>
      </p:sp>
      <p:sp>
        <p:nvSpPr>
          <p:cNvPr id="36" name="Text 34"/>
          <p:cNvSpPr/>
          <p:nvPr/>
        </p:nvSpPr>
        <p:spPr>
          <a:xfrm>
            <a:off x="841248" y="5248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7" name="Text 35"/>
          <p:cNvSpPr/>
          <p:nvPr/>
        </p:nvSpPr>
        <p:spPr>
          <a:xfrm>
            <a:off x="1298448" y="5120640"/>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Tenant</a:t>
            </a:r>
            <a:endParaRPr lang="en-US" sz="1200" dirty="0"/>
          </a:p>
        </p:txBody>
      </p:sp>
      <p:sp>
        <p:nvSpPr>
          <p:cNvPr id="38" name="Text 36"/>
          <p:cNvSpPr/>
          <p:nvPr/>
        </p:nvSpPr>
        <p:spPr>
          <a:xfrm>
            <a:off x="3429000" y="5120640"/>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oea.tenant@</a:t>
            </a:r>
            <a:endParaRPr lang="en-US" sz="1050" dirty="0"/>
          </a:p>
        </p:txBody>
      </p:sp>
      <p:sp>
        <p:nvSpPr>
          <p:cNvPr id="39" name="Text 37"/>
          <p:cNvSpPr/>
          <p:nvPr/>
        </p:nvSpPr>
        <p:spPr>
          <a:xfrm>
            <a:off x="5577840" y="5120640"/>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Sees it closed, and can say whether it was actually fixed.</a:t>
            </a:r>
            <a:endParaRPr lang="en-US" sz="1100" dirty="0"/>
          </a:p>
        </p:txBody>
      </p:sp>
      <p:sp>
        <p:nvSpPr>
          <p:cNvPr id="40" name="Text 38"/>
          <p:cNvSpPr/>
          <p:nvPr/>
        </p:nvSpPr>
        <p:spPr>
          <a:xfrm>
            <a:off x="640080" y="5934456"/>
            <a:ext cx="10908792" cy="329184"/>
          </a:xfrm>
          <a:prstGeom prst="rect">
            <a:avLst/>
          </a:prstGeom>
          <a:noFill/>
          <a:ln/>
        </p:spPr>
        <p:txBody>
          <a:bodyPr wrap="square" lIns="0" tIns="0" rIns="0" bIns="0" rtlCol="0" anchor="t"/>
          <a:lstStyle/>
          <a:p>
            <a:pPr indent="0" marL="0">
              <a:buNone/>
            </a:pPr>
            <a:r>
              <a:rPr lang="en-US" sz="1150" i="1" dirty="0">
                <a:solidFill>
                  <a:srgbClr val="5C616E"/>
                </a:solidFill>
                <a:latin typeface="Calibri" pitchFamily="34" charset="0"/>
                <a:ea typeface="Calibri" pitchFamily="34" charset="-122"/>
                <a:cs typeface="Calibri" pitchFamily="34" charset="-120"/>
              </a:rPr>
              <a:t>Wait for the handover. The pause between rows is part of what you are testing.</a:t>
            </a:r>
            <a:endParaRPr lang="en-US" sz="1150" dirty="0"/>
          </a:p>
        </p:txBody>
      </p:sp>
      <p:sp>
        <p:nvSpPr>
          <p:cNvPr id="41" name="Text 39"/>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20"/>
        </a:solidFill>
      </p:bgPr>
    </p:bg>
    <p:spTree>
      <p:nvGrpSpPr>
        <p:cNvPr id="1" name=""/>
        <p:cNvGrpSpPr/>
        <p:nvPr/>
      </p:nvGrpSpPr>
      <p:grpSpPr>
        <a:xfrm>
          <a:off x="0" y="0"/>
          <a:ext cx="0" cy="0"/>
          <a:chOff x="0" y="0"/>
          <a:chExt cx="0" cy="0"/>
        </a:xfrm>
      </p:grpSpPr>
      <p:sp>
        <p:nvSpPr>
          <p:cNvPr id="2" name="Shape 0"/>
          <p:cNvSpPr/>
          <p:nvPr/>
        </p:nvSpPr>
        <p:spPr>
          <a:xfrm>
            <a:off x="9326880" y="-2011680"/>
            <a:ext cx="5486400" cy="5486400"/>
          </a:xfrm>
          <a:prstGeom prst="ellipse">
            <a:avLst/>
          </a:prstGeom>
          <a:solidFill>
            <a:srgbClr val="1A1A2E">
              <a:alpha val="70000"/>
            </a:srgbClr>
          </a:solidFill>
          <a:ln/>
        </p:spPr>
      </p:sp>
      <p:sp>
        <p:nvSpPr>
          <p:cNvPr id="3" name="Text 1"/>
          <p:cNvSpPr/>
          <p:nvPr/>
        </p:nvSpPr>
        <p:spPr>
          <a:xfrm>
            <a:off x="822960" y="1554480"/>
            <a:ext cx="5486400" cy="365760"/>
          </a:xfrm>
          <a:prstGeom prst="rect">
            <a:avLst/>
          </a:prstGeom>
          <a:noFill/>
          <a:ln/>
        </p:spPr>
        <p:txBody>
          <a:bodyPr wrap="square" lIns="0" tIns="0" rIns="0" bIns="0" rtlCol="0" anchor="t"/>
          <a:lstStyle/>
          <a:p>
            <a:pPr indent="0" marL="0">
              <a:buNone/>
            </a:pPr>
            <a:r>
              <a:rPr lang="en-US" sz="1250" b="1" spc="240" kern="0" dirty="0">
                <a:solidFill>
                  <a:srgbClr val="D92323"/>
                </a:solidFill>
                <a:latin typeface="Calibri" pitchFamily="34" charset="0"/>
                <a:ea typeface="Calibri" pitchFamily="34" charset="-122"/>
                <a:cs typeface="Calibri" pitchFamily="34" charset="-120"/>
              </a:rPr>
              <a:t>DAY 2 · SCENARIO</a:t>
            </a:r>
            <a:endParaRPr lang="en-US" sz="1250" dirty="0"/>
          </a:p>
        </p:txBody>
      </p:sp>
      <p:sp>
        <p:nvSpPr>
          <p:cNvPr id="4" name="Text 2"/>
          <p:cNvSpPr/>
          <p:nvPr/>
        </p:nvSpPr>
        <p:spPr>
          <a:xfrm>
            <a:off x="777240" y="1965960"/>
            <a:ext cx="1033272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Month end: paying for the work</a:t>
            </a:r>
            <a:endParaRPr lang="en-US" sz="4000" dirty="0"/>
          </a:p>
        </p:txBody>
      </p:sp>
      <p:sp>
        <p:nvSpPr>
          <p:cNvPr id="5" name="Text 3"/>
          <p:cNvSpPr/>
          <p:nvPr/>
        </p:nvSpPr>
        <p:spPr>
          <a:xfrm>
            <a:off x="822960" y="3429000"/>
            <a:ext cx="9692640" cy="914400"/>
          </a:xfrm>
          <a:prstGeom prst="rect">
            <a:avLst/>
          </a:prstGeom>
          <a:noFill/>
          <a:ln/>
        </p:spPr>
        <p:txBody>
          <a:bodyPr wrap="square" lIns="0" tIns="0" rIns="0" bIns="0" rtlCol="0" anchor="t"/>
          <a:lstStyle/>
          <a:p>
            <a:pPr indent="0" marL="0">
              <a:buNone/>
            </a:pPr>
            <a:r>
              <a:rPr lang="en-US" sz="1700" i="1" dirty="0">
                <a:solidFill>
                  <a:srgbClr val="C9CBD8"/>
                </a:solidFill>
                <a:latin typeface="Calibri" pitchFamily="34" charset="0"/>
                <a:ea typeface="Calibri" pitchFamily="34" charset="-122"/>
                <a:cs typeface="Calibri" pitchFamily="34" charset="-120"/>
              </a:rPr>
              <a:t>The generator repair needs paying — GreenLeaf's invoice, plus the fuel your own supervisor bought on the night.</a:t>
            </a:r>
            <a:endParaRPr lang="en-US" sz="1700" dirty="0"/>
          </a:p>
        </p:txBody>
      </p:sp>
      <p:sp>
        <p:nvSpPr>
          <p:cNvPr id="6" name="Shape 4"/>
          <p:cNvSpPr/>
          <p:nvPr/>
        </p:nvSpPr>
        <p:spPr>
          <a:xfrm>
            <a:off x="822960" y="4370832"/>
            <a:ext cx="2011680" cy="0"/>
          </a:xfrm>
          <a:prstGeom prst="line">
            <a:avLst/>
          </a:prstGeom>
          <a:noFill/>
          <a:ln w="25400">
            <a:solidFill>
              <a:srgbClr val="D92323"/>
            </a:solidFill>
            <a:prstDash val="solid"/>
          </a:ln>
        </p:spPr>
      </p:sp>
      <p:sp>
        <p:nvSpPr>
          <p:cNvPr id="7" name="Text 5"/>
          <p:cNvSpPr/>
          <p:nvPr/>
        </p:nvSpPr>
        <p:spPr>
          <a:xfrm>
            <a:off x="822960" y="4535424"/>
            <a:ext cx="7315200" cy="310896"/>
          </a:xfrm>
          <a:prstGeom prst="rect">
            <a:avLst/>
          </a:prstGeom>
          <a:noFill/>
          <a:ln/>
        </p:spPr>
        <p:txBody>
          <a:bodyPr wrap="square" lIns="0" tIns="0" rIns="0" bIns="0" rtlCol="0" anchor="t"/>
          <a:lstStyle/>
          <a:p>
            <a:pPr indent="0" marL="0">
              <a:buNone/>
            </a:pPr>
            <a:r>
              <a:rPr lang="en-US" sz="1300" dirty="0">
                <a:solidFill>
                  <a:srgbClr val="E4E5EC"/>
                </a:solidFill>
                <a:latin typeface="Calibri" pitchFamily="34" charset="0"/>
                <a:ea typeface="Calibri" pitchFamily="34" charset="-122"/>
                <a:cs typeface="Calibri" pitchFamily="34" charset="-120"/>
              </a:rPr>
              <a:t>6 people · about 45 minutes</a:t>
            </a:r>
            <a:endParaRPr lang="en-US" sz="1300" dirty="0"/>
          </a:p>
        </p:txBody>
      </p:sp>
      <p:sp>
        <p:nvSpPr>
          <p:cNvPr id="8" name="Shape 6"/>
          <p:cNvSpPr/>
          <p:nvPr/>
        </p:nvSpPr>
        <p:spPr>
          <a:xfrm>
            <a:off x="777240" y="5029200"/>
            <a:ext cx="10607040" cy="1325880"/>
          </a:xfrm>
          <a:prstGeom prst="roundRect">
            <a:avLst>
              <a:gd name="adj" fmla="val 5517"/>
            </a:avLst>
          </a:prstGeom>
          <a:solidFill>
            <a:srgbClr val="1A1A2E"/>
          </a:solidFill>
          <a:ln w="12700">
            <a:solidFill>
              <a:srgbClr val="3A3C55"/>
            </a:solidFill>
            <a:prstDash val="solid"/>
          </a:ln>
        </p:spPr>
      </p:sp>
      <p:pic>
        <p:nvPicPr>
          <p:cNvPr id="9" name="Image 0" descr="preencoded.png">    </p:cNvPr>
          <p:cNvPicPr>
            <a:picLocks noChangeAspect="1"/>
          </p:cNvPicPr>
          <p:nvPr/>
        </p:nvPicPr>
        <p:blipFill>
          <a:blip r:embed="rId1"/>
          <a:stretch>
            <a:fillRect/>
          </a:stretch>
        </p:blipFill>
        <p:spPr>
          <a:xfrm>
            <a:off x="1051560" y="5230368"/>
            <a:ext cx="219456" cy="219456"/>
          </a:xfrm>
          <a:prstGeom prst="rect">
            <a:avLst/>
          </a:prstGeom>
        </p:spPr>
      </p:pic>
      <p:sp>
        <p:nvSpPr>
          <p:cNvPr id="10" name="Text 7"/>
          <p:cNvSpPr/>
          <p:nvPr/>
        </p:nvSpPr>
        <p:spPr>
          <a:xfrm>
            <a:off x="1371600" y="5175504"/>
            <a:ext cx="2194560" cy="31089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Watch for</a:t>
            </a:r>
            <a:endParaRPr lang="en-US" sz="1400" dirty="0"/>
          </a:p>
        </p:txBody>
      </p:sp>
      <p:sp>
        <p:nvSpPr>
          <p:cNvPr id="11" name="Text 8"/>
          <p:cNvSpPr/>
          <p:nvPr/>
        </p:nvSpPr>
        <p:spPr>
          <a:xfrm>
            <a:off x="1371600" y="5504688"/>
            <a:ext cx="9784080" cy="749808"/>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Try releasing as the person who approved. It will refuse — per payment, per person, not merely per role.</a:t>
            </a:r>
            <a:endParaRPr lang="en-US" sz="1050" dirty="0"/>
          </a:p>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A requisition line with no payee is legitimate: recorded spend, no transfer.</a:t>
            </a:r>
            <a:endParaRPr lang="en-US" sz="1050" dirty="0"/>
          </a:p>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Edit the amount upward after approval and watch the chain invalidate. It approved a number, not a document.</a:t>
            </a:r>
            <a:endParaRPr lang="en-US" sz="1050" dirty="0"/>
          </a:p>
        </p:txBody>
      </p:sp>
      <p:sp>
        <p:nvSpPr>
          <p:cNvPr id="12" name="Text 9"/>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2"/>
        </a:solidFill>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indent="0" marL="0">
              <a:buNone/>
            </a:pPr>
            <a:r>
              <a:rPr lang="en-US" sz="1150" b="1" spc="200" kern="0" dirty="0">
                <a:solidFill>
                  <a:srgbClr val="A81A1A"/>
                </a:solidFill>
                <a:latin typeface="Calibri" pitchFamily="34" charset="0"/>
                <a:ea typeface="Calibri" pitchFamily="34" charset="-122"/>
                <a:cs typeface="Calibri" pitchFamily="34" charset="-120"/>
              </a:rPr>
              <a:t>DAY 2 · THE BATON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algn="l" indent="0" marL="0">
              <a:buNone/>
            </a:pPr>
            <a:r>
              <a:rPr lang="en-US" sz="3200" b="1" dirty="0">
                <a:solidFill>
                  <a:srgbClr val="1F2229"/>
                </a:solidFill>
                <a:latin typeface="Cambria" pitchFamily="34" charset="0"/>
                <a:ea typeface="Cambria" pitchFamily="34" charset="-122"/>
                <a:cs typeface="Cambria" pitchFamily="34" charset="-120"/>
              </a:rPr>
              <a:t>Who picks it up, and when</a:t>
            </a:r>
            <a:endParaRPr lang="en-US" sz="3200" dirty="0"/>
          </a:p>
        </p:txBody>
      </p:sp>
      <p:sp>
        <p:nvSpPr>
          <p:cNvPr id="4" name="Shape 2"/>
          <p:cNvSpPr/>
          <p:nvPr/>
        </p:nvSpPr>
        <p:spPr>
          <a:xfrm>
            <a:off x="640080" y="1874520"/>
            <a:ext cx="10908792" cy="566928"/>
          </a:xfrm>
          <a:prstGeom prst="roundRect">
            <a:avLst>
              <a:gd name="adj" fmla="val 8065"/>
            </a:avLst>
          </a:prstGeom>
          <a:solidFill>
            <a:srgbClr val="FFFFFF"/>
          </a:solidFill>
          <a:ln w="12700">
            <a:solidFill>
              <a:srgbClr val="E8E2DA"/>
            </a:solidFill>
            <a:prstDash val="solid"/>
          </a:ln>
        </p:spPr>
      </p:sp>
      <p:sp>
        <p:nvSpPr>
          <p:cNvPr id="5" name="Shape 3"/>
          <p:cNvSpPr/>
          <p:nvPr/>
        </p:nvSpPr>
        <p:spPr>
          <a:xfrm>
            <a:off x="841248" y="2002536"/>
            <a:ext cx="310896" cy="310896"/>
          </a:xfrm>
          <a:prstGeom prst="ellipse">
            <a:avLst/>
          </a:prstGeom>
          <a:solidFill>
            <a:srgbClr val="D92323"/>
          </a:solidFill>
          <a:ln/>
        </p:spPr>
      </p:sp>
      <p:sp>
        <p:nvSpPr>
          <p:cNvPr id="6" name="Text 4"/>
          <p:cNvSpPr/>
          <p:nvPr/>
        </p:nvSpPr>
        <p:spPr>
          <a:xfrm>
            <a:off x="841248" y="2002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98448" y="1874520"/>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Vendor</a:t>
            </a:r>
            <a:endParaRPr lang="en-US" sz="1200" dirty="0"/>
          </a:p>
        </p:txBody>
      </p:sp>
      <p:sp>
        <p:nvSpPr>
          <p:cNvPr id="8" name="Text 6"/>
          <p:cNvSpPr/>
          <p:nvPr/>
        </p:nvSpPr>
        <p:spPr>
          <a:xfrm>
            <a:off x="3429000" y="1874520"/>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oea.vendor@</a:t>
            </a:r>
            <a:endParaRPr lang="en-US" sz="1050" dirty="0"/>
          </a:p>
        </p:txBody>
      </p:sp>
      <p:sp>
        <p:nvSpPr>
          <p:cNvPr id="9" name="Text 7"/>
          <p:cNvSpPr/>
          <p:nvPr/>
        </p:nvSpPr>
        <p:spPr>
          <a:xfrm>
            <a:off x="5577840" y="1874520"/>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Submits the invoice against the job it belongs to.</a:t>
            </a:r>
            <a:endParaRPr lang="en-US" sz="1100" dirty="0"/>
          </a:p>
        </p:txBody>
      </p:sp>
      <p:sp>
        <p:nvSpPr>
          <p:cNvPr id="10" name="Shape 8"/>
          <p:cNvSpPr/>
          <p:nvPr/>
        </p:nvSpPr>
        <p:spPr>
          <a:xfrm>
            <a:off x="640080" y="2523744"/>
            <a:ext cx="10908792" cy="566928"/>
          </a:xfrm>
          <a:prstGeom prst="roundRect">
            <a:avLst>
              <a:gd name="adj" fmla="val 8065"/>
            </a:avLst>
          </a:prstGeom>
          <a:solidFill>
            <a:srgbClr val="FFFFFF"/>
          </a:solidFill>
          <a:ln w="12700">
            <a:solidFill>
              <a:srgbClr val="E8E2DA"/>
            </a:solidFill>
            <a:prstDash val="solid"/>
          </a:ln>
        </p:spPr>
      </p:sp>
      <p:sp>
        <p:nvSpPr>
          <p:cNvPr id="11" name="Shape 9"/>
          <p:cNvSpPr/>
          <p:nvPr/>
        </p:nvSpPr>
        <p:spPr>
          <a:xfrm>
            <a:off x="841248" y="2651760"/>
            <a:ext cx="310896" cy="310896"/>
          </a:xfrm>
          <a:prstGeom prst="ellipse">
            <a:avLst/>
          </a:prstGeom>
          <a:solidFill>
            <a:srgbClr val="D92323"/>
          </a:solidFill>
          <a:ln/>
        </p:spPr>
      </p:sp>
      <p:sp>
        <p:nvSpPr>
          <p:cNvPr id="12" name="Text 10"/>
          <p:cNvSpPr/>
          <p:nvPr/>
        </p:nvSpPr>
        <p:spPr>
          <a:xfrm>
            <a:off x="841248" y="26517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98448" y="2523744"/>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Properties Manager</a:t>
            </a:r>
            <a:endParaRPr lang="en-US" sz="1200" dirty="0"/>
          </a:p>
        </p:txBody>
      </p:sp>
      <p:sp>
        <p:nvSpPr>
          <p:cNvPr id="14" name="Text 12"/>
          <p:cNvSpPr/>
          <p:nvPr/>
        </p:nvSpPr>
        <p:spPr>
          <a:xfrm>
            <a:off x="3429000" y="2523744"/>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oea.pm@</a:t>
            </a:r>
            <a:endParaRPr lang="en-US" sz="1050" dirty="0"/>
          </a:p>
        </p:txBody>
      </p:sp>
      <p:sp>
        <p:nvSpPr>
          <p:cNvPr id="15" name="Text 13"/>
          <p:cNvSpPr/>
          <p:nvPr/>
        </p:nvSpPr>
        <p:spPr>
          <a:xfrm>
            <a:off x="5577840" y="2523744"/>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Raises a requisition for the fuel — one line to a payee, one line for something already covered.</a:t>
            </a:r>
            <a:endParaRPr lang="en-US" sz="1100" dirty="0"/>
          </a:p>
        </p:txBody>
      </p:sp>
      <p:sp>
        <p:nvSpPr>
          <p:cNvPr id="16" name="Shape 14"/>
          <p:cNvSpPr/>
          <p:nvPr/>
        </p:nvSpPr>
        <p:spPr>
          <a:xfrm>
            <a:off x="640080" y="3172968"/>
            <a:ext cx="10908792" cy="566928"/>
          </a:xfrm>
          <a:prstGeom prst="roundRect">
            <a:avLst>
              <a:gd name="adj" fmla="val 8065"/>
            </a:avLst>
          </a:prstGeom>
          <a:solidFill>
            <a:srgbClr val="FFFFFF"/>
          </a:solidFill>
          <a:ln w="12700">
            <a:solidFill>
              <a:srgbClr val="E8E2DA"/>
            </a:solidFill>
            <a:prstDash val="solid"/>
          </a:ln>
        </p:spPr>
      </p:sp>
      <p:sp>
        <p:nvSpPr>
          <p:cNvPr id="17" name="Shape 15"/>
          <p:cNvSpPr/>
          <p:nvPr/>
        </p:nvSpPr>
        <p:spPr>
          <a:xfrm>
            <a:off x="841248" y="3300984"/>
            <a:ext cx="310896" cy="310896"/>
          </a:xfrm>
          <a:prstGeom prst="ellipse">
            <a:avLst/>
          </a:prstGeom>
          <a:solidFill>
            <a:srgbClr val="D92323"/>
          </a:solidFill>
          <a:ln/>
        </p:spPr>
      </p:sp>
      <p:sp>
        <p:nvSpPr>
          <p:cNvPr id="18" name="Text 16"/>
          <p:cNvSpPr/>
          <p:nvPr/>
        </p:nvSpPr>
        <p:spPr>
          <a:xfrm>
            <a:off x="841248" y="33009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298448" y="3172968"/>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PM / FM</a:t>
            </a:r>
            <a:endParaRPr lang="en-US" sz="1200" dirty="0"/>
          </a:p>
        </p:txBody>
      </p:sp>
      <p:sp>
        <p:nvSpPr>
          <p:cNvPr id="20" name="Text 18"/>
          <p:cNvSpPr/>
          <p:nvPr/>
        </p:nvSpPr>
        <p:spPr>
          <a:xfrm>
            <a:off x="3429000" y="3172968"/>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oea.pm@</a:t>
            </a:r>
            <a:endParaRPr lang="en-US" sz="1050" dirty="0"/>
          </a:p>
        </p:txBody>
      </p:sp>
      <p:sp>
        <p:nvSpPr>
          <p:cNvPr id="21" name="Text 19"/>
          <p:cNvSpPr/>
          <p:nvPr/>
        </p:nvSpPr>
        <p:spPr>
          <a:xfrm>
            <a:off x="5577840" y="3172968"/>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Stage 1: confirms the work was done. Not an approval — no spending limit applies.</a:t>
            </a:r>
            <a:endParaRPr lang="en-US" sz="1100" dirty="0"/>
          </a:p>
        </p:txBody>
      </p:sp>
      <p:sp>
        <p:nvSpPr>
          <p:cNvPr id="22" name="Shape 20"/>
          <p:cNvSpPr/>
          <p:nvPr/>
        </p:nvSpPr>
        <p:spPr>
          <a:xfrm>
            <a:off x="640080" y="3822192"/>
            <a:ext cx="10908792" cy="566928"/>
          </a:xfrm>
          <a:prstGeom prst="roundRect">
            <a:avLst>
              <a:gd name="adj" fmla="val 8065"/>
            </a:avLst>
          </a:prstGeom>
          <a:solidFill>
            <a:srgbClr val="FFFFFF"/>
          </a:solidFill>
          <a:ln w="12700">
            <a:solidFill>
              <a:srgbClr val="E8E2DA"/>
            </a:solidFill>
            <a:prstDash val="solid"/>
          </a:ln>
        </p:spPr>
      </p:sp>
      <p:sp>
        <p:nvSpPr>
          <p:cNvPr id="23" name="Shape 21"/>
          <p:cNvSpPr/>
          <p:nvPr/>
        </p:nvSpPr>
        <p:spPr>
          <a:xfrm>
            <a:off x="841248" y="3950208"/>
            <a:ext cx="310896" cy="310896"/>
          </a:xfrm>
          <a:prstGeom prst="ellipse">
            <a:avLst/>
          </a:prstGeom>
          <a:solidFill>
            <a:srgbClr val="D92323"/>
          </a:solidFill>
          <a:ln/>
        </p:spPr>
      </p:sp>
      <p:sp>
        <p:nvSpPr>
          <p:cNvPr id="24" name="Text 22"/>
          <p:cNvSpPr/>
          <p:nvPr/>
        </p:nvSpPr>
        <p:spPr>
          <a:xfrm>
            <a:off x="841248" y="3950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1298448" y="3822192"/>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Payment Auditor</a:t>
            </a:r>
            <a:endParaRPr lang="en-US" sz="1200" dirty="0"/>
          </a:p>
        </p:txBody>
      </p:sp>
      <p:sp>
        <p:nvSpPr>
          <p:cNvPr id="26" name="Text 24"/>
          <p:cNvSpPr/>
          <p:nvPr/>
        </p:nvSpPr>
        <p:spPr>
          <a:xfrm>
            <a:off x="3429000" y="3822192"/>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oea.auditapprover@</a:t>
            </a:r>
            <a:endParaRPr lang="en-US" sz="1050" dirty="0"/>
          </a:p>
        </p:txBody>
      </p:sp>
      <p:sp>
        <p:nvSpPr>
          <p:cNvPr id="27" name="Text 25"/>
          <p:cNvSpPr/>
          <p:nvPr/>
        </p:nvSpPr>
        <p:spPr>
          <a:xfrm>
            <a:off x="5577840" y="3822192"/>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Stage 2: reads the invoice against the job card and Saturday's photographs.</a:t>
            </a:r>
            <a:endParaRPr lang="en-US" sz="1100" dirty="0"/>
          </a:p>
        </p:txBody>
      </p:sp>
      <p:sp>
        <p:nvSpPr>
          <p:cNvPr id="28" name="Shape 26"/>
          <p:cNvSpPr/>
          <p:nvPr/>
        </p:nvSpPr>
        <p:spPr>
          <a:xfrm>
            <a:off x="640080" y="4471416"/>
            <a:ext cx="10908792" cy="566928"/>
          </a:xfrm>
          <a:prstGeom prst="roundRect">
            <a:avLst>
              <a:gd name="adj" fmla="val 8065"/>
            </a:avLst>
          </a:prstGeom>
          <a:solidFill>
            <a:srgbClr val="FFFFFF"/>
          </a:solidFill>
          <a:ln w="12700">
            <a:solidFill>
              <a:srgbClr val="E8E2DA"/>
            </a:solidFill>
            <a:prstDash val="solid"/>
          </a:ln>
        </p:spPr>
      </p:sp>
      <p:sp>
        <p:nvSpPr>
          <p:cNvPr id="29" name="Shape 27"/>
          <p:cNvSpPr/>
          <p:nvPr/>
        </p:nvSpPr>
        <p:spPr>
          <a:xfrm>
            <a:off x="841248" y="4599432"/>
            <a:ext cx="310896" cy="310896"/>
          </a:xfrm>
          <a:prstGeom prst="ellipse">
            <a:avLst/>
          </a:prstGeom>
          <a:solidFill>
            <a:srgbClr val="D92323"/>
          </a:solidFill>
          <a:ln/>
        </p:spPr>
      </p:sp>
      <p:sp>
        <p:nvSpPr>
          <p:cNvPr id="30" name="Text 28"/>
          <p:cNvSpPr/>
          <p:nvPr/>
        </p:nvSpPr>
        <p:spPr>
          <a:xfrm>
            <a:off x="841248" y="4599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1298448" y="4471416"/>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Payment Approver</a:t>
            </a:r>
            <a:endParaRPr lang="en-US" sz="1200" dirty="0"/>
          </a:p>
        </p:txBody>
      </p:sp>
      <p:sp>
        <p:nvSpPr>
          <p:cNvPr id="32" name="Text 30"/>
          <p:cNvSpPr/>
          <p:nvPr/>
        </p:nvSpPr>
        <p:spPr>
          <a:xfrm>
            <a:off x="3429000" y="4471416"/>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oea.approver@</a:t>
            </a:r>
            <a:endParaRPr lang="en-US" sz="1050" dirty="0"/>
          </a:p>
        </p:txBody>
      </p:sp>
      <p:sp>
        <p:nvSpPr>
          <p:cNvPr id="33" name="Text 31"/>
          <p:cNvSpPr/>
          <p:nvPr/>
        </p:nvSpPr>
        <p:spPr>
          <a:xfrm>
            <a:off x="5577840" y="4471416"/>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Stage 3: clears the amount, within tier.</a:t>
            </a:r>
            <a:endParaRPr lang="en-US" sz="1100" dirty="0"/>
          </a:p>
        </p:txBody>
      </p:sp>
      <p:sp>
        <p:nvSpPr>
          <p:cNvPr id="34" name="Shape 32"/>
          <p:cNvSpPr/>
          <p:nvPr/>
        </p:nvSpPr>
        <p:spPr>
          <a:xfrm>
            <a:off x="640080" y="5120640"/>
            <a:ext cx="10908792" cy="566928"/>
          </a:xfrm>
          <a:prstGeom prst="roundRect">
            <a:avLst>
              <a:gd name="adj" fmla="val 8065"/>
            </a:avLst>
          </a:prstGeom>
          <a:solidFill>
            <a:srgbClr val="FFFFFF"/>
          </a:solidFill>
          <a:ln w="12700">
            <a:solidFill>
              <a:srgbClr val="E8E2DA"/>
            </a:solidFill>
            <a:prstDash val="solid"/>
          </a:ln>
        </p:spPr>
      </p:sp>
      <p:sp>
        <p:nvSpPr>
          <p:cNvPr id="35" name="Shape 33"/>
          <p:cNvSpPr/>
          <p:nvPr/>
        </p:nvSpPr>
        <p:spPr>
          <a:xfrm>
            <a:off x="841248" y="5248656"/>
            <a:ext cx="310896" cy="310896"/>
          </a:xfrm>
          <a:prstGeom prst="ellipse">
            <a:avLst/>
          </a:prstGeom>
          <a:solidFill>
            <a:srgbClr val="D92323"/>
          </a:solidFill>
          <a:ln/>
        </p:spPr>
      </p:sp>
      <p:sp>
        <p:nvSpPr>
          <p:cNvPr id="36" name="Text 34"/>
          <p:cNvSpPr/>
          <p:nvPr/>
        </p:nvSpPr>
        <p:spPr>
          <a:xfrm>
            <a:off x="841248" y="5248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7" name="Text 35"/>
          <p:cNvSpPr/>
          <p:nvPr/>
        </p:nvSpPr>
        <p:spPr>
          <a:xfrm>
            <a:off x="1298448" y="5120640"/>
            <a:ext cx="2103120" cy="566928"/>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Finance Approver</a:t>
            </a:r>
            <a:endParaRPr lang="en-US" sz="1200" dirty="0"/>
          </a:p>
        </p:txBody>
      </p:sp>
      <p:sp>
        <p:nvSpPr>
          <p:cNvPr id="38" name="Text 36"/>
          <p:cNvSpPr/>
          <p:nvPr/>
        </p:nvSpPr>
        <p:spPr>
          <a:xfrm>
            <a:off x="3429000" y="5120640"/>
            <a:ext cx="2057400" cy="566928"/>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oea.finance@</a:t>
            </a:r>
            <a:endParaRPr lang="en-US" sz="1050" dirty="0"/>
          </a:p>
        </p:txBody>
      </p:sp>
      <p:sp>
        <p:nvSpPr>
          <p:cNvPr id="39" name="Text 37"/>
          <p:cNvSpPr/>
          <p:nvPr/>
        </p:nvSpPr>
        <p:spPr>
          <a:xfrm>
            <a:off x="5577840" y="5120640"/>
            <a:ext cx="5806440" cy="566928"/>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Releases it. The only role that can, and never the person who approved it.</a:t>
            </a:r>
            <a:endParaRPr lang="en-US" sz="1100" dirty="0"/>
          </a:p>
        </p:txBody>
      </p:sp>
      <p:sp>
        <p:nvSpPr>
          <p:cNvPr id="40" name="Text 38"/>
          <p:cNvSpPr/>
          <p:nvPr/>
        </p:nvSpPr>
        <p:spPr>
          <a:xfrm>
            <a:off x="640080" y="5934456"/>
            <a:ext cx="10908792" cy="329184"/>
          </a:xfrm>
          <a:prstGeom prst="rect">
            <a:avLst/>
          </a:prstGeom>
          <a:noFill/>
          <a:ln/>
        </p:spPr>
        <p:txBody>
          <a:bodyPr wrap="square" lIns="0" tIns="0" rIns="0" bIns="0" rtlCol="0" anchor="t"/>
          <a:lstStyle/>
          <a:p>
            <a:pPr indent="0" marL="0">
              <a:buNone/>
            </a:pPr>
            <a:r>
              <a:rPr lang="en-US" sz="1150" i="1" dirty="0">
                <a:solidFill>
                  <a:srgbClr val="5C616E"/>
                </a:solidFill>
                <a:latin typeface="Calibri" pitchFamily="34" charset="0"/>
                <a:ea typeface="Calibri" pitchFamily="34" charset="-122"/>
                <a:cs typeface="Calibri" pitchFamily="34" charset="-120"/>
              </a:rPr>
              <a:t>Wait for the handover. The pause between rows is part of what you are testing.</a:t>
            </a:r>
            <a:endParaRPr lang="en-US" sz="1150" dirty="0"/>
          </a:p>
        </p:txBody>
      </p:sp>
      <p:sp>
        <p:nvSpPr>
          <p:cNvPr id="41" name="Text 39"/>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20"/>
        </a:solidFill>
      </p:bgPr>
    </p:bg>
    <p:spTree>
      <p:nvGrpSpPr>
        <p:cNvPr id="1" name=""/>
        <p:cNvGrpSpPr/>
        <p:nvPr/>
      </p:nvGrpSpPr>
      <p:grpSpPr>
        <a:xfrm>
          <a:off x="0" y="0"/>
          <a:ext cx="0" cy="0"/>
          <a:chOff x="0" y="0"/>
          <a:chExt cx="0" cy="0"/>
        </a:xfrm>
      </p:grpSpPr>
      <p:sp>
        <p:nvSpPr>
          <p:cNvPr id="2" name="Shape 0"/>
          <p:cNvSpPr/>
          <p:nvPr/>
        </p:nvSpPr>
        <p:spPr>
          <a:xfrm>
            <a:off x="9326880" y="-2011680"/>
            <a:ext cx="5486400" cy="5486400"/>
          </a:xfrm>
          <a:prstGeom prst="ellipse">
            <a:avLst/>
          </a:prstGeom>
          <a:solidFill>
            <a:srgbClr val="1A1A2E">
              <a:alpha val="70000"/>
            </a:srgbClr>
          </a:solidFill>
          <a:ln/>
        </p:spPr>
      </p:sp>
      <p:sp>
        <p:nvSpPr>
          <p:cNvPr id="3" name="Text 1"/>
          <p:cNvSpPr/>
          <p:nvPr/>
        </p:nvSpPr>
        <p:spPr>
          <a:xfrm>
            <a:off x="822960" y="1554480"/>
            <a:ext cx="5486400" cy="365760"/>
          </a:xfrm>
          <a:prstGeom prst="rect">
            <a:avLst/>
          </a:prstGeom>
          <a:noFill/>
          <a:ln/>
        </p:spPr>
        <p:txBody>
          <a:bodyPr wrap="square" lIns="0" tIns="0" rIns="0" bIns="0" rtlCol="0" anchor="t"/>
          <a:lstStyle/>
          <a:p>
            <a:pPr indent="0" marL="0">
              <a:buNone/>
            </a:pPr>
            <a:r>
              <a:rPr lang="en-US" sz="1250" b="1" spc="240" kern="0" dirty="0">
                <a:solidFill>
                  <a:srgbClr val="D92323"/>
                </a:solidFill>
                <a:latin typeface="Calibri" pitchFamily="34" charset="0"/>
                <a:ea typeface="Calibri" pitchFamily="34" charset="-122"/>
                <a:cs typeface="Calibri" pitchFamily="34" charset="-120"/>
              </a:rPr>
              <a:t>DAY 3 · SCENARIO</a:t>
            </a:r>
            <a:endParaRPr lang="en-US" sz="1250" dirty="0"/>
          </a:p>
        </p:txBody>
      </p:sp>
      <p:sp>
        <p:nvSpPr>
          <p:cNvPr id="4" name="Text 2"/>
          <p:cNvSpPr/>
          <p:nvPr/>
        </p:nvSpPr>
        <p:spPr>
          <a:xfrm>
            <a:off x="777240" y="1965960"/>
            <a:ext cx="1033272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A new tenancy, and what the landlord sees</a:t>
            </a:r>
            <a:endParaRPr lang="en-US" sz="4000" dirty="0"/>
          </a:p>
        </p:txBody>
      </p:sp>
      <p:sp>
        <p:nvSpPr>
          <p:cNvPr id="5" name="Text 3"/>
          <p:cNvSpPr/>
          <p:nvPr/>
        </p:nvSpPr>
        <p:spPr>
          <a:xfrm>
            <a:off x="822960" y="3429000"/>
            <a:ext cx="9692640" cy="914400"/>
          </a:xfrm>
          <a:prstGeom prst="rect">
            <a:avLst/>
          </a:prstGeom>
          <a:noFill/>
          <a:ln/>
        </p:spPr>
        <p:txBody>
          <a:bodyPr wrap="square" lIns="0" tIns="0" rIns="0" bIns="0" rtlCol="0" anchor="t"/>
          <a:lstStyle/>
          <a:p>
            <a:pPr indent="0" marL="0">
              <a:buNone/>
            </a:pPr>
            <a:r>
              <a:rPr lang="en-US" sz="1700" i="1" dirty="0">
                <a:solidFill>
                  <a:srgbClr val="C9CBD8"/>
                </a:solidFill>
                <a:latin typeface="Calibri" pitchFamily="34" charset="0"/>
                <a:ea typeface="Calibri" pitchFamily="34" charset="-122"/>
                <a:cs typeface="Calibri" pitchFamily="34" charset="-120"/>
              </a:rPr>
              <a:t>Flat 2A falls vacant. An applicant comes through the property's own link, and the owner wants to know when the money lands.</a:t>
            </a:r>
            <a:endParaRPr lang="en-US" sz="1700" dirty="0"/>
          </a:p>
        </p:txBody>
      </p:sp>
      <p:sp>
        <p:nvSpPr>
          <p:cNvPr id="6" name="Shape 4"/>
          <p:cNvSpPr/>
          <p:nvPr/>
        </p:nvSpPr>
        <p:spPr>
          <a:xfrm>
            <a:off x="822960" y="4370832"/>
            <a:ext cx="2011680" cy="0"/>
          </a:xfrm>
          <a:prstGeom prst="line">
            <a:avLst/>
          </a:prstGeom>
          <a:noFill/>
          <a:ln w="25400">
            <a:solidFill>
              <a:srgbClr val="D92323"/>
            </a:solidFill>
            <a:prstDash val="solid"/>
          </a:ln>
        </p:spPr>
      </p:sp>
      <p:sp>
        <p:nvSpPr>
          <p:cNvPr id="7" name="Text 5"/>
          <p:cNvSpPr/>
          <p:nvPr/>
        </p:nvSpPr>
        <p:spPr>
          <a:xfrm>
            <a:off x="822960" y="4535424"/>
            <a:ext cx="7315200" cy="310896"/>
          </a:xfrm>
          <a:prstGeom prst="rect">
            <a:avLst/>
          </a:prstGeom>
          <a:noFill/>
          <a:ln/>
        </p:spPr>
        <p:txBody>
          <a:bodyPr wrap="square" lIns="0" tIns="0" rIns="0" bIns="0" rtlCol="0" anchor="t"/>
          <a:lstStyle/>
          <a:p>
            <a:pPr indent="0" marL="0">
              <a:buNone/>
            </a:pPr>
            <a:r>
              <a:rPr lang="en-US" sz="1300" dirty="0">
                <a:solidFill>
                  <a:srgbClr val="E4E5EC"/>
                </a:solidFill>
                <a:latin typeface="Calibri" pitchFamily="34" charset="0"/>
                <a:ea typeface="Calibri" pitchFamily="34" charset="-122"/>
                <a:cs typeface="Calibri" pitchFamily="34" charset="-120"/>
              </a:rPr>
              <a:t>7 people · about 45 minutes</a:t>
            </a:r>
            <a:endParaRPr lang="en-US" sz="1300" dirty="0"/>
          </a:p>
        </p:txBody>
      </p:sp>
      <p:sp>
        <p:nvSpPr>
          <p:cNvPr id="8" name="Shape 6"/>
          <p:cNvSpPr/>
          <p:nvPr/>
        </p:nvSpPr>
        <p:spPr>
          <a:xfrm>
            <a:off x="777240" y="5029200"/>
            <a:ext cx="10607040" cy="1325880"/>
          </a:xfrm>
          <a:prstGeom prst="roundRect">
            <a:avLst>
              <a:gd name="adj" fmla="val 5517"/>
            </a:avLst>
          </a:prstGeom>
          <a:solidFill>
            <a:srgbClr val="1A1A2E"/>
          </a:solidFill>
          <a:ln w="12700">
            <a:solidFill>
              <a:srgbClr val="3A3C55"/>
            </a:solidFill>
            <a:prstDash val="solid"/>
          </a:ln>
        </p:spPr>
      </p:sp>
      <p:pic>
        <p:nvPicPr>
          <p:cNvPr id="9" name="Image 0" descr="preencoded.png">    </p:cNvPr>
          <p:cNvPicPr>
            <a:picLocks noChangeAspect="1"/>
          </p:cNvPicPr>
          <p:nvPr/>
        </p:nvPicPr>
        <p:blipFill>
          <a:blip r:embed="rId1"/>
          <a:stretch>
            <a:fillRect/>
          </a:stretch>
        </p:blipFill>
        <p:spPr>
          <a:xfrm>
            <a:off x="1051560" y="5230368"/>
            <a:ext cx="219456" cy="219456"/>
          </a:xfrm>
          <a:prstGeom prst="rect">
            <a:avLst/>
          </a:prstGeom>
        </p:spPr>
      </p:pic>
      <p:sp>
        <p:nvSpPr>
          <p:cNvPr id="10" name="Text 7"/>
          <p:cNvSpPr/>
          <p:nvPr/>
        </p:nvSpPr>
        <p:spPr>
          <a:xfrm>
            <a:off x="1371600" y="5175504"/>
            <a:ext cx="2194560" cy="310896"/>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Watch for</a:t>
            </a:r>
            <a:endParaRPr lang="en-US" sz="1400" dirty="0"/>
          </a:p>
        </p:txBody>
      </p:sp>
      <p:sp>
        <p:nvSpPr>
          <p:cNvPr id="11" name="Text 8"/>
          <p:cNvSpPr/>
          <p:nvPr/>
        </p:nvSpPr>
        <p:spPr>
          <a:xfrm>
            <a:off x="1371600" y="5504688"/>
            <a:ext cx="9784080" cy="749808"/>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The admin fee lands once, on the first demand of the tenancy — and never again, including at renewal.</a:t>
            </a:r>
            <a:endParaRPr lang="en-US" sz="1050" dirty="0"/>
          </a:p>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Change the management fee afterwards and reopen the statement. It must not have moved.</a:t>
            </a:r>
            <a:endParaRPr lang="en-US" sz="1050" dirty="0"/>
          </a:p>
          <a:p>
            <a:pPr marL="342900" indent="-342900">
              <a:spcAft>
                <a:spcPts val="300"/>
              </a:spcAft>
              <a:buSzPct val="100000"/>
              <a:buChar char="•"/>
            </a:pPr>
            <a:r>
              <a:rPr lang="en-US" sz="1050" dirty="0">
                <a:solidFill>
                  <a:srgbClr val="D5D7E2"/>
                </a:solidFill>
                <a:latin typeface="Calibri" pitchFamily="34" charset="0"/>
                <a:ea typeface="Calibri" pitchFamily="34" charset="-122"/>
                <a:cs typeface="Calibri" pitchFamily="34" charset="-120"/>
              </a:rPr>
              <a:t>As the landlord, go looking for the request queue. You should not find it.</a:t>
            </a:r>
            <a:endParaRPr lang="en-US" sz="1050" dirty="0"/>
          </a:p>
        </p:txBody>
      </p:sp>
      <p:sp>
        <p:nvSpPr>
          <p:cNvPr id="12" name="Text 9"/>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2"/>
        </a:solidFill>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indent="0" marL="0">
              <a:buNone/>
            </a:pPr>
            <a:r>
              <a:rPr lang="en-US" sz="1150" b="1" spc="200" kern="0" dirty="0">
                <a:solidFill>
                  <a:srgbClr val="A81A1A"/>
                </a:solidFill>
                <a:latin typeface="Calibri" pitchFamily="34" charset="0"/>
                <a:ea typeface="Calibri" pitchFamily="34" charset="-122"/>
                <a:cs typeface="Calibri" pitchFamily="34" charset="-120"/>
              </a:rPr>
              <a:t>DAY 3 · THE BATON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algn="l" indent="0" marL="0">
              <a:buNone/>
            </a:pPr>
            <a:r>
              <a:rPr lang="en-US" sz="3200" b="1" dirty="0">
                <a:solidFill>
                  <a:srgbClr val="1F2229"/>
                </a:solidFill>
                <a:latin typeface="Cambria" pitchFamily="34" charset="0"/>
                <a:ea typeface="Cambria" pitchFamily="34" charset="-122"/>
                <a:cs typeface="Cambria" pitchFamily="34" charset="-120"/>
              </a:rPr>
              <a:t>Who picks it up, and when</a:t>
            </a:r>
            <a:endParaRPr lang="en-US" sz="3200" dirty="0"/>
          </a:p>
        </p:txBody>
      </p:sp>
      <p:sp>
        <p:nvSpPr>
          <p:cNvPr id="4" name="Shape 2"/>
          <p:cNvSpPr/>
          <p:nvPr/>
        </p:nvSpPr>
        <p:spPr>
          <a:xfrm>
            <a:off x="640080" y="1874520"/>
            <a:ext cx="10908792" cy="502920"/>
          </a:xfrm>
          <a:prstGeom prst="roundRect">
            <a:avLst>
              <a:gd name="adj" fmla="val 9091"/>
            </a:avLst>
          </a:prstGeom>
          <a:solidFill>
            <a:srgbClr val="FFFFFF"/>
          </a:solidFill>
          <a:ln w="12700">
            <a:solidFill>
              <a:srgbClr val="E8E2DA"/>
            </a:solidFill>
            <a:prstDash val="solid"/>
          </a:ln>
        </p:spPr>
      </p:sp>
      <p:sp>
        <p:nvSpPr>
          <p:cNvPr id="5" name="Shape 3"/>
          <p:cNvSpPr/>
          <p:nvPr/>
        </p:nvSpPr>
        <p:spPr>
          <a:xfrm>
            <a:off x="841248" y="1970532"/>
            <a:ext cx="310896" cy="310896"/>
          </a:xfrm>
          <a:prstGeom prst="ellipse">
            <a:avLst/>
          </a:prstGeom>
          <a:solidFill>
            <a:srgbClr val="D92323"/>
          </a:solidFill>
          <a:ln/>
        </p:spPr>
      </p:sp>
      <p:sp>
        <p:nvSpPr>
          <p:cNvPr id="6" name="Text 4"/>
          <p:cNvSpPr/>
          <p:nvPr/>
        </p:nvSpPr>
        <p:spPr>
          <a:xfrm>
            <a:off x="841248" y="19705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98448" y="1874520"/>
            <a:ext cx="2103120" cy="502920"/>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Applicant</a:t>
            </a:r>
            <a:endParaRPr lang="en-US" sz="1200" dirty="0"/>
          </a:p>
        </p:txBody>
      </p:sp>
      <p:sp>
        <p:nvSpPr>
          <p:cNvPr id="8" name="Text 6"/>
          <p:cNvSpPr/>
          <p:nvPr/>
        </p:nvSpPr>
        <p:spPr>
          <a:xfrm>
            <a:off x="3429000" y="1874520"/>
            <a:ext cx="2057400" cy="502920"/>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public link</a:t>
            </a:r>
            <a:endParaRPr lang="en-US" sz="1050" dirty="0"/>
          </a:p>
        </p:txBody>
      </p:sp>
      <p:sp>
        <p:nvSpPr>
          <p:cNvPr id="9" name="Text 7"/>
          <p:cNvSpPr/>
          <p:nvPr/>
        </p:nvSpPr>
        <p:spPr>
          <a:xfrm>
            <a:off x="5577840" y="1874520"/>
            <a:ext cx="5806440" cy="502920"/>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Applies through the property's own address, which carries the property with it.</a:t>
            </a:r>
            <a:endParaRPr lang="en-US" sz="1100" dirty="0"/>
          </a:p>
        </p:txBody>
      </p:sp>
      <p:sp>
        <p:nvSpPr>
          <p:cNvPr id="10" name="Shape 8"/>
          <p:cNvSpPr/>
          <p:nvPr/>
        </p:nvSpPr>
        <p:spPr>
          <a:xfrm>
            <a:off x="640080" y="2459736"/>
            <a:ext cx="10908792" cy="502920"/>
          </a:xfrm>
          <a:prstGeom prst="roundRect">
            <a:avLst>
              <a:gd name="adj" fmla="val 9091"/>
            </a:avLst>
          </a:prstGeom>
          <a:solidFill>
            <a:srgbClr val="FFFFFF"/>
          </a:solidFill>
          <a:ln w="12700">
            <a:solidFill>
              <a:srgbClr val="E8E2DA"/>
            </a:solidFill>
            <a:prstDash val="solid"/>
          </a:ln>
        </p:spPr>
      </p:sp>
      <p:sp>
        <p:nvSpPr>
          <p:cNvPr id="11" name="Shape 9"/>
          <p:cNvSpPr/>
          <p:nvPr/>
        </p:nvSpPr>
        <p:spPr>
          <a:xfrm>
            <a:off x="841248" y="2555748"/>
            <a:ext cx="310896" cy="310896"/>
          </a:xfrm>
          <a:prstGeom prst="ellipse">
            <a:avLst/>
          </a:prstGeom>
          <a:solidFill>
            <a:srgbClr val="D92323"/>
          </a:solidFill>
          <a:ln/>
        </p:spPr>
      </p:sp>
      <p:sp>
        <p:nvSpPr>
          <p:cNvPr id="12" name="Text 10"/>
          <p:cNvSpPr/>
          <p:nvPr/>
        </p:nvSpPr>
        <p:spPr>
          <a:xfrm>
            <a:off x="841248" y="25557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98448" y="2459736"/>
            <a:ext cx="2103120" cy="502920"/>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Reviewer one</a:t>
            </a:r>
            <a:endParaRPr lang="en-US" sz="1200" dirty="0"/>
          </a:p>
        </p:txBody>
      </p:sp>
      <p:sp>
        <p:nvSpPr>
          <p:cNvPr id="14" name="Text 12"/>
          <p:cNvSpPr/>
          <p:nvPr/>
        </p:nvSpPr>
        <p:spPr>
          <a:xfrm>
            <a:off x="3429000" y="2459736"/>
            <a:ext cx="2057400" cy="502920"/>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oea.pm@</a:t>
            </a:r>
            <a:endParaRPr lang="en-US" sz="1050" dirty="0"/>
          </a:p>
        </p:txBody>
      </p:sp>
      <p:sp>
        <p:nvSpPr>
          <p:cNvPr id="15" name="Text 13"/>
          <p:cNvSpPr/>
          <p:nvPr/>
        </p:nvSpPr>
        <p:spPr>
          <a:xfrm>
            <a:off x="5577840" y="2459736"/>
            <a:ext cx="5806440" cy="502920"/>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First of two human reviews. Records their own reason in their own words.</a:t>
            </a:r>
            <a:endParaRPr lang="en-US" sz="1100" dirty="0"/>
          </a:p>
        </p:txBody>
      </p:sp>
      <p:sp>
        <p:nvSpPr>
          <p:cNvPr id="16" name="Shape 14"/>
          <p:cNvSpPr/>
          <p:nvPr/>
        </p:nvSpPr>
        <p:spPr>
          <a:xfrm>
            <a:off x="640080" y="3044952"/>
            <a:ext cx="10908792" cy="502920"/>
          </a:xfrm>
          <a:prstGeom prst="roundRect">
            <a:avLst>
              <a:gd name="adj" fmla="val 9091"/>
            </a:avLst>
          </a:prstGeom>
          <a:solidFill>
            <a:srgbClr val="FFFFFF"/>
          </a:solidFill>
          <a:ln w="12700">
            <a:solidFill>
              <a:srgbClr val="E8E2DA"/>
            </a:solidFill>
            <a:prstDash val="solid"/>
          </a:ln>
        </p:spPr>
      </p:sp>
      <p:sp>
        <p:nvSpPr>
          <p:cNvPr id="17" name="Shape 15"/>
          <p:cNvSpPr/>
          <p:nvPr/>
        </p:nvSpPr>
        <p:spPr>
          <a:xfrm>
            <a:off x="841248" y="3140964"/>
            <a:ext cx="310896" cy="310896"/>
          </a:xfrm>
          <a:prstGeom prst="ellipse">
            <a:avLst/>
          </a:prstGeom>
          <a:solidFill>
            <a:srgbClr val="D92323"/>
          </a:solidFill>
          <a:ln/>
        </p:spPr>
      </p:sp>
      <p:sp>
        <p:nvSpPr>
          <p:cNvPr id="18" name="Text 16"/>
          <p:cNvSpPr/>
          <p:nvPr/>
        </p:nvSpPr>
        <p:spPr>
          <a:xfrm>
            <a:off x="841248" y="31409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298448" y="3044952"/>
            <a:ext cx="2103120" cy="502920"/>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Reviewer two</a:t>
            </a:r>
            <a:endParaRPr lang="en-US" sz="1200" dirty="0"/>
          </a:p>
        </p:txBody>
      </p:sp>
      <p:sp>
        <p:nvSpPr>
          <p:cNvPr id="20" name="Text 18"/>
          <p:cNvSpPr/>
          <p:nvPr/>
        </p:nvSpPr>
        <p:spPr>
          <a:xfrm>
            <a:off x="3429000" y="3044952"/>
            <a:ext cx="2057400" cy="502920"/>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oea.admin@</a:t>
            </a:r>
            <a:endParaRPr lang="en-US" sz="1050" dirty="0"/>
          </a:p>
        </p:txBody>
      </p:sp>
      <p:sp>
        <p:nvSpPr>
          <p:cNvPr id="21" name="Text 19"/>
          <p:cNvSpPr/>
          <p:nvPr/>
        </p:nvSpPr>
        <p:spPr>
          <a:xfrm>
            <a:off x="5577840" y="3044952"/>
            <a:ext cx="5806440" cy="502920"/>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Second review. No automated system scores, ranks or recommends an outcome.</a:t>
            </a:r>
            <a:endParaRPr lang="en-US" sz="1100" dirty="0"/>
          </a:p>
        </p:txBody>
      </p:sp>
      <p:sp>
        <p:nvSpPr>
          <p:cNvPr id="22" name="Shape 20"/>
          <p:cNvSpPr/>
          <p:nvPr/>
        </p:nvSpPr>
        <p:spPr>
          <a:xfrm>
            <a:off x="640080" y="3630168"/>
            <a:ext cx="10908792" cy="502920"/>
          </a:xfrm>
          <a:prstGeom prst="roundRect">
            <a:avLst>
              <a:gd name="adj" fmla="val 9091"/>
            </a:avLst>
          </a:prstGeom>
          <a:solidFill>
            <a:srgbClr val="FFFFFF"/>
          </a:solidFill>
          <a:ln w="12700">
            <a:solidFill>
              <a:srgbClr val="E8E2DA"/>
            </a:solidFill>
            <a:prstDash val="solid"/>
          </a:ln>
        </p:spPr>
      </p:sp>
      <p:sp>
        <p:nvSpPr>
          <p:cNvPr id="23" name="Shape 21"/>
          <p:cNvSpPr/>
          <p:nvPr/>
        </p:nvSpPr>
        <p:spPr>
          <a:xfrm>
            <a:off x="841248" y="3726180"/>
            <a:ext cx="310896" cy="310896"/>
          </a:xfrm>
          <a:prstGeom prst="ellipse">
            <a:avLst/>
          </a:prstGeom>
          <a:solidFill>
            <a:srgbClr val="D92323"/>
          </a:solidFill>
          <a:ln/>
        </p:spPr>
      </p:sp>
      <p:sp>
        <p:nvSpPr>
          <p:cNvPr id="24" name="Text 22"/>
          <p:cNvSpPr/>
          <p:nvPr/>
        </p:nvSpPr>
        <p:spPr>
          <a:xfrm>
            <a:off x="841248" y="37261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1298448" y="3630168"/>
            <a:ext cx="2103120" cy="502920"/>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Properties Manager</a:t>
            </a:r>
            <a:endParaRPr lang="en-US" sz="1200" dirty="0"/>
          </a:p>
        </p:txBody>
      </p:sp>
      <p:sp>
        <p:nvSpPr>
          <p:cNvPr id="26" name="Text 24"/>
          <p:cNvSpPr/>
          <p:nvPr/>
        </p:nvSpPr>
        <p:spPr>
          <a:xfrm>
            <a:off x="3429000" y="3630168"/>
            <a:ext cx="2057400" cy="502920"/>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oea.pm@</a:t>
            </a:r>
            <a:endParaRPr lang="en-US" sz="1050" dirty="0"/>
          </a:p>
        </p:txBody>
      </p:sp>
      <p:sp>
        <p:nvSpPr>
          <p:cNvPr id="27" name="Text 25"/>
          <p:cNvSpPr/>
          <p:nvPr/>
        </p:nvSpPr>
        <p:spPr>
          <a:xfrm>
            <a:off x="5577840" y="3630168"/>
            <a:ext cx="5806440" cy="502920"/>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Drafts the lease, sets rent and escalation, activates it.</a:t>
            </a:r>
            <a:endParaRPr lang="en-US" sz="1100" dirty="0"/>
          </a:p>
        </p:txBody>
      </p:sp>
      <p:sp>
        <p:nvSpPr>
          <p:cNvPr id="28" name="Shape 26"/>
          <p:cNvSpPr/>
          <p:nvPr/>
        </p:nvSpPr>
        <p:spPr>
          <a:xfrm>
            <a:off x="640080" y="4215384"/>
            <a:ext cx="10908792" cy="502920"/>
          </a:xfrm>
          <a:prstGeom prst="roundRect">
            <a:avLst>
              <a:gd name="adj" fmla="val 9091"/>
            </a:avLst>
          </a:prstGeom>
          <a:solidFill>
            <a:srgbClr val="FFFFFF"/>
          </a:solidFill>
          <a:ln w="12700">
            <a:solidFill>
              <a:srgbClr val="E8E2DA"/>
            </a:solidFill>
            <a:prstDash val="solid"/>
          </a:ln>
        </p:spPr>
      </p:sp>
      <p:sp>
        <p:nvSpPr>
          <p:cNvPr id="29" name="Shape 27"/>
          <p:cNvSpPr/>
          <p:nvPr/>
        </p:nvSpPr>
        <p:spPr>
          <a:xfrm>
            <a:off x="841248" y="4311396"/>
            <a:ext cx="310896" cy="310896"/>
          </a:xfrm>
          <a:prstGeom prst="ellipse">
            <a:avLst/>
          </a:prstGeom>
          <a:solidFill>
            <a:srgbClr val="D92323"/>
          </a:solidFill>
          <a:ln/>
        </p:spPr>
      </p:sp>
      <p:sp>
        <p:nvSpPr>
          <p:cNvPr id="30" name="Text 28"/>
          <p:cNvSpPr/>
          <p:nvPr/>
        </p:nvSpPr>
        <p:spPr>
          <a:xfrm>
            <a:off x="841248" y="43113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1298448" y="4215384"/>
            <a:ext cx="2103120" cy="502920"/>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System</a:t>
            </a:r>
            <a:endParaRPr lang="en-US" sz="1200" dirty="0"/>
          </a:p>
        </p:txBody>
      </p:sp>
      <p:sp>
        <p:nvSpPr>
          <p:cNvPr id="32" name="Text 30"/>
          <p:cNvSpPr/>
          <p:nvPr/>
        </p:nvSpPr>
        <p:spPr>
          <a:xfrm>
            <a:off x="3429000" y="4215384"/>
            <a:ext cx="2057400" cy="502920"/>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a:t>
            </a:r>
            <a:endParaRPr lang="en-US" sz="1050" dirty="0"/>
          </a:p>
        </p:txBody>
      </p:sp>
      <p:sp>
        <p:nvSpPr>
          <p:cNvPr id="33" name="Text 31"/>
          <p:cNvSpPr/>
          <p:nvPr/>
        </p:nvSpPr>
        <p:spPr>
          <a:xfrm>
            <a:off x="5577840" y="4215384"/>
            <a:ext cx="5806440" cy="502920"/>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Raises the first demand ahead of the start date, freezing the fee split onto it.</a:t>
            </a:r>
            <a:endParaRPr lang="en-US" sz="1100" dirty="0"/>
          </a:p>
        </p:txBody>
      </p:sp>
      <p:sp>
        <p:nvSpPr>
          <p:cNvPr id="34" name="Shape 32"/>
          <p:cNvSpPr/>
          <p:nvPr/>
        </p:nvSpPr>
        <p:spPr>
          <a:xfrm>
            <a:off x="640080" y="4800600"/>
            <a:ext cx="10908792" cy="502920"/>
          </a:xfrm>
          <a:prstGeom prst="roundRect">
            <a:avLst>
              <a:gd name="adj" fmla="val 9091"/>
            </a:avLst>
          </a:prstGeom>
          <a:solidFill>
            <a:srgbClr val="FFFFFF"/>
          </a:solidFill>
          <a:ln w="12700">
            <a:solidFill>
              <a:srgbClr val="E8E2DA"/>
            </a:solidFill>
            <a:prstDash val="solid"/>
          </a:ln>
        </p:spPr>
      </p:sp>
      <p:sp>
        <p:nvSpPr>
          <p:cNvPr id="35" name="Shape 33"/>
          <p:cNvSpPr/>
          <p:nvPr/>
        </p:nvSpPr>
        <p:spPr>
          <a:xfrm>
            <a:off x="841248" y="4896612"/>
            <a:ext cx="310896" cy="310896"/>
          </a:xfrm>
          <a:prstGeom prst="ellipse">
            <a:avLst/>
          </a:prstGeom>
          <a:solidFill>
            <a:srgbClr val="D92323"/>
          </a:solidFill>
          <a:ln/>
        </p:spPr>
      </p:sp>
      <p:sp>
        <p:nvSpPr>
          <p:cNvPr id="36" name="Text 34"/>
          <p:cNvSpPr/>
          <p:nvPr/>
        </p:nvSpPr>
        <p:spPr>
          <a:xfrm>
            <a:off x="841248" y="48966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7" name="Text 35"/>
          <p:cNvSpPr/>
          <p:nvPr/>
        </p:nvSpPr>
        <p:spPr>
          <a:xfrm>
            <a:off x="1298448" y="4800600"/>
            <a:ext cx="2103120" cy="502920"/>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Tenant</a:t>
            </a:r>
            <a:endParaRPr lang="en-US" sz="1200" dirty="0"/>
          </a:p>
        </p:txBody>
      </p:sp>
      <p:sp>
        <p:nvSpPr>
          <p:cNvPr id="38" name="Text 36"/>
          <p:cNvSpPr/>
          <p:nvPr/>
        </p:nvSpPr>
        <p:spPr>
          <a:xfrm>
            <a:off x="3429000" y="4800600"/>
            <a:ext cx="2057400" cy="502920"/>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oea.tenant@</a:t>
            </a:r>
            <a:endParaRPr lang="en-US" sz="1050" dirty="0"/>
          </a:p>
        </p:txBody>
      </p:sp>
      <p:sp>
        <p:nvSpPr>
          <p:cNvPr id="39" name="Text 37"/>
          <p:cNvSpPr/>
          <p:nvPr/>
        </p:nvSpPr>
        <p:spPr>
          <a:xfrm>
            <a:off x="5577840" y="4800600"/>
            <a:ext cx="5806440" cy="502920"/>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Pays. Part payment is handled — the fee splits in proportion.</a:t>
            </a:r>
            <a:endParaRPr lang="en-US" sz="1100" dirty="0"/>
          </a:p>
        </p:txBody>
      </p:sp>
      <p:sp>
        <p:nvSpPr>
          <p:cNvPr id="40" name="Shape 38"/>
          <p:cNvSpPr/>
          <p:nvPr/>
        </p:nvSpPr>
        <p:spPr>
          <a:xfrm>
            <a:off x="640080" y="5385816"/>
            <a:ext cx="10908792" cy="502920"/>
          </a:xfrm>
          <a:prstGeom prst="roundRect">
            <a:avLst>
              <a:gd name="adj" fmla="val 9091"/>
            </a:avLst>
          </a:prstGeom>
          <a:solidFill>
            <a:srgbClr val="FFFFFF"/>
          </a:solidFill>
          <a:ln w="12700">
            <a:solidFill>
              <a:srgbClr val="E8E2DA"/>
            </a:solidFill>
            <a:prstDash val="solid"/>
          </a:ln>
        </p:spPr>
      </p:sp>
      <p:sp>
        <p:nvSpPr>
          <p:cNvPr id="41" name="Shape 39"/>
          <p:cNvSpPr/>
          <p:nvPr/>
        </p:nvSpPr>
        <p:spPr>
          <a:xfrm>
            <a:off x="841248" y="5481828"/>
            <a:ext cx="310896" cy="310896"/>
          </a:xfrm>
          <a:prstGeom prst="ellipse">
            <a:avLst/>
          </a:prstGeom>
          <a:solidFill>
            <a:srgbClr val="D92323"/>
          </a:solidFill>
          <a:ln/>
        </p:spPr>
      </p:sp>
      <p:sp>
        <p:nvSpPr>
          <p:cNvPr id="42" name="Text 40"/>
          <p:cNvSpPr/>
          <p:nvPr/>
        </p:nvSpPr>
        <p:spPr>
          <a:xfrm>
            <a:off x="841248" y="54818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3" name="Text 41"/>
          <p:cNvSpPr/>
          <p:nvPr/>
        </p:nvSpPr>
        <p:spPr>
          <a:xfrm>
            <a:off x="1298448" y="5385816"/>
            <a:ext cx="2103120" cy="502920"/>
          </a:xfrm>
          <a:prstGeom prst="rect">
            <a:avLst/>
          </a:prstGeom>
          <a:noFill/>
          <a:ln/>
        </p:spPr>
        <p:txBody>
          <a:bodyPr wrap="square" lIns="0" tIns="0" rIns="0" bIns="0" rtlCol="0" anchor="ctr"/>
          <a:lstStyle/>
          <a:p>
            <a:pPr indent="0" marL="0">
              <a:buNone/>
            </a:pPr>
            <a:r>
              <a:rPr lang="en-US" sz="1200" b="1" dirty="0">
                <a:solidFill>
                  <a:srgbClr val="1F2229"/>
                </a:solidFill>
                <a:latin typeface="Calibri" pitchFamily="34" charset="0"/>
                <a:ea typeface="Calibri" pitchFamily="34" charset="-122"/>
                <a:cs typeface="Calibri" pitchFamily="34" charset="-120"/>
              </a:rPr>
              <a:t>Property Owner</a:t>
            </a:r>
            <a:endParaRPr lang="en-US" sz="1200" dirty="0"/>
          </a:p>
        </p:txBody>
      </p:sp>
      <p:sp>
        <p:nvSpPr>
          <p:cNvPr id="44" name="Text 42"/>
          <p:cNvSpPr/>
          <p:nvPr/>
        </p:nvSpPr>
        <p:spPr>
          <a:xfrm>
            <a:off x="3429000" y="5385816"/>
            <a:ext cx="2057400" cy="502920"/>
          </a:xfrm>
          <a:prstGeom prst="rect">
            <a:avLst/>
          </a:prstGeom>
          <a:noFill/>
          <a:ln/>
        </p:spPr>
        <p:txBody>
          <a:bodyPr wrap="square" lIns="0" tIns="0" rIns="0" bIns="0" rtlCol="0" anchor="ctr"/>
          <a:lstStyle/>
          <a:p>
            <a:pPr indent="0" marL="0">
              <a:buNone/>
            </a:pPr>
            <a:r>
              <a:rPr lang="en-US" sz="1050" dirty="0">
                <a:solidFill>
                  <a:srgbClr val="A81A1A"/>
                </a:solidFill>
                <a:latin typeface="Calibri" pitchFamily="34" charset="0"/>
                <a:ea typeface="Calibri" pitchFamily="34" charset="-122"/>
                <a:cs typeface="Calibri" pitchFamily="34" charset="-120"/>
              </a:rPr>
              <a:t>oea.owner@</a:t>
            </a:r>
            <a:endParaRPr lang="en-US" sz="1050" dirty="0"/>
          </a:p>
        </p:txBody>
      </p:sp>
      <p:sp>
        <p:nvSpPr>
          <p:cNvPr id="45" name="Text 43"/>
          <p:cNvSpPr/>
          <p:nvPr/>
        </p:nvSpPr>
        <p:spPr>
          <a:xfrm>
            <a:off x="5577840" y="5385816"/>
            <a:ext cx="5806440" cy="502920"/>
          </a:xfrm>
          <a:prstGeom prst="rect">
            <a:avLst/>
          </a:prstGeom>
          <a:noFill/>
          <a:ln/>
        </p:spPr>
        <p:txBody>
          <a:bodyPr wrap="square" lIns="0" tIns="0" rIns="0" bIns="0" rtlCol="0" anchor="ctr"/>
          <a:lstStyle/>
          <a:p>
            <a:pPr indent="0" marL="0">
              <a:buNone/>
            </a:pPr>
            <a:r>
              <a:rPr lang="en-US" sz="1100" dirty="0">
                <a:solidFill>
                  <a:srgbClr val="5C616E"/>
                </a:solidFill>
                <a:latin typeface="Calibri" pitchFamily="34" charset="0"/>
                <a:ea typeface="Calibri" pitchFamily="34" charset="-122"/>
                <a:cs typeface="Calibri" pitchFamily="34" charset="-120"/>
              </a:rPr>
              <a:t>Sees the money and the statement. Sees no other tenant's complaints.</a:t>
            </a:r>
            <a:endParaRPr lang="en-US" sz="1100" dirty="0"/>
          </a:p>
        </p:txBody>
      </p:sp>
      <p:sp>
        <p:nvSpPr>
          <p:cNvPr id="46" name="Text 44"/>
          <p:cNvSpPr/>
          <p:nvPr/>
        </p:nvSpPr>
        <p:spPr>
          <a:xfrm>
            <a:off x="640080" y="6135624"/>
            <a:ext cx="10908792" cy="329184"/>
          </a:xfrm>
          <a:prstGeom prst="rect">
            <a:avLst/>
          </a:prstGeom>
          <a:noFill/>
          <a:ln/>
        </p:spPr>
        <p:txBody>
          <a:bodyPr wrap="square" lIns="0" tIns="0" rIns="0" bIns="0" rtlCol="0" anchor="t"/>
          <a:lstStyle/>
          <a:p>
            <a:pPr indent="0" marL="0">
              <a:buNone/>
            </a:pPr>
            <a:r>
              <a:rPr lang="en-US" sz="1150" i="1" dirty="0">
                <a:solidFill>
                  <a:srgbClr val="5C616E"/>
                </a:solidFill>
                <a:latin typeface="Calibri" pitchFamily="34" charset="0"/>
                <a:ea typeface="Calibri" pitchFamily="34" charset="-122"/>
                <a:cs typeface="Calibri" pitchFamily="34" charset="-120"/>
              </a:rPr>
              <a:t>Wait for the handover. The pause between rows is part of what you are testing.</a:t>
            </a:r>
            <a:endParaRPr lang="en-US" sz="1150" dirty="0"/>
          </a:p>
        </p:txBody>
      </p:sp>
      <p:sp>
        <p:nvSpPr>
          <p:cNvPr id="47" name="Text 45"/>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indent="0" marL="0">
              <a:buNone/>
            </a:pPr>
            <a:r>
              <a:rPr lang="en-US" sz="1150" b="1" spc="200" kern="0" dirty="0">
                <a:solidFill>
                  <a:srgbClr val="A81A1A"/>
                </a:solidFill>
                <a:latin typeface="Calibri" pitchFamily="34" charset="0"/>
                <a:ea typeface="Calibri" pitchFamily="34" charset="-122"/>
                <a:cs typeface="Calibri" pitchFamily="34" charset="-120"/>
              </a:rPr>
              <a:t>AFTERWARDS</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algn="l" indent="0" marL="0">
              <a:buNone/>
            </a:pPr>
            <a:r>
              <a:rPr lang="en-US" sz="3200" b="1" dirty="0">
                <a:solidFill>
                  <a:srgbClr val="1F2229"/>
                </a:solidFill>
                <a:latin typeface="Cambria" pitchFamily="34" charset="0"/>
                <a:ea typeface="Cambria" pitchFamily="34" charset="-122"/>
                <a:cs typeface="Cambria" pitchFamily="34" charset="-120"/>
              </a:rPr>
              <a:t>What we are listening for</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indent="0" marL="0">
              <a:buNone/>
            </a:pPr>
            <a:r>
              <a:rPr lang="en-US" sz="1450" dirty="0">
                <a:solidFill>
                  <a:srgbClr val="5C616E"/>
                </a:solidFill>
                <a:latin typeface="Calibri" pitchFamily="34" charset="0"/>
                <a:ea typeface="Calibri" pitchFamily="34" charset="-122"/>
                <a:cs typeface="Calibri" pitchFamily="34" charset="-120"/>
              </a:rPr>
              <a:t>Three kinds of finding, all of them useful.</a:t>
            </a:r>
            <a:endParaRPr lang="en-US" sz="1450" dirty="0"/>
          </a:p>
        </p:txBody>
      </p:sp>
      <p:sp>
        <p:nvSpPr>
          <p:cNvPr id="5" name="Shape 3"/>
          <p:cNvSpPr/>
          <p:nvPr/>
        </p:nvSpPr>
        <p:spPr>
          <a:xfrm>
            <a:off x="640080" y="2286000"/>
            <a:ext cx="3566160" cy="2468880"/>
          </a:xfrm>
          <a:prstGeom prst="roundRect">
            <a:avLst>
              <a:gd name="adj" fmla="val 2963"/>
            </a:avLst>
          </a:prstGeom>
          <a:solidFill>
            <a:srgbClr val="E6F3EB"/>
          </a:solidFill>
          <a:ln w="12700">
            <a:solidFill>
              <a:srgbClr val="CBE3D6"/>
            </a:solidFill>
            <a:prstDash val="solid"/>
          </a:ln>
        </p:spPr>
      </p:sp>
      <p:sp>
        <p:nvSpPr>
          <p:cNvPr id="6" name="Text 4"/>
          <p:cNvSpPr/>
          <p:nvPr/>
        </p:nvSpPr>
        <p:spPr>
          <a:xfrm>
            <a:off x="932688" y="2542032"/>
            <a:ext cx="2999232" cy="868680"/>
          </a:xfrm>
          <a:prstGeom prst="rect">
            <a:avLst/>
          </a:prstGeom>
          <a:noFill/>
          <a:ln/>
        </p:spPr>
        <p:txBody>
          <a:bodyPr wrap="square" lIns="0" tIns="0" rIns="0" bIns="0" rtlCol="0" anchor="t"/>
          <a:lstStyle/>
          <a:p>
            <a:pPr indent="0" marL="0">
              <a:buNone/>
            </a:pPr>
            <a:r>
              <a:rPr lang="en-US" sz="1600" b="1" dirty="0">
                <a:solidFill>
                  <a:srgbClr val="1F2229"/>
                </a:solidFill>
                <a:latin typeface="Cambria" pitchFamily="34" charset="0"/>
                <a:ea typeface="Cambria" pitchFamily="34" charset="-122"/>
                <a:cs typeface="Cambria" pitchFamily="34" charset="-120"/>
              </a:rPr>
              <a:t>It stopped me, and I understood why</a:t>
            </a:r>
            <a:endParaRPr lang="en-US" sz="1600" dirty="0"/>
          </a:p>
        </p:txBody>
      </p:sp>
      <p:sp>
        <p:nvSpPr>
          <p:cNvPr id="7" name="Text 5"/>
          <p:cNvSpPr/>
          <p:nvPr/>
        </p:nvSpPr>
        <p:spPr>
          <a:xfrm>
            <a:off x="932688" y="3493008"/>
            <a:ext cx="2999232" cy="1097280"/>
          </a:xfrm>
          <a:prstGeom prst="rect">
            <a:avLst/>
          </a:prstGeom>
          <a:noFill/>
          <a:ln/>
        </p:spPr>
        <p:txBody>
          <a:bodyPr wrap="square" lIns="0" tIns="0" rIns="0" bIns="0" rtlCol="0" anchor="t"/>
          <a:lstStyle/>
          <a:p>
            <a:pPr indent="0" marL="0">
              <a:buNone/>
            </a:pPr>
            <a:r>
              <a:rPr lang="en-US" sz="1150" dirty="0">
                <a:solidFill>
                  <a:srgbClr val="5C616E"/>
                </a:solidFill>
                <a:latin typeface="Calibri" pitchFamily="34" charset="0"/>
                <a:ea typeface="Calibri" pitchFamily="34" charset="-122"/>
                <a:cs typeface="Calibri" pitchFamily="34" charset="-120"/>
              </a:rPr>
              <a:t>The control worked and the wording explained it. Tell us anyway — this is the bar for every other refusal.</a:t>
            </a:r>
            <a:endParaRPr lang="en-US" sz="1150" dirty="0"/>
          </a:p>
        </p:txBody>
      </p:sp>
      <p:sp>
        <p:nvSpPr>
          <p:cNvPr id="8" name="Shape 6"/>
          <p:cNvSpPr/>
          <p:nvPr/>
        </p:nvSpPr>
        <p:spPr>
          <a:xfrm>
            <a:off x="4352544" y="2286000"/>
            <a:ext cx="3566160" cy="2468880"/>
          </a:xfrm>
          <a:prstGeom prst="roundRect">
            <a:avLst>
              <a:gd name="adj" fmla="val 2963"/>
            </a:avLst>
          </a:prstGeom>
          <a:solidFill>
            <a:srgbClr val="FBE9E9"/>
          </a:solidFill>
          <a:ln w="12700">
            <a:solidFill>
              <a:srgbClr val="F0D4D4"/>
            </a:solidFill>
            <a:prstDash val="solid"/>
          </a:ln>
        </p:spPr>
      </p:sp>
      <p:sp>
        <p:nvSpPr>
          <p:cNvPr id="9" name="Text 7"/>
          <p:cNvSpPr/>
          <p:nvPr/>
        </p:nvSpPr>
        <p:spPr>
          <a:xfrm>
            <a:off x="4645152" y="2542032"/>
            <a:ext cx="2999232" cy="868680"/>
          </a:xfrm>
          <a:prstGeom prst="rect">
            <a:avLst/>
          </a:prstGeom>
          <a:noFill/>
          <a:ln/>
        </p:spPr>
        <p:txBody>
          <a:bodyPr wrap="square" lIns="0" tIns="0" rIns="0" bIns="0" rtlCol="0" anchor="t"/>
          <a:lstStyle/>
          <a:p>
            <a:pPr indent="0" marL="0">
              <a:buNone/>
            </a:pPr>
            <a:r>
              <a:rPr lang="en-US" sz="1600" b="1" dirty="0">
                <a:solidFill>
                  <a:srgbClr val="1F2229"/>
                </a:solidFill>
                <a:latin typeface="Cambria" pitchFamily="34" charset="0"/>
                <a:ea typeface="Cambria" pitchFamily="34" charset="-122"/>
                <a:cs typeface="Cambria" pitchFamily="34" charset="-120"/>
              </a:rPr>
              <a:t>It stopped me, and I did not understand why</a:t>
            </a:r>
            <a:endParaRPr lang="en-US" sz="1600" dirty="0"/>
          </a:p>
        </p:txBody>
      </p:sp>
      <p:sp>
        <p:nvSpPr>
          <p:cNvPr id="10" name="Text 8"/>
          <p:cNvSpPr/>
          <p:nvPr/>
        </p:nvSpPr>
        <p:spPr>
          <a:xfrm>
            <a:off x="4645152" y="3493008"/>
            <a:ext cx="2999232" cy="1097280"/>
          </a:xfrm>
          <a:prstGeom prst="rect">
            <a:avLst/>
          </a:prstGeom>
          <a:noFill/>
          <a:ln/>
        </p:spPr>
        <p:txBody>
          <a:bodyPr wrap="square" lIns="0" tIns="0" rIns="0" bIns="0" rtlCol="0" anchor="t"/>
          <a:lstStyle/>
          <a:p>
            <a:pPr indent="0" marL="0">
              <a:buNone/>
            </a:pPr>
            <a:r>
              <a:rPr lang="en-US" sz="1150" dirty="0">
                <a:solidFill>
                  <a:srgbClr val="5C616E"/>
                </a:solidFill>
                <a:latin typeface="Calibri" pitchFamily="34" charset="0"/>
                <a:ea typeface="Calibri" pitchFamily="34" charset="-122"/>
                <a:cs typeface="Calibri" pitchFamily="34" charset="-120"/>
              </a:rPr>
              <a:t>The rule may be right and the message wrong. Almost always a real fix, and a cheap one.</a:t>
            </a:r>
            <a:endParaRPr lang="en-US" sz="1150" dirty="0"/>
          </a:p>
        </p:txBody>
      </p:sp>
      <p:sp>
        <p:nvSpPr>
          <p:cNvPr id="11" name="Shape 9"/>
          <p:cNvSpPr/>
          <p:nvPr/>
        </p:nvSpPr>
        <p:spPr>
          <a:xfrm>
            <a:off x="8065008" y="2286000"/>
            <a:ext cx="3566160" cy="2468880"/>
          </a:xfrm>
          <a:prstGeom prst="roundRect">
            <a:avLst>
              <a:gd name="adj" fmla="val 2963"/>
            </a:avLst>
          </a:prstGeom>
          <a:solidFill>
            <a:srgbClr val="FBF7F2"/>
          </a:solidFill>
          <a:ln w="12700">
            <a:solidFill>
              <a:srgbClr val="E8E2DA"/>
            </a:solidFill>
            <a:prstDash val="solid"/>
          </a:ln>
        </p:spPr>
      </p:sp>
      <p:sp>
        <p:nvSpPr>
          <p:cNvPr id="12" name="Text 10"/>
          <p:cNvSpPr/>
          <p:nvPr/>
        </p:nvSpPr>
        <p:spPr>
          <a:xfrm>
            <a:off x="8357616" y="2542032"/>
            <a:ext cx="2999232" cy="868680"/>
          </a:xfrm>
          <a:prstGeom prst="rect">
            <a:avLst/>
          </a:prstGeom>
          <a:noFill/>
          <a:ln/>
        </p:spPr>
        <p:txBody>
          <a:bodyPr wrap="square" lIns="0" tIns="0" rIns="0" bIns="0" rtlCol="0" anchor="t"/>
          <a:lstStyle/>
          <a:p>
            <a:pPr indent="0" marL="0">
              <a:buNone/>
            </a:pPr>
            <a:r>
              <a:rPr lang="en-US" sz="1600" b="1" dirty="0">
                <a:solidFill>
                  <a:srgbClr val="1F2229"/>
                </a:solidFill>
                <a:latin typeface="Cambria" pitchFamily="34" charset="0"/>
                <a:ea typeface="Cambria" pitchFamily="34" charset="-122"/>
                <a:cs typeface="Cambria" pitchFamily="34" charset="-120"/>
              </a:rPr>
              <a:t>It let me do something it should not have</a:t>
            </a:r>
            <a:endParaRPr lang="en-US" sz="1600" dirty="0"/>
          </a:p>
        </p:txBody>
      </p:sp>
      <p:sp>
        <p:nvSpPr>
          <p:cNvPr id="13" name="Text 11"/>
          <p:cNvSpPr/>
          <p:nvPr/>
        </p:nvSpPr>
        <p:spPr>
          <a:xfrm>
            <a:off x="8357616" y="3493008"/>
            <a:ext cx="2999232" cy="1097280"/>
          </a:xfrm>
          <a:prstGeom prst="rect">
            <a:avLst/>
          </a:prstGeom>
          <a:noFill/>
          <a:ln/>
        </p:spPr>
        <p:txBody>
          <a:bodyPr wrap="square" lIns="0" tIns="0" rIns="0" bIns="0" rtlCol="0" anchor="t"/>
          <a:lstStyle/>
          <a:p>
            <a:pPr indent="0" marL="0">
              <a:buNone/>
            </a:pPr>
            <a:r>
              <a:rPr lang="en-US" sz="1150" dirty="0">
                <a:solidFill>
                  <a:srgbClr val="5C616E"/>
                </a:solidFill>
                <a:latin typeface="Calibri" pitchFamily="34" charset="0"/>
                <a:ea typeface="Calibri" pitchFamily="34" charset="-122"/>
                <a:cs typeface="Calibri" pitchFamily="34" charset="-120"/>
              </a:rPr>
              <a:t>The most valuable finding in the room. Say so immediately, not at the end of the day.</a:t>
            </a:r>
            <a:endParaRPr lang="en-US" sz="1150" dirty="0"/>
          </a:p>
        </p:txBody>
      </p:sp>
      <p:sp>
        <p:nvSpPr>
          <p:cNvPr id="14" name="Shape 12"/>
          <p:cNvSpPr/>
          <p:nvPr/>
        </p:nvSpPr>
        <p:spPr>
          <a:xfrm>
            <a:off x="640080" y="5029200"/>
            <a:ext cx="10908792" cy="1097280"/>
          </a:xfrm>
          <a:prstGeom prst="roundRect">
            <a:avLst>
              <a:gd name="adj" fmla="val 6667"/>
            </a:avLst>
          </a:prstGeom>
          <a:solidFill>
            <a:srgbClr val="FBF7F2"/>
          </a:solidFill>
          <a:ln w="12700">
            <a:solidFill>
              <a:srgbClr val="E8E2DA"/>
            </a:solidFill>
            <a:prstDash val="solid"/>
          </a:ln>
        </p:spPr>
      </p:sp>
      <p:pic>
        <p:nvPicPr>
          <p:cNvPr id="15" name="Image 0" descr="preencoded.png">    </p:cNvPr>
          <p:cNvPicPr>
            <a:picLocks noChangeAspect="1"/>
          </p:cNvPicPr>
          <p:nvPr/>
        </p:nvPicPr>
        <p:blipFill>
          <a:blip r:embed="rId1"/>
          <a:stretch>
            <a:fillRect/>
          </a:stretch>
        </p:blipFill>
        <p:spPr>
          <a:xfrm>
            <a:off x="914400" y="5321808"/>
            <a:ext cx="274320" cy="274320"/>
          </a:xfrm>
          <a:prstGeom prst="rect">
            <a:avLst/>
          </a:prstGeom>
        </p:spPr>
      </p:pic>
      <p:sp>
        <p:nvSpPr>
          <p:cNvPr id="16" name="Text 13"/>
          <p:cNvSpPr/>
          <p:nvPr/>
        </p:nvSpPr>
        <p:spPr>
          <a:xfrm>
            <a:off x="1325880" y="5029200"/>
            <a:ext cx="9966960" cy="1097280"/>
          </a:xfrm>
          <a:prstGeom prst="rect">
            <a:avLst/>
          </a:prstGeom>
          <a:noFill/>
          <a:ln/>
        </p:spPr>
        <p:txBody>
          <a:bodyPr wrap="square" lIns="0" tIns="0" rIns="0" bIns="0" rtlCol="0" anchor="ctr"/>
          <a:lstStyle/>
          <a:p>
            <a:pPr indent="0" marL="0">
              <a:buNone/>
            </a:pPr>
            <a:r>
              <a:rPr lang="en-US" sz="1300" b="1" dirty="0">
                <a:solidFill>
                  <a:srgbClr val="1F2229"/>
                </a:solidFill>
                <a:latin typeface="Calibri" pitchFamily="34" charset="0"/>
                <a:ea typeface="Calibri" pitchFamily="34" charset="-122"/>
                <a:cs typeface="Calibri" pitchFamily="34" charset="-120"/>
              </a:rPr>
              <a:t>And one question for every role: </a:t>
            </a:r>
            <a:pPr indent="0" marL="0">
              <a:buNone/>
            </a:pPr>
            <a:r>
              <a:rPr lang="en-US" sz="1300" dirty="0">
                <a:solidFill>
                  <a:srgbClr val="1F2229"/>
                </a:solidFill>
                <a:latin typeface="Calibri" pitchFamily="34" charset="0"/>
                <a:ea typeface="Calibri" pitchFamily="34" charset="-122"/>
                <a:cs typeface="Calibri" pitchFamily="34" charset="-120"/>
              </a:rPr>
              <a:t>could you do your actual job with this, on a normal day, without asking anyone for help? If not, what is missing?</a:t>
            </a:r>
            <a:endParaRPr lang="en-US" sz="1300" dirty="0"/>
          </a:p>
        </p:txBody>
      </p:sp>
      <p:sp>
        <p:nvSpPr>
          <p:cNvPr id="17" name="Text 14"/>
          <p:cNvSpPr/>
          <p:nvPr/>
        </p:nvSpPr>
        <p:spPr>
          <a:xfrm>
            <a:off x="11323015" y="6355080"/>
            <a:ext cx="548640" cy="320040"/>
          </a:xfrm>
          <a:prstGeom prst="rect">
            <a:avLst/>
          </a:prstGeom>
          <a:noFill/>
          <a:ln/>
        </p:spPr>
        <p:txBody>
          <a:bodyPr wrap="square" lIns="0" tIns="0" rIns="0" bIns="0" rtlCol="0" anchor="ctr"/>
          <a:lstStyle/>
          <a:p>
            <a:pPr algn="r" indent="0" marL="0">
              <a:buNone/>
            </a:pPr>
            <a:r>
              <a:rPr lang="en-US" sz="1000" dirty="0">
                <a:solidFill>
                  <a:srgbClr val="5C616E"/>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2026-08-24T10:21:50Z</dcterms:created>
  <dcterms:modified xsi:type="dcterms:W3CDTF">2026-08-24T10:21:50Z</dcterms:modified>
</cp:coreProperties>
</file>