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Opening, 30s. This is a working cloud system, not slides. Unifies TFML facilities + OEA property management on one backend, WhatsApp-first, built in-house AI-led. Six modules live. I'll walk a single request from a tenant's phone to a board-level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frame: unified two brands, WhatsApp-first, managed cloud, AI-led. Then say: let me show you the journey of one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story in one line. Each of the next slides is one of these steps. The one to lean into is the payment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100% category accuracy, priority within one step. And a human can override. AI removes toil, people keep judgement.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FM scoped to their properties. Assign → notify → acknowledge. Vendor sees only their jobs. Every step timestamped.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centrepiece — slow down here. Strong vendor passes and remits. Weak vendor (53&lt;70) is BLOCKED. Enforced in the DB, not the UI. This is the governance the board cares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Apportionment reconciles exactly. Resident sees only their own statement. Full transparency, correctly scoped.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page, three scoped views. Show admin then owner live for the contrast. Enforced at four layers, DB backstop.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 is immutable, DB-enforced. Dual-brand: TFML navy / OEA red, separate data, one domain, no URLs. Show both logins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credibility slide. Hard, checkable facts. Nothing hand-wavy.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hardens the pilot for production. This is the roadmap the board is approving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Close, 30s. AI removes toil, humans gate money, everything recorded. This is the pilot; Phase 1 hardens for production.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E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E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7498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 GROUP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54480" y="1115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TFML  ·  OEA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Integrated Facilities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Property Management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proof-of-concept — six modules, one secure platform, live in the cloud.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292608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8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Confidential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system. Six modules. Live.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BF8F7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450592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3591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brands, one backend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28803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TFML and OEA share secure infrastructure but never see each other's data.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21031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BF8F7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2450592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23591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WhatsApp-first intake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12280" y="28803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report issues where they already are — WhatsApp, Telegram, or the web portal.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BF8F7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462272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3708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Cloud-native, zero self-hosting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489204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on managed services. Nothing runs on a laptop; nothing to rack or patch.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41148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BF8F7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4462272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43708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where it removes toil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12280" y="489204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triages and reconciles; people approve payments and own exceptions.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tenant's phone to a board-level number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635252" cy="2011680"/>
          </a:xfrm>
          <a:prstGeom prst="roundRect">
            <a:avLst>
              <a:gd name="adj" fmla="val 4473"/>
            </a:avLst>
          </a:prstGeom>
          <a:solidFill>
            <a:srgbClr val="24243B"/>
          </a:solidFill>
          <a:ln w="12700">
            <a:solidFill>
              <a:srgbClr val="3A3A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71800"/>
            <a:ext cx="16352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1452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4069080"/>
            <a:ext cx="14157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9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Telegram / portal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65604" y="2743200"/>
            <a:ext cx="292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39924" y="2743200"/>
            <a:ext cx="1635252" cy="2011680"/>
          </a:xfrm>
          <a:prstGeom prst="roundRect">
            <a:avLst>
              <a:gd name="adj" fmla="val 4473"/>
            </a:avLst>
          </a:prstGeom>
          <a:solidFill>
            <a:srgbClr val="24243B"/>
          </a:solidFill>
          <a:ln w="12700">
            <a:solidFill>
              <a:srgbClr val="3A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9924" y="2971800"/>
            <a:ext cx="16352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31364" y="3611880"/>
            <a:ext cx="1452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triage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49652" y="4069080"/>
            <a:ext cx="14157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9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priority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56888" y="2743200"/>
            <a:ext cx="292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331208" y="2743200"/>
            <a:ext cx="1635252" cy="2011680"/>
          </a:xfrm>
          <a:prstGeom prst="roundRect">
            <a:avLst>
              <a:gd name="adj" fmla="val 4473"/>
            </a:avLst>
          </a:prstGeom>
          <a:solidFill>
            <a:srgbClr val="24243B"/>
          </a:solidFill>
          <a:ln w="12700">
            <a:solidFill>
              <a:srgbClr val="3A3A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31208" y="2971800"/>
            <a:ext cx="16352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22648" y="3611880"/>
            <a:ext cx="1452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40936" y="4069080"/>
            <a:ext cx="14157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9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assigns a vendor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8172" y="2743200"/>
            <a:ext cx="292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222492" y="2743200"/>
            <a:ext cx="1635252" cy="2011680"/>
          </a:xfrm>
          <a:prstGeom prst="roundRect">
            <a:avLst>
              <a:gd name="adj" fmla="val 4473"/>
            </a:avLst>
          </a:prstGeom>
          <a:solidFill>
            <a:srgbClr val="24243B"/>
          </a:solidFill>
          <a:ln w="12700">
            <a:solidFill>
              <a:srgbClr val="3A3A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2492" y="2971800"/>
            <a:ext cx="16352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13932" y="3611880"/>
            <a:ext cx="1452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gate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32220" y="4069080"/>
            <a:ext cx="14157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9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· score · approve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39456" y="2743200"/>
            <a:ext cx="292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113776" y="2743200"/>
            <a:ext cx="1635252" cy="2011680"/>
          </a:xfrm>
          <a:prstGeom prst="roundRect">
            <a:avLst>
              <a:gd name="adj" fmla="val 4473"/>
            </a:avLst>
          </a:prstGeom>
          <a:solidFill>
            <a:srgbClr val="24243B"/>
          </a:solidFill>
          <a:ln w="12700">
            <a:solidFill>
              <a:srgbClr val="3A3A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3776" y="2971800"/>
            <a:ext cx="16352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205216" y="3611880"/>
            <a:ext cx="1452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 &amp; BI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3504" y="4069080"/>
            <a:ext cx="14157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9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each role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730740" y="2743200"/>
            <a:ext cx="292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0005060" y="2743200"/>
            <a:ext cx="1635252" cy="2011680"/>
          </a:xfrm>
          <a:prstGeom prst="roundRect">
            <a:avLst>
              <a:gd name="adj" fmla="val 4473"/>
            </a:avLst>
          </a:prstGeom>
          <a:solidFill>
            <a:srgbClr val="24243B"/>
          </a:solidFill>
          <a:ln w="12700">
            <a:solidFill>
              <a:srgbClr val="3A3A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05060" y="2971800"/>
            <a:ext cx="16352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0096500" y="3611880"/>
            <a:ext cx="1452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114788" y="4069080"/>
            <a:ext cx="14157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9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record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hand-off is timestamped, scoped to the right people, and written to an audit trail that cannot be altered.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8B1D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INTAKE &amp; AI TRIAGE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841248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reads it, files it, and prioritises it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6583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resident messages WhatsApp, Telegram, or the portal.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decides the category and urgency, and logs a ticket — automatically.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appears in the portal live, with a plain-English summary.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can always correct it — AI does the toil, people keep judgement.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80960" y="214884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8B1D1D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24688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7955280" y="3611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category on a held-out test set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12480" y="4297680"/>
            <a:ext cx="246888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4434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within one step, every time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8B1D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DISPATCH &amp; ACCOUNTABILITY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841248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Assigned to the right vendor — and confirmed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Facility Manager sees only their own properties' requests. Access follows responsibility.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BF8F7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246120"/>
            <a:ext cx="640080" cy="640080"/>
          </a:xfrm>
          <a:prstGeom prst="ellipse">
            <a:avLst/>
          </a:prstGeom>
          <a:solidFill>
            <a:srgbClr val="8B1D1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8680" y="4023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4480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dispatches the job to a vendor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069080" y="2880360"/>
            <a:ext cx="320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89120" y="2880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BF8F7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3246120"/>
            <a:ext cx="640080" cy="640080"/>
          </a:xfrm>
          <a:prstGeom prst="ellipse">
            <a:avLst/>
          </a:prstGeom>
          <a:solidFill>
            <a:srgbClr val="8B1D1D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09160" y="4023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Notify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709160" y="4480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is alerted automatically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909560" y="2880360"/>
            <a:ext cx="320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229600" y="2880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BF8F7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3246120"/>
            <a:ext cx="640080" cy="640080"/>
          </a:xfrm>
          <a:prstGeom prst="ellipse">
            <a:avLst/>
          </a:prstGeom>
          <a:solidFill>
            <a:srgbClr val="8B1D1D"/>
          </a:solidFill>
          <a:ln/>
        </p:spPr>
      </p:sp>
      <p:sp>
        <p:nvSpPr>
          <p:cNvPr id="21" name="Text 19"/>
          <p:cNvSpPr/>
          <p:nvPr/>
        </p:nvSpPr>
        <p:spPr>
          <a:xfrm>
            <a:off x="854964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549640" y="4023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549640" y="4480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confirms receipt of the job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hand-off is timestamped and recorded — accountability by construction.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8B1D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THE MONEY CONTROLS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841248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vendor is paid on trust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passes a gate:  verify service  ·  validate performance  ·  approve  ·  remit.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EAF5EE"/>
          </a:solidFill>
          <a:ln w="19050">
            <a:solidFill>
              <a:srgbClr val="1E7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718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SecureGuard  ·  score 85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70 threshold set by an admin.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Approved, then remitted (simulated — no live gateway in the pilot).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269748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FBEBE9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9718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BLOCKED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33832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FixIt Plumbing  ·  score 53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2240" y="393192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threshold. The system refuses the payment.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possible to remit to an underperforming vendor.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8B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Enforced in the database — not just on the screen.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8B1D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SERVICE CHARGE ADMINISTRATION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841248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Apportioned to the kobo — and transparent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6583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service charges are apportioned across every unit automatically.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reconciles to the budget total exactly — no rounding leaks.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resident sees only their own statement: their unit, their share, per cycle.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generate on demand; collection is tracked against each property.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80960" y="214884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25146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955280" y="3611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apportionment reconciles to the budget total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12480" y="4343400"/>
            <a:ext cx="2468880" cy="0"/>
          </a:xfrm>
          <a:prstGeom prst="line">
            <a:avLst/>
          </a:prstGeom>
          <a:noFill/>
          <a:ln w="19050">
            <a:solidFill>
              <a:srgbClr val="8B1D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4480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billing cycles  ·  15 units  ·  3 properties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8B1D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EXECUTIVE VISIBILITY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841248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 — every role sees its own slice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page renders three different, correctly-scoped views: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8B1D1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3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868680" y="4480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0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— full financials, all KPIs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27889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3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Mgr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34290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4709160" y="4480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0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properties — ops + budgets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27889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E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34290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600" dirty="0"/>
          </a:p>
        </p:txBody>
      </p:sp>
      <p:sp>
        <p:nvSpPr>
          <p:cNvPr id="18" name="Text 16"/>
          <p:cNvSpPr/>
          <p:nvPr/>
        </p:nvSpPr>
        <p:spPr>
          <a:xfrm>
            <a:off x="8549640" y="4480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property — portfolio + collections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over-shared. Access is enforced at four layers, with the database as the backstop.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8B1D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TRUST &amp; ISOLATION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841248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record — and truly separated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257800" cy="3108960"/>
          </a:xfrm>
          <a:prstGeom prst="roundRect">
            <a:avLst>
              <a:gd name="adj" fmla="val 2941"/>
            </a:avLst>
          </a:prstGeom>
          <a:solidFill>
            <a:srgbClr val="FBF8F7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audit trail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assignment, approval and remittance — who did it, and when.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cannot be edited or deleted.</a:t>
            </a:r>
            <a:endParaRPr lang="en-US" sz="1450" dirty="0"/>
          </a:p>
          <a:p>
            <a:pPr marL="203200" indent="-203200">
              <a:lnSpc>
                <a:spcPct val="105000"/>
              </a:lnSpc>
              <a:buSzPct val="100000"/>
              <a:buChar char="•"/>
            </a:pPr>
            <a:r>
              <a:rPr lang="en-US" sz="145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itself forbids it — the compliance backbone.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257800" cy="3108960"/>
          </a:xfrm>
          <a:prstGeom prst="roundRect">
            <a:avLst>
              <a:gd name="adj" fmla="val 2941"/>
            </a:avLst>
          </a:prstGeom>
          <a:solidFill>
            <a:srgbClr val="FBF8F7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4688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brands, one platform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92240" y="3108960"/>
            <a:ext cx="4526280" cy="640080"/>
          </a:xfrm>
          <a:prstGeom prst="roundRect">
            <a:avLst>
              <a:gd name="adj" fmla="val 8571"/>
            </a:avLst>
          </a:prstGeom>
          <a:solidFill>
            <a:srgbClr val="003366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31089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TFML — navy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3840480"/>
            <a:ext cx="4526280" cy="640080"/>
          </a:xfrm>
          <a:prstGeom prst="roundRect">
            <a:avLst>
              <a:gd name="adj" fmla="val 8571"/>
            </a:avLst>
          </a:prstGeom>
          <a:solidFill>
            <a:srgbClr val="D92323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38404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OEA — red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46177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brand sees completely separate data — one platform, no separate websites.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CREDIBLE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Proof, not promises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24243B"/>
          </a:solidFill>
          <a:ln w="12700">
            <a:solidFill>
              <a:srgbClr val="3A3A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7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category accuracy (held-out sample)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24243B"/>
          </a:solidFill>
          <a:ln w="12700">
            <a:solidFill>
              <a:srgbClr val="3A3A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3317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81728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7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cross-org data leaks — 9 users, 3 orgs, verified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210312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24243B"/>
          </a:solidFill>
          <a:ln w="12700">
            <a:solidFill>
              <a:srgbClr val="3A3A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3317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522208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7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of access control, DB-enforced backstop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24243B"/>
          </a:solidFill>
          <a:ln w="12700">
            <a:solidFill>
              <a:srgbClr val="3A3A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41248" y="4937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7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working, on managed cloud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89120" y="40233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24243B"/>
          </a:solidFill>
          <a:ln w="12700">
            <a:solidFill>
              <a:srgbClr val="3A3A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42519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Append-only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681728" y="4937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7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— cannot be altered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0" y="40233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24243B"/>
          </a:solidFill>
          <a:ln w="12700">
            <a:solidFill>
              <a:srgbClr val="3A3A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42519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Human-gated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522208" y="4937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7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movement of money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harden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8B1D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0116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Self-service onboarding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88720" y="24688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org enrols its own vendors, FMs, owners and tenants in-app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103120"/>
            <a:ext cx="457200" cy="457200"/>
          </a:xfrm>
          <a:prstGeom prst="ellipse">
            <a:avLst/>
          </a:prstGeom>
          <a:solidFill>
            <a:srgbClr val="8B1D1D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66560" y="20116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payments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766560" y="24688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+ Flutterwave — real collections and remittance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457200" cy="457200"/>
          </a:xfrm>
          <a:prstGeom prst="ellipse">
            <a:avLst/>
          </a:prstGeom>
          <a:solidFill>
            <a:srgbClr val="8B1D1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41071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Per-org channels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88720" y="386791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brand gets its own WhatsApp / Telegram routing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3502152"/>
            <a:ext cx="457200" cy="457200"/>
          </a:xfrm>
          <a:prstGeom prst="ellipse">
            <a:avLst/>
          </a:prstGeom>
          <a:solidFill>
            <a:srgbClr val="8B1D1D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66560" y="341071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Tenant-driven vendor reviews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766560" y="386791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KPI/SLA scorecards, tenant + FM combined — scores never arbitrary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901184"/>
            <a:ext cx="457200" cy="457200"/>
          </a:xfrm>
          <a:prstGeom prst="ellipse">
            <a:avLst/>
          </a:prstGeom>
          <a:solidFill>
            <a:srgbClr val="8B1D1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480974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PWA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88720" y="526694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to Nigerian connectivity and power realities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4901184"/>
            <a:ext cx="457200" cy="457200"/>
          </a:xfrm>
          <a:prstGeom prst="ellipse">
            <a:avLst/>
          </a:prstGeom>
          <a:solidFill>
            <a:srgbClr val="8B1D1D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66560" y="480974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Four-layer brand isolation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766560" y="526694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DNS, JWT and API middleware on top of today's data isolation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E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94560"/>
            <a:ext cx="274320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4688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where it removes toil.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Humans where money moves.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on the record.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8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 GROUP  ·  TFML + OEA  ·  Board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OE Group IWMS — Board Demo</dc:title>
  <dc:subject>PptxGenJS Presentation</dc:subject>
  <dc:creator>OE Group</dc:creator>
  <cp:lastModifiedBy>OE Group</cp:lastModifiedBy>
  <cp:revision>1</cp:revision>
  <dcterms:created xsi:type="dcterms:W3CDTF">2026-07-22T16:21:42Z</dcterms:created>
  <dcterms:modified xsi:type="dcterms:W3CDTF">2026-07-22T16:21:42Z</dcterms:modified>
</cp:coreProperties>
</file>