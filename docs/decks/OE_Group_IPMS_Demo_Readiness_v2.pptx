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3619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B2456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4206240" cy="420624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GROUP · INTEGRATED FM &amp; PROPERTY MANAGEMENT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rehearsal — dry run confirmed end to end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August 2026  ·  oe-group-ipms-staging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166360"/>
            <a:ext cx="1344168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5330952"/>
            <a:ext cx="146304" cy="146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52144" y="5166360"/>
            <a:ext cx="978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331720" y="5166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5330952"/>
            <a:ext cx="146304" cy="14630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60904" y="516636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648456" y="5166360"/>
            <a:ext cx="864108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6472" y="5330952"/>
            <a:ext cx="146304" cy="1463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977640" y="5166360"/>
            <a:ext cx="498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77156" y="5166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72" y="5330952"/>
            <a:ext cx="146304" cy="14630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006340" y="516636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993892" y="5166360"/>
            <a:ext cx="1152144" cy="457200"/>
          </a:xfrm>
          <a:prstGeom prst="roundRect">
            <a:avLst>
              <a:gd name="adj" fmla="val 50000"/>
            </a:avLst>
          </a:prstGeom>
          <a:solidFill>
            <a:srgbClr val="1B2456"/>
          </a:solidFill>
          <a:ln w="12700">
            <a:solidFill>
              <a:srgbClr val="3A4278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08" y="5330952"/>
            <a:ext cx="146304" cy="1463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23076" y="5166360"/>
            <a:ext cx="786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24871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staging world — an isolated production preview, migrated clean.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92024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355080" y="208483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132320" y="210312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at a glance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48716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capability, confirmed working today.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1440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691640" y="3657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path &amp; logins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91640" y="404164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request, five roles — and who to sign in as for each.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355080" y="363931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132320" y="365760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channels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404164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and Telegram, wired and confirmed.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029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1440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691640" y="5212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isolation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691640" y="559612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two identities, neither sees the other.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80760" y="502920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508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CD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355080" y="5193792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C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132320" y="5212080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5596128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 list still ahead of production go-live.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true production preview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Supabase project, its own Vercel deployment, migrated to the current schema and reset freely — separate from dev, and separate from the production environment that hasn't been provisioned yet on purpose.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" y="308152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tjboghjzbalxwhhatogl · eu-west-2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50215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PROJECT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oe-group-ipms-staging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1538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50799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to 0178, zero synthetic rows at provisioning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9286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5221224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demo dataset + brand-specific content for TFML and OEA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52360" y="1600200"/>
            <a:ext cx="4114800" cy="4572000"/>
          </a:xfrm>
          <a:prstGeom prst="roundRect">
            <a:avLst>
              <a:gd name="adj" fmla="val 2222"/>
            </a:avLst>
          </a:prstGeom>
          <a:solidFill>
            <a:srgbClr val="141A40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1874520"/>
            <a:ext cx="365760" cy="36576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229600" y="184708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points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7772400" y="25146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17" name="Text 14"/>
          <p:cNvSpPr/>
          <p:nvPr/>
        </p:nvSpPr>
        <p:spPr>
          <a:xfrm>
            <a:off x="7936992" y="26060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oe-group-ipms-staging.vercel.app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936992" y="29352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door · POC content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72400" y="34290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20" name="Text 17"/>
          <p:cNvSpPr/>
          <p:nvPr/>
        </p:nvSpPr>
        <p:spPr>
          <a:xfrm>
            <a:off x="7936992" y="35204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oeaportal.com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7936992" y="38496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branded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772400" y="43434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23" name="Text 20"/>
          <p:cNvSpPr/>
          <p:nvPr/>
        </p:nvSpPr>
        <p:spPr>
          <a:xfrm>
            <a:off x="7936992" y="4434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tfmlportal.com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7936992" y="47640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branded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7772400" y="5257800"/>
            <a:ext cx="3429000" cy="777240"/>
          </a:xfrm>
          <a:prstGeom prst="roundRect">
            <a:avLst>
              <a:gd name="adj" fmla="val 7059"/>
            </a:avLst>
          </a:prstGeom>
          <a:solidFill>
            <a:srgbClr val="1B2456"/>
          </a:solidFill>
          <a:ln/>
        </p:spPr>
      </p:sp>
      <p:sp>
        <p:nvSpPr>
          <p:cNvPr id="26" name="Text 23"/>
          <p:cNvSpPr/>
          <p:nvPr/>
        </p:nvSpPr>
        <p:spPr>
          <a:xfrm>
            <a:off x="7936992" y="53492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portal.tfmlconsultant.com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7936992" y="567842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sign-in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STATUS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Confirmed, not assumed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headline capability checked live against staging today — not a plan, a result.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35000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2313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classifier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41248" y="27706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Anthropic calls verified against a real critical-priority request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480560" y="21488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3500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084064" y="2313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checkout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681728" y="27706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banner confirmed, live authorization URL created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8321040" y="2148840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35000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24544" y="231343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email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8522208" y="2770632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validated, verified sending domain in place</a:t>
            </a:r>
            <a:endParaRPr lang="en-US" sz="1080" dirty="0"/>
          </a:p>
        </p:txBody>
      </p:sp>
      <p:sp>
        <p:nvSpPr>
          <p:cNvPr id="17" name="Shape 12"/>
          <p:cNvSpPr/>
          <p:nvPr/>
        </p:nvSpPr>
        <p:spPr>
          <a:xfrm>
            <a:off x="640080" y="372160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92277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43584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· TFML + OEA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41248" y="4343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bots registered, routing confirmed per brand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4480560" y="372160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922776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084064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TFML + OEA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4681728" y="4343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numbers registered, inbound routing and classification confirmed</a:t>
            </a:r>
            <a:endParaRPr lang="en-US" sz="1080" dirty="0"/>
          </a:p>
        </p:txBody>
      </p:sp>
      <p:sp>
        <p:nvSpPr>
          <p:cNvPr id="25" name="Shape 18"/>
          <p:cNvSpPr/>
          <p:nvPr/>
        </p:nvSpPr>
        <p:spPr>
          <a:xfrm>
            <a:off x="8321040" y="3721608"/>
            <a:ext cx="3611880" cy="1371600"/>
          </a:xfrm>
          <a:prstGeom prst="roundRect">
            <a:avLst>
              <a:gd name="adj" fmla="val 5333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3922776"/>
            <a:ext cx="292608" cy="29260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924544" y="38862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org creation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8522208" y="4343400"/>
            <a:ext cx="3209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can provision a new client organisation end to end</a:t>
            </a:r>
            <a:endParaRPr lang="en-US" sz="1080" dirty="0"/>
          </a:p>
        </p:txBody>
      </p:sp>
      <p:sp>
        <p:nvSpPr>
          <p:cNvPr id="29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GOLDEN PATH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request, start to finish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41A40"/>
          </a:solidFill>
          <a:ln/>
        </p:spPr>
      </p:sp>
      <p:sp>
        <p:nvSpPr>
          <p:cNvPr id="5" name="Shape 3"/>
          <p:cNvSpPr/>
          <p:nvPr/>
        </p:nvSpPr>
        <p:spPr>
          <a:xfrm>
            <a:off x="1358158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135815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Raises a request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04672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live — category, urgency, AI summary</a:t>
            </a:r>
            <a:endParaRPr lang="en-US" sz="103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589" y="3666744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880909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B2456"/>
          </a:solidFill>
          <a:ln/>
        </p:spPr>
      </p:sp>
      <p:sp>
        <p:nvSpPr>
          <p:cNvPr id="12" name="Shape 9"/>
          <p:cNvSpPr/>
          <p:nvPr/>
        </p:nvSpPr>
        <p:spPr>
          <a:xfrm>
            <a:off x="3598987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3" name="Text 10"/>
          <p:cNvSpPr/>
          <p:nvPr/>
        </p:nvSpPr>
        <p:spPr>
          <a:xfrm>
            <a:off x="3598987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018069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/ PM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018069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Dispatches it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3045501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a vendor from the property queue</a:t>
            </a:r>
            <a:endParaRPr lang="en-US" sz="103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417" y="3666744"/>
            <a:ext cx="256032" cy="25603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5121737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41A40"/>
          </a:solidFill>
          <a:ln/>
        </p:spPr>
      </p:sp>
      <p:sp>
        <p:nvSpPr>
          <p:cNvPr id="19" name="Shape 15"/>
          <p:cNvSpPr/>
          <p:nvPr/>
        </p:nvSpPr>
        <p:spPr>
          <a:xfrm>
            <a:off x="5839816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0" name="Text 16"/>
          <p:cNvSpPr/>
          <p:nvPr/>
        </p:nvSpPr>
        <p:spPr>
          <a:xfrm>
            <a:off x="5839816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5258897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258897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Completes &amp; invoices</a:t>
            </a:r>
            <a:endParaRPr lang="en-US" sz="1550" dirty="0"/>
          </a:p>
        </p:txBody>
      </p:sp>
      <p:sp>
        <p:nvSpPr>
          <p:cNvPr id="23" name="Text 19"/>
          <p:cNvSpPr/>
          <p:nvPr/>
        </p:nvSpPr>
        <p:spPr>
          <a:xfrm>
            <a:off x="5286329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logged, invoice submitted</a:t>
            </a:r>
            <a:endParaRPr lang="en-US" sz="103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8246" y="3666744"/>
            <a:ext cx="256032" cy="25603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7362566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B2456"/>
          </a:solidFill>
          <a:ln/>
        </p:spPr>
      </p:sp>
      <p:sp>
        <p:nvSpPr>
          <p:cNvPr id="26" name="Shape 21"/>
          <p:cNvSpPr/>
          <p:nvPr/>
        </p:nvSpPr>
        <p:spPr>
          <a:xfrm>
            <a:off x="8080644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27" name="Text 22"/>
          <p:cNvSpPr/>
          <p:nvPr/>
        </p:nvSpPr>
        <p:spPr>
          <a:xfrm>
            <a:off x="8080644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3"/>
          <p:cNvSpPr/>
          <p:nvPr/>
        </p:nvSpPr>
        <p:spPr>
          <a:xfrm>
            <a:off x="7499726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7499726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Verifies &amp; remits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7527158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Gated: verify → performance → approve → send</a:t>
            </a:r>
            <a:endParaRPr lang="en-US" sz="103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9075" y="3666744"/>
            <a:ext cx="256032" cy="256032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9603395" y="2286000"/>
            <a:ext cx="1948221" cy="3017520"/>
          </a:xfrm>
          <a:prstGeom prst="roundRect">
            <a:avLst>
              <a:gd name="adj" fmla="val 3755"/>
            </a:avLst>
          </a:prstGeom>
          <a:solidFill>
            <a:srgbClr val="141A40"/>
          </a:solidFill>
          <a:ln/>
        </p:spPr>
      </p:sp>
      <p:sp>
        <p:nvSpPr>
          <p:cNvPr id="33" name="Shape 27"/>
          <p:cNvSpPr/>
          <p:nvPr/>
        </p:nvSpPr>
        <p:spPr>
          <a:xfrm>
            <a:off x="10321473" y="2578608"/>
            <a:ext cx="512064" cy="512064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34" name="Text 28"/>
          <p:cNvSpPr/>
          <p:nvPr/>
        </p:nvSpPr>
        <p:spPr>
          <a:xfrm>
            <a:off x="10321473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5" name="Text 29"/>
          <p:cNvSpPr/>
          <p:nvPr/>
        </p:nvSpPr>
        <p:spPr>
          <a:xfrm>
            <a:off x="9740555" y="3246120"/>
            <a:ext cx="167390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9740555" y="3566160"/>
            <a:ext cx="1673901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Sees the whole trail</a:t>
            </a:r>
            <a:endParaRPr lang="en-US" sz="1550" dirty="0"/>
          </a:p>
        </p:txBody>
      </p:sp>
      <p:sp>
        <p:nvSpPr>
          <p:cNvPr id="37" name="Text 31"/>
          <p:cNvSpPr/>
          <p:nvPr/>
        </p:nvSpPr>
        <p:spPr>
          <a:xfrm>
            <a:off x="9767987" y="4343400"/>
            <a:ext cx="16190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Ledger, BI dashboard, audit — one place</a:t>
            </a:r>
            <a:endParaRPr lang="en-US" sz="1030" dirty="0"/>
          </a:p>
        </p:txBody>
      </p:sp>
      <p:sp>
        <p:nvSpPr>
          <p:cNvPr id="38" name="Text 32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LOGINS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in, role by role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AF1DC"/>
          </a:solidFill>
          <a:ln w="12700">
            <a:solidFill>
              <a:srgbClr val="E8D5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7276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login below uses the same password:  </a:t>
            </a:r>
            <a:r>
              <a:rPr lang="en-US" sz="1400" b="1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OEGroupDemo2026!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22860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walkthrough — POC organisation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5237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oe-group-ipms-staging.vercel.app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2752344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78892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30083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oe-group-foundation-poc.tenant@oegroup.test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49808" y="33192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35387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oe-group-foundation-poc.facilitymanager@oegroup.test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3813048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8496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 ops staff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40690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oe-group-foundation-poc.fmopsstaff@oegroup.test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" y="43799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9808" y="45994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oe-group-foundation-poc.vendor@oegroup.test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0080" y="4873752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9103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512978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oe-group-foundation-poc.financeapprover@oegroup.test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49808" y="54406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566013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oe-group-foundation-poc.admin@oegroup.test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5934456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59710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" y="619048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oe-group-foundation-poc.propertyowner@oegroup.test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92240" y="2286000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 &amp; operator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492240" y="2523744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their own branded addresses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82512" y="2752344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278892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· Admin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92240" y="30083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tfml.admin@oegroup.test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92240" y="331927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· Facility manager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35387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tfml.fm@oegroup.test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382512" y="3813048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34" name="Text 32"/>
          <p:cNvSpPr/>
          <p:nvPr/>
        </p:nvSpPr>
        <p:spPr>
          <a:xfrm>
            <a:off x="6492240" y="384962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 · Finance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92240" y="40690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tfml.finance@oegroup.test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92240" y="437997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· Admin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45994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oea.admin@oegroup.test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82512" y="4873752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491032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· Facility manager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92240" y="5129784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oea.fm@oegroup.test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92240" y="5440680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 · Finance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492240" y="5660136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oea.finance@oegroup.test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82512" y="5934456"/>
            <a:ext cx="5477256" cy="493776"/>
          </a:xfrm>
          <a:prstGeom prst="roundRect">
            <a:avLst>
              <a:gd name="adj" fmla="val 9259"/>
            </a:avLst>
          </a:prstGeom>
          <a:solidFill>
            <a:srgbClr val="F7F5EF"/>
          </a:solidFill>
          <a:ln/>
        </p:spPr>
      </p:sp>
      <p:sp>
        <p:nvSpPr>
          <p:cNvPr id="44" name="Text 42"/>
          <p:cNvSpPr/>
          <p:nvPr/>
        </p:nvSpPr>
        <p:spPr>
          <a:xfrm>
            <a:off x="6492240" y="5971032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(all orgs)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492240" y="6190488"/>
            <a:ext cx="5257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98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operator.admin@oegroup.test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40080" y="641908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accounts on staging, against synthetic data — none of these reach a production system.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LIVE 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Reachable today, on real numbers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channels route per brand — the same platform, answering as two distinct businesses.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E6F3EB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468880"/>
            <a:ext cx="548640" cy="548640"/>
          </a:xfrm>
          <a:prstGeom prst="ellipse">
            <a:avLst/>
          </a:prstGeom>
          <a:solidFill>
            <a:srgbClr val="1E7B4D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259689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91640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360dialog · direct client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60120" y="3474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4300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143000" y="3858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+234 703 689 1329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60120" y="4617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BFE0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143000" y="5001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+234 708 471 4148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960120" y="5486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 must come from the sender — WhatsApp opens the reply window on inbound contact.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400800" y="2148840"/>
            <a:ext cx="5257800" cy="3977640"/>
          </a:xfrm>
          <a:prstGeom prst="roundRect">
            <a:avLst>
              <a:gd name="adj" fmla="val 2299"/>
            </a:avLst>
          </a:prstGeom>
          <a:solidFill>
            <a:srgbClr val="D9DEF2">
              <a:alpha val="60000"/>
            </a:srgbClr>
          </a:solidFill>
          <a:ln w="12700">
            <a:solidFill>
              <a:srgbClr val="C3CB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720840" y="2468880"/>
            <a:ext cx="548640" cy="548640"/>
          </a:xfrm>
          <a:prstGeom prst="ellipse">
            <a:avLst/>
          </a:prstGeom>
          <a:solidFill>
            <a:srgbClr val="1B2456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2596896"/>
            <a:ext cx="292608" cy="2926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452360" y="24963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Telegram</a:t>
            </a:r>
            <a:endParaRPr lang="en-US" sz="2200" dirty="0"/>
          </a:p>
        </p:txBody>
      </p:sp>
      <p:sp>
        <p:nvSpPr>
          <p:cNvPr id="21" name="Text 17"/>
          <p:cNvSpPr/>
          <p:nvPr/>
        </p:nvSpPr>
        <p:spPr>
          <a:xfrm>
            <a:off x="7452360" y="2898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API · no session window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720840" y="3474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3CBE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903720" y="3584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TFML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903720" y="3858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@tfml_support_bot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6720840" y="4617720"/>
            <a:ext cx="46177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C3CBEA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903720" y="47274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OEA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03720" y="5001768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4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@oea_properties_bot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6720840" y="548640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anyone who finds it — no approval step. Publish deliberately, not by obscurity.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BRAND ISOLATION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platform. Two identities. No overlap.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0F2A4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TFML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679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Facilities Management Limited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tfmlportal.com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Marina Business Park · 5 units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vendors under evaluation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572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requests, mixed channels &amp; states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5029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7E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+234 703 689 1329 · WhatsApp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96596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5C162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22402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OEA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26791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B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 Egbunike &amp; Associates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FC9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oeaportal.com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36576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Parkview Terraces · 4 units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1148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 vendors under evaluation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0" y="45720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 requests, mixed channels &amp; states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0" y="502920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D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+234 708 471 4148 · WhatsApp</a:t>
            </a:r>
            <a:endParaRPr lang="en-US" sz="12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379476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B2456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NEW TODAY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onboarding, not a fixture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6675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operator can provision a brand-new organisation live — name, brand, first admin — and a genuine invitation email goes out through Resend on submit. That admin can then invite their own FM, vendor, and tenant, each with a real email.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4612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B245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50215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35584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creates the org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417320" y="37216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/orgs — name, brand, first administrator's email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325112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B245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58114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1732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sends for real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17320" y="4800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delivers — no seeded fixture, no shortcut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5404104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1B245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6601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55138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invite their own people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417320" y="587959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People → Invitations, any role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7818120" y="1691640"/>
            <a:ext cx="3749040" cy="4480560"/>
          </a:xfrm>
          <a:prstGeom prst="roundRect">
            <a:avLst>
              <a:gd name="adj" fmla="val 2439"/>
            </a:avLst>
          </a:prstGeom>
          <a:solidFill>
            <a:srgbClr val="D9A441"/>
          </a:solidFill>
          <a:ln/>
        </p:spPr>
      </p:sp>
      <p:sp>
        <p:nvSpPr>
          <p:cNvPr id="19" name="Text 14"/>
          <p:cNvSpPr/>
          <p:nvPr/>
        </p:nvSpPr>
        <p:spPr>
          <a:xfrm>
            <a:off x="8001000" y="17373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20" name="Text 15"/>
          <p:cNvSpPr/>
          <p:nvPr/>
        </p:nvSpPr>
        <p:spPr>
          <a:xfrm>
            <a:off x="8138160" y="2743200"/>
            <a:ext cx="3200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14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walkthrough runs on seeded logins — fast, reliable. This is the one moment worth calling out live.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98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024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here and go-live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5915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1E7B4D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3591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651760" y="210312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designated · staging provisioned · DPA &amp; privacy drafts ready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363931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B9852B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51760" y="338328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Paystack &amp; Flutterwave business verification underway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F7F5EF"/>
          </a:solidFill>
          <a:ln w="12700">
            <a:solidFill>
              <a:srgbClr val="E4E1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919472"/>
            <a:ext cx="1554480" cy="548640"/>
          </a:xfrm>
          <a:prstGeom prst="roundRect">
            <a:avLst>
              <a:gd name="adj" fmla="val 50000"/>
            </a:avLst>
          </a:prstGeom>
          <a:solidFill>
            <a:srgbClr val="5B607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919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651760" y="4663440"/>
            <a:ext cx="86868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</a:t>
            </a:r>
            <a:r>
              <a:rPr lang="en-US" sz="140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not done· </a:t>
            </a:r>
            <a:r>
              <a:rPr lang="en-US" sz="1400" dirty="0">
                <a:solidFill>
                  <a:srgbClr val="202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360dialog tier to confirm · production Supabase + Vercel provisioning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6400800" cy="6400800"/>
          </a:xfrm>
          <a:prstGeom prst="ellipse">
            <a:avLst/>
          </a:prstGeom>
          <a:solidFill>
            <a:srgbClr val="1B2456">
              <a:alpha val="60000"/>
            </a:srgbClr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60604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the live run.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— confirmed end to end. Questions welcome.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25400">
            <a:solidFill>
              <a:srgbClr val="D9A44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 Group IPMS  ·  oe-group-ipms-staging.vercel.app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982</Words>
  <Application>Microsoft Office PowerPoint</Application>
  <PresentationFormat>Widescreen</PresentationFormat>
  <Paragraphs>203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Joseph Amapakabo</cp:lastModifiedBy>
  <cp:revision>2</cp:revision>
  <dcterms:created xsi:type="dcterms:W3CDTF">2026-08-21T03:49:42Z</dcterms:created>
  <dcterms:modified xsi:type="dcterms:W3CDTF">2026-08-21T10:11:16Z</dcterms:modified>
</cp:coreProperties>
</file>